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Matrice comparative des 8 stacks de coding agentique. Chiffres verifies (sources primaires, 10/07, 23/07 et 02/09/2026). MAJ DU 02/09/2026 : (a) SORTIS du perimetre : Claude Code / Opus 4.8 via Anthropic direct, OpenCode / DeepSeek V4 Pro via OpenRouter, et Vibe / Mistral Medium 3.5 (retrait demande par Selim ; Mistral reste une voie souveraine dans la doctrine fournisseurs, mais la stack sort du bench). (b) AJOUTS Bedrock : Opus 5 (5$/25$ par 1M - moitie du prix de Fable 5 ; 97,0% SWE-bench Verified mesure par vals.ai le 01/09/2026, harness minimal bash-only - Anthropic ne publie pas de score SWE-bench pour Opus 5, qui ressort ainsi DEVANT Fable 5 et son 95,0% officiel : scaffolds differents, a lire avec prudence) et Sonnet 5 (2$/10$ par 1M ; 82,1% SWE-bench Verified rapporte au lancement, 30/06/2026 - presse specialisee, non publie en clair par Anthropic). (c) AJOUTS Scaleway (cloud FR, hebergement UE - souverain et conforme RGPD ; observabilite a valider) : DeepSeek V4 Flash 0731 a 0,40 EUR / 0,80 EUR par 1M (tarif communique par le client). ATTENTION PERF 0731 : DeepSeek ne publie PAS de SWE-bench Verified pour ce checkpoint (verifie le 02/09/2026 : model card HF et blogs n'en donnent aucun ; le 79,0% recopie par les agregateurs benchlm/zenmux est celui du checkpoint d'avril, a priori celui servi par Albert - checkpoint a confirmer aupres de la DINUM). REFONTE PERFORMANCE (02/09/2026, regle fixee par Selim) : trois mesures au lieu d'une. (1) DeepSWE v1.1 en PRINCIPAL - leaderboard officiel Datacurve, harness fixe mini-swe-agent, donc score du modele seul, independant du harness Claude Code / OpenCode / Vibe. Valeurs : Opus 5 74,0 (+/-4) ; Fable 5 70,0 ; Kimi K3 ~69 ; DeepSeek 0731 54,4 (auto-rapporte) ; GLM 5.2 44,0 ; DeepSeek preview 7,3 auto-rapporte (~8 mesure en independant) ; Sonnet 5 : non publie. (2) Terminal-Bench 2.1 en agentique : Opus 5 89,1 ; Kimi 88,3 (auto-rapporte) ; Sonnet 5 85,2 ; 0731 82,7 (auto-rapporte) ; GLM 81,0 (auto-rapporte) ; preview 61,8 (auto-rapporte) ; Fable 5 : non publie. (3) SWE-bench Verified conserve en simple BASELINE grisee : sature en haut de tableau, chiffres majoritairement editeurs aux harness heterogenes. REGLE ABSOLUE : aucun chiffre estime ou extrapole ; toute case sans donnee = 'non publie' (l'estimation ~85% du 0731 publiee plus tot le 02/09 est retiree). Marqueur v = auto-rapporte par l'editeur, sans reproduction independante. Contre-verification OpenRouter (02/09/2026, donnees embarquees de la page deepseek-v4-flash-0731) : OpenRouter n'evalue pas SWE-bench - ses propres runs donnent GPQA Diamond 87,1% (mediane, 36 runs) et tau-bench airline 74,7% (34 runs) ; son onglet Benchmarks vient d'Artificial Analysis, dont l'index v4.1.1 (9 evals : Terminal-Bench v2.1, SciCode, GPQA...) n'inclut pas non plus SWE-bench Verified. GLM 5.2 bascule d'OpenRouter vers Scaleway a 1,80 EUR / 5,50 EUR par 1M (tarif communique par le client), meme perf estimee ~78%. (d) Kimi K3 sur OpenRouter : tarif courant 2,55$/12,75$ par 1M (openrouter.ai/moonshotai/kimi-k3, 02/09/2026) ; le score 93,4% est desormais liste par vals.ai (mesure independante du 01/09/2026), il n'est plus seulement declaratif. (e) Prix affiches en entree ET en sortie sur tous les supports. HISTORIQUE 23/07/2026 : (a) Claude Code / Fable 5 via Bedrock : 95,0% SWE-bench Verified (llm-stats.com), 10$/50$ par 1M (2x Opus 4.8), disponible sur Bedrock (profil global.anthropic.claude-fable-5, docs.aws.amazon.com) - contraintes : activation d'un parametre de data sharing + retention 30 jours obligatoire. (b) Vibe / Mistral Medium 3.5 : Vibe = agent de codage CLI + VS Code de Mistral (mai 2026) ; Medium 3.5 = 77,6% SWE-bench Verified, 1,50$/7,50$ par 1M, poids ouverts licence MIT modifiee (mistral.ai/news/vibe-remote-agents-mistral-medium-3-5) ; plans Le Chat Pro 14,99$/Team 24,99$/mois ; deploiement SecNumCloud possible via Outscale (offre enterprise). (c) OpenCode / Kimi K3 via OpenRouter : 3$/15$ par 1M (openrouter.ai/moonshotai/kimi-k3), 93,4% SWE-bench Verified ANNONCE par Moonshot - des evaluations independantes citent des scores bien plus bas selon le harness ; capacite amont limitee (erreurs 429 frequentes). CORRECTION SOUVERAINETE : Bedrock n'est PAS souverain au sens de la CNIL - AWS reste soumis au CLOUD Act quelle que soit la region ; pastille rouge (avant : orange 'partielle'). Seuls Albert (SecNumCloud, Etat FR) et Mistral (editeur FR, SecNumCloud en option via Outscale) tiennent la souverainete. NOUVEL AXE CONFORMITE (RGPD/donnees) - distinct de la souverainete : bons = Mistral (editeur FR, RGPD), Albert (cadre Etat) et modeles Anthropic via Bedrock (region UE ex. Paris, DPA AWS) ; Anthropic direct = partielle (transfert hors UE) ; OpenRouter = insuffisante (routage via intermediaire US, sans garanties UE). RAPPEL DONNEES INITIALES (10/07/2026) : PRIX/1M tokens : Opus 4.8 = 5$ input / 25$ output (platform.claude.com/docs/.../pricing), en sus des sieges Claude Code (Pro 17$, Team 20-25$, Premium 100-125$/mois - claude.com/pricing). DeepSeek V4 Pro = 0,435$/0,87$ (openrouter.ai/deepseek/deepseek-v4-pro + api-docs.deepseek.com) MAIS tarif preview, doublement 'peak' annonce mi-juillet 2026 (technode.com 30/06/2026). GLM 5.2 = tarif liste Z.ai 1,40$/4,40$ (docs.z.ai), OpenRouter varie 0,93-3,00$ input selon fournisseur route (le 0,77$ lu en tete etait un artefact d'extraction, non confirme). Albert = GRATUIT pour agents de l'Etat, pas de facturation token, acces regule par quotas RPM/RPD/TPM (ia.numerique.gouv.fr). PERF SWE-bench Verified : Opus 4.8 88,6% (vellum.ai) ; DeepSeek V4 Pro 80,6% (morphllm) ; DeepSeek V4 Flash 79% ; Mistral Medium 3.5 77,6% (mistral.ai) ; GLM 5.2 ~78% estime (SWE-bench Pro 62,1%, Terminal-Bench 81-83% - huggingface zai-org). SCENARIO ALBERT retenu pour le bench elargi : OpenCode branche sur Albert servant DeepSeek V4 Flash (~79%) - catalogue Albert a confirmer via /v1/models. SOUVERAINETE : Anthropic = editeur US (CLOUD Act) ; Z.ai (GLM) et DeepSeek = editeurs chinois, et via OpenRouter le routage passe par un intermediaire US ; Albert = Etat francais, heberge sur Outscale SecNumCloud. Nuance : les poids GLM et DeepSeek sont ouverts (licence MIT), donc auto-hebergeables sur infra souveraine - c'est ce que fait Albert. FAISABILITE : Claude Code et OpenCode tournent tous deux sur Mac/Linux/Windows (WSL conseille sous Windows) ; le frein sur postes Windows internes est surtout la politique (Copilot only) et le proxy, pas la technique.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Souverainete (corrigee le 23/07/2026, elargie le 02/09/2026) : au sens de la CNIL, Albert (Etat FR, SecNumCloud), Scaleway (cloud FR, hebergement UE) et Mistral (editeur FR, SecNumCloud en option) sont souveraines. Bedrock N'EST PAS souverain : AWS est soumis au CLOUD Act quelle que soit la region d'hebergement. En revanche, sur l'axe CONFORMITE (RGPD), Bedrock en region UE (Paris) avec DPA AWS reste une voie conforme pour les modeles Anthropic ; Anthropic direct = transfert hors UE ; OpenRouter = sans garanties UE. Albert s'utilise avec OpenCode : guide officiel DINUM guides.ia.numerique.gouv.fr/albert-api/guides/ide#agentic-coding-opencode. La problematique de deploiement : les prestataires externes peuvent rester sur leur abonnement Claude (forfait mensuel, consommation incluse, cout previsible). Les agents internes, eux, demarreront a environ 20 euros par siege et par mois (sieges Claude Enterprise via Bedrock), auxquels s'ajoute chaque token consomme, facture au prix du modele. Le cout interne suit donc l'usage, et l'usage agentique est intensif en tokens. Consequence : optimiser le cout au token (choix du modele, du harness, caching) devient le parametre cle pour les internes et pour la CI/CD - c'est ce que le bench compare, et ce que le bench elargi en conditions reelles validera (scenario Albert/DeepSeek via OpenCode face a Claude avec et sans abonnement).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cas d'usage a distinguer. (1) CODE AGENTIQUE SUR POSTE : Claude Code se consomme via un SIEGE d'abonnement (Pro 17-20$, Team 20-25$, Premium 100-125$/dev/mois) ; les stacks OpenCode se consomment via une cle - OpenRouter (paiement au token) ou Albert (gratuit, cle reservee aux agents de l'Etat). (2) BOTS CI/CD : pas de siege, tout le monde paie au token via une cle API programmatique. Claude via Bedrock : Opus 5 = 5$/25$ par 1M, Sonnet 5 = 2$/10$, Fable 5 = 10$/50$ (headless via IAM). Scaleway : DeepSeek V4 Flash 0731 = 0,40/0,80 EUR par 1M, GLM 5.2 = 1,80/5,50 EUR (API OpenAI-compatible, cle Scaleway). Albert est gratuit mais ses quotas (10-50 requetes/min en experimentation) peuvent brider un usage CI/CD intensif - a augmenter sur demande. RECOMMANDATION selon priorite (MAJ 02/09/2026) : performance -&gt; Claude Code/Opus 5 via Bedrock (DeepSWE 74,0 +/-4, Terminal-Bench 89,1, conforme RGPD en region UE mais non souverain - CLOUD Act) ; souverainete/cout -&gt; Albert ; rapport perf-prix -&gt; DeepSeek V4 Flash 0731 via Scaleway (DeepSWE 54,4 auto-rapporte, TB 82,7 auto-rapporte, pour 0,40/0,80 EUR par 1M, souverain, observabilite a valider). Kimi K3 via OpenRouter (2,55$/12,75$) : DeepSWE ~69, TB 88,3 auto-rapporte, SWE-bench 93,4 auto-rapporte, mais la capacite OpenRouter est limitee (429). RESERVES : 'Open Claw' n'a pas ete confirme comme outil de coding (le seul depot de ce nom est un assistant de messagerie) - candidats reels : OpenCode, Crush (Charmbracelet), Claude Code Router. Le catalogue Albert observe sur les docs publiques ne liste pas DeepSeek V4 Flash ni Mistral Medium 3.5 (mais Mistral-Small, Ministral-3-8B, gpt-oss-120b, Qwen3-Coder) - a confirmer via un appel authentifie /v1/models sur ta cle. Tarifs OpenRouter = prix catalogue variables selon le fournisseur route ; le prompt caching peut baisser le cout reel de 60 a 80%. Le nouveau tokenizer d'Opus 4.8 produit ~30% de tokens en plus pour un meme texte, ce qui renforce le cout effectif par requete.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02/09/2026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1</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Coding agentique : comparer 7 stacks</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Prix, performance, souveraineté, conformité, faisabilité. Tarifs vérifiés sur sources primaires (02/09/2026).</a:t>
            </a:r>
          </a:p>
        </p:txBody>
      </p:sp>
      <p:sp>
        <p:nvSpPr>
          <p:cNvPr id="10" name="Rounded Rectangle 9"/>
          <p:cNvSpPr/>
          <p:nvPr/>
        </p:nvSpPr>
        <p:spPr>
          <a:xfrm>
            <a:off x="2560320" y="2121408"/>
            <a:ext cx="1186499" cy="768096"/>
          </a:xfrm>
          <a:prstGeom prst="roundRect">
            <a:avLst>
              <a:gd name="adj" fmla="val 8000"/>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15184"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Claude Code</a:t>
            </a:r>
          </a:p>
          <a:p>
            <a:pPr algn="ctr">
              <a:lnSpc>
                <a:spcPct val="100000"/>
              </a:lnSpc>
              <a:spcBef>
                <a:spcPts val="100"/>
              </a:spcBef>
              <a:spcAft>
                <a:spcPts val="0"/>
              </a:spcAft>
            </a:pPr>
            <a:r>
              <a:rPr sz="1000" b="1" i="0">
                <a:solidFill>
                  <a:srgbClr val="FFFFFF"/>
                </a:solidFill>
                <a:latin typeface="Marianne"/>
              </a:rPr>
              <a:t>Opus 5</a:t>
            </a:r>
          </a:p>
          <a:p>
            <a:pPr algn="ctr">
              <a:lnSpc>
                <a:spcPct val="100000"/>
              </a:lnSpc>
              <a:spcBef>
                <a:spcPts val="200"/>
              </a:spcBef>
              <a:spcAft>
                <a:spcPts val="0"/>
              </a:spcAft>
            </a:pPr>
            <a:r>
              <a:rPr sz="850" b="0" i="0">
                <a:solidFill>
                  <a:srgbClr val="C9C9F2"/>
                </a:solidFill>
                <a:latin typeface="Marianne"/>
              </a:rPr>
              <a:t>AWS Bedrock</a:t>
            </a:r>
          </a:p>
        </p:txBody>
      </p:sp>
      <p:sp>
        <p:nvSpPr>
          <p:cNvPr id="12" name="Rounded Rectangle 11"/>
          <p:cNvSpPr/>
          <p:nvPr/>
        </p:nvSpPr>
        <p:spPr>
          <a:xfrm>
            <a:off x="3838259" y="2121408"/>
            <a:ext cx="1186499" cy="768096"/>
          </a:xfrm>
          <a:prstGeom prst="roundRect">
            <a:avLst>
              <a:gd name="adj" fmla="val 8000"/>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93123"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Claude Code</a:t>
            </a:r>
          </a:p>
          <a:p>
            <a:pPr algn="ctr">
              <a:lnSpc>
                <a:spcPct val="100000"/>
              </a:lnSpc>
              <a:spcBef>
                <a:spcPts val="100"/>
              </a:spcBef>
              <a:spcAft>
                <a:spcPts val="0"/>
              </a:spcAft>
            </a:pPr>
            <a:r>
              <a:rPr sz="1000" b="1" i="0">
                <a:solidFill>
                  <a:srgbClr val="FFFFFF"/>
                </a:solidFill>
                <a:latin typeface="Marianne"/>
              </a:rPr>
              <a:t>Fable 5</a:t>
            </a:r>
          </a:p>
          <a:p>
            <a:pPr algn="ctr">
              <a:lnSpc>
                <a:spcPct val="100000"/>
              </a:lnSpc>
              <a:spcBef>
                <a:spcPts val="200"/>
              </a:spcBef>
              <a:spcAft>
                <a:spcPts val="0"/>
              </a:spcAft>
            </a:pPr>
            <a:r>
              <a:rPr sz="850" b="0" i="0">
                <a:solidFill>
                  <a:srgbClr val="C9C9F2"/>
                </a:solidFill>
                <a:latin typeface="Marianne"/>
              </a:rPr>
              <a:t>AWS Bedrock</a:t>
            </a:r>
          </a:p>
        </p:txBody>
      </p:sp>
      <p:sp>
        <p:nvSpPr>
          <p:cNvPr id="14" name="Rounded Rectangle 13"/>
          <p:cNvSpPr/>
          <p:nvPr/>
        </p:nvSpPr>
        <p:spPr>
          <a:xfrm>
            <a:off x="5116198" y="2121408"/>
            <a:ext cx="1186499" cy="768096"/>
          </a:xfrm>
          <a:prstGeom prst="roundRect">
            <a:avLst>
              <a:gd name="adj" fmla="val 8000"/>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71062"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Claude Code</a:t>
            </a:r>
          </a:p>
          <a:p>
            <a:pPr algn="ctr">
              <a:lnSpc>
                <a:spcPct val="100000"/>
              </a:lnSpc>
              <a:spcBef>
                <a:spcPts val="100"/>
              </a:spcBef>
              <a:spcAft>
                <a:spcPts val="0"/>
              </a:spcAft>
            </a:pPr>
            <a:r>
              <a:rPr sz="1000" b="1" i="0">
                <a:solidFill>
                  <a:srgbClr val="FFFFFF"/>
                </a:solidFill>
                <a:latin typeface="Marianne"/>
              </a:rPr>
              <a:t>Sonnet 5</a:t>
            </a:r>
          </a:p>
          <a:p>
            <a:pPr algn="ctr">
              <a:lnSpc>
                <a:spcPct val="100000"/>
              </a:lnSpc>
              <a:spcBef>
                <a:spcPts val="200"/>
              </a:spcBef>
              <a:spcAft>
                <a:spcPts val="0"/>
              </a:spcAft>
            </a:pPr>
            <a:r>
              <a:rPr sz="850" b="0" i="0">
                <a:solidFill>
                  <a:srgbClr val="C9C9F2"/>
                </a:solidFill>
                <a:latin typeface="Marianne"/>
              </a:rPr>
              <a:t>AWS Bedrock</a:t>
            </a:r>
          </a:p>
        </p:txBody>
      </p:sp>
      <p:sp>
        <p:nvSpPr>
          <p:cNvPr id="16" name="Rounded Rectangle 15"/>
          <p:cNvSpPr/>
          <p:nvPr/>
        </p:nvSpPr>
        <p:spPr>
          <a:xfrm>
            <a:off x="6394137"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9001"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DeepSeek V4 Flash preview</a:t>
            </a:r>
          </a:p>
          <a:p>
            <a:pPr algn="ctr">
              <a:lnSpc>
                <a:spcPct val="100000"/>
              </a:lnSpc>
              <a:spcBef>
                <a:spcPts val="200"/>
              </a:spcBef>
              <a:spcAft>
                <a:spcPts val="0"/>
              </a:spcAft>
            </a:pPr>
            <a:r>
              <a:rPr sz="850" b="0" i="0">
                <a:solidFill>
                  <a:srgbClr val="C9C9F2"/>
                </a:solidFill>
                <a:latin typeface="Marianne"/>
              </a:rPr>
              <a:t>Albert (DINUM)</a:t>
            </a:r>
          </a:p>
        </p:txBody>
      </p:sp>
      <p:sp>
        <p:nvSpPr>
          <p:cNvPr id="18" name="Rounded Rectangle 17"/>
          <p:cNvSpPr/>
          <p:nvPr/>
        </p:nvSpPr>
        <p:spPr>
          <a:xfrm>
            <a:off x="7672077"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941"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DeepSeek V4 Flash 0731</a:t>
            </a:r>
          </a:p>
          <a:p>
            <a:pPr algn="ctr">
              <a:lnSpc>
                <a:spcPct val="100000"/>
              </a:lnSpc>
              <a:spcBef>
                <a:spcPts val="200"/>
              </a:spcBef>
              <a:spcAft>
                <a:spcPts val="0"/>
              </a:spcAft>
            </a:pPr>
            <a:r>
              <a:rPr sz="850" b="0" i="0">
                <a:solidFill>
                  <a:srgbClr val="C9C9F2"/>
                </a:solidFill>
                <a:latin typeface="Marianne"/>
              </a:rPr>
              <a:t>Scaleway</a:t>
            </a:r>
          </a:p>
        </p:txBody>
      </p:sp>
      <p:sp>
        <p:nvSpPr>
          <p:cNvPr id="20" name="Rounded Rectangle 19"/>
          <p:cNvSpPr/>
          <p:nvPr/>
        </p:nvSpPr>
        <p:spPr>
          <a:xfrm>
            <a:off x="8950016"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4880"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GLM 5.2</a:t>
            </a:r>
          </a:p>
          <a:p>
            <a:pPr algn="ctr">
              <a:lnSpc>
                <a:spcPct val="100000"/>
              </a:lnSpc>
              <a:spcBef>
                <a:spcPts val="200"/>
              </a:spcBef>
              <a:spcAft>
                <a:spcPts val="0"/>
              </a:spcAft>
            </a:pPr>
            <a:r>
              <a:rPr sz="850" b="0" i="0">
                <a:solidFill>
                  <a:srgbClr val="C9C9F2"/>
                </a:solidFill>
                <a:latin typeface="Marianne"/>
              </a:rPr>
              <a:t>Scaleway</a:t>
            </a:r>
          </a:p>
        </p:txBody>
      </p:sp>
      <p:sp>
        <p:nvSpPr>
          <p:cNvPr id="22" name="Rounded Rectangle 21"/>
          <p:cNvSpPr/>
          <p:nvPr/>
        </p:nvSpPr>
        <p:spPr>
          <a:xfrm>
            <a:off x="10227955"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82819"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Kimi K3</a:t>
            </a:r>
          </a:p>
          <a:p>
            <a:pPr algn="ctr">
              <a:lnSpc>
                <a:spcPct val="100000"/>
              </a:lnSpc>
              <a:spcBef>
                <a:spcPts val="200"/>
              </a:spcBef>
              <a:spcAft>
                <a:spcPts val="0"/>
              </a:spcAft>
            </a:pPr>
            <a:r>
              <a:rPr sz="850" b="0" i="0">
                <a:solidFill>
                  <a:srgbClr val="C9C9F2"/>
                </a:solidFill>
                <a:latin typeface="Marianne"/>
              </a:rPr>
              <a:t>OpenRouter</a:t>
            </a:r>
          </a:p>
        </p:txBody>
      </p:sp>
      <p:sp>
        <p:nvSpPr>
          <p:cNvPr id="24" name="Rounded Rectangle 23"/>
          <p:cNvSpPr/>
          <p:nvPr/>
        </p:nvSpPr>
        <p:spPr>
          <a:xfrm>
            <a:off x="777240" y="2980944"/>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ank.png"/>
          <p:cNvPicPr>
            <a:picLocks noChangeAspect="1"/>
          </p:cNvPicPr>
          <p:nvPr/>
        </p:nvPicPr>
        <p:blipFill>
          <a:blip r:embed="rId3"/>
          <a:stretch>
            <a:fillRect/>
          </a:stretch>
        </p:blipFill>
        <p:spPr>
          <a:xfrm>
            <a:off x="905256" y="3118103"/>
            <a:ext cx="329184" cy="329184"/>
          </a:xfrm>
          <a:prstGeom prst="rect">
            <a:avLst/>
          </a:prstGeom>
        </p:spPr>
      </p:pic>
      <p:sp>
        <p:nvSpPr>
          <p:cNvPr id="26" name="TextBox 25"/>
          <p:cNvSpPr txBox="1"/>
          <p:nvPr/>
        </p:nvSpPr>
        <p:spPr>
          <a:xfrm>
            <a:off x="1344168" y="2980944"/>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Prix</a:t>
            </a:r>
          </a:p>
          <a:p>
            <a:pPr algn="l">
              <a:lnSpc>
                <a:spcPct val="100000"/>
              </a:lnSpc>
              <a:spcBef>
                <a:spcPts val="200"/>
              </a:spcBef>
              <a:spcAft>
                <a:spcPts val="0"/>
              </a:spcAft>
            </a:pPr>
            <a:r>
              <a:rPr sz="900" b="0" i="0">
                <a:solidFill>
                  <a:srgbClr val="6A6A6A"/>
                </a:solidFill>
                <a:latin typeface="Marianne"/>
              </a:rPr>
              <a:t>/ 1M tokens (in / out)</a:t>
            </a:r>
          </a:p>
        </p:txBody>
      </p:sp>
      <p:sp>
        <p:nvSpPr>
          <p:cNvPr id="27" name="TextBox 26"/>
          <p:cNvSpPr txBox="1"/>
          <p:nvPr/>
        </p:nvSpPr>
        <p:spPr>
          <a:xfrm>
            <a:off x="2633472"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 </a:t>
            </a:r>
            <a:r>
              <a:rPr sz="1150" b="0" i="0">
                <a:solidFill>
                  <a:srgbClr val="D2D2E8"/>
                </a:solidFill>
                <a:latin typeface="Marianne"/>
              </a:rPr>
              <a:t>● ● ● </a:t>
            </a:r>
          </a:p>
        </p:txBody>
      </p:sp>
      <p:sp>
        <p:nvSpPr>
          <p:cNvPr id="28" name="TextBox 27"/>
          <p:cNvSpPr txBox="1"/>
          <p:nvPr/>
        </p:nvSpPr>
        <p:spPr>
          <a:xfrm>
            <a:off x="2633472"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5 $ / 25 $</a:t>
            </a:r>
          </a:p>
          <a:p>
            <a:pPr algn="l">
              <a:lnSpc>
                <a:spcPct val="100000"/>
              </a:lnSpc>
              <a:spcBef>
                <a:spcPts val="100"/>
              </a:spcBef>
              <a:spcAft>
                <a:spcPts val="0"/>
              </a:spcAft>
            </a:pPr>
            <a:r>
              <a:rPr sz="800" b="0" i="0">
                <a:solidFill>
                  <a:srgbClr val="6A6A6A"/>
                </a:solidFill>
                <a:latin typeface="Marianne"/>
              </a:rPr>
              <a:t>+ siège ≈20 €/m</a:t>
            </a:r>
          </a:p>
        </p:txBody>
      </p:sp>
      <p:sp>
        <p:nvSpPr>
          <p:cNvPr id="29" name="TextBox 28"/>
          <p:cNvSpPr txBox="1"/>
          <p:nvPr/>
        </p:nvSpPr>
        <p:spPr>
          <a:xfrm>
            <a:off x="3911411"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30" name="TextBox 29"/>
          <p:cNvSpPr txBox="1"/>
          <p:nvPr/>
        </p:nvSpPr>
        <p:spPr>
          <a:xfrm>
            <a:off x="3911411"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10 $ / 50 $</a:t>
            </a:r>
          </a:p>
          <a:p>
            <a:pPr algn="l">
              <a:lnSpc>
                <a:spcPct val="100000"/>
              </a:lnSpc>
              <a:spcBef>
                <a:spcPts val="100"/>
              </a:spcBef>
              <a:spcAft>
                <a:spcPts val="0"/>
              </a:spcAft>
            </a:pPr>
            <a:r>
              <a:rPr sz="800" b="0" i="0">
                <a:solidFill>
                  <a:srgbClr val="6A6A6A"/>
                </a:solidFill>
                <a:latin typeface="Marianne"/>
              </a:rPr>
              <a:t>+ siège ≈20 €/m</a:t>
            </a:r>
          </a:p>
        </p:txBody>
      </p:sp>
      <p:sp>
        <p:nvSpPr>
          <p:cNvPr id="31" name="TextBox 30"/>
          <p:cNvSpPr txBox="1"/>
          <p:nvPr/>
        </p:nvSpPr>
        <p:spPr>
          <a:xfrm>
            <a:off x="5189350"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32" name="TextBox 31"/>
          <p:cNvSpPr txBox="1"/>
          <p:nvPr/>
        </p:nvSpPr>
        <p:spPr>
          <a:xfrm>
            <a:off x="5189350"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2 $ / 10 $</a:t>
            </a:r>
          </a:p>
          <a:p>
            <a:pPr algn="l">
              <a:lnSpc>
                <a:spcPct val="100000"/>
              </a:lnSpc>
              <a:spcBef>
                <a:spcPts val="100"/>
              </a:spcBef>
              <a:spcAft>
                <a:spcPts val="0"/>
              </a:spcAft>
            </a:pPr>
            <a:r>
              <a:rPr sz="800" b="0" i="0">
                <a:solidFill>
                  <a:srgbClr val="6A6A6A"/>
                </a:solidFill>
                <a:latin typeface="Marianne"/>
              </a:rPr>
              <a:t>+ siège ≈20 €/m</a:t>
            </a:r>
          </a:p>
        </p:txBody>
      </p:sp>
      <p:sp>
        <p:nvSpPr>
          <p:cNvPr id="33" name="TextBox 32"/>
          <p:cNvSpPr txBox="1"/>
          <p:nvPr/>
        </p:nvSpPr>
        <p:spPr>
          <a:xfrm>
            <a:off x="6467289"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34" name="TextBox 33"/>
          <p:cNvSpPr txBox="1"/>
          <p:nvPr/>
        </p:nvSpPr>
        <p:spPr>
          <a:xfrm>
            <a:off x="6467289"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Gratuit</a:t>
            </a:r>
          </a:p>
          <a:p>
            <a:pPr algn="l">
              <a:lnSpc>
                <a:spcPct val="100000"/>
              </a:lnSpc>
              <a:spcBef>
                <a:spcPts val="100"/>
              </a:spcBef>
              <a:spcAft>
                <a:spcPts val="0"/>
              </a:spcAft>
            </a:pPr>
            <a:r>
              <a:rPr sz="800" b="0" i="0">
                <a:solidFill>
                  <a:srgbClr val="6A6A6A"/>
                </a:solidFill>
                <a:latin typeface="Marianne"/>
              </a:rPr>
              <a:t>quotas · État</a:t>
            </a:r>
          </a:p>
        </p:txBody>
      </p:sp>
      <p:sp>
        <p:nvSpPr>
          <p:cNvPr id="35" name="TextBox 34"/>
          <p:cNvSpPr txBox="1"/>
          <p:nvPr/>
        </p:nvSpPr>
        <p:spPr>
          <a:xfrm>
            <a:off x="7745229"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36" name="TextBox 35"/>
          <p:cNvSpPr txBox="1"/>
          <p:nvPr/>
        </p:nvSpPr>
        <p:spPr>
          <a:xfrm>
            <a:off x="7745229"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0,40 € / 0,80 €</a:t>
            </a:r>
          </a:p>
        </p:txBody>
      </p:sp>
      <p:sp>
        <p:nvSpPr>
          <p:cNvPr id="37" name="TextBox 36"/>
          <p:cNvSpPr txBox="1"/>
          <p:nvPr/>
        </p:nvSpPr>
        <p:spPr>
          <a:xfrm>
            <a:off x="9023168"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38" name="TextBox 37"/>
          <p:cNvSpPr txBox="1"/>
          <p:nvPr/>
        </p:nvSpPr>
        <p:spPr>
          <a:xfrm>
            <a:off x="9023168"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1,80 € / 5,50 €</a:t>
            </a:r>
          </a:p>
        </p:txBody>
      </p:sp>
      <p:sp>
        <p:nvSpPr>
          <p:cNvPr id="39" name="TextBox 38"/>
          <p:cNvSpPr txBox="1"/>
          <p:nvPr/>
        </p:nvSpPr>
        <p:spPr>
          <a:xfrm>
            <a:off x="10301107"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40" name="TextBox 39"/>
          <p:cNvSpPr txBox="1"/>
          <p:nvPr/>
        </p:nvSpPr>
        <p:spPr>
          <a:xfrm>
            <a:off x="10301107"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2,55 $ / 12,75 $</a:t>
            </a:r>
          </a:p>
          <a:p>
            <a:pPr algn="l">
              <a:lnSpc>
                <a:spcPct val="100000"/>
              </a:lnSpc>
              <a:spcBef>
                <a:spcPts val="100"/>
              </a:spcBef>
              <a:spcAft>
                <a:spcPts val="0"/>
              </a:spcAft>
            </a:pPr>
            <a:r>
              <a:rPr sz="800" b="0" i="0">
                <a:solidFill>
                  <a:srgbClr val="6A6A6A"/>
                </a:solidFill>
                <a:latin typeface="Marianne"/>
              </a:rPr>
              <a:t>cache −60/80 %</a:t>
            </a:r>
          </a:p>
        </p:txBody>
      </p:sp>
      <p:sp>
        <p:nvSpPr>
          <p:cNvPr id="41" name="Rounded Rectangle 40"/>
          <p:cNvSpPr/>
          <p:nvPr/>
        </p:nvSpPr>
        <p:spPr>
          <a:xfrm>
            <a:off x="777240" y="3639311"/>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ode-s-slash.png"/>
          <p:cNvPicPr>
            <a:picLocks noChangeAspect="1"/>
          </p:cNvPicPr>
          <p:nvPr/>
        </p:nvPicPr>
        <p:blipFill>
          <a:blip r:embed="rId4"/>
          <a:stretch>
            <a:fillRect/>
          </a:stretch>
        </p:blipFill>
        <p:spPr>
          <a:xfrm>
            <a:off x="905256" y="3776472"/>
            <a:ext cx="329184" cy="329184"/>
          </a:xfrm>
          <a:prstGeom prst="rect">
            <a:avLst/>
          </a:prstGeom>
        </p:spPr>
      </p:pic>
      <p:sp>
        <p:nvSpPr>
          <p:cNvPr id="43" name="TextBox 42"/>
          <p:cNvSpPr txBox="1"/>
          <p:nvPr/>
        </p:nvSpPr>
        <p:spPr>
          <a:xfrm>
            <a:off x="1344168" y="3639311"/>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Performance</a:t>
            </a:r>
          </a:p>
          <a:p>
            <a:pPr algn="l">
              <a:lnSpc>
                <a:spcPct val="100000"/>
              </a:lnSpc>
              <a:spcBef>
                <a:spcPts val="200"/>
              </a:spcBef>
              <a:spcAft>
                <a:spcPts val="0"/>
              </a:spcAft>
            </a:pPr>
            <a:r>
              <a:rPr sz="900" b="0" i="0">
                <a:solidFill>
                  <a:srgbClr val="6A6A6A"/>
                </a:solidFill>
                <a:latin typeface="Marianne"/>
              </a:rPr>
              <a:t>DeepSWE v1.1 · modèle seul</a:t>
            </a:r>
          </a:p>
        </p:txBody>
      </p:sp>
      <p:sp>
        <p:nvSpPr>
          <p:cNvPr id="44" name="TextBox 43"/>
          <p:cNvSpPr txBox="1"/>
          <p:nvPr/>
        </p:nvSpPr>
        <p:spPr>
          <a:xfrm>
            <a:off x="2633472"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45" name="TextBox 44"/>
          <p:cNvSpPr txBox="1"/>
          <p:nvPr/>
        </p:nvSpPr>
        <p:spPr>
          <a:xfrm>
            <a:off x="2633472"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74,0 % (±4)</a:t>
            </a:r>
          </a:p>
          <a:p>
            <a:pPr algn="l">
              <a:lnSpc>
                <a:spcPct val="100000"/>
              </a:lnSpc>
              <a:spcBef>
                <a:spcPts val="100"/>
              </a:spcBef>
              <a:spcAft>
                <a:spcPts val="0"/>
              </a:spcAft>
            </a:pPr>
            <a:r>
              <a:rPr sz="800" b="0" i="0">
                <a:solidFill>
                  <a:srgbClr val="6A6A6A"/>
                </a:solidFill>
                <a:latin typeface="Marianne"/>
              </a:rPr>
              <a:t>TB 89,1 · SV 97,0*</a:t>
            </a:r>
          </a:p>
        </p:txBody>
      </p:sp>
      <p:sp>
        <p:nvSpPr>
          <p:cNvPr id="46" name="TextBox 45"/>
          <p:cNvSpPr txBox="1"/>
          <p:nvPr/>
        </p:nvSpPr>
        <p:spPr>
          <a:xfrm>
            <a:off x="3911411"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47" name="TextBox 46"/>
          <p:cNvSpPr txBox="1"/>
          <p:nvPr/>
        </p:nvSpPr>
        <p:spPr>
          <a:xfrm>
            <a:off x="3911411"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70,0 %</a:t>
            </a:r>
          </a:p>
          <a:p>
            <a:pPr algn="l">
              <a:lnSpc>
                <a:spcPct val="100000"/>
              </a:lnSpc>
              <a:spcBef>
                <a:spcPts val="100"/>
              </a:spcBef>
              <a:spcAft>
                <a:spcPts val="0"/>
              </a:spcAft>
            </a:pPr>
            <a:r>
              <a:rPr sz="800" b="0" i="0">
                <a:solidFill>
                  <a:srgbClr val="6A6A6A"/>
                </a:solidFill>
                <a:latin typeface="Marianne"/>
              </a:rPr>
              <a:t>TB n.p. · SV 95,0</a:t>
            </a:r>
          </a:p>
        </p:txBody>
      </p:sp>
      <p:sp>
        <p:nvSpPr>
          <p:cNvPr id="48" name="TextBox 47"/>
          <p:cNvSpPr txBox="1"/>
          <p:nvPr/>
        </p:nvSpPr>
        <p:spPr>
          <a:xfrm>
            <a:off x="5189350"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49" name="TextBox 48"/>
          <p:cNvSpPr txBox="1"/>
          <p:nvPr/>
        </p:nvSpPr>
        <p:spPr>
          <a:xfrm>
            <a:off x="5189350"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non publié</a:t>
            </a:r>
          </a:p>
          <a:p>
            <a:pPr algn="l">
              <a:lnSpc>
                <a:spcPct val="100000"/>
              </a:lnSpc>
              <a:spcBef>
                <a:spcPts val="100"/>
              </a:spcBef>
              <a:spcAft>
                <a:spcPts val="0"/>
              </a:spcAft>
            </a:pPr>
            <a:r>
              <a:rPr sz="800" b="0" i="0">
                <a:solidFill>
                  <a:srgbClr val="6A6A6A"/>
                </a:solidFill>
                <a:latin typeface="Marianne"/>
              </a:rPr>
              <a:t>TB 85,2 · SV 82,1</a:t>
            </a:r>
          </a:p>
        </p:txBody>
      </p:sp>
      <p:sp>
        <p:nvSpPr>
          <p:cNvPr id="50" name="TextBox 49"/>
          <p:cNvSpPr txBox="1"/>
          <p:nvPr/>
        </p:nvSpPr>
        <p:spPr>
          <a:xfrm>
            <a:off x="6467289"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51" name="TextBox 50"/>
          <p:cNvSpPr txBox="1"/>
          <p:nvPr/>
        </p:nvSpPr>
        <p:spPr>
          <a:xfrm>
            <a:off x="6467289"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7,3 %ᵛ</a:t>
            </a:r>
          </a:p>
          <a:p>
            <a:pPr algn="l">
              <a:lnSpc>
                <a:spcPct val="100000"/>
              </a:lnSpc>
              <a:spcBef>
                <a:spcPts val="100"/>
              </a:spcBef>
              <a:spcAft>
                <a:spcPts val="0"/>
              </a:spcAft>
            </a:pPr>
            <a:r>
              <a:rPr sz="800" b="0" i="0">
                <a:solidFill>
                  <a:srgbClr val="6A6A6A"/>
                </a:solidFill>
                <a:latin typeface="Marianne"/>
              </a:rPr>
              <a:t>TB 61,8ᵛ · SV 79,0</a:t>
            </a:r>
          </a:p>
        </p:txBody>
      </p:sp>
      <p:sp>
        <p:nvSpPr>
          <p:cNvPr id="52" name="TextBox 51"/>
          <p:cNvSpPr txBox="1"/>
          <p:nvPr/>
        </p:nvSpPr>
        <p:spPr>
          <a:xfrm>
            <a:off x="7745229"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53" name="TextBox 52"/>
          <p:cNvSpPr txBox="1"/>
          <p:nvPr/>
        </p:nvSpPr>
        <p:spPr>
          <a:xfrm>
            <a:off x="7745229"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54,4 %ᵛ</a:t>
            </a:r>
          </a:p>
          <a:p>
            <a:pPr algn="l">
              <a:lnSpc>
                <a:spcPct val="100000"/>
              </a:lnSpc>
              <a:spcBef>
                <a:spcPts val="100"/>
              </a:spcBef>
              <a:spcAft>
                <a:spcPts val="0"/>
              </a:spcAft>
            </a:pPr>
            <a:r>
              <a:rPr sz="800" b="0" i="0">
                <a:solidFill>
                  <a:srgbClr val="6A6A6A"/>
                </a:solidFill>
                <a:latin typeface="Marianne"/>
              </a:rPr>
              <a:t>TB 82,7ᵛ · SV n.p.</a:t>
            </a:r>
          </a:p>
        </p:txBody>
      </p:sp>
      <p:sp>
        <p:nvSpPr>
          <p:cNvPr id="54" name="TextBox 53"/>
          <p:cNvSpPr txBox="1"/>
          <p:nvPr/>
        </p:nvSpPr>
        <p:spPr>
          <a:xfrm>
            <a:off x="9023168"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55" name="TextBox 54"/>
          <p:cNvSpPr txBox="1"/>
          <p:nvPr/>
        </p:nvSpPr>
        <p:spPr>
          <a:xfrm>
            <a:off x="9023168"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44,0 %</a:t>
            </a:r>
          </a:p>
          <a:p>
            <a:pPr algn="l">
              <a:lnSpc>
                <a:spcPct val="100000"/>
              </a:lnSpc>
              <a:spcBef>
                <a:spcPts val="100"/>
              </a:spcBef>
              <a:spcAft>
                <a:spcPts val="0"/>
              </a:spcAft>
            </a:pPr>
            <a:r>
              <a:rPr sz="800" b="0" i="0">
                <a:solidFill>
                  <a:srgbClr val="6A6A6A"/>
                </a:solidFill>
                <a:latin typeface="Marianne"/>
              </a:rPr>
              <a:t>TB 81,0ᵛ · SV ≈78</a:t>
            </a:r>
          </a:p>
        </p:txBody>
      </p:sp>
      <p:sp>
        <p:nvSpPr>
          <p:cNvPr id="56" name="TextBox 55"/>
          <p:cNvSpPr txBox="1"/>
          <p:nvPr/>
        </p:nvSpPr>
        <p:spPr>
          <a:xfrm>
            <a:off x="10301107"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57" name="TextBox 56"/>
          <p:cNvSpPr txBox="1"/>
          <p:nvPr/>
        </p:nvSpPr>
        <p:spPr>
          <a:xfrm>
            <a:off x="10301107"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≈69 %</a:t>
            </a:r>
          </a:p>
          <a:p>
            <a:pPr algn="l">
              <a:lnSpc>
                <a:spcPct val="100000"/>
              </a:lnSpc>
              <a:spcBef>
                <a:spcPts val="100"/>
              </a:spcBef>
              <a:spcAft>
                <a:spcPts val="0"/>
              </a:spcAft>
            </a:pPr>
            <a:r>
              <a:rPr sz="800" b="0" i="0">
                <a:solidFill>
                  <a:srgbClr val="6A6A6A"/>
                </a:solidFill>
                <a:latin typeface="Marianne"/>
              </a:rPr>
              <a:t>TB 88,3ᵛ · SV 93,4ᵛ</a:t>
            </a:r>
          </a:p>
        </p:txBody>
      </p:sp>
      <p:sp>
        <p:nvSpPr>
          <p:cNvPr id="58" name="Rounded Rectangle 57"/>
          <p:cNvSpPr/>
          <p:nvPr/>
        </p:nvSpPr>
        <p:spPr>
          <a:xfrm>
            <a:off x="777240" y="4297679"/>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shield-check.png"/>
          <p:cNvPicPr>
            <a:picLocks noChangeAspect="1"/>
          </p:cNvPicPr>
          <p:nvPr/>
        </p:nvPicPr>
        <p:blipFill>
          <a:blip r:embed="rId5"/>
          <a:stretch>
            <a:fillRect/>
          </a:stretch>
        </p:blipFill>
        <p:spPr>
          <a:xfrm>
            <a:off x="905256" y="4434840"/>
            <a:ext cx="329184" cy="329184"/>
          </a:xfrm>
          <a:prstGeom prst="rect">
            <a:avLst/>
          </a:prstGeom>
        </p:spPr>
      </p:pic>
      <p:sp>
        <p:nvSpPr>
          <p:cNvPr id="60" name="TextBox 59"/>
          <p:cNvSpPr txBox="1"/>
          <p:nvPr/>
        </p:nvSpPr>
        <p:spPr>
          <a:xfrm>
            <a:off x="1344168" y="4297679"/>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Souveraineté</a:t>
            </a:r>
          </a:p>
          <a:p>
            <a:pPr algn="l">
              <a:lnSpc>
                <a:spcPct val="100000"/>
              </a:lnSpc>
              <a:spcBef>
                <a:spcPts val="200"/>
              </a:spcBef>
              <a:spcAft>
                <a:spcPts val="0"/>
              </a:spcAft>
            </a:pPr>
            <a:r>
              <a:rPr sz="900" b="0" i="0">
                <a:solidFill>
                  <a:srgbClr val="6A6A6A"/>
                </a:solidFill>
                <a:latin typeface="Marianne"/>
              </a:rPr>
              <a:t>au sens CNIL</a:t>
            </a:r>
          </a:p>
        </p:txBody>
      </p:sp>
      <p:sp>
        <p:nvSpPr>
          <p:cNvPr id="61" name="TextBox 60"/>
          <p:cNvSpPr txBox="1"/>
          <p:nvPr/>
        </p:nvSpPr>
        <p:spPr>
          <a:xfrm>
            <a:off x="2633472"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62" name="TextBox 61"/>
          <p:cNvSpPr txBox="1"/>
          <p:nvPr/>
        </p:nvSpPr>
        <p:spPr>
          <a:xfrm>
            <a:off x="2633472"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US</a:t>
            </a:r>
          </a:p>
          <a:p>
            <a:pPr algn="l">
              <a:lnSpc>
                <a:spcPct val="100000"/>
              </a:lnSpc>
              <a:spcBef>
                <a:spcPts val="100"/>
              </a:spcBef>
              <a:spcAft>
                <a:spcPts val="0"/>
              </a:spcAft>
            </a:pPr>
            <a:r>
              <a:rPr sz="800" b="0" i="0">
                <a:solidFill>
                  <a:srgbClr val="6A6A6A"/>
                </a:solidFill>
                <a:latin typeface="Marianne"/>
              </a:rPr>
              <a:t>CLOUD Act (CNIL)</a:t>
            </a:r>
          </a:p>
        </p:txBody>
      </p:sp>
      <p:sp>
        <p:nvSpPr>
          <p:cNvPr id="63" name="TextBox 62"/>
          <p:cNvSpPr txBox="1"/>
          <p:nvPr/>
        </p:nvSpPr>
        <p:spPr>
          <a:xfrm>
            <a:off x="3911411"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64" name="TextBox 63"/>
          <p:cNvSpPr txBox="1"/>
          <p:nvPr/>
        </p:nvSpPr>
        <p:spPr>
          <a:xfrm>
            <a:off x="3911411"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US</a:t>
            </a:r>
          </a:p>
          <a:p>
            <a:pPr algn="l">
              <a:lnSpc>
                <a:spcPct val="100000"/>
              </a:lnSpc>
              <a:spcBef>
                <a:spcPts val="100"/>
              </a:spcBef>
              <a:spcAft>
                <a:spcPts val="0"/>
              </a:spcAft>
            </a:pPr>
            <a:r>
              <a:rPr sz="800" b="0" i="0">
                <a:solidFill>
                  <a:srgbClr val="6A6A6A"/>
                </a:solidFill>
                <a:latin typeface="Marianne"/>
              </a:rPr>
              <a:t>CLOUD Act (CNIL)</a:t>
            </a:r>
          </a:p>
        </p:txBody>
      </p:sp>
      <p:sp>
        <p:nvSpPr>
          <p:cNvPr id="65" name="TextBox 64"/>
          <p:cNvSpPr txBox="1"/>
          <p:nvPr/>
        </p:nvSpPr>
        <p:spPr>
          <a:xfrm>
            <a:off x="5189350"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66" name="TextBox 65"/>
          <p:cNvSpPr txBox="1"/>
          <p:nvPr/>
        </p:nvSpPr>
        <p:spPr>
          <a:xfrm>
            <a:off x="5189350"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US</a:t>
            </a:r>
          </a:p>
          <a:p>
            <a:pPr algn="l">
              <a:lnSpc>
                <a:spcPct val="100000"/>
              </a:lnSpc>
              <a:spcBef>
                <a:spcPts val="100"/>
              </a:spcBef>
              <a:spcAft>
                <a:spcPts val="0"/>
              </a:spcAft>
            </a:pPr>
            <a:r>
              <a:rPr sz="800" b="0" i="0">
                <a:solidFill>
                  <a:srgbClr val="6A6A6A"/>
                </a:solidFill>
                <a:latin typeface="Marianne"/>
              </a:rPr>
              <a:t>CLOUD Act (CNIL)</a:t>
            </a:r>
          </a:p>
        </p:txBody>
      </p:sp>
      <p:sp>
        <p:nvSpPr>
          <p:cNvPr id="67" name="TextBox 66"/>
          <p:cNvSpPr txBox="1"/>
          <p:nvPr/>
        </p:nvSpPr>
        <p:spPr>
          <a:xfrm>
            <a:off x="6467289"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68" name="TextBox 67"/>
          <p:cNvSpPr txBox="1"/>
          <p:nvPr/>
        </p:nvSpPr>
        <p:spPr>
          <a:xfrm>
            <a:off x="6467289"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État FR</a:t>
            </a:r>
          </a:p>
          <a:p>
            <a:pPr algn="l">
              <a:lnSpc>
                <a:spcPct val="100000"/>
              </a:lnSpc>
              <a:spcBef>
                <a:spcPts val="100"/>
              </a:spcBef>
              <a:spcAft>
                <a:spcPts val="0"/>
              </a:spcAft>
            </a:pPr>
            <a:r>
              <a:rPr sz="800" b="0" i="0">
                <a:solidFill>
                  <a:srgbClr val="6A6A6A"/>
                </a:solidFill>
                <a:latin typeface="Marianne"/>
              </a:rPr>
              <a:t>SecNumCloud</a:t>
            </a:r>
          </a:p>
        </p:txBody>
      </p:sp>
      <p:sp>
        <p:nvSpPr>
          <p:cNvPr id="69" name="TextBox 68"/>
          <p:cNvSpPr txBox="1"/>
          <p:nvPr/>
        </p:nvSpPr>
        <p:spPr>
          <a:xfrm>
            <a:off x="7745229"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70" name="TextBox 69"/>
          <p:cNvSpPr txBox="1"/>
          <p:nvPr/>
        </p:nvSpPr>
        <p:spPr>
          <a:xfrm>
            <a:off x="7745229"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FR</a:t>
            </a:r>
          </a:p>
          <a:p>
            <a:pPr algn="l">
              <a:lnSpc>
                <a:spcPct val="100000"/>
              </a:lnSpc>
              <a:spcBef>
                <a:spcPts val="100"/>
              </a:spcBef>
              <a:spcAft>
                <a:spcPts val="0"/>
              </a:spcAft>
            </a:pPr>
            <a:r>
              <a:rPr sz="800" b="0" i="0">
                <a:solidFill>
                  <a:srgbClr val="6A6A6A"/>
                </a:solidFill>
                <a:latin typeface="Marianne"/>
              </a:rPr>
              <a:t>hébergé UE</a:t>
            </a:r>
          </a:p>
        </p:txBody>
      </p:sp>
      <p:sp>
        <p:nvSpPr>
          <p:cNvPr id="71" name="TextBox 70"/>
          <p:cNvSpPr txBox="1"/>
          <p:nvPr/>
        </p:nvSpPr>
        <p:spPr>
          <a:xfrm>
            <a:off x="9023168"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72" name="TextBox 71"/>
          <p:cNvSpPr txBox="1"/>
          <p:nvPr/>
        </p:nvSpPr>
        <p:spPr>
          <a:xfrm>
            <a:off x="9023168"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FR</a:t>
            </a:r>
          </a:p>
          <a:p>
            <a:pPr algn="l">
              <a:lnSpc>
                <a:spcPct val="100000"/>
              </a:lnSpc>
              <a:spcBef>
                <a:spcPts val="100"/>
              </a:spcBef>
              <a:spcAft>
                <a:spcPts val="0"/>
              </a:spcAft>
            </a:pPr>
            <a:r>
              <a:rPr sz="800" b="0" i="0">
                <a:solidFill>
                  <a:srgbClr val="6A6A6A"/>
                </a:solidFill>
                <a:latin typeface="Marianne"/>
              </a:rPr>
              <a:t>hébergé UE</a:t>
            </a:r>
          </a:p>
        </p:txBody>
      </p:sp>
      <p:sp>
        <p:nvSpPr>
          <p:cNvPr id="73" name="TextBox 72"/>
          <p:cNvSpPr txBox="1"/>
          <p:nvPr/>
        </p:nvSpPr>
        <p:spPr>
          <a:xfrm>
            <a:off x="10301107"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74" name="TextBox 73"/>
          <p:cNvSpPr txBox="1"/>
          <p:nvPr/>
        </p:nvSpPr>
        <p:spPr>
          <a:xfrm>
            <a:off x="10301107"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Éditeur CN</a:t>
            </a:r>
          </a:p>
          <a:p>
            <a:pPr algn="l">
              <a:lnSpc>
                <a:spcPct val="100000"/>
              </a:lnSpc>
              <a:spcBef>
                <a:spcPts val="100"/>
              </a:spcBef>
              <a:spcAft>
                <a:spcPts val="0"/>
              </a:spcAft>
            </a:pPr>
            <a:r>
              <a:rPr sz="800" b="0" i="0">
                <a:solidFill>
                  <a:srgbClr val="6A6A6A"/>
                </a:solidFill>
                <a:latin typeface="Marianne"/>
              </a:rPr>
              <a:t>+ routeur US</a:t>
            </a:r>
          </a:p>
        </p:txBody>
      </p:sp>
      <p:sp>
        <p:nvSpPr>
          <p:cNvPr id="75" name="Rounded Rectangle 74"/>
          <p:cNvSpPr/>
          <p:nvPr/>
        </p:nvSpPr>
        <p:spPr>
          <a:xfrm>
            <a:off x="777240" y="4956048"/>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6" name="Picture 75" descr="shield-check.png"/>
          <p:cNvPicPr>
            <a:picLocks noChangeAspect="1"/>
          </p:cNvPicPr>
          <p:nvPr/>
        </p:nvPicPr>
        <p:blipFill>
          <a:blip r:embed="rId5"/>
          <a:stretch>
            <a:fillRect/>
          </a:stretch>
        </p:blipFill>
        <p:spPr>
          <a:xfrm>
            <a:off x="905256" y="5093208"/>
            <a:ext cx="329184" cy="329184"/>
          </a:xfrm>
          <a:prstGeom prst="rect">
            <a:avLst/>
          </a:prstGeom>
        </p:spPr>
      </p:pic>
      <p:sp>
        <p:nvSpPr>
          <p:cNvPr id="77" name="TextBox 76"/>
          <p:cNvSpPr txBox="1"/>
          <p:nvPr/>
        </p:nvSpPr>
        <p:spPr>
          <a:xfrm>
            <a:off x="1344168" y="4956048"/>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Conformité</a:t>
            </a:r>
          </a:p>
          <a:p>
            <a:pPr algn="l">
              <a:lnSpc>
                <a:spcPct val="100000"/>
              </a:lnSpc>
              <a:spcBef>
                <a:spcPts val="200"/>
              </a:spcBef>
              <a:spcAft>
                <a:spcPts val="0"/>
              </a:spcAft>
            </a:pPr>
            <a:r>
              <a:rPr sz="900" b="0" i="0">
                <a:solidFill>
                  <a:srgbClr val="6A6A6A"/>
                </a:solidFill>
                <a:latin typeface="Marianne"/>
              </a:rPr>
              <a:t>RGPD / données</a:t>
            </a:r>
          </a:p>
        </p:txBody>
      </p:sp>
      <p:sp>
        <p:nvSpPr>
          <p:cNvPr id="78" name="TextBox 77"/>
          <p:cNvSpPr txBox="1"/>
          <p:nvPr/>
        </p:nvSpPr>
        <p:spPr>
          <a:xfrm>
            <a:off x="2633472"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79" name="TextBox 78"/>
          <p:cNvSpPr txBox="1"/>
          <p:nvPr/>
        </p:nvSpPr>
        <p:spPr>
          <a:xfrm>
            <a:off x="2633472"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UE · DPA AWS</a:t>
            </a:r>
          </a:p>
        </p:txBody>
      </p:sp>
      <p:sp>
        <p:nvSpPr>
          <p:cNvPr id="80" name="TextBox 79"/>
          <p:cNvSpPr txBox="1"/>
          <p:nvPr/>
        </p:nvSpPr>
        <p:spPr>
          <a:xfrm>
            <a:off x="3911411"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81" name="TextBox 80"/>
          <p:cNvSpPr txBox="1"/>
          <p:nvPr/>
        </p:nvSpPr>
        <p:spPr>
          <a:xfrm>
            <a:off x="3911411"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UE · DPA AWS</a:t>
            </a:r>
          </a:p>
        </p:txBody>
      </p:sp>
      <p:sp>
        <p:nvSpPr>
          <p:cNvPr id="82" name="TextBox 81"/>
          <p:cNvSpPr txBox="1"/>
          <p:nvPr/>
        </p:nvSpPr>
        <p:spPr>
          <a:xfrm>
            <a:off x="5189350"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83" name="TextBox 82"/>
          <p:cNvSpPr txBox="1"/>
          <p:nvPr/>
        </p:nvSpPr>
        <p:spPr>
          <a:xfrm>
            <a:off x="5189350"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UE · DPA AWS</a:t>
            </a:r>
          </a:p>
        </p:txBody>
      </p:sp>
      <p:sp>
        <p:nvSpPr>
          <p:cNvPr id="84" name="TextBox 83"/>
          <p:cNvSpPr txBox="1"/>
          <p:nvPr/>
        </p:nvSpPr>
        <p:spPr>
          <a:xfrm>
            <a:off x="6467289"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85" name="TextBox 84"/>
          <p:cNvSpPr txBox="1"/>
          <p:nvPr/>
        </p:nvSpPr>
        <p:spPr>
          <a:xfrm>
            <a:off x="6467289"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cadre État</a:t>
            </a:r>
          </a:p>
        </p:txBody>
      </p:sp>
      <p:sp>
        <p:nvSpPr>
          <p:cNvPr id="86" name="TextBox 85"/>
          <p:cNvSpPr txBox="1"/>
          <p:nvPr/>
        </p:nvSpPr>
        <p:spPr>
          <a:xfrm>
            <a:off x="7745229"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87" name="TextBox 86"/>
          <p:cNvSpPr txBox="1"/>
          <p:nvPr/>
        </p:nvSpPr>
        <p:spPr>
          <a:xfrm>
            <a:off x="7745229"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RGPD · cloud FR</a:t>
            </a:r>
          </a:p>
        </p:txBody>
      </p:sp>
      <p:sp>
        <p:nvSpPr>
          <p:cNvPr id="88" name="TextBox 87"/>
          <p:cNvSpPr txBox="1"/>
          <p:nvPr/>
        </p:nvSpPr>
        <p:spPr>
          <a:xfrm>
            <a:off x="9023168"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89" name="TextBox 88"/>
          <p:cNvSpPr txBox="1"/>
          <p:nvPr/>
        </p:nvSpPr>
        <p:spPr>
          <a:xfrm>
            <a:off x="9023168"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RGPD · cloud FR</a:t>
            </a:r>
          </a:p>
        </p:txBody>
      </p:sp>
      <p:sp>
        <p:nvSpPr>
          <p:cNvPr id="90" name="TextBox 89"/>
          <p:cNvSpPr txBox="1"/>
          <p:nvPr/>
        </p:nvSpPr>
        <p:spPr>
          <a:xfrm>
            <a:off x="10301107"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91" name="TextBox 90"/>
          <p:cNvSpPr txBox="1"/>
          <p:nvPr/>
        </p:nvSpPr>
        <p:spPr>
          <a:xfrm>
            <a:off x="10301107"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Insuffisante</a:t>
            </a:r>
          </a:p>
          <a:p>
            <a:pPr algn="l">
              <a:lnSpc>
                <a:spcPct val="100000"/>
              </a:lnSpc>
              <a:spcBef>
                <a:spcPts val="100"/>
              </a:spcBef>
              <a:spcAft>
                <a:spcPts val="0"/>
              </a:spcAft>
            </a:pPr>
            <a:r>
              <a:rPr sz="800" b="0" i="0">
                <a:solidFill>
                  <a:srgbClr val="6A6A6A"/>
                </a:solidFill>
                <a:latin typeface="Marianne"/>
              </a:rPr>
              <a:t>sans garanties UE</a:t>
            </a:r>
          </a:p>
        </p:txBody>
      </p:sp>
      <p:sp>
        <p:nvSpPr>
          <p:cNvPr id="92" name="Rounded Rectangle 91"/>
          <p:cNvSpPr/>
          <p:nvPr/>
        </p:nvSpPr>
        <p:spPr>
          <a:xfrm>
            <a:off x="777240" y="5614416"/>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3" name="Picture 92" descr="settings-3.png"/>
          <p:cNvPicPr>
            <a:picLocks noChangeAspect="1"/>
          </p:cNvPicPr>
          <p:nvPr/>
        </p:nvPicPr>
        <p:blipFill>
          <a:blip r:embed="rId6"/>
          <a:stretch>
            <a:fillRect/>
          </a:stretch>
        </p:blipFill>
        <p:spPr>
          <a:xfrm>
            <a:off x="905256" y="5751576"/>
            <a:ext cx="329184" cy="329184"/>
          </a:xfrm>
          <a:prstGeom prst="rect">
            <a:avLst/>
          </a:prstGeom>
        </p:spPr>
      </p:pic>
      <p:sp>
        <p:nvSpPr>
          <p:cNvPr id="94" name="TextBox 93"/>
          <p:cNvSpPr txBox="1"/>
          <p:nvPr/>
        </p:nvSpPr>
        <p:spPr>
          <a:xfrm>
            <a:off x="1344168" y="5614416"/>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Faisabilité</a:t>
            </a:r>
          </a:p>
          <a:p>
            <a:pPr algn="l">
              <a:lnSpc>
                <a:spcPct val="100000"/>
              </a:lnSpc>
              <a:spcBef>
                <a:spcPts val="200"/>
              </a:spcBef>
              <a:spcAft>
                <a:spcPts val="0"/>
              </a:spcAft>
            </a:pPr>
            <a:r>
              <a:rPr sz="900" b="0" i="0">
                <a:solidFill>
                  <a:srgbClr val="6A6A6A"/>
                </a:solidFill>
                <a:latin typeface="Marianne"/>
              </a:rPr>
              <a:t>poste interne</a:t>
            </a:r>
          </a:p>
        </p:txBody>
      </p:sp>
      <p:sp>
        <p:nvSpPr>
          <p:cNvPr id="95" name="TextBox 94"/>
          <p:cNvSpPr txBox="1"/>
          <p:nvPr/>
        </p:nvSpPr>
        <p:spPr>
          <a:xfrm>
            <a:off x="2633472"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96" name="TextBox 95"/>
          <p:cNvSpPr txBox="1"/>
          <p:nvPr/>
        </p:nvSpPr>
        <p:spPr>
          <a:xfrm>
            <a:off x="2633472"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Bedrock (IAM)</a:t>
            </a:r>
          </a:p>
          <a:p>
            <a:pPr algn="l">
              <a:lnSpc>
                <a:spcPct val="100000"/>
              </a:lnSpc>
              <a:spcBef>
                <a:spcPts val="100"/>
              </a:spcBef>
              <a:spcAft>
                <a:spcPts val="0"/>
              </a:spcAft>
            </a:pPr>
            <a:r>
              <a:rPr sz="800" b="0" i="0">
                <a:solidFill>
                  <a:srgbClr val="6A6A6A"/>
                </a:solidFill>
                <a:latin typeface="Marianne"/>
              </a:rPr>
              <a:t>data sharing</a:t>
            </a:r>
          </a:p>
        </p:txBody>
      </p:sp>
      <p:sp>
        <p:nvSpPr>
          <p:cNvPr id="97" name="TextBox 96"/>
          <p:cNvSpPr txBox="1"/>
          <p:nvPr/>
        </p:nvSpPr>
        <p:spPr>
          <a:xfrm>
            <a:off x="3911411"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98" name="TextBox 97"/>
          <p:cNvSpPr txBox="1"/>
          <p:nvPr/>
        </p:nvSpPr>
        <p:spPr>
          <a:xfrm>
            <a:off x="3911411"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Bedrock (IAM)</a:t>
            </a:r>
          </a:p>
          <a:p>
            <a:pPr algn="l">
              <a:lnSpc>
                <a:spcPct val="100000"/>
              </a:lnSpc>
              <a:spcBef>
                <a:spcPts val="100"/>
              </a:spcBef>
              <a:spcAft>
                <a:spcPts val="0"/>
              </a:spcAft>
            </a:pPr>
            <a:r>
              <a:rPr sz="800" b="0" i="0">
                <a:solidFill>
                  <a:srgbClr val="6A6A6A"/>
                </a:solidFill>
                <a:latin typeface="Marianne"/>
              </a:rPr>
              <a:t>data sharing</a:t>
            </a:r>
          </a:p>
        </p:txBody>
      </p:sp>
      <p:sp>
        <p:nvSpPr>
          <p:cNvPr id="99" name="TextBox 98"/>
          <p:cNvSpPr txBox="1"/>
          <p:nvPr/>
        </p:nvSpPr>
        <p:spPr>
          <a:xfrm>
            <a:off x="5189350"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0" name="TextBox 99"/>
          <p:cNvSpPr txBox="1"/>
          <p:nvPr/>
        </p:nvSpPr>
        <p:spPr>
          <a:xfrm>
            <a:off x="5189350"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Bedrock (IAM)</a:t>
            </a:r>
          </a:p>
          <a:p>
            <a:pPr algn="l">
              <a:lnSpc>
                <a:spcPct val="100000"/>
              </a:lnSpc>
              <a:spcBef>
                <a:spcPts val="100"/>
              </a:spcBef>
              <a:spcAft>
                <a:spcPts val="0"/>
              </a:spcAft>
            </a:pPr>
            <a:r>
              <a:rPr sz="800" b="0" i="0">
                <a:solidFill>
                  <a:srgbClr val="6A6A6A"/>
                </a:solidFill>
                <a:latin typeface="Marianne"/>
              </a:rPr>
              <a:t>data sharing</a:t>
            </a:r>
          </a:p>
        </p:txBody>
      </p:sp>
      <p:sp>
        <p:nvSpPr>
          <p:cNvPr id="101" name="TextBox 100"/>
          <p:cNvSpPr txBox="1"/>
          <p:nvPr/>
        </p:nvSpPr>
        <p:spPr>
          <a:xfrm>
            <a:off x="6467289"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2" name="TextBox 101"/>
          <p:cNvSpPr txBox="1"/>
          <p:nvPr/>
        </p:nvSpPr>
        <p:spPr>
          <a:xfrm>
            <a:off x="6467289"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OpenAI-compat.</a:t>
            </a:r>
          </a:p>
          <a:p>
            <a:pPr algn="l">
              <a:lnSpc>
                <a:spcPct val="100000"/>
              </a:lnSpc>
              <a:spcBef>
                <a:spcPts val="100"/>
              </a:spcBef>
              <a:spcAft>
                <a:spcPts val="0"/>
              </a:spcAft>
            </a:pPr>
            <a:r>
              <a:rPr sz="800" b="0" i="0">
                <a:solidFill>
                  <a:srgbClr val="6A6A6A"/>
                </a:solidFill>
                <a:latin typeface="Marianne"/>
              </a:rPr>
              <a:t>agents État</a:t>
            </a:r>
          </a:p>
        </p:txBody>
      </p:sp>
      <p:sp>
        <p:nvSpPr>
          <p:cNvPr id="103" name="TextBox 102"/>
          <p:cNvSpPr txBox="1"/>
          <p:nvPr/>
        </p:nvSpPr>
        <p:spPr>
          <a:xfrm>
            <a:off x="7745229"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4" name="TextBox 103"/>
          <p:cNvSpPr txBox="1"/>
          <p:nvPr/>
        </p:nvSpPr>
        <p:spPr>
          <a:xfrm>
            <a:off x="7745229"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clé Scaleway</a:t>
            </a:r>
          </a:p>
          <a:p>
            <a:pPr algn="l">
              <a:lnSpc>
                <a:spcPct val="100000"/>
              </a:lnSpc>
              <a:spcBef>
                <a:spcPts val="100"/>
              </a:spcBef>
              <a:spcAft>
                <a:spcPts val="0"/>
              </a:spcAft>
            </a:pPr>
            <a:r>
              <a:rPr sz="800" b="0" i="0">
                <a:solidFill>
                  <a:srgbClr val="6A6A6A"/>
                </a:solidFill>
                <a:latin typeface="Marianne"/>
              </a:rPr>
              <a:t>OpenAI-compat.</a:t>
            </a:r>
          </a:p>
        </p:txBody>
      </p:sp>
      <p:sp>
        <p:nvSpPr>
          <p:cNvPr id="105" name="TextBox 104"/>
          <p:cNvSpPr txBox="1"/>
          <p:nvPr/>
        </p:nvSpPr>
        <p:spPr>
          <a:xfrm>
            <a:off x="9023168"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6" name="TextBox 105"/>
          <p:cNvSpPr txBox="1"/>
          <p:nvPr/>
        </p:nvSpPr>
        <p:spPr>
          <a:xfrm>
            <a:off x="9023168"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clé Scaleway</a:t>
            </a:r>
          </a:p>
          <a:p>
            <a:pPr algn="l">
              <a:lnSpc>
                <a:spcPct val="100000"/>
              </a:lnSpc>
              <a:spcBef>
                <a:spcPts val="100"/>
              </a:spcBef>
              <a:spcAft>
                <a:spcPts val="0"/>
              </a:spcAft>
            </a:pPr>
            <a:r>
              <a:rPr sz="800" b="0" i="0">
                <a:solidFill>
                  <a:srgbClr val="6A6A6A"/>
                </a:solidFill>
                <a:latin typeface="Marianne"/>
              </a:rPr>
              <a:t>OpenAI-compat.</a:t>
            </a:r>
          </a:p>
        </p:txBody>
      </p:sp>
      <p:sp>
        <p:nvSpPr>
          <p:cNvPr id="107" name="TextBox 106"/>
          <p:cNvSpPr txBox="1"/>
          <p:nvPr/>
        </p:nvSpPr>
        <p:spPr>
          <a:xfrm>
            <a:off x="10301107"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8" name="TextBox 107"/>
          <p:cNvSpPr txBox="1"/>
          <p:nvPr/>
        </p:nvSpPr>
        <p:spPr>
          <a:xfrm>
            <a:off x="10301107"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clé OpenRouter</a:t>
            </a:r>
          </a:p>
          <a:p>
            <a:pPr algn="l">
              <a:lnSpc>
                <a:spcPct val="100000"/>
              </a:lnSpc>
              <a:spcBef>
                <a:spcPts val="100"/>
              </a:spcBef>
              <a:spcAft>
                <a:spcPts val="0"/>
              </a:spcAft>
            </a:pPr>
            <a:r>
              <a:rPr sz="800" b="0" i="0">
                <a:solidFill>
                  <a:srgbClr val="6A6A6A"/>
                </a:solidFill>
                <a:latin typeface="Marianne"/>
              </a:rPr>
              <a:t>capacité limitée</a:t>
            </a:r>
          </a:p>
        </p:txBody>
      </p:sp>
      <p:sp>
        <p:nvSpPr>
          <p:cNvPr id="109" name="TextBox 108"/>
          <p:cNvSpPr txBox="1"/>
          <p:nvPr/>
        </p:nvSpPr>
        <p:spPr>
          <a:xfrm>
            <a:off x="777240" y="6291071"/>
            <a:ext cx="10637215" cy="274320"/>
          </a:xfrm>
          <a:prstGeom prst="rect">
            <a:avLst/>
          </a:prstGeom>
          <a:noFill/>
        </p:spPr>
        <p:txBody>
          <a:bodyPr wrap="square" lIns="0" rIns="0" tIns="0" bIns="0" anchor="t">
            <a:spAutoFit/>
          </a:bodyPr>
          <a:lstStyle/>
          <a:p>
            <a:pPr algn="l">
              <a:lnSpc>
                <a:spcPct val="106000"/>
              </a:lnSpc>
              <a:spcBef>
                <a:spcPts val="0"/>
              </a:spcBef>
              <a:spcAft>
                <a:spcPts val="0"/>
              </a:spcAft>
            </a:pPr>
            <a:r>
              <a:rPr sz="1050" b="0" i="0">
                <a:solidFill>
                  <a:srgbClr val="18753C"/>
                </a:solidFill>
                <a:latin typeface="Marianne"/>
              </a:rPr>
              <a:t>● ● ● ● ● </a:t>
            </a:r>
            <a:r>
              <a:rPr sz="1000" b="0" i="0">
                <a:solidFill>
                  <a:srgbClr val="6A6A6A"/>
                </a:solidFill>
                <a:latin typeface="Marianne"/>
              </a:rPr>
              <a:t>favorable    </a:t>
            </a:r>
            <a:r>
              <a:rPr sz="1050" b="0" i="0">
                <a:solidFill>
                  <a:srgbClr val="B85C00"/>
                </a:solidFill>
                <a:latin typeface="Marianne"/>
              </a:rPr>
              <a:t>● ● ● </a:t>
            </a:r>
            <a:r>
              <a:rPr sz="1000" b="0" i="0">
                <a:solidFill>
                  <a:srgbClr val="6A6A6A"/>
                </a:solidFill>
                <a:latin typeface="Marianne"/>
              </a:rPr>
              <a:t>moyen    </a:t>
            </a:r>
            <a:r>
              <a:rPr sz="1050" b="0" i="0">
                <a:solidFill>
                  <a:srgbClr val="E1000F"/>
                </a:solidFill>
                <a:latin typeface="Marianne"/>
              </a:rPr>
              <a:t>● </a:t>
            </a:r>
            <a:r>
              <a:rPr sz="1000" b="0" i="0">
                <a:solidFill>
                  <a:srgbClr val="6A6A6A"/>
                </a:solidFill>
                <a:latin typeface="Marianne"/>
              </a:rPr>
              <a:t>défavorable</a:t>
            </a:r>
            <a:r>
              <a:rPr sz="950" b="0" i="1">
                <a:solidFill>
                  <a:srgbClr val="6A6A6A"/>
                </a:solidFill>
                <a:latin typeface="Marianne"/>
              </a:rPr>
              <a:t>        DeepSWE v1.1 = modèle seul, mini-swe-agent · TB Terminal-Bench 2.1 · SV SWE-bench V. (baseline) · ᵛ auto-rapporté · * vals.ai.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02/09/2026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2</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Externes, internes : qui paie quoi ?</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Le déploiement interne change l'équation économique de l'IA agentique.</a:t>
            </a:r>
          </a:p>
        </p:txBody>
      </p:sp>
      <p:sp>
        <p:nvSpPr>
          <p:cNvPr id="10" name="Rounded Rectangle 9"/>
          <p:cNvSpPr/>
          <p:nvPr/>
        </p:nvSpPr>
        <p:spPr>
          <a:xfrm>
            <a:off x="777240" y="2194560"/>
            <a:ext cx="5090007" cy="2450592"/>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iefcase.png"/>
          <p:cNvPicPr>
            <a:picLocks noChangeAspect="1"/>
          </p:cNvPicPr>
          <p:nvPr/>
        </p:nvPicPr>
        <p:blipFill>
          <a:blip r:embed="rId3"/>
          <a:stretch>
            <a:fillRect/>
          </a:stretch>
        </p:blipFill>
        <p:spPr>
          <a:xfrm>
            <a:off x="1088136" y="2468879"/>
            <a:ext cx="457200" cy="457200"/>
          </a:xfrm>
          <a:prstGeom prst="rect">
            <a:avLst/>
          </a:prstGeom>
        </p:spPr>
      </p:pic>
      <p:sp>
        <p:nvSpPr>
          <p:cNvPr id="12" name="TextBox 11"/>
          <p:cNvSpPr txBox="1"/>
          <p:nvPr/>
        </p:nvSpPr>
        <p:spPr>
          <a:xfrm>
            <a:off x="1691640" y="2468879"/>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Prestataires externes</a:t>
            </a:r>
          </a:p>
        </p:txBody>
      </p:sp>
      <p:sp>
        <p:nvSpPr>
          <p:cNvPr id="13" name="TextBox 12"/>
          <p:cNvSpPr txBox="1"/>
          <p:nvPr/>
        </p:nvSpPr>
        <p:spPr>
          <a:xfrm>
            <a:off x="1106424" y="3090672"/>
            <a:ext cx="4449927" cy="384048"/>
          </a:xfrm>
          <a:prstGeom prst="rect">
            <a:avLst/>
          </a:prstGeom>
          <a:noFill/>
        </p:spPr>
        <p:txBody>
          <a:bodyPr wrap="square" lIns="0" rIns="0" tIns="0" bIns="0" anchor="t">
            <a:spAutoFit/>
          </a:bodyPr>
          <a:lstStyle/>
          <a:p>
            <a:pPr algn="l">
              <a:lnSpc>
                <a:spcPct val="106000"/>
              </a:lnSpc>
              <a:spcBef>
                <a:spcPts val="0"/>
              </a:spcBef>
              <a:spcAft>
                <a:spcPts val="0"/>
              </a:spcAft>
            </a:pPr>
            <a:r>
              <a:rPr sz="1500" b="1" i="0">
                <a:solidFill>
                  <a:srgbClr val="161616"/>
                </a:solidFill>
                <a:latin typeface="Marianne"/>
              </a:rPr>
              <a:t>Abonnement Claude : un forfait mensuel</a:t>
            </a:r>
          </a:p>
        </p:txBody>
      </p:sp>
      <p:sp>
        <p:nvSpPr>
          <p:cNvPr id="14" name="TextBox 13"/>
          <p:cNvSpPr txBox="1"/>
          <p:nvPr/>
        </p:nvSpPr>
        <p:spPr>
          <a:xfrm>
            <a:off x="1106424" y="3547872"/>
            <a:ext cx="4449927" cy="1024128"/>
          </a:xfrm>
          <a:prstGeom prst="rect">
            <a:avLst/>
          </a:prstGeom>
          <a:noFill/>
        </p:spPr>
        <p:txBody>
          <a:bodyPr wrap="square" lIns="0" rIns="0" tIns="0" bIns="0" anchor="t">
            <a:spAutoFit/>
          </a:bodyPr>
          <a:lstStyle/>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Consommation incluse dans le forfait : coût prévisible et plafonné</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Rien à changer : l'outillage actuel reste valable</a:t>
            </a:r>
          </a:p>
        </p:txBody>
      </p:sp>
      <p:sp>
        <p:nvSpPr>
          <p:cNvPr id="15" name="Rounded Rectangle 14"/>
          <p:cNvSpPr/>
          <p:nvPr/>
        </p:nvSpPr>
        <p:spPr>
          <a:xfrm>
            <a:off x="6324447" y="2194560"/>
            <a:ext cx="5090007" cy="24505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overnment.png"/>
          <p:cNvPicPr>
            <a:picLocks noChangeAspect="1"/>
          </p:cNvPicPr>
          <p:nvPr/>
        </p:nvPicPr>
        <p:blipFill>
          <a:blip r:embed="rId4"/>
          <a:stretch>
            <a:fillRect/>
          </a:stretch>
        </p:blipFill>
        <p:spPr>
          <a:xfrm>
            <a:off x="6635343" y="2468879"/>
            <a:ext cx="457200" cy="457200"/>
          </a:xfrm>
          <a:prstGeom prst="rect">
            <a:avLst/>
          </a:prstGeom>
        </p:spPr>
      </p:pic>
      <p:sp>
        <p:nvSpPr>
          <p:cNvPr id="17" name="TextBox 16"/>
          <p:cNvSpPr txBox="1"/>
          <p:nvPr/>
        </p:nvSpPr>
        <p:spPr>
          <a:xfrm>
            <a:off x="7238847" y="2468879"/>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Agents internes</a:t>
            </a:r>
          </a:p>
        </p:txBody>
      </p:sp>
      <p:sp>
        <p:nvSpPr>
          <p:cNvPr id="18" name="TextBox 17"/>
          <p:cNvSpPr txBox="1"/>
          <p:nvPr/>
        </p:nvSpPr>
        <p:spPr>
          <a:xfrm>
            <a:off x="6653631" y="3035808"/>
            <a:ext cx="4449927" cy="512064"/>
          </a:xfrm>
          <a:prstGeom prst="rect">
            <a:avLst/>
          </a:prstGeom>
          <a:noFill/>
        </p:spPr>
        <p:txBody>
          <a:bodyPr wrap="square" lIns="0" rIns="0" tIns="0" bIns="0" anchor="t">
            <a:spAutoFit/>
          </a:bodyPr>
          <a:lstStyle/>
          <a:p>
            <a:pPr algn="l">
              <a:lnSpc>
                <a:spcPct val="105000"/>
              </a:lnSpc>
              <a:spcBef>
                <a:spcPts val="0"/>
              </a:spcBef>
              <a:spcAft>
                <a:spcPts val="0"/>
              </a:spcAft>
            </a:pPr>
            <a:r>
              <a:rPr sz="1500" b="1" i="0">
                <a:solidFill>
                  <a:srgbClr val="161616"/>
                </a:solidFill>
                <a:latin typeface="Marianne"/>
              </a:rPr>
              <a:t>≈ 20 € / siège / mois </a:t>
            </a:r>
            <a:r>
              <a:rPr sz="1500" b="1" i="0">
                <a:solidFill>
                  <a:srgbClr val="E1000F"/>
                </a:solidFill>
                <a:latin typeface="Marianne"/>
              </a:rPr>
              <a:t>+ chaque token au prix du modèle</a:t>
            </a:r>
          </a:p>
        </p:txBody>
      </p:sp>
      <p:sp>
        <p:nvSpPr>
          <p:cNvPr id="19" name="TextBox 18"/>
          <p:cNvSpPr txBox="1"/>
          <p:nvPr/>
        </p:nvSpPr>
        <p:spPr>
          <a:xfrm>
            <a:off x="6653631" y="3675887"/>
            <a:ext cx="4449927" cy="896112"/>
          </a:xfrm>
          <a:prstGeom prst="rect">
            <a:avLst/>
          </a:prstGeom>
          <a:noFill/>
        </p:spPr>
        <p:txBody>
          <a:bodyPr wrap="square" lIns="0" rIns="0" tIns="0" bIns="0" anchor="t">
            <a:spAutoFit/>
          </a:bodyPr>
          <a:lstStyle/>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Sièges Claude Enterprise via Bedrock</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Coût à l'usage : l'agentique consomme beaucoup</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Non souverain au sens CNIL (CLOUD Act) · RGPD ok</a:t>
            </a:r>
          </a:p>
        </p:txBody>
      </p:sp>
      <p:sp>
        <p:nvSpPr>
          <p:cNvPr id="20" name="Rounded Rectangle 19"/>
          <p:cNvSpPr/>
          <p:nvPr/>
        </p:nvSpPr>
        <p:spPr>
          <a:xfrm>
            <a:off x="777240" y="4846320"/>
            <a:ext cx="10637215" cy="896112"/>
          </a:xfrm>
          <a:prstGeom prst="roundRect">
            <a:avLst>
              <a:gd name="adj" fmla="val 6000"/>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ocus-3.png"/>
          <p:cNvPicPr>
            <a:picLocks noChangeAspect="1"/>
          </p:cNvPicPr>
          <p:nvPr/>
        </p:nvPicPr>
        <p:blipFill>
          <a:blip r:embed="rId5"/>
          <a:stretch>
            <a:fillRect/>
          </a:stretch>
        </p:blipFill>
        <p:spPr>
          <a:xfrm>
            <a:off x="1051560" y="5084064"/>
            <a:ext cx="420624" cy="420624"/>
          </a:xfrm>
          <a:prstGeom prst="rect">
            <a:avLst/>
          </a:prstGeom>
        </p:spPr>
      </p:pic>
      <p:sp>
        <p:nvSpPr>
          <p:cNvPr id="22" name="TextBox 21"/>
          <p:cNvSpPr txBox="1"/>
          <p:nvPr/>
        </p:nvSpPr>
        <p:spPr>
          <a:xfrm>
            <a:off x="1673352" y="4974336"/>
            <a:ext cx="9448495" cy="640080"/>
          </a:xfrm>
          <a:prstGeom prst="rect">
            <a:avLst/>
          </a:prstGeom>
          <a:noFill/>
        </p:spPr>
        <p:txBody>
          <a:bodyPr wrap="square" lIns="0" rIns="0" tIns="0" bIns="0" anchor="ctr">
            <a:spAutoFit/>
          </a:bodyPr>
          <a:lstStyle/>
          <a:p>
            <a:pPr algn="l">
              <a:lnSpc>
                <a:spcPct val="112000"/>
              </a:lnSpc>
              <a:spcBef>
                <a:spcPts val="0"/>
              </a:spcBef>
              <a:spcAft>
                <a:spcPts val="0"/>
              </a:spcAft>
            </a:pPr>
            <a:r>
              <a:rPr sz="1450" b="1" i="0">
                <a:solidFill>
                  <a:srgbClr val="000091"/>
                </a:solidFill>
                <a:latin typeface="Marianne"/>
              </a:rPr>
              <a:t>Conséquence : </a:t>
            </a:r>
            <a:r>
              <a:rPr sz="1450" b="0" i="0">
                <a:solidFill>
                  <a:srgbClr val="161616"/>
                </a:solidFill>
                <a:latin typeface="Marianne"/>
              </a:rPr>
              <a:t>pour les internes et la CI/CD, le coût au token devient le paramètre clé. C'est l'objet du bench : identifier la stack au meilleur rapport performance / prix / souveraineté.</a:t>
            </a:r>
          </a:p>
        </p:txBody>
      </p:sp>
      <p:sp>
        <p:nvSpPr>
          <p:cNvPr id="23" name="TextBox 22"/>
          <p:cNvSpPr txBox="1"/>
          <p:nvPr/>
        </p:nvSpPr>
        <p:spPr>
          <a:xfrm>
            <a:off x="777240" y="5907023"/>
            <a:ext cx="10637215" cy="274320"/>
          </a:xfrm>
          <a:prstGeom prst="rect">
            <a:avLst/>
          </a:prstGeom>
          <a:noFill/>
        </p:spPr>
        <p:txBody>
          <a:bodyPr wrap="square" lIns="0" rIns="0" tIns="0" bIns="0" anchor="t">
            <a:spAutoFit/>
          </a:bodyPr>
          <a:lstStyle/>
          <a:p>
            <a:pPr algn="l">
              <a:lnSpc>
                <a:spcPct val="106000"/>
              </a:lnSpc>
              <a:spcBef>
                <a:spcPts val="0"/>
              </a:spcBef>
              <a:spcAft>
                <a:spcPts val="0"/>
              </a:spcAft>
            </a:pPr>
            <a:r>
              <a:rPr sz="1050" b="1" i="0">
                <a:solidFill>
                  <a:srgbClr val="6A6A6A"/>
                </a:solidFill>
                <a:latin typeface="Marianne"/>
              </a:rPr>
              <a:t>Repères / 1M tokens (entrée / sortie) : </a:t>
            </a:r>
            <a:r>
              <a:rPr sz="1050" b="0" i="0">
                <a:solidFill>
                  <a:srgbClr val="6A6A6A"/>
                </a:solidFill>
                <a:latin typeface="Marianne"/>
              </a:rPr>
              <a:t>Fable 5 : 10 $ / 50 $ · Opus 5 : 5 $ / 25 $ · Kimi K3 : 2,55 $ / 12,75 $ · Sonnet 5 : 2 $ / 10 $ · GLM 5.2 (Scaleway) : 1,80 € / 5,50 € · DeepSeek V4 Flash 0731 (Scaleway) : 0,40 € / 0,80 € · Albert : gratuit, quotas.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02/09/2026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3</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Deux cas d'usage, deux logiques de coût</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Sur poste : abonnement (siège) ou clé. En CI/CD : paiement au token pour tous.</a:t>
            </a:r>
          </a:p>
        </p:txBody>
      </p:sp>
      <p:sp>
        <p:nvSpPr>
          <p:cNvPr id="10" name="Rounded Rectangle 9"/>
          <p:cNvSpPr/>
          <p:nvPr/>
        </p:nvSpPr>
        <p:spPr>
          <a:xfrm>
            <a:off x="777240" y="2157984"/>
            <a:ext cx="5090007" cy="19933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box.png"/>
          <p:cNvPicPr>
            <a:picLocks noChangeAspect="1"/>
          </p:cNvPicPr>
          <p:nvPr/>
        </p:nvPicPr>
        <p:blipFill>
          <a:blip r:embed="rId3"/>
          <a:stretch>
            <a:fillRect/>
          </a:stretch>
        </p:blipFill>
        <p:spPr>
          <a:xfrm>
            <a:off x="1088136" y="2414015"/>
            <a:ext cx="457200" cy="457200"/>
          </a:xfrm>
          <a:prstGeom prst="rect">
            <a:avLst/>
          </a:prstGeom>
        </p:spPr>
      </p:pic>
      <p:sp>
        <p:nvSpPr>
          <p:cNvPr id="12" name="TextBox 11"/>
          <p:cNvSpPr txBox="1"/>
          <p:nvPr/>
        </p:nvSpPr>
        <p:spPr>
          <a:xfrm>
            <a:off x="1691640" y="2414015"/>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Code agentique sur poste</a:t>
            </a:r>
          </a:p>
        </p:txBody>
      </p:sp>
      <p:sp>
        <p:nvSpPr>
          <p:cNvPr id="13" name="TextBox 12"/>
          <p:cNvSpPr txBox="1"/>
          <p:nvPr/>
        </p:nvSpPr>
        <p:spPr>
          <a:xfrm>
            <a:off x="1106424" y="2907791"/>
            <a:ext cx="4449927" cy="1170432"/>
          </a:xfrm>
          <a:prstGeom prst="rect">
            <a:avLst/>
          </a:prstGeom>
          <a:noFill/>
        </p:spPr>
        <p:txBody>
          <a:bodyPr wrap="square" lIns="0" rIns="0" tIns="0" bIns="0" anchor="t">
            <a:spAutoFit/>
          </a:bodyPr>
          <a:lstStyle/>
          <a:p>
            <a:pPr algn="l" marL="201168" indent="-201168">
              <a:lnSpc>
                <a:spcPct val="102000"/>
              </a:lnSpc>
              <a:spcBef>
                <a:spcPts val="0"/>
              </a:spcBef>
              <a:spcAft>
                <a:spcPts val="300"/>
              </a:spcAft>
            </a:pPr>
            <a:r>
              <a:rPr sz="1100" b="0" i="0">
                <a:solidFill>
                  <a:srgbClr val="6A6AF4"/>
                </a:solidFill>
                <a:latin typeface="Marianne"/>
              </a:rPr>
              <a:t>▪  </a:t>
            </a:r>
            <a:r>
              <a:rPr sz="1200" b="1" i="0">
                <a:solidFill>
                  <a:srgbClr val="161616"/>
                </a:solidFill>
                <a:latin typeface="Marianne"/>
              </a:rPr>
              <a:t>Claude Code : </a:t>
            </a:r>
            <a:r>
              <a:rPr sz="1150" b="0" i="0">
                <a:solidFill>
                  <a:srgbClr val="3A3A3A"/>
                </a:solidFill>
                <a:latin typeface="Marianne"/>
              </a:rPr>
              <a:t>siège 20–125 $/dev/mois</a:t>
            </a:r>
          </a:p>
          <a:p>
            <a:pPr algn="l" marL="201168" indent="-201168">
              <a:lnSpc>
                <a:spcPct val="102000"/>
              </a:lnSpc>
              <a:spcBef>
                <a:spcPts val="0"/>
              </a:spcBef>
              <a:spcAft>
                <a:spcPts val="300"/>
              </a:spcAft>
            </a:pPr>
            <a:r>
              <a:rPr sz="1100" b="0" i="0">
                <a:solidFill>
                  <a:srgbClr val="6A6AF4"/>
                </a:solidFill>
                <a:latin typeface="Marianne"/>
              </a:rPr>
              <a:t>▪  </a:t>
            </a:r>
            <a:r>
              <a:rPr sz="1200" b="1" i="0">
                <a:solidFill>
                  <a:srgbClr val="161616"/>
                </a:solidFill>
                <a:latin typeface="Marianne"/>
              </a:rPr>
              <a:t>OpenCode + Scaleway : </a:t>
            </a:r>
            <a:r>
              <a:rPr sz="1150" b="0" i="0">
                <a:solidFill>
                  <a:srgbClr val="3A3A3A"/>
                </a:solidFill>
                <a:latin typeface="Marianne"/>
              </a:rPr>
              <a:t>clé, paiement au token (€)</a:t>
            </a:r>
          </a:p>
          <a:p>
            <a:pPr algn="l" marL="201168" indent="-201168">
              <a:lnSpc>
                <a:spcPct val="102000"/>
              </a:lnSpc>
              <a:spcBef>
                <a:spcPts val="0"/>
              </a:spcBef>
              <a:spcAft>
                <a:spcPts val="300"/>
              </a:spcAft>
            </a:pPr>
            <a:r>
              <a:rPr sz="1100" b="0" i="0">
                <a:solidFill>
                  <a:srgbClr val="6A6AF4"/>
                </a:solidFill>
                <a:latin typeface="Marianne"/>
              </a:rPr>
              <a:t>▪  </a:t>
            </a:r>
            <a:r>
              <a:rPr sz="1200" b="1" i="0">
                <a:solidFill>
                  <a:srgbClr val="161616"/>
                </a:solidFill>
                <a:latin typeface="Marianne"/>
              </a:rPr>
              <a:t>OpenCode + OpenRouter : </a:t>
            </a:r>
            <a:r>
              <a:rPr sz="1150" b="0" i="0">
                <a:solidFill>
                  <a:srgbClr val="3A3A3A"/>
                </a:solidFill>
                <a:latin typeface="Marianne"/>
              </a:rPr>
              <a:t>clé, paiement au token</a:t>
            </a:r>
          </a:p>
          <a:p>
            <a:pPr algn="l" marL="201168" indent="-201168">
              <a:lnSpc>
                <a:spcPct val="102000"/>
              </a:lnSpc>
              <a:spcBef>
                <a:spcPts val="0"/>
              </a:spcBef>
              <a:spcAft>
                <a:spcPts val="300"/>
              </a:spcAft>
            </a:pPr>
            <a:r>
              <a:rPr sz="1100" b="0" i="0">
                <a:solidFill>
                  <a:srgbClr val="6A6AF4"/>
                </a:solidFill>
                <a:latin typeface="Marianne"/>
              </a:rPr>
              <a:t>▪  </a:t>
            </a:r>
            <a:r>
              <a:rPr sz="1200" b="1" i="0">
                <a:solidFill>
                  <a:srgbClr val="161616"/>
                </a:solidFill>
                <a:latin typeface="Marianne"/>
              </a:rPr>
              <a:t>OpenCode + Albert : </a:t>
            </a:r>
            <a:r>
              <a:rPr sz="1150" b="0" i="0">
                <a:solidFill>
                  <a:srgbClr val="3A3A3A"/>
                </a:solidFill>
                <a:latin typeface="Marianne"/>
              </a:rPr>
              <a:t>clé agent État, gratuit</a:t>
            </a:r>
          </a:p>
        </p:txBody>
      </p:sp>
      <p:sp>
        <p:nvSpPr>
          <p:cNvPr id="14" name="Rounded Rectangle 13"/>
          <p:cNvSpPr/>
          <p:nvPr/>
        </p:nvSpPr>
        <p:spPr>
          <a:xfrm>
            <a:off x="6324447" y="2157984"/>
            <a:ext cx="5090007" cy="19933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ttings-3.png"/>
          <p:cNvPicPr>
            <a:picLocks noChangeAspect="1"/>
          </p:cNvPicPr>
          <p:nvPr/>
        </p:nvPicPr>
        <p:blipFill>
          <a:blip r:embed="rId4"/>
          <a:stretch>
            <a:fillRect/>
          </a:stretch>
        </p:blipFill>
        <p:spPr>
          <a:xfrm>
            <a:off x="6635343" y="2414015"/>
            <a:ext cx="457200" cy="457200"/>
          </a:xfrm>
          <a:prstGeom prst="rect">
            <a:avLst/>
          </a:prstGeom>
        </p:spPr>
      </p:pic>
      <p:sp>
        <p:nvSpPr>
          <p:cNvPr id="16" name="TextBox 15"/>
          <p:cNvSpPr txBox="1"/>
          <p:nvPr/>
        </p:nvSpPr>
        <p:spPr>
          <a:xfrm>
            <a:off x="7238847" y="2414015"/>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Bots sur CI/CD</a:t>
            </a:r>
          </a:p>
        </p:txBody>
      </p:sp>
      <p:sp>
        <p:nvSpPr>
          <p:cNvPr id="17" name="TextBox 16"/>
          <p:cNvSpPr txBox="1"/>
          <p:nvPr/>
        </p:nvSpPr>
        <p:spPr>
          <a:xfrm>
            <a:off x="6653631" y="2980944"/>
            <a:ext cx="4449927" cy="1097280"/>
          </a:xfrm>
          <a:prstGeom prst="rect">
            <a:avLst/>
          </a:prstGeom>
          <a:noFill/>
        </p:spPr>
        <p:txBody>
          <a:bodyPr wrap="square" lIns="0" rIns="0" tIns="0" bIns="0" anchor="t">
            <a:spAutoFit/>
          </a:bodyPr>
          <a:lstStyle/>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Au token pour tous : </a:t>
            </a:r>
            <a:r>
              <a:rPr sz="1250" b="0" i="0">
                <a:solidFill>
                  <a:srgbClr val="3A3A3A"/>
                </a:solidFill>
                <a:latin typeface="Marianne"/>
              </a:rPr>
              <a:t>pas de siège, clé API</a:t>
            </a:r>
          </a:p>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Tarifs / 1M en sortie : </a:t>
            </a:r>
            <a:r>
              <a:rPr sz="1250" b="0" i="0">
                <a:solidFill>
                  <a:srgbClr val="3A3A3A"/>
                </a:solidFill>
                <a:latin typeface="Marianne"/>
              </a:rPr>
              <a:t>de 0,80 € (DS · Scaleway) à 50 $ (Fable 5)</a:t>
            </a:r>
          </a:p>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Albert : </a:t>
            </a:r>
            <a:r>
              <a:rPr sz="1250" b="0" i="0">
                <a:solidFill>
                  <a:srgbClr val="3A3A3A"/>
                </a:solidFill>
                <a:latin typeface="Marianne"/>
              </a:rPr>
              <a:t>gratuit mais quotas 10–50 req/min</a:t>
            </a:r>
          </a:p>
        </p:txBody>
      </p:sp>
      <p:sp>
        <p:nvSpPr>
          <p:cNvPr id="18" name="TextBox 17"/>
          <p:cNvSpPr txBox="1"/>
          <p:nvPr/>
        </p:nvSpPr>
        <p:spPr>
          <a:xfrm>
            <a:off x="777240" y="4297680"/>
            <a:ext cx="10637215" cy="310896"/>
          </a:xfrm>
          <a:prstGeom prst="rect">
            <a:avLst/>
          </a:prstGeom>
          <a:noFill/>
        </p:spPr>
        <p:txBody>
          <a:bodyPr wrap="square" lIns="0" rIns="0" tIns="0" bIns="0" anchor="t">
            <a:spAutoFit/>
          </a:bodyPr>
          <a:lstStyle/>
          <a:p>
            <a:pPr algn="l">
              <a:lnSpc>
                <a:spcPct val="106000"/>
              </a:lnSpc>
              <a:spcBef>
                <a:spcPts val="0"/>
              </a:spcBef>
              <a:spcAft>
                <a:spcPts val="0"/>
              </a:spcAft>
            </a:pPr>
            <a:r>
              <a:rPr sz="1500" b="1" i="0">
                <a:solidFill>
                  <a:srgbClr val="161616"/>
                </a:solidFill>
                <a:latin typeface="Marianne"/>
              </a:rPr>
              <a:t>Recommandation selon la priorité</a:t>
            </a:r>
          </a:p>
        </p:txBody>
      </p:sp>
      <p:sp>
        <p:nvSpPr>
          <p:cNvPr id="19" name="Rounded Rectangle 18"/>
          <p:cNvSpPr/>
          <p:nvPr/>
        </p:nvSpPr>
        <p:spPr>
          <a:xfrm>
            <a:off x="777240" y="4681728"/>
            <a:ext cx="3362858" cy="1298448"/>
          </a:xfrm>
          <a:prstGeom prst="roundRect">
            <a:avLst>
              <a:gd name="adj" fmla="val 6000"/>
            </a:avLst>
          </a:prstGeom>
          <a:solidFill>
            <a:srgbClr val="FFFFFF"/>
          </a:solidFill>
          <a:ln w="17780">
            <a:solidFill>
              <a:srgbClr val="0000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cket.png"/>
          <p:cNvPicPr>
            <a:picLocks noChangeAspect="1"/>
          </p:cNvPicPr>
          <p:nvPr/>
        </p:nvPicPr>
        <p:blipFill>
          <a:blip r:embed="rId5"/>
          <a:stretch>
            <a:fillRect/>
          </a:stretch>
        </p:blipFill>
        <p:spPr>
          <a:xfrm>
            <a:off x="978408" y="4846320"/>
            <a:ext cx="365760" cy="365760"/>
          </a:xfrm>
          <a:prstGeom prst="rect">
            <a:avLst/>
          </a:prstGeom>
        </p:spPr>
      </p:pic>
      <p:sp>
        <p:nvSpPr>
          <p:cNvPr id="21" name="TextBox 20"/>
          <p:cNvSpPr txBox="1"/>
          <p:nvPr/>
        </p:nvSpPr>
        <p:spPr>
          <a:xfrm>
            <a:off x="1453895" y="4828032"/>
            <a:ext cx="2539898"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000091"/>
                </a:solidFill>
                <a:latin typeface="Marianne"/>
              </a:rPr>
              <a:t>Performance</a:t>
            </a:r>
          </a:p>
        </p:txBody>
      </p:sp>
      <p:sp>
        <p:nvSpPr>
          <p:cNvPr id="22" name="TextBox 21"/>
          <p:cNvSpPr txBox="1"/>
          <p:nvPr/>
        </p:nvSpPr>
        <p:spPr>
          <a:xfrm>
            <a:off x="978408" y="5321808"/>
            <a:ext cx="2978810"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Claude Code · Opus 5</a:t>
            </a:r>
          </a:p>
          <a:p>
            <a:pPr algn="l">
              <a:lnSpc>
                <a:spcPct val="106000"/>
              </a:lnSpc>
              <a:spcBef>
                <a:spcPts val="300"/>
              </a:spcBef>
              <a:spcAft>
                <a:spcPts val="0"/>
              </a:spcAft>
            </a:pPr>
            <a:r>
              <a:rPr sz="950" b="0" i="0">
                <a:solidFill>
                  <a:srgbClr val="3A3A3A"/>
                </a:solidFill>
                <a:latin typeface="Marianne"/>
              </a:rPr>
              <a:t>DeepSWE 74 % · TB 89,1 %. </a:t>
            </a:r>
            <a:r>
              <a:rPr sz="950" b="0" i="1">
                <a:solidFill>
                  <a:srgbClr val="6A6A6A"/>
                </a:solidFill>
                <a:latin typeface="Marianne"/>
              </a:rPr>
              <a:t>Non souverain (CLOUD Act).</a:t>
            </a:r>
          </a:p>
        </p:txBody>
      </p:sp>
      <p:sp>
        <p:nvSpPr>
          <p:cNvPr id="23" name="Rounded Rectangle 22"/>
          <p:cNvSpPr/>
          <p:nvPr/>
        </p:nvSpPr>
        <p:spPr>
          <a:xfrm>
            <a:off x="4414418" y="4681728"/>
            <a:ext cx="3362858" cy="1298448"/>
          </a:xfrm>
          <a:prstGeom prst="roundRect">
            <a:avLst>
              <a:gd name="adj" fmla="val 6000"/>
            </a:avLst>
          </a:prstGeom>
          <a:solidFill>
            <a:srgbClr val="FFFFFF"/>
          </a:solidFill>
          <a:ln w="17780">
            <a:solidFill>
              <a:srgbClr val="1875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overnment.png"/>
          <p:cNvPicPr>
            <a:picLocks noChangeAspect="1"/>
          </p:cNvPicPr>
          <p:nvPr/>
        </p:nvPicPr>
        <p:blipFill>
          <a:blip r:embed="rId6"/>
          <a:stretch>
            <a:fillRect/>
          </a:stretch>
        </p:blipFill>
        <p:spPr>
          <a:xfrm>
            <a:off x="4615586" y="4846320"/>
            <a:ext cx="365760" cy="365760"/>
          </a:xfrm>
          <a:prstGeom prst="rect">
            <a:avLst/>
          </a:prstGeom>
        </p:spPr>
      </p:pic>
      <p:sp>
        <p:nvSpPr>
          <p:cNvPr id="25" name="TextBox 24"/>
          <p:cNvSpPr txBox="1"/>
          <p:nvPr/>
        </p:nvSpPr>
        <p:spPr>
          <a:xfrm>
            <a:off x="5091074" y="4828032"/>
            <a:ext cx="2539898"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18753C"/>
                </a:solidFill>
                <a:latin typeface="Marianne"/>
              </a:rPr>
              <a:t>Souveraineté &amp; coût</a:t>
            </a:r>
          </a:p>
        </p:txBody>
      </p:sp>
      <p:sp>
        <p:nvSpPr>
          <p:cNvPr id="26" name="TextBox 25"/>
          <p:cNvSpPr txBox="1"/>
          <p:nvPr/>
        </p:nvSpPr>
        <p:spPr>
          <a:xfrm>
            <a:off x="4615586" y="5321808"/>
            <a:ext cx="2978810"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Albert · DeepSeek Flash</a:t>
            </a:r>
          </a:p>
          <a:p>
            <a:pPr algn="l">
              <a:lnSpc>
                <a:spcPct val="106000"/>
              </a:lnSpc>
              <a:spcBef>
                <a:spcPts val="300"/>
              </a:spcBef>
              <a:spcAft>
                <a:spcPts val="0"/>
              </a:spcAft>
            </a:pPr>
            <a:r>
              <a:rPr sz="950" b="0" i="0">
                <a:solidFill>
                  <a:srgbClr val="3A3A3A"/>
                </a:solidFill>
                <a:latin typeface="Marianne"/>
              </a:rPr>
              <a:t>Gratuit, SecNumCloud, ≈79 %. </a:t>
            </a:r>
            <a:r>
              <a:rPr sz="950" b="0" i="1">
                <a:solidFill>
                  <a:srgbClr val="6A6A6A"/>
                </a:solidFill>
                <a:latin typeface="Marianne"/>
              </a:rPr>
              <a:t>Réservé agents État.</a:t>
            </a:r>
          </a:p>
        </p:txBody>
      </p:sp>
      <p:sp>
        <p:nvSpPr>
          <p:cNvPr id="27" name="Rounded Rectangle 26"/>
          <p:cNvSpPr/>
          <p:nvPr/>
        </p:nvSpPr>
        <p:spPr>
          <a:xfrm>
            <a:off x="8051596" y="4681728"/>
            <a:ext cx="3362858" cy="1298448"/>
          </a:xfrm>
          <a:prstGeom prst="roundRect">
            <a:avLst>
              <a:gd name="adj" fmla="val 6000"/>
            </a:avLst>
          </a:prstGeom>
          <a:solidFill>
            <a:srgbClr val="FFFFFF"/>
          </a:solidFill>
          <a:ln w="17780">
            <a:solidFill>
              <a:srgbClr val="B85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ocus-3.png"/>
          <p:cNvPicPr>
            <a:picLocks noChangeAspect="1"/>
          </p:cNvPicPr>
          <p:nvPr/>
        </p:nvPicPr>
        <p:blipFill>
          <a:blip r:embed="rId7"/>
          <a:stretch>
            <a:fillRect/>
          </a:stretch>
        </p:blipFill>
        <p:spPr>
          <a:xfrm>
            <a:off x="8252764" y="4846320"/>
            <a:ext cx="365760" cy="365760"/>
          </a:xfrm>
          <a:prstGeom prst="rect">
            <a:avLst/>
          </a:prstGeom>
        </p:spPr>
      </p:pic>
      <p:sp>
        <p:nvSpPr>
          <p:cNvPr id="29" name="TextBox 28"/>
          <p:cNvSpPr txBox="1"/>
          <p:nvPr/>
        </p:nvSpPr>
        <p:spPr>
          <a:xfrm>
            <a:off x="8728252" y="4828032"/>
            <a:ext cx="2539898"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B85C00"/>
                </a:solidFill>
                <a:latin typeface="Marianne"/>
              </a:rPr>
              <a:t>Rapport perf / prix</a:t>
            </a:r>
          </a:p>
        </p:txBody>
      </p:sp>
      <p:sp>
        <p:nvSpPr>
          <p:cNvPr id="30" name="TextBox 29"/>
          <p:cNvSpPr txBox="1"/>
          <p:nvPr/>
        </p:nvSpPr>
        <p:spPr>
          <a:xfrm>
            <a:off x="8252764" y="5321808"/>
            <a:ext cx="2978810"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DS V4 Flash 0731 · Scaleway</a:t>
            </a:r>
          </a:p>
          <a:p>
            <a:pPr algn="l">
              <a:lnSpc>
                <a:spcPct val="106000"/>
              </a:lnSpc>
              <a:spcBef>
                <a:spcPts val="300"/>
              </a:spcBef>
              <a:spcAft>
                <a:spcPts val="0"/>
              </a:spcAft>
            </a:pPr>
            <a:r>
              <a:rPr sz="950" b="0" i="0">
                <a:solidFill>
                  <a:srgbClr val="3A3A3A"/>
                </a:solidFill>
                <a:latin typeface="Marianne"/>
              </a:rPr>
              <a:t>DeepSWE 54,4ᵛ pour 0,40 / 0,80 € · souverain. </a:t>
            </a:r>
            <a:r>
              <a:rPr sz="950" b="0" i="1">
                <a:solidFill>
                  <a:srgbClr val="6A6A6A"/>
                </a:solidFill>
                <a:latin typeface="Marianne"/>
              </a:rPr>
              <a:t>Observabilité à valider.</a:t>
            </a:r>
          </a:p>
        </p:txBody>
      </p:sp>
      <p:sp>
        <p:nvSpPr>
          <p:cNvPr id="31" name="TextBox 30"/>
          <p:cNvSpPr txBox="1"/>
          <p:nvPr/>
        </p:nvSpPr>
        <p:spPr>
          <a:xfrm>
            <a:off x="777240" y="6071616"/>
            <a:ext cx="10637215" cy="457200"/>
          </a:xfrm>
          <a:prstGeom prst="rect">
            <a:avLst/>
          </a:prstGeom>
          <a:noFill/>
        </p:spPr>
        <p:txBody>
          <a:bodyPr wrap="square" lIns="0" rIns="0" tIns="0" bIns="0" anchor="t">
            <a:spAutoFit/>
          </a:bodyPr>
          <a:lstStyle/>
          <a:p>
            <a:pPr algn="l">
              <a:lnSpc>
                <a:spcPct val="108000"/>
              </a:lnSpc>
              <a:spcBef>
                <a:spcPts val="0"/>
              </a:spcBef>
              <a:spcAft>
                <a:spcPts val="0"/>
              </a:spcAft>
            </a:pPr>
            <a:r>
              <a:rPr sz="1000" b="1" i="0">
                <a:solidFill>
                  <a:srgbClr val="6A6A6A"/>
                </a:solidFill>
                <a:latin typeface="Marianne"/>
              </a:rPr>
              <a:t>À noter : </a:t>
            </a:r>
            <a:r>
              <a:rPr sz="1000" b="0" i="1">
                <a:solidFill>
                  <a:srgbClr val="6A6A6A"/>
                </a:solidFill>
                <a:latin typeface="Marianne"/>
              </a:rPr>
              <a:t>OpenCode + Albert documenté par la DINUM (guides.ia.numerique.gouv.fr) · catalogue Albert à confirmer via /v1/models · Scaleway = observabilité à valider · Kimi K3 = capacité OpenRouter limitée · modèles Anthropic sur Bedrock = data sharing à activer + rétention 30 j · tarifs OpenRouter = catalogue (caching −60/80 %).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