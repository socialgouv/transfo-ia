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Matrice comparative des 4 stacks de coding agentique. Chiffres verifies (sources primaires, 10/07/2026). PRIX/1M tokens : Opus 4.8 = 5$ input / 25$ output (platform.claude.com/docs/.../pricing), en sus des sieges Claude Code (Pro 17$, Team 20-25$, Premium 100-125$/mois - claude.com/pricing). DeepSeek V4 Pro = 0,435$/0,87$ (openrouter.ai/deepseek/deepseek-v4-pro + api-docs.deepseek.com) MAIS tarif preview, doublement 'peak' annonce mi-juillet 2026 (technode.com 30/06/2026). GLM 5.2 = tarif liste Z.ai 1,40$/4,40$ (docs.z.ai), OpenRouter varie 0,93-3,00$ input selon fournisseur route (le 0,77$ lu en tete etait un artefact d'extraction, non confirme). Albert = GRATUIT pour agents de l'Etat, pas de facturation token, acces regule par quotas RPM/RPD/TPM (ia.numerique.gouv.fr). PERF SWE-bench Verified : Opus 4.8 88,6% (vellum.ai) ; DeepSeek V4 Pro 80,6% (morphllm) ; DeepSeek V4 Flash 79% ; Mistral Medium 3.5 77,6% (mistral.ai) ; GLM 5.2 ~78% estime (SWE-bench Pro 62,1%, Terminal-Bench 81-83% - huggingface zai-org). SCENARIO ALBERT retenu pour le bench elargi : OpenCode branche sur Albert servant DeepSeek V4 Flash (~79%) - catalogue Albert a confirmer via /v1/models. SOUVERAINETE : Anthropic = editeur US (CLOUD Act) ; Z.ai (GLM) et DeepSeek = editeurs chinois, et via OpenRouter le routage passe par un intermediaire US ; Albert = Etat francais, heberge sur Outscale SecNumCloud. Nuance : les poids GLM et DeepSeek sont ouverts (licence MIT), donc auto-hebergeables sur infra souveraine - c'est ce que fait Albert. FAISABILITE : Claude Code et OpenCode tournent tous deux sur Mac/Linux/Windows (WSL conseille sous Windows) ; le frein sur postes Windows internes est surtout la politique (Copilot only) et le proxy, pas la technique.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problematique de deploiement : les prestataires externes peuvent rester sur leur abonnement Claude (forfait mensuel, consommation incluse, cout previsible). Les agents internes, eux, demarreront a environ 20 euros par siege et par mois (sieges Claude Enterprise via Bedrock), auxquels s'ajoute chaque token consomme, facture au prix du modele. Le cout interne suit donc l'usage, et l'usage agentique est intensif en tokens. Consequence : optimiser le cout au token (choix du modele, du harness, caching) devient le parametre cle pour les internes et pour la CI/CD - c'est ce que le bench compare, et ce que le bench elargi en conditions reelles validera (scenario Albert/DeepSeek via OpenCode face a Claude avec et sans abonnement).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cas d'usage a distinguer. (1) CODE AGENTIQUE SUR POSTE : Claude Code se consomme via un SIEGE d'abonnement (Pro 17-20$, Team 20-25$, Premium 100-125$/dev/mois) ; les stacks OpenCode se consomment via une cle - OpenRouter (paiement au token) ou Albert (gratuit, cle reservee aux agents de l'Etat). (2) BOTS CI/CD : pas de siege, tout le monde paie au token via une cle API programmatique. Claude API Opus 4.8 = 5$/25$ par 1M (headless via ANTHROPIC_API_KEY ; un token OAuth d'abonnement CLAUDE_CODE_OAUTH_TOKEN est aussi possible mais Anthropic recommande la cle API pour l'automation partagee). DeepSeek V4 Pro 0,44$/0,87$, GLM 5.2 ~1,40$/4,40$ via OpenRouter. Albert est gratuit mais ses quotas (10-50 requetes/min en experimentation) peuvent brider un usage CI/CD intensif - a augmenter sur demande. RECOMMANDATION selon priorite : perf/maturite -&gt; Claude/Opus 4.8 ; souverainete/cout -&gt; Albert ; rapport perf-prix brut -&gt; DeepSeek V4 Pro via OpenRouter. RESERVES : 'Open Claw' n'a pas ete confirme comme outil de coding (le seul depot de ce nom est un assistant de messagerie) - candidats reels : OpenCode, Crush (Charmbracelet), Claude Code Router. Le catalogue Albert observe sur les docs publiques ne liste pas DeepSeek V4 Flash ni Mistral Medium 3.5 (mais Mistral-Small, Ministral-3-8B, gpt-oss-120b, Qwen3-Coder) - a confirmer via un appel authentifie /v1/models sur ta cle. Tarifs OpenRouter = prix catalogue variables selon le fournisseur route ; le prompt caching peut baisser le cout reel de 60 a 80%. Le nouveau tokenizer d'Opus 4.8 produit ~30% de tokens en plus pour un meme texte, ce qui renforce le cout effectif par requete.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7772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Benchmark coding agentique – 17/07/2026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1</a:t>
            </a:r>
          </a:p>
        </p:txBody>
      </p:sp>
      <p:sp>
        <p:nvSpPr>
          <p:cNvPr id="8" name="TextBox 7"/>
          <p:cNvSpPr txBox="1"/>
          <p:nvPr/>
        </p:nvSpPr>
        <p:spPr>
          <a:xfrm>
            <a:off x="777240" y="1243584"/>
            <a:ext cx="10637215" cy="914400"/>
          </a:xfrm>
          <a:prstGeom prst="rect">
            <a:avLst/>
          </a:prstGeom>
          <a:noFill/>
        </p:spPr>
        <p:txBody>
          <a:bodyPr wrap="square" lIns="0" rIns="0" tIns="0" bIns="0" anchor="t">
            <a:spAutoFit/>
          </a:bodyPr>
          <a:lstStyle/>
          <a:p>
            <a:pPr algn="l">
              <a:lnSpc>
                <a:spcPct val="102000"/>
              </a:lnSpc>
              <a:spcBef>
                <a:spcPts val="0"/>
              </a:spcBef>
              <a:spcAft>
                <a:spcPts val="0"/>
              </a:spcAft>
            </a:pPr>
            <a:r>
              <a:rPr sz="3000" b="1" i="0">
                <a:solidFill>
                  <a:srgbClr val="161616"/>
                </a:solidFill>
                <a:latin typeface="Marianne"/>
              </a:rPr>
              <a:t>Coding agentique : comparer 4 stacks</a:t>
            </a:r>
          </a:p>
        </p:txBody>
      </p:sp>
      <p:sp>
        <p:nvSpPr>
          <p:cNvPr id="9" name="TextBox 8"/>
          <p:cNvSpPr txBox="1"/>
          <p:nvPr/>
        </p:nvSpPr>
        <p:spPr>
          <a:xfrm>
            <a:off x="777240" y="1847088"/>
            <a:ext cx="10637215" cy="365760"/>
          </a:xfrm>
          <a:prstGeom prst="rect">
            <a:avLst/>
          </a:prstGeom>
          <a:noFill/>
        </p:spPr>
        <p:txBody>
          <a:bodyPr wrap="square" lIns="0" rIns="0" tIns="0" bIns="0" anchor="t">
            <a:spAutoFit/>
          </a:bodyPr>
          <a:lstStyle/>
          <a:p>
            <a:pPr algn="l">
              <a:lnSpc>
                <a:spcPct val="106000"/>
              </a:lnSpc>
              <a:spcBef>
                <a:spcPts val="0"/>
              </a:spcBef>
              <a:spcAft>
                <a:spcPts val="0"/>
              </a:spcAft>
            </a:pPr>
            <a:r>
              <a:rPr sz="1400" b="0" i="0">
                <a:solidFill>
                  <a:srgbClr val="3A3A3A"/>
                </a:solidFill>
                <a:latin typeface="Marianne"/>
              </a:rPr>
              <a:t>Prix, performance, souveraineté, faisabilité. Tarifs vérifiés sur sources primaires (10/07/2026).</a:t>
            </a:r>
          </a:p>
        </p:txBody>
      </p:sp>
      <p:sp>
        <p:nvSpPr>
          <p:cNvPr id="10" name="Rounded Rectangle 9"/>
          <p:cNvSpPr/>
          <p:nvPr/>
        </p:nvSpPr>
        <p:spPr>
          <a:xfrm>
            <a:off x="2852928" y="2176272"/>
            <a:ext cx="2030653" cy="640080"/>
          </a:xfrm>
          <a:prstGeom prst="roundRect">
            <a:avLst>
              <a:gd name="adj" fmla="val 8000"/>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2176272"/>
            <a:ext cx="1884349" cy="640080"/>
          </a:xfrm>
          <a:prstGeom prst="rect">
            <a:avLst/>
          </a:prstGeom>
          <a:noFill/>
        </p:spPr>
        <p:txBody>
          <a:bodyPr wrap="square" lIns="0" rIns="0" tIns="0" bIns="0" anchor="ctr">
            <a:spAutoFit/>
          </a:bodyPr>
          <a:lstStyle/>
          <a:p>
            <a:pPr algn="ctr">
              <a:lnSpc>
                <a:spcPct val="100000"/>
              </a:lnSpc>
              <a:spcBef>
                <a:spcPts val="0"/>
              </a:spcBef>
              <a:spcAft>
                <a:spcPts val="0"/>
              </a:spcAft>
            </a:pPr>
            <a:r>
              <a:rPr sz="1350" b="1" i="0">
                <a:solidFill>
                  <a:srgbClr val="FFFFFF"/>
                </a:solidFill>
                <a:latin typeface="Marianne"/>
              </a:rPr>
              <a:t>Claude Code</a:t>
            </a:r>
          </a:p>
          <a:p>
            <a:pPr algn="ctr">
              <a:lnSpc>
                <a:spcPct val="100000"/>
              </a:lnSpc>
              <a:spcBef>
                <a:spcPts val="200"/>
              </a:spcBef>
              <a:spcAft>
                <a:spcPts val="0"/>
              </a:spcAft>
            </a:pPr>
            <a:r>
              <a:rPr sz="1000" b="0" i="0">
                <a:solidFill>
                  <a:srgbClr val="E3E3FD"/>
                </a:solidFill>
                <a:latin typeface="Marianne"/>
              </a:rPr>
              <a:t>Opus 4.8</a:t>
            </a:r>
          </a:p>
        </p:txBody>
      </p:sp>
      <p:sp>
        <p:nvSpPr>
          <p:cNvPr id="12" name="Rounded Rectangle 11"/>
          <p:cNvSpPr/>
          <p:nvPr/>
        </p:nvSpPr>
        <p:spPr>
          <a:xfrm>
            <a:off x="5029885" y="2176272"/>
            <a:ext cx="2030653" cy="640080"/>
          </a:xfrm>
          <a:prstGeom prst="roundRect">
            <a:avLst>
              <a:gd name="adj" fmla="val 8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3037" y="2176272"/>
            <a:ext cx="1884349" cy="640080"/>
          </a:xfrm>
          <a:prstGeom prst="rect">
            <a:avLst/>
          </a:prstGeom>
          <a:noFill/>
        </p:spPr>
        <p:txBody>
          <a:bodyPr wrap="square" lIns="0" rIns="0" tIns="0" bIns="0" anchor="ctr">
            <a:spAutoFit/>
          </a:bodyPr>
          <a:lstStyle/>
          <a:p>
            <a:pPr algn="ctr">
              <a:lnSpc>
                <a:spcPct val="100000"/>
              </a:lnSpc>
              <a:spcBef>
                <a:spcPts val="0"/>
              </a:spcBef>
              <a:spcAft>
                <a:spcPts val="0"/>
              </a:spcAft>
            </a:pPr>
            <a:r>
              <a:rPr sz="1350" b="1" i="0">
                <a:solidFill>
                  <a:srgbClr val="FFFFFF"/>
                </a:solidFill>
                <a:latin typeface="Marianne"/>
              </a:rPr>
              <a:t>OpenCode</a:t>
            </a:r>
          </a:p>
          <a:p>
            <a:pPr algn="ctr">
              <a:lnSpc>
                <a:spcPct val="100000"/>
              </a:lnSpc>
              <a:spcBef>
                <a:spcPts val="200"/>
              </a:spcBef>
              <a:spcAft>
                <a:spcPts val="0"/>
              </a:spcAft>
            </a:pPr>
            <a:r>
              <a:rPr sz="1000" b="0" i="0">
                <a:solidFill>
                  <a:srgbClr val="E3E3FD"/>
                </a:solidFill>
                <a:latin typeface="Marianne"/>
              </a:rPr>
              <a:t>Albert · DeepSeek V4 Flash</a:t>
            </a:r>
          </a:p>
        </p:txBody>
      </p:sp>
      <p:sp>
        <p:nvSpPr>
          <p:cNvPr id="14" name="Rounded Rectangle 13"/>
          <p:cNvSpPr/>
          <p:nvPr/>
        </p:nvSpPr>
        <p:spPr>
          <a:xfrm>
            <a:off x="7206843" y="2176272"/>
            <a:ext cx="2030653" cy="640080"/>
          </a:xfrm>
          <a:prstGeom prst="roundRect">
            <a:avLst>
              <a:gd name="adj" fmla="val 8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79995" y="2176272"/>
            <a:ext cx="1884349" cy="640080"/>
          </a:xfrm>
          <a:prstGeom prst="rect">
            <a:avLst/>
          </a:prstGeom>
          <a:noFill/>
        </p:spPr>
        <p:txBody>
          <a:bodyPr wrap="square" lIns="0" rIns="0" tIns="0" bIns="0" anchor="ctr">
            <a:spAutoFit/>
          </a:bodyPr>
          <a:lstStyle/>
          <a:p>
            <a:pPr algn="ctr">
              <a:lnSpc>
                <a:spcPct val="100000"/>
              </a:lnSpc>
              <a:spcBef>
                <a:spcPts val="0"/>
              </a:spcBef>
              <a:spcAft>
                <a:spcPts val="0"/>
              </a:spcAft>
            </a:pPr>
            <a:r>
              <a:rPr sz="1350" b="1" i="0">
                <a:solidFill>
                  <a:srgbClr val="FFFFFF"/>
                </a:solidFill>
                <a:latin typeface="Marianne"/>
              </a:rPr>
              <a:t>OpenCode</a:t>
            </a:r>
          </a:p>
          <a:p>
            <a:pPr algn="ctr">
              <a:lnSpc>
                <a:spcPct val="100000"/>
              </a:lnSpc>
              <a:spcBef>
                <a:spcPts val="200"/>
              </a:spcBef>
              <a:spcAft>
                <a:spcPts val="0"/>
              </a:spcAft>
            </a:pPr>
            <a:r>
              <a:rPr sz="1000" b="0" i="0">
                <a:solidFill>
                  <a:srgbClr val="E3E3FD"/>
                </a:solidFill>
                <a:latin typeface="Marianne"/>
              </a:rPr>
              <a:t>GLM 5.2 · OpenRouter</a:t>
            </a:r>
          </a:p>
        </p:txBody>
      </p:sp>
      <p:sp>
        <p:nvSpPr>
          <p:cNvPr id="16" name="Rounded Rectangle 15"/>
          <p:cNvSpPr/>
          <p:nvPr/>
        </p:nvSpPr>
        <p:spPr>
          <a:xfrm>
            <a:off x="9383801" y="2176272"/>
            <a:ext cx="2030653" cy="640080"/>
          </a:xfrm>
          <a:prstGeom prst="roundRect">
            <a:avLst>
              <a:gd name="adj" fmla="val 8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56953" y="2176272"/>
            <a:ext cx="1884349" cy="640080"/>
          </a:xfrm>
          <a:prstGeom prst="rect">
            <a:avLst/>
          </a:prstGeom>
          <a:noFill/>
        </p:spPr>
        <p:txBody>
          <a:bodyPr wrap="square" lIns="0" rIns="0" tIns="0" bIns="0" anchor="ctr">
            <a:spAutoFit/>
          </a:bodyPr>
          <a:lstStyle/>
          <a:p>
            <a:pPr algn="ctr">
              <a:lnSpc>
                <a:spcPct val="100000"/>
              </a:lnSpc>
              <a:spcBef>
                <a:spcPts val="0"/>
              </a:spcBef>
              <a:spcAft>
                <a:spcPts val="0"/>
              </a:spcAft>
            </a:pPr>
            <a:r>
              <a:rPr sz="1350" b="1" i="0">
                <a:solidFill>
                  <a:srgbClr val="FFFFFF"/>
                </a:solidFill>
                <a:latin typeface="Marianne"/>
              </a:rPr>
              <a:t>OpenCode</a:t>
            </a:r>
          </a:p>
          <a:p>
            <a:pPr algn="ctr">
              <a:lnSpc>
                <a:spcPct val="100000"/>
              </a:lnSpc>
              <a:spcBef>
                <a:spcPts val="200"/>
              </a:spcBef>
              <a:spcAft>
                <a:spcPts val="0"/>
              </a:spcAft>
            </a:pPr>
            <a:r>
              <a:rPr sz="1000" b="0" i="0">
                <a:solidFill>
                  <a:srgbClr val="E3E3FD"/>
                </a:solidFill>
                <a:latin typeface="Marianne"/>
              </a:rPr>
              <a:t>DeepSeek V4 Pro · OR</a:t>
            </a:r>
          </a:p>
        </p:txBody>
      </p:sp>
      <p:sp>
        <p:nvSpPr>
          <p:cNvPr id="18" name="Rounded Rectangle 17"/>
          <p:cNvSpPr/>
          <p:nvPr/>
        </p:nvSpPr>
        <p:spPr>
          <a:xfrm>
            <a:off x="777240" y="2926080"/>
            <a:ext cx="10637215" cy="713232"/>
          </a:xfrm>
          <a:prstGeom prst="roundRect">
            <a:avLst>
              <a:gd name="adj" fmla="val 5000"/>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bank.png"/>
          <p:cNvPicPr>
            <a:picLocks noChangeAspect="1"/>
          </p:cNvPicPr>
          <p:nvPr/>
        </p:nvPicPr>
        <p:blipFill>
          <a:blip r:embed="rId3"/>
          <a:stretch>
            <a:fillRect/>
          </a:stretch>
        </p:blipFill>
        <p:spPr>
          <a:xfrm>
            <a:off x="923544" y="3099816"/>
            <a:ext cx="365760" cy="365760"/>
          </a:xfrm>
          <a:prstGeom prst="rect">
            <a:avLst/>
          </a:prstGeom>
        </p:spPr>
      </p:pic>
      <p:sp>
        <p:nvSpPr>
          <p:cNvPr id="20" name="TextBox 19"/>
          <p:cNvSpPr txBox="1"/>
          <p:nvPr/>
        </p:nvSpPr>
        <p:spPr>
          <a:xfrm>
            <a:off x="1417319" y="2926080"/>
            <a:ext cx="1307592" cy="713232"/>
          </a:xfrm>
          <a:prstGeom prst="rect">
            <a:avLst/>
          </a:prstGeom>
          <a:noFill/>
        </p:spPr>
        <p:txBody>
          <a:bodyPr wrap="square" lIns="0" rIns="0" tIns="0" bIns="0" anchor="ctr">
            <a:spAutoFit/>
          </a:bodyPr>
          <a:lstStyle/>
          <a:p>
            <a:pPr algn="l">
              <a:lnSpc>
                <a:spcPct val="100000"/>
              </a:lnSpc>
              <a:spcBef>
                <a:spcPts val="0"/>
              </a:spcBef>
              <a:spcAft>
                <a:spcPts val="0"/>
              </a:spcAft>
            </a:pPr>
            <a:r>
              <a:rPr sz="1450" b="1" i="0">
                <a:solidFill>
                  <a:srgbClr val="161616"/>
                </a:solidFill>
                <a:latin typeface="Marianne"/>
              </a:rPr>
              <a:t>Prix</a:t>
            </a:r>
          </a:p>
          <a:p>
            <a:pPr algn="l">
              <a:lnSpc>
                <a:spcPct val="100000"/>
              </a:lnSpc>
              <a:spcBef>
                <a:spcPts val="200"/>
              </a:spcBef>
              <a:spcAft>
                <a:spcPts val="0"/>
              </a:spcAft>
            </a:pPr>
            <a:r>
              <a:rPr sz="950" b="0" i="0">
                <a:solidFill>
                  <a:srgbClr val="6A6A6A"/>
                </a:solidFill>
                <a:latin typeface="Marianne"/>
              </a:rPr>
              <a:t>/ 1M tokens</a:t>
            </a:r>
          </a:p>
        </p:txBody>
      </p:sp>
      <p:sp>
        <p:nvSpPr>
          <p:cNvPr id="21" name="TextBox 20"/>
          <p:cNvSpPr txBox="1"/>
          <p:nvPr/>
        </p:nvSpPr>
        <p:spPr>
          <a:xfrm>
            <a:off x="2962656" y="3017520"/>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E1000F"/>
                </a:solidFill>
                <a:latin typeface="Marianne"/>
              </a:rPr>
              <a:t>● ● </a:t>
            </a:r>
            <a:r>
              <a:rPr sz="1150" b="0" i="0">
                <a:solidFill>
                  <a:srgbClr val="D2D2E8"/>
                </a:solidFill>
                <a:latin typeface="Marianne"/>
              </a:rPr>
              <a:t>● ● ● </a:t>
            </a:r>
          </a:p>
        </p:txBody>
      </p:sp>
      <p:sp>
        <p:nvSpPr>
          <p:cNvPr id="22" name="TextBox 21"/>
          <p:cNvSpPr txBox="1"/>
          <p:nvPr/>
        </p:nvSpPr>
        <p:spPr>
          <a:xfrm>
            <a:off x="2962656" y="3273552"/>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5 $ / 25 $</a:t>
            </a:r>
          </a:p>
          <a:p>
            <a:pPr algn="l">
              <a:lnSpc>
                <a:spcPct val="100000"/>
              </a:lnSpc>
              <a:spcBef>
                <a:spcPts val="100"/>
              </a:spcBef>
              <a:spcAft>
                <a:spcPts val="0"/>
              </a:spcAft>
            </a:pPr>
            <a:r>
              <a:rPr sz="950" b="0" i="0">
                <a:solidFill>
                  <a:srgbClr val="6A6A6A"/>
                </a:solidFill>
                <a:latin typeface="Marianne"/>
              </a:rPr>
              <a:t>+ siège 20–125 $/m</a:t>
            </a:r>
          </a:p>
        </p:txBody>
      </p:sp>
      <p:sp>
        <p:nvSpPr>
          <p:cNvPr id="23" name="TextBox 22"/>
          <p:cNvSpPr txBox="1"/>
          <p:nvPr/>
        </p:nvSpPr>
        <p:spPr>
          <a:xfrm>
            <a:off x="5139613" y="3017520"/>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18753C"/>
                </a:solidFill>
                <a:latin typeface="Marianne"/>
              </a:rPr>
              <a:t>● ● ● ● ● </a:t>
            </a:r>
            <a:r>
              <a:rPr sz="1150" b="0" i="0">
                <a:solidFill>
                  <a:srgbClr val="D2D2E8"/>
                </a:solidFill>
                <a:latin typeface="Marianne"/>
              </a:rPr>
              <a:t/>
            </a:r>
          </a:p>
        </p:txBody>
      </p:sp>
      <p:sp>
        <p:nvSpPr>
          <p:cNvPr id="24" name="TextBox 23"/>
          <p:cNvSpPr txBox="1"/>
          <p:nvPr/>
        </p:nvSpPr>
        <p:spPr>
          <a:xfrm>
            <a:off x="5139613" y="3273552"/>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Gratuit</a:t>
            </a:r>
          </a:p>
          <a:p>
            <a:pPr algn="l">
              <a:lnSpc>
                <a:spcPct val="100000"/>
              </a:lnSpc>
              <a:spcBef>
                <a:spcPts val="100"/>
              </a:spcBef>
              <a:spcAft>
                <a:spcPts val="0"/>
              </a:spcAft>
            </a:pPr>
            <a:r>
              <a:rPr sz="950" b="0" i="0">
                <a:solidFill>
                  <a:srgbClr val="6A6A6A"/>
                </a:solidFill>
                <a:latin typeface="Marianne"/>
              </a:rPr>
              <a:t>quotas, agents État</a:t>
            </a:r>
          </a:p>
        </p:txBody>
      </p:sp>
      <p:sp>
        <p:nvSpPr>
          <p:cNvPr id="25" name="TextBox 24"/>
          <p:cNvSpPr txBox="1"/>
          <p:nvPr/>
        </p:nvSpPr>
        <p:spPr>
          <a:xfrm>
            <a:off x="7316571" y="3017520"/>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18753C"/>
                </a:solidFill>
                <a:latin typeface="Marianne"/>
              </a:rPr>
              <a:t>● ● ● ● </a:t>
            </a:r>
            <a:r>
              <a:rPr sz="1150" b="0" i="0">
                <a:solidFill>
                  <a:srgbClr val="D2D2E8"/>
                </a:solidFill>
                <a:latin typeface="Marianne"/>
              </a:rPr>
              <a:t>● </a:t>
            </a:r>
          </a:p>
        </p:txBody>
      </p:sp>
      <p:sp>
        <p:nvSpPr>
          <p:cNvPr id="26" name="TextBox 25"/>
          <p:cNvSpPr txBox="1"/>
          <p:nvPr/>
        </p:nvSpPr>
        <p:spPr>
          <a:xfrm>
            <a:off x="7316571" y="3273552"/>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≈1,40 $ / 4,40 $</a:t>
            </a:r>
          </a:p>
        </p:txBody>
      </p:sp>
      <p:sp>
        <p:nvSpPr>
          <p:cNvPr id="27" name="TextBox 26"/>
          <p:cNvSpPr txBox="1"/>
          <p:nvPr/>
        </p:nvSpPr>
        <p:spPr>
          <a:xfrm>
            <a:off x="9493529" y="3017520"/>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18753C"/>
                </a:solidFill>
                <a:latin typeface="Marianne"/>
              </a:rPr>
              <a:t>● ● ● ● ● </a:t>
            </a:r>
            <a:r>
              <a:rPr sz="1150" b="0" i="0">
                <a:solidFill>
                  <a:srgbClr val="D2D2E8"/>
                </a:solidFill>
                <a:latin typeface="Marianne"/>
              </a:rPr>
              <a:t/>
            </a:r>
          </a:p>
        </p:txBody>
      </p:sp>
      <p:sp>
        <p:nvSpPr>
          <p:cNvPr id="28" name="TextBox 27"/>
          <p:cNvSpPr txBox="1"/>
          <p:nvPr/>
        </p:nvSpPr>
        <p:spPr>
          <a:xfrm>
            <a:off x="9493529" y="3273552"/>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0,44 $ / 0,87 $</a:t>
            </a:r>
          </a:p>
          <a:p>
            <a:pPr algn="l">
              <a:lnSpc>
                <a:spcPct val="100000"/>
              </a:lnSpc>
              <a:spcBef>
                <a:spcPts val="100"/>
              </a:spcBef>
              <a:spcAft>
                <a:spcPts val="0"/>
              </a:spcAft>
            </a:pPr>
            <a:r>
              <a:rPr sz="950" b="0" i="0">
                <a:solidFill>
                  <a:srgbClr val="6A6A6A"/>
                </a:solidFill>
                <a:latin typeface="Marianne"/>
              </a:rPr>
              <a:t>tarif preview *</a:t>
            </a:r>
          </a:p>
        </p:txBody>
      </p:sp>
      <p:sp>
        <p:nvSpPr>
          <p:cNvPr id="29" name="Rounded Rectangle 28"/>
          <p:cNvSpPr/>
          <p:nvPr/>
        </p:nvSpPr>
        <p:spPr>
          <a:xfrm>
            <a:off x="777240" y="3730752"/>
            <a:ext cx="10637215" cy="713232"/>
          </a:xfrm>
          <a:prstGeom prst="roundRect">
            <a:avLst>
              <a:gd name="adj" fmla="val 5000"/>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ode-s-slash.png"/>
          <p:cNvPicPr>
            <a:picLocks noChangeAspect="1"/>
          </p:cNvPicPr>
          <p:nvPr/>
        </p:nvPicPr>
        <p:blipFill>
          <a:blip r:embed="rId4"/>
          <a:stretch>
            <a:fillRect/>
          </a:stretch>
        </p:blipFill>
        <p:spPr>
          <a:xfrm>
            <a:off x="923544" y="3904488"/>
            <a:ext cx="365760" cy="365760"/>
          </a:xfrm>
          <a:prstGeom prst="rect">
            <a:avLst/>
          </a:prstGeom>
        </p:spPr>
      </p:pic>
      <p:sp>
        <p:nvSpPr>
          <p:cNvPr id="31" name="TextBox 30"/>
          <p:cNvSpPr txBox="1"/>
          <p:nvPr/>
        </p:nvSpPr>
        <p:spPr>
          <a:xfrm>
            <a:off x="1417319" y="3730752"/>
            <a:ext cx="1307592" cy="713232"/>
          </a:xfrm>
          <a:prstGeom prst="rect">
            <a:avLst/>
          </a:prstGeom>
          <a:noFill/>
        </p:spPr>
        <p:txBody>
          <a:bodyPr wrap="square" lIns="0" rIns="0" tIns="0" bIns="0" anchor="ctr">
            <a:spAutoFit/>
          </a:bodyPr>
          <a:lstStyle/>
          <a:p>
            <a:pPr algn="l">
              <a:lnSpc>
                <a:spcPct val="100000"/>
              </a:lnSpc>
              <a:spcBef>
                <a:spcPts val="0"/>
              </a:spcBef>
              <a:spcAft>
                <a:spcPts val="0"/>
              </a:spcAft>
            </a:pPr>
            <a:r>
              <a:rPr sz="1450" b="1" i="0">
                <a:solidFill>
                  <a:srgbClr val="161616"/>
                </a:solidFill>
                <a:latin typeface="Marianne"/>
              </a:rPr>
              <a:t>Performance</a:t>
            </a:r>
          </a:p>
          <a:p>
            <a:pPr algn="l">
              <a:lnSpc>
                <a:spcPct val="100000"/>
              </a:lnSpc>
              <a:spcBef>
                <a:spcPts val="200"/>
              </a:spcBef>
              <a:spcAft>
                <a:spcPts val="0"/>
              </a:spcAft>
            </a:pPr>
            <a:r>
              <a:rPr sz="950" b="0" i="0">
                <a:solidFill>
                  <a:srgbClr val="6A6A6A"/>
                </a:solidFill>
                <a:latin typeface="Marianne"/>
              </a:rPr>
              <a:t>SWE-bench Verified</a:t>
            </a:r>
          </a:p>
        </p:txBody>
      </p:sp>
      <p:sp>
        <p:nvSpPr>
          <p:cNvPr id="32" name="TextBox 31"/>
          <p:cNvSpPr txBox="1"/>
          <p:nvPr/>
        </p:nvSpPr>
        <p:spPr>
          <a:xfrm>
            <a:off x="2962656" y="3822191"/>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18753C"/>
                </a:solidFill>
                <a:latin typeface="Marianne"/>
              </a:rPr>
              <a:t>● ● ● ● ● </a:t>
            </a:r>
            <a:r>
              <a:rPr sz="1150" b="0" i="0">
                <a:solidFill>
                  <a:srgbClr val="D2D2E8"/>
                </a:solidFill>
                <a:latin typeface="Marianne"/>
              </a:rPr>
              <a:t/>
            </a:r>
          </a:p>
        </p:txBody>
      </p:sp>
      <p:sp>
        <p:nvSpPr>
          <p:cNvPr id="33" name="TextBox 32"/>
          <p:cNvSpPr txBox="1"/>
          <p:nvPr/>
        </p:nvSpPr>
        <p:spPr>
          <a:xfrm>
            <a:off x="2962656" y="4078224"/>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88,6 %</a:t>
            </a:r>
          </a:p>
        </p:txBody>
      </p:sp>
      <p:sp>
        <p:nvSpPr>
          <p:cNvPr id="34" name="TextBox 33"/>
          <p:cNvSpPr txBox="1"/>
          <p:nvPr/>
        </p:nvSpPr>
        <p:spPr>
          <a:xfrm>
            <a:off x="5139613" y="3822191"/>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18753C"/>
                </a:solidFill>
                <a:latin typeface="Marianne"/>
              </a:rPr>
              <a:t>● ● ● ● </a:t>
            </a:r>
            <a:r>
              <a:rPr sz="1150" b="0" i="0">
                <a:solidFill>
                  <a:srgbClr val="D2D2E8"/>
                </a:solidFill>
                <a:latin typeface="Marianne"/>
              </a:rPr>
              <a:t>● </a:t>
            </a:r>
          </a:p>
        </p:txBody>
      </p:sp>
      <p:sp>
        <p:nvSpPr>
          <p:cNvPr id="35" name="TextBox 34"/>
          <p:cNvSpPr txBox="1"/>
          <p:nvPr/>
        </p:nvSpPr>
        <p:spPr>
          <a:xfrm>
            <a:off x="5139613" y="4078224"/>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≈79 % *</a:t>
            </a:r>
          </a:p>
          <a:p>
            <a:pPr algn="l">
              <a:lnSpc>
                <a:spcPct val="100000"/>
              </a:lnSpc>
              <a:spcBef>
                <a:spcPts val="100"/>
              </a:spcBef>
              <a:spcAft>
                <a:spcPts val="0"/>
              </a:spcAft>
            </a:pPr>
            <a:r>
              <a:rPr sz="950" b="0" i="0">
                <a:solidFill>
                  <a:srgbClr val="6A6A6A"/>
                </a:solidFill>
                <a:latin typeface="Marianne"/>
              </a:rPr>
              <a:t>via DeepSeek V4 Flash</a:t>
            </a:r>
          </a:p>
        </p:txBody>
      </p:sp>
      <p:sp>
        <p:nvSpPr>
          <p:cNvPr id="36" name="TextBox 35"/>
          <p:cNvSpPr txBox="1"/>
          <p:nvPr/>
        </p:nvSpPr>
        <p:spPr>
          <a:xfrm>
            <a:off x="7316571" y="3822191"/>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18753C"/>
                </a:solidFill>
                <a:latin typeface="Marianne"/>
              </a:rPr>
              <a:t>● ● ● ● </a:t>
            </a:r>
            <a:r>
              <a:rPr sz="1150" b="0" i="0">
                <a:solidFill>
                  <a:srgbClr val="D2D2E8"/>
                </a:solidFill>
                <a:latin typeface="Marianne"/>
              </a:rPr>
              <a:t>● </a:t>
            </a:r>
          </a:p>
        </p:txBody>
      </p:sp>
      <p:sp>
        <p:nvSpPr>
          <p:cNvPr id="37" name="TextBox 36"/>
          <p:cNvSpPr txBox="1"/>
          <p:nvPr/>
        </p:nvSpPr>
        <p:spPr>
          <a:xfrm>
            <a:off x="7316571" y="4078224"/>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≈78 % *</a:t>
            </a:r>
          </a:p>
          <a:p>
            <a:pPr algn="l">
              <a:lnSpc>
                <a:spcPct val="100000"/>
              </a:lnSpc>
              <a:spcBef>
                <a:spcPts val="100"/>
              </a:spcBef>
              <a:spcAft>
                <a:spcPts val="0"/>
              </a:spcAft>
            </a:pPr>
            <a:r>
              <a:rPr sz="950" b="0" i="0">
                <a:solidFill>
                  <a:srgbClr val="6A6A6A"/>
                </a:solidFill>
                <a:latin typeface="Marianne"/>
              </a:rPr>
              <a:t>Term-Bench 81–83 %</a:t>
            </a:r>
          </a:p>
        </p:txBody>
      </p:sp>
      <p:sp>
        <p:nvSpPr>
          <p:cNvPr id="38" name="TextBox 37"/>
          <p:cNvSpPr txBox="1"/>
          <p:nvPr/>
        </p:nvSpPr>
        <p:spPr>
          <a:xfrm>
            <a:off x="9493529" y="3822191"/>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18753C"/>
                </a:solidFill>
                <a:latin typeface="Marianne"/>
              </a:rPr>
              <a:t>● ● ● ● </a:t>
            </a:r>
            <a:r>
              <a:rPr sz="1150" b="0" i="0">
                <a:solidFill>
                  <a:srgbClr val="D2D2E8"/>
                </a:solidFill>
                <a:latin typeface="Marianne"/>
              </a:rPr>
              <a:t>● </a:t>
            </a:r>
          </a:p>
        </p:txBody>
      </p:sp>
      <p:sp>
        <p:nvSpPr>
          <p:cNvPr id="39" name="TextBox 38"/>
          <p:cNvSpPr txBox="1"/>
          <p:nvPr/>
        </p:nvSpPr>
        <p:spPr>
          <a:xfrm>
            <a:off x="9493529" y="4078224"/>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80,6 %</a:t>
            </a:r>
          </a:p>
        </p:txBody>
      </p:sp>
      <p:sp>
        <p:nvSpPr>
          <p:cNvPr id="40" name="Rounded Rectangle 39"/>
          <p:cNvSpPr/>
          <p:nvPr/>
        </p:nvSpPr>
        <p:spPr>
          <a:xfrm>
            <a:off x="777240" y="4535424"/>
            <a:ext cx="10637215" cy="713232"/>
          </a:xfrm>
          <a:prstGeom prst="roundRect">
            <a:avLst>
              <a:gd name="adj" fmla="val 5000"/>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shield-check.png"/>
          <p:cNvPicPr>
            <a:picLocks noChangeAspect="1"/>
          </p:cNvPicPr>
          <p:nvPr/>
        </p:nvPicPr>
        <p:blipFill>
          <a:blip r:embed="rId5"/>
          <a:stretch>
            <a:fillRect/>
          </a:stretch>
        </p:blipFill>
        <p:spPr>
          <a:xfrm>
            <a:off x="923544" y="4709160"/>
            <a:ext cx="365760" cy="365760"/>
          </a:xfrm>
          <a:prstGeom prst="rect">
            <a:avLst/>
          </a:prstGeom>
        </p:spPr>
      </p:pic>
      <p:sp>
        <p:nvSpPr>
          <p:cNvPr id="42" name="TextBox 41"/>
          <p:cNvSpPr txBox="1"/>
          <p:nvPr/>
        </p:nvSpPr>
        <p:spPr>
          <a:xfrm>
            <a:off x="1417319" y="4535424"/>
            <a:ext cx="1307592" cy="713232"/>
          </a:xfrm>
          <a:prstGeom prst="rect">
            <a:avLst/>
          </a:prstGeom>
          <a:noFill/>
        </p:spPr>
        <p:txBody>
          <a:bodyPr wrap="square" lIns="0" rIns="0" tIns="0" bIns="0" anchor="ctr">
            <a:spAutoFit/>
          </a:bodyPr>
          <a:lstStyle/>
          <a:p>
            <a:pPr algn="l">
              <a:lnSpc>
                <a:spcPct val="100000"/>
              </a:lnSpc>
              <a:spcBef>
                <a:spcPts val="0"/>
              </a:spcBef>
              <a:spcAft>
                <a:spcPts val="0"/>
              </a:spcAft>
            </a:pPr>
            <a:r>
              <a:rPr sz="1450" b="1" i="0">
                <a:solidFill>
                  <a:srgbClr val="161616"/>
                </a:solidFill>
                <a:latin typeface="Marianne"/>
              </a:rPr>
              <a:t>Souveraineté</a:t>
            </a:r>
          </a:p>
          <a:p>
            <a:pPr algn="l">
              <a:lnSpc>
                <a:spcPct val="100000"/>
              </a:lnSpc>
              <a:spcBef>
                <a:spcPts val="200"/>
              </a:spcBef>
              <a:spcAft>
                <a:spcPts val="0"/>
              </a:spcAft>
            </a:pPr>
            <a:r>
              <a:rPr sz="950" b="0" i="0">
                <a:solidFill>
                  <a:srgbClr val="6A6A6A"/>
                </a:solidFill>
                <a:latin typeface="Marianne"/>
              </a:rPr>
              <a:t>éditeur / hébergement</a:t>
            </a:r>
          </a:p>
        </p:txBody>
      </p:sp>
      <p:sp>
        <p:nvSpPr>
          <p:cNvPr id="43" name="TextBox 42"/>
          <p:cNvSpPr txBox="1"/>
          <p:nvPr/>
        </p:nvSpPr>
        <p:spPr>
          <a:xfrm>
            <a:off x="2962656" y="4626864"/>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E1000F"/>
                </a:solidFill>
                <a:latin typeface="Marianne"/>
              </a:rPr>
              <a:t>● ● </a:t>
            </a:r>
            <a:r>
              <a:rPr sz="1150" b="0" i="0">
                <a:solidFill>
                  <a:srgbClr val="D2D2E8"/>
                </a:solidFill>
                <a:latin typeface="Marianne"/>
              </a:rPr>
              <a:t>● ● ● </a:t>
            </a:r>
          </a:p>
        </p:txBody>
      </p:sp>
      <p:sp>
        <p:nvSpPr>
          <p:cNvPr id="44" name="TextBox 43"/>
          <p:cNvSpPr txBox="1"/>
          <p:nvPr/>
        </p:nvSpPr>
        <p:spPr>
          <a:xfrm>
            <a:off x="2962656" y="4882896"/>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Éditeur US</a:t>
            </a:r>
          </a:p>
          <a:p>
            <a:pPr algn="l">
              <a:lnSpc>
                <a:spcPct val="100000"/>
              </a:lnSpc>
              <a:spcBef>
                <a:spcPts val="100"/>
              </a:spcBef>
              <a:spcAft>
                <a:spcPts val="0"/>
              </a:spcAft>
            </a:pPr>
            <a:r>
              <a:rPr sz="950" b="0" i="0">
                <a:solidFill>
                  <a:srgbClr val="6A6A6A"/>
                </a:solidFill>
                <a:latin typeface="Marianne"/>
              </a:rPr>
              <a:t>CLOUD Act</a:t>
            </a:r>
          </a:p>
        </p:txBody>
      </p:sp>
      <p:sp>
        <p:nvSpPr>
          <p:cNvPr id="45" name="TextBox 44"/>
          <p:cNvSpPr txBox="1"/>
          <p:nvPr/>
        </p:nvSpPr>
        <p:spPr>
          <a:xfrm>
            <a:off x="5139613" y="4626864"/>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18753C"/>
                </a:solidFill>
                <a:latin typeface="Marianne"/>
              </a:rPr>
              <a:t>● ● ● ● ● </a:t>
            </a:r>
            <a:r>
              <a:rPr sz="1150" b="0" i="0">
                <a:solidFill>
                  <a:srgbClr val="D2D2E8"/>
                </a:solidFill>
                <a:latin typeface="Marianne"/>
              </a:rPr>
              <a:t/>
            </a:r>
          </a:p>
        </p:txBody>
      </p:sp>
      <p:sp>
        <p:nvSpPr>
          <p:cNvPr id="46" name="TextBox 45"/>
          <p:cNvSpPr txBox="1"/>
          <p:nvPr/>
        </p:nvSpPr>
        <p:spPr>
          <a:xfrm>
            <a:off x="5139613" y="4882896"/>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État FR</a:t>
            </a:r>
          </a:p>
          <a:p>
            <a:pPr algn="l">
              <a:lnSpc>
                <a:spcPct val="100000"/>
              </a:lnSpc>
              <a:spcBef>
                <a:spcPts val="100"/>
              </a:spcBef>
              <a:spcAft>
                <a:spcPts val="0"/>
              </a:spcAft>
            </a:pPr>
            <a:r>
              <a:rPr sz="950" b="0" i="0">
                <a:solidFill>
                  <a:srgbClr val="6A6A6A"/>
                </a:solidFill>
                <a:latin typeface="Marianne"/>
              </a:rPr>
              <a:t>SecNumCloud</a:t>
            </a:r>
          </a:p>
        </p:txBody>
      </p:sp>
      <p:sp>
        <p:nvSpPr>
          <p:cNvPr id="47" name="TextBox 46"/>
          <p:cNvSpPr txBox="1"/>
          <p:nvPr/>
        </p:nvSpPr>
        <p:spPr>
          <a:xfrm>
            <a:off x="7316571" y="4626864"/>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E1000F"/>
                </a:solidFill>
                <a:latin typeface="Marianne"/>
              </a:rPr>
              <a:t>● </a:t>
            </a:r>
            <a:r>
              <a:rPr sz="1150" b="0" i="0">
                <a:solidFill>
                  <a:srgbClr val="D2D2E8"/>
                </a:solidFill>
                <a:latin typeface="Marianne"/>
              </a:rPr>
              <a:t>● ● ● ● </a:t>
            </a:r>
          </a:p>
        </p:txBody>
      </p:sp>
      <p:sp>
        <p:nvSpPr>
          <p:cNvPr id="48" name="TextBox 47"/>
          <p:cNvSpPr txBox="1"/>
          <p:nvPr/>
        </p:nvSpPr>
        <p:spPr>
          <a:xfrm>
            <a:off x="7316571" y="4882896"/>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Éditeur CN</a:t>
            </a:r>
          </a:p>
          <a:p>
            <a:pPr algn="l">
              <a:lnSpc>
                <a:spcPct val="100000"/>
              </a:lnSpc>
              <a:spcBef>
                <a:spcPts val="100"/>
              </a:spcBef>
              <a:spcAft>
                <a:spcPts val="0"/>
              </a:spcAft>
            </a:pPr>
            <a:r>
              <a:rPr sz="950" b="0" i="0">
                <a:solidFill>
                  <a:srgbClr val="6A6A6A"/>
                </a:solidFill>
                <a:latin typeface="Marianne"/>
              </a:rPr>
              <a:t>+ routeur US</a:t>
            </a:r>
          </a:p>
        </p:txBody>
      </p:sp>
      <p:sp>
        <p:nvSpPr>
          <p:cNvPr id="49" name="TextBox 48"/>
          <p:cNvSpPr txBox="1"/>
          <p:nvPr/>
        </p:nvSpPr>
        <p:spPr>
          <a:xfrm>
            <a:off x="9493529" y="4626864"/>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E1000F"/>
                </a:solidFill>
                <a:latin typeface="Marianne"/>
              </a:rPr>
              <a:t>● </a:t>
            </a:r>
            <a:r>
              <a:rPr sz="1150" b="0" i="0">
                <a:solidFill>
                  <a:srgbClr val="D2D2E8"/>
                </a:solidFill>
                <a:latin typeface="Marianne"/>
              </a:rPr>
              <a:t>● ● ● ● </a:t>
            </a:r>
          </a:p>
        </p:txBody>
      </p:sp>
      <p:sp>
        <p:nvSpPr>
          <p:cNvPr id="50" name="TextBox 49"/>
          <p:cNvSpPr txBox="1"/>
          <p:nvPr/>
        </p:nvSpPr>
        <p:spPr>
          <a:xfrm>
            <a:off x="9493529" y="4882896"/>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Éditeur CN</a:t>
            </a:r>
          </a:p>
          <a:p>
            <a:pPr algn="l">
              <a:lnSpc>
                <a:spcPct val="100000"/>
              </a:lnSpc>
              <a:spcBef>
                <a:spcPts val="100"/>
              </a:spcBef>
              <a:spcAft>
                <a:spcPts val="0"/>
              </a:spcAft>
            </a:pPr>
            <a:r>
              <a:rPr sz="950" b="0" i="0">
                <a:solidFill>
                  <a:srgbClr val="6A6A6A"/>
                </a:solidFill>
                <a:latin typeface="Marianne"/>
              </a:rPr>
              <a:t>+ routeur US</a:t>
            </a:r>
          </a:p>
        </p:txBody>
      </p:sp>
      <p:sp>
        <p:nvSpPr>
          <p:cNvPr id="51" name="Rounded Rectangle 50"/>
          <p:cNvSpPr/>
          <p:nvPr/>
        </p:nvSpPr>
        <p:spPr>
          <a:xfrm>
            <a:off x="777240" y="5340096"/>
            <a:ext cx="10637215" cy="713232"/>
          </a:xfrm>
          <a:prstGeom prst="roundRect">
            <a:avLst>
              <a:gd name="adj" fmla="val 5000"/>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settings-3.png"/>
          <p:cNvPicPr>
            <a:picLocks noChangeAspect="1"/>
          </p:cNvPicPr>
          <p:nvPr/>
        </p:nvPicPr>
        <p:blipFill>
          <a:blip r:embed="rId6"/>
          <a:stretch>
            <a:fillRect/>
          </a:stretch>
        </p:blipFill>
        <p:spPr>
          <a:xfrm>
            <a:off x="923544" y="5513832"/>
            <a:ext cx="365760" cy="365760"/>
          </a:xfrm>
          <a:prstGeom prst="rect">
            <a:avLst/>
          </a:prstGeom>
        </p:spPr>
      </p:pic>
      <p:sp>
        <p:nvSpPr>
          <p:cNvPr id="53" name="TextBox 52"/>
          <p:cNvSpPr txBox="1"/>
          <p:nvPr/>
        </p:nvSpPr>
        <p:spPr>
          <a:xfrm>
            <a:off x="1417319" y="5340096"/>
            <a:ext cx="1307592" cy="713232"/>
          </a:xfrm>
          <a:prstGeom prst="rect">
            <a:avLst/>
          </a:prstGeom>
          <a:noFill/>
        </p:spPr>
        <p:txBody>
          <a:bodyPr wrap="square" lIns="0" rIns="0" tIns="0" bIns="0" anchor="ctr">
            <a:spAutoFit/>
          </a:bodyPr>
          <a:lstStyle/>
          <a:p>
            <a:pPr algn="l">
              <a:lnSpc>
                <a:spcPct val="100000"/>
              </a:lnSpc>
              <a:spcBef>
                <a:spcPts val="0"/>
              </a:spcBef>
              <a:spcAft>
                <a:spcPts val="0"/>
              </a:spcAft>
            </a:pPr>
            <a:r>
              <a:rPr sz="1450" b="1" i="0">
                <a:solidFill>
                  <a:srgbClr val="161616"/>
                </a:solidFill>
                <a:latin typeface="Marianne"/>
              </a:rPr>
              <a:t>Faisabilité</a:t>
            </a:r>
          </a:p>
          <a:p>
            <a:pPr algn="l">
              <a:lnSpc>
                <a:spcPct val="100000"/>
              </a:lnSpc>
              <a:spcBef>
                <a:spcPts val="200"/>
              </a:spcBef>
              <a:spcAft>
                <a:spcPts val="0"/>
              </a:spcAft>
            </a:pPr>
            <a:r>
              <a:rPr sz="950" b="0" i="0">
                <a:solidFill>
                  <a:srgbClr val="6A6A6A"/>
                </a:solidFill>
                <a:latin typeface="Marianne"/>
              </a:rPr>
              <a:t>poste interne</a:t>
            </a:r>
          </a:p>
        </p:txBody>
      </p:sp>
      <p:sp>
        <p:nvSpPr>
          <p:cNvPr id="54" name="TextBox 53"/>
          <p:cNvSpPr txBox="1"/>
          <p:nvPr/>
        </p:nvSpPr>
        <p:spPr>
          <a:xfrm>
            <a:off x="2962656" y="5431536"/>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18753C"/>
                </a:solidFill>
                <a:latin typeface="Marianne"/>
              </a:rPr>
              <a:t>● ● ● ● </a:t>
            </a:r>
            <a:r>
              <a:rPr sz="1150" b="0" i="0">
                <a:solidFill>
                  <a:srgbClr val="D2D2E8"/>
                </a:solidFill>
                <a:latin typeface="Marianne"/>
              </a:rPr>
              <a:t>● </a:t>
            </a:r>
          </a:p>
        </p:txBody>
      </p:sp>
      <p:sp>
        <p:nvSpPr>
          <p:cNvPr id="55" name="TextBox 54"/>
          <p:cNvSpPr txBox="1"/>
          <p:nvPr/>
        </p:nvSpPr>
        <p:spPr>
          <a:xfrm>
            <a:off x="2962656" y="5687568"/>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Mac/Linux/Win natif</a:t>
            </a:r>
          </a:p>
          <a:p>
            <a:pPr algn="l">
              <a:lnSpc>
                <a:spcPct val="100000"/>
              </a:lnSpc>
              <a:spcBef>
                <a:spcPts val="100"/>
              </a:spcBef>
              <a:spcAft>
                <a:spcPts val="0"/>
              </a:spcAft>
            </a:pPr>
            <a:r>
              <a:rPr sz="950" b="0" i="0">
                <a:solidFill>
                  <a:srgbClr val="6A6A6A"/>
                </a:solidFill>
                <a:latin typeface="Marianne"/>
              </a:rPr>
              <a:t>outil mûr, admin. ent.</a:t>
            </a:r>
          </a:p>
        </p:txBody>
      </p:sp>
      <p:sp>
        <p:nvSpPr>
          <p:cNvPr id="56" name="TextBox 55"/>
          <p:cNvSpPr txBox="1"/>
          <p:nvPr/>
        </p:nvSpPr>
        <p:spPr>
          <a:xfrm>
            <a:off x="5139613" y="5431536"/>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B85C00"/>
                </a:solidFill>
                <a:latin typeface="Marianne"/>
              </a:rPr>
              <a:t>● ● ● </a:t>
            </a:r>
            <a:r>
              <a:rPr sz="1150" b="0" i="0">
                <a:solidFill>
                  <a:srgbClr val="D2D2E8"/>
                </a:solidFill>
                <a:latin typeface="Marianne"/>
              </a:rPr>
              <a:t>● ● </a:t>
            </a:r>
          </a:p>
        </p:txBody>
      </p:sp>
      <p:sp>
        <p:nvSpPr>
          <p:cNvPr id="57" name="TextBox 56"/>
          <p:cNvSpPr txBox="1"/>
          <p:nvPr/>
        </p:nvSpPr>
        <p:spPr>
          <a:xfrm>
            <a:off x="5139613" y="5687568"/>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OpenAI-compat.</a:t>
            </a:r>
          </a:p>
          <a:p>
            <a:pPr algn="l">
              <a:lnSpc>
                <a:spcPct val="100000"/>
              </a:lnSpc>
              <a:spcBef>
                <a:spcPts val="100"/>
              </a:spcBef>
              <a:spcAft>
                <a:spcPts val="0"/>
              </a:spcAft>
            </a:pPr>
            <a:r>
              <a:rPr sz="950" b="0" i="0">
                <a:solidFill>
                  <a:srgbClr val="6A6A6A"/>
                </a:solidFill>
                <a:latin typeface="Marianne"/>
              </a:rPr>
              <a:t>agents État · quotas CI</a:t>
            </a:r>
          </a:p>
        </p:txBody>
      </p:sp>
      <p:sp>
        <p:nvSpPr>
          <p:cNvPr id="58" name="TextBox 57"/>
          <p:cNvSpPr txBox="1"/>
          <p:nvPr/>
        </p:nvSpPr>
        <p:spPr>
          <a:xfrm>
            <a:off x="7316571" y="5431536"/>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B85C00"/>
                </a:solidFill>
                <a:latin typeface="Marianne"/>
              </a:rPr>
              <a:t>● ● ● </a:t>
            </a:r>
            <a:r>
              <a:rPr sz="1150" b="0" i="0">
                <a:solidFill>
                  <a:srgbClr val="D2D2E8"/>
                </a:solidFill>
                <a:latin typeface="Marianne"/>
              </a:rPr>
              <a:t>● ● </a:t>
            </a:r>
          </a:p>
        </p:txBody>
      </p:sp>
      <p:sp>
        <p:nvSpPr>
          <p:cNvPr id="59" name="TextBox 58"/>
          <p:cNvSpPr txBox="1"/>
          <p:nvPr/>
        </p:nvSpPr>
        <p:spPr>
          <a:xfrm>
            <a:off x="7316571" y="5687568"/>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clé OpenRouter</a:t>
            </a:r>
          </a:p>
          <a:p>
            <a:pPr algn="l">
              <a:lnSpc>
                <a:spcPct val="100000"/>
              </a:lnSpc>
              <a:spcBef>
                <a:spcPts val="100"/>
              </a:spcBef>
              <a:spcAft>
                <a:spcPts val="0"/>
              </a:spcAft>
            </a:pPr>
            <a:r>
              <a:rPr sz="950" b="0" i="0">
                <a:solidFill>
                  <a:srgbClr val="6A6A6A"/>
                </a:solidFill>
                <a:latin typeface="Marianne"/>
              </a:rPr>
              <a:t>Mac/Linux/Win (WSL)</a:t>
            </a:r>
          </a:p>
        </p:txBody>
      </p:sp>
      <p:sp>
        <p:nvSpPr>
          <p:cNvPr id="60" name="TextBox 59"/>
          <p:cNvSpPr txBox="1"/>
          <p:nvPr/>
        </p:nvSpPr>
        <p:spPr>
          <a:xfrm>
            <a:off x="9493529" y="5431536"/>
            <a:ext cx="1847773" cy="274320"/>
          </a:xfrm>
          <a:prstGeom prst="rect">
            <a:avLst/>
          </a:prstGeom>
          <a:noFill/>
        </p:spPr>
        <p:txBody>
          <a:bodyPr wrap="square" lIns="0" rIns="0" tIns="0" bIns="0" anchor="ctr">
            <a:spAutoFit/>
          </a:bodyPr>
          <a:lstStyle/>
          <a:p>
            <a:pPr algn="l">
              <a:lnSpc>
                <a:spcPct val="106000"/>
              </a:lnSpc>
              <a:spcBef>
                <a:spcPts val="0"/>
              </a:spcBef>
              <a:spcAft>
                <a:spcPts val="0"/>
              </a:spcAft>
            </a:pPr>
            <a:r>
              <a:rPr sz="1150" b="0" i="0">
                <a:solidFill>
                  <a:srgbClr val="B85C00"/>
                </a:solidFill>
                <a:latin typeface="Marianne"/>
              </a:rPr>
              <a:t>● ● ● </a:t>
            </a:r>
            <a:r>
              <a:rPr sz="1150" b="0" i="0">
                <a:solidFill>
                  <a:srgbClr val="D2D2E8"/>
                </a:solidFill>
                <a:latin typeface="Marianne"/>
              </a:rPr>
              <a:t>● ● </a:t>
            </a:r>
          </a:p>
        </p:txBody>
      </p:sp>
      <p:sp>
        <p:nvSpPr>
          <p:cNvPr id="61" name="TextBox 60"/>
          <p:cNvSpPr txBox="1"/>
          <p:nvPr/>
        </p:nvSpPr>
        <p:spPr>
          <a:xfrm>
            <a:off x="9493529" y="5687568"/>
            <a:ext cx="1847773" cy="329184"/>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61616"/>
                </a:solidFill>
                <a:latin typeface="Marianne"/>
              </a:rPr>
              <a:t>clé OpenRouter</a:t>
            </a:r>
          </a:p>
          <a:p>
            <a:pPr algn="l">
              <a:lnSpc>
                <a:spcPct val="100000"/>
              </a:lnSpc>
              <a:spcBef>
                <a:spcPts val="100"/>
              </a:spcBef>
              <a:spcAft>
                <a:spcPts val="0"/>
              </a:spcAft>
            </a:pPr>
            <a:r>
              <a:rPr sz="950" b="0" i="0">
                <a:solidFill>
                  <a:srgbClr val="6A6A6A"/>
                </a:solidFill>
                <a:latin typeface="Marianne"/>
              </a:rPr>
              <a:t>Mac/Linux/Win (WSL)</a:t>
            </a:r>
          </a:p>
        </p:txBody>
      </p:sp>
      <p:sp>
        <p:nvSpPr>
          <p:cNvPr id="62" name="TextBox 61"/>
          <p:cNvSpPr txBox="1"/>
          <p:nvPr/>
        </p:nvSpPr>
        <p:spPr>
          <a:xfrm>
            <a:off x="777240" y="6163056"/>
            <a:ext cx="10637215" cy="274320"/>
          </a:xfrm>
          <a:prstGeom prst="rect">
            <a:avLst/>
          </a:prstGeom>
          <a:noFill/>
        </p:spPr>
        <p:txBody>
          <a:bodyPr wrap="square" lIns="0" rIns="0" tIns="0" bIns="0" anchor="t">
            <a:spAutoFit/>
          </a:bodyPr>
          <a:lstStyle/>
          <a:p>
            <a:pPr algn="l">
              <a:lnSpc>
                <a:spcPct val="106000"/>
              </a:lnSpc>
              <a:spcBef>
                <a:spcPts val="0"/>
              </a:spcBef>
              <a:spcAft>
                <a:spcPts val="0"/>
              </a:spcAft>
            </a:pPr>
            <a:r>
              <a:rPr sz="1050" b="0" i="0">
                <a:solidFill>
                  <a:srgbClr val="18753C"/>
                </a:solidFill>
                <a:latin typeface="Marianne"/>
              </a:rPr>
              <a:t>● ● ● ● ● </a:t>
            </a:r>
            <a:r>
              <a:rPr sz="1000" b="0" i="0">
                <a:solidFill>
                  <a:srgbClr val="6A6A6A"/>
                </a:solidFill>
                <a:latin typeface="Marianne"/>
              </a:rPr>
              <a:t>favorable    </a:t>
            </a:r>
            <a:r>
              <a:rPr sz="1050" b="0" i="0">
                <a:solidFill>
                  <a:srgbClr val="B85C00"/>
                </a:solidFill>
                <a:latin typeface="Marianne"/>
              </a:rPr>
              <a:t>● ● ● </a:t>
            </a:r>
            <a:r>
              <a:rPr sz="1000" b="0" i="0">
                <a:solidFill>
                  <a:srgbClr val="6A6A6A"/>
                </a:solidFill>
                <a:latin typeface="Marianne"/>
              </a:rPr>
              <a:t>moyen    </a:t>
            </a:r>
            <a:r>
              <a:rPr sz="1050" b="0" i="0">
                <a:solidFill>
                  <a:srgbClr val="E1000F"/>
                </a:solidFill>
                <a:latin typeface="Marianne"/>
              </a:rPr>
              <a:t>● </a:t>
            </a:r>
            <a:r>
              <a:rPr sz="1000" b="0" i="0">
                <a:solidFill>
                  <a:srgbClr val="6A6A6A"/>
                </a:solidFill>
                <a:latin typeface="Marianne"/>
              </a:rPr>
              <a:t>défavorable</a:t>
            </a:r>
            <a:r>
              <a:rPr sz="950" b="0" i="1">
                <a:solidFill>
                  <a:srgbClr val="6A6A6A"/>
                </a:solidFill>
                <a:latin typeface="Marianne"/>
              </a:rPr>
              <a:t>        * DeepSeek V4 : tarif preview (doublement « peak » mi-07/2026) ; GLM et Albert : perf estimée, catalogue Albert à confirmer.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7772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Benchmark coding agentique – 17/07/2026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2</a:t>
            </a:r>
          </a:p>
        </p:txBody>
      </p:sp>
      <p:sp>
        <p:nvSpPr>
          <p:cNvPr id="8" name="TextBox 7"/>
          <p:cNvSpPr txBox="1"/>
          <p:nvPr/>
        </p:nvSpPr>
        <p:spPr>
          <a:xfrm>
            <a:off x="777240" y="1243584"/>
            <a:ext cx="10637215" cy="914400"/>
          </a:xfrm>
          <a:prstGeom prst="rect">
            <a:avLst/>
          </a:prstGeom>
          <a:noFill/>
        </p:spPr>
        <p:txBody>
          <a:bodyPr wrap="square" lIns="0" rIns="0" tIns="0" bIns="0" anchor="t">
            <a:spAutoFit/>
          </a:bodyPr>
          <a:lstStyle/>
          <a:p>
            <a:pPr algn="l">
              <a:lnSpc>
                <a:spcPct val="102000"/>
              </a:lnSpc>
              <a:spcBef>
                <a:spcPts val="0"/>
              </a:spcBef>
              <a:spcAft>
                <a:spcPts val="0"/>
              </a:spcAft>
            </a:pPr>
            <a:r>
              <a:rPr sz="3000" b="1" i="0">
                <a:solidFill>
                  <a:srgbClr val="161616"/>
                </a:solidFill>
                <a:latin typeface="Marianne"/>
              </a:rPr>
              <a:t>Externes, internes : qui paie quoi ?</a:t>
            </a:r>
          </a:p>
        </p:txBody>
      </p:sp>
      <p:sp>
        <p:nvSpPr>
          <p:cNvPr id="9" name="TextBox 8"/>
          <p:cNvSpPr txBox="1"/>
          <p:nvPr/>
        </p:nvSpPr>
        <p:spPr>
          <a:xfrm>
            <a:off x="777240" y="1847088"/>
            <a:ext cx="10637215" cy="365760"/>
          </a:xfrm>
          <a:prstGeom prst="rect">
            <a:avLst/>
          </a:prstGeom>
          <a:noFill/>
        </p:spPr>
        <p:txBody>
          <a:bodyPr wrap="square" lIns="0" rIns="0" tIns="0" bIns="0" anchor="t">
            <a:spAutoFit/>
          </a:bodyPr>
          <a:lstStyle/>
          <a:p>
            <a:pPr algn="l">
              <a:lnSpc>
                <a:spcPct val="106000"/>
              </a:lnSpc>
              <a:spcBef>
                <a:spcPts val="0"/>
              </a:spcBef>
              <a:spcAft>
                <a:spcPts val="0"/>
              </a:spcAft>
            </a:pPr>
            <a:r>
              <a:rPr sz="1400" b="0" i="0">
                <a:solidFill>
                  <a:srgbClr val="3A3A3A"/>
                </a:solidFill>
                <a:latin typeface="Marianne"/>
              </a:rPr>
              <a:t>Le déploiement interne change l'équation économique de l'IA agentique.</a:t>
            </a:r>
          </a:p>
        </p:txBody>
      </p:sp>
      <p:sp>
        <p:nvSpPr>
          <p:cNvPr id="10" name="Rounded Rectangle 9"/>
          <p:cNvSpPr/>
          <p:nvPr/>
        </p:nvSpPr>
        <p:spPr>
          <a:xfrm>
            <a:off x="777240" y="2194560"/>
            <a:ext cx="5090007" cy="2450592"/>
          </a:xfrm>
          <a:prstGeom prst="roundRect">
            <a:avLst>
              <a:gd name="adj" fmla="val 5000"/>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riefcase.png"/>
          <p:cNvPicPr>
            <a:picLocks noChangeAspect="1"/>
          </p:cNvPicPr>
          <p:nvPr/>
        </p:nvPicPr>
        <p:blipFill>
          <a:blip r:embed="rId3"/>
          <a:stretch>
            <a:fillRect/>
          </a:stretch>
        </p:blipFill>
        <p:spPr>
          <a:xfrm>
            <a:off x="1088136" y="2468879"/>
            <a:ext cx="457200" cy="457200"/>
          </a:xfrm>
          <a:prstGeom prst="rect">
            <a:avLst/>
          </a:prstGeom>
        </p:spPr>
      </p:pic>
      <p:sp>
        <p:nvSpPr>
          <p:cNvPr id="12" name="TextBox 11"/>
          <p:cNvSpPr txBox="1"/>
          <p:nvPr/>
        </p:nvSpPr>
        <p:spPr>
          <a:xfrm>
            <a:off x="1691640" y="2468879"/>
            <a:ext cx="3992727" cy="457200"/>
          </a:xfrm>
          <a:prstGeom prst="rect">
            <a:avLst/>
          </a:prstGeom>
          <a:noFill/>
        </p:spPr>
        <p:txBody>
          <a:bodyPr wrap="square" lIns="0" rIns="0" tIns="0" bIns="0" anchor="ctr">
            <a:spAutoFit/>
          </a:bodyPr>
          <a:lstStyle/>
          <a:p>
            <a:pPr algn="l">
              <a:lnSpc>
                <a:spcPct val="106000"/>
              </a:lnSpc>
              <a:spcBef>
                <a:spcPts val="0"/>
              </a:spcBef>
              <a:spcAft>
                <a:spcPts val="0"/>
              </a:spcAft>
            </a:pPr>
            <a:r>
              <a:rPr sz="1700" b="1" i="0">
                <a:solidFill>
                  <a:srgbClr val="000091"/>
                </a:solidFill>
                <a:latin typeface="Marianne"/>
              </a:rPr>
              <a:t>Prestataires externes</a:t>
            </a:r>
          </a:p>
        </p:txBody>
      </p:sp>
      <p:sp>
        <p:nvSpPr>
          <p:cNvPr id="13" name="TextBox 12"/>
          <p:cNvSpPr txBox="1"/>
          <p:nvPr/>
        </p:nvSpPr>
        <p:spPr>
          <a:xfrm>
            <a:off x="1106424" y="3090672"/>
            <a:ext cx="4449927" cy="384048"/>
          </a:xfrm>
          <a:prstGeom prst="rect">
            <a:avLst/>
          </a:prstGeom>
          <a:noFill/>
        </p:spPr>
        <p:txBody>
          <a:bodyPr wrap="square" lIns="0" rIns="0" tIns="0" bIns="0" anchor="t">
            <a:spAutoFit/>
          </a:bodyPr>
          <a:lstStyle/>
          <a:p>
            <a:pPr algn="l">
              <a:lnSpc>
                <a:spcPct val="106000"/>
              </a:lnSpc>
              <a:spcBef>
                <a:spcPts val="0"/>
              </a:spcBef>
              <a:spcAft>
                <a:spcPts val="0"/>
              </a:spcAft>
            </a:pPr>
            <a:r>
              <a:rPr sz="1500" b="1" i="0">
                <a:solidFill>
                  <a:srgbClr val="161616"/>
                </a:solidFill>
                <a:latin typeface="Marianne"/>
              </a:rPr>
              <a:t>Abonnement Claude : un forfait mensuel</a:t>
            </a:r>
          </a:p>
        </p:txBody>
      </p:sp>
      <p:sp>
        <p:nvSpPr>
          <p:cNvPr id="14" name="TextBox 13"/>
          <p:cNvSpPr txBox="1"/>
          <p:nvPr/>
        </p:nvSpPr>
        <p:spPr>
          <a:xfrm>
            <a:off x="1106424" y="3547872"/>
            <a:ext cx="4449927" cy="1024128"/>
          </a:xfrm>
          <a:prstGeom prst="rect">
            <a:avLst/>
          </a:prstGeom>
          <a:noFill/>
        </p:spPr>
        <p:txBody>
          <a:bodyPr wrap="square" lIns="0" rIns="0" tIns="0" bIns="0" anchor="t">
            <a:spAutoFit/>
          </a:bodyPr>
          <a:lstStyle/>
          <a:p>
            <a:pPr algn="l" marL="201168" indent="-201168">
              <a:lnSpc>
                <a:spcPct val="108000"/>
              </a:lnSpc>
              <a:spcBef>
                <a:spcPts val="0"/>
              </a:spcBef>
              <a:spcAft>
                <a:spcPts val="600"/>
              </a:spcAft>
            </a:pPr>
            <a:r>
              <a:rPr sz="1200" b="0" i="0">
                <a:solidFill>
                  <a:srgbClr val="6A6AF4"/>
                </a:solidFill>
                <a:latin typeface="Marianne"/>
              </a:rPr>
              <a:t>▪  </a:t>
            </a:r>
            <a:r>
              <a:rPr sz="1300" b="0" i="0">
                <a:solidFill>
                  <a:srgbClr val="3A3A3A"/>
                </a:solidFill>
                <a:latin typeface="Marianne"/>
              </a:rPr>
              <a:t>Consommation incluse dans le forfait : coût prévisible et plafonné</a:t>
            </a:r>
          </a:p>
          <a:p>
            <a:pPr algn="l" marL="201168" indent="-201168">
              <a:lnSpc>
                <a:spcPct val="108000"/>
              </a:lnSpc>
              <a:spcBef>
                <a:spcPts val="0"/>
              </a:spcBef>
              <a:spcAft>
                <a:spcPts val="600"/>
              </a:spcAft>
            </a:pPr>
            <a:r>
              <a:rPr sz="1200" b="0" i="0">
                <a:solidFill>
                  <a:srgbClr val="6A6AF4"/>
                </a:solidFill>
                <a:latin typeface="Marianne"/>
              </a:rPr>
              <a:t>▪  </a:t>
            </a:r>
            <a:r>
              <a:rPr sz="1300" b="0" i="0">
                <a:solidFill>
                  <a:srgbClr val="3A3A3A"/>
                </a:solidFill>
                <a:latin typeface="Marianne"/>
              </a:rPr>
              <a:t>Rien à changer : l'outillage actuel reste valable</a:t>
            </a:r>
          </a:p>
        </p:txBody>
      </p:sp>
      <p:sp>
        <p:nvSpPr>
          <p:cNvPr id="15" name="Rounded Rectangle 14"/>
          <p:cNvSpPr/>
          <p:nvPr/>
        </p:nvSpPr>
        <p:spPr>
          <a:xfrm>
            <a:off x="6324447" y="2194560"/>
            <a:ext cx="5090007" cy="2450592"/>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government.png"/>
          <p:cNvPicPr>
            <a:picLocks noChangeAspect="1"/>
          </p:cNvPicPr>
          <p:nvPr/>
        </p:nvPicPr>
        <p:blipFill>
          <a:blip r:embed="rId4"/>
          <a:stretch>
            <a:fillRect/>
          </a:stretch>
        </p:blipFill>
        <p:spPr>
          <a:xfrm>
            <a:off x="6635343" y="2468879"/>
            <a:ext cx="457200" cy="457200"/>
          </a:xfrm>
          <a:prstGeom prst="rect">
            <a:avLst/>
          </a:prstGeom>
        </p:spPr>
      </p:pic>
      <p:sp>
        <p:nvSpPr>
          <p:cNvPr id="17" name="TextBox 16"/>
          <p:cNvSpPr txBox="1"/>
          <p:nvPr/>
        </p:nvSpPr>
        <p:spPr>
          <a:xfrm>
            <a:off x="7238847" y="2468879"/>
            <a:ext cx="3992727" cy="457200"/>
          </a:xfrm>
          <a:prstGeom prst="rect">
            <a:avLst/>
          </a:prstGeom>
          <a:noFill/>
        </p:spPr>
        <p:txBody>
          <a:bodyPr wrap="square" lIns="0" rIns="0" tIns="0" bIns="0" anchor="ctr">
            <a:spAutoFit/>
          </a:bodyPr>
          <a:lstStyle/>
          <a:p>
            <a:pPr algn="l">
              <a:lnSpc>
                <a:spcPct val="106000"/>
              </a:lnSpc>
              <a:spcBef>
                <a:spcPts val="0"/>
              </a:spcBef>
              <a:spcAft>
                <a:spcPts val="0"/>
              </a:spcAft>
            </a:pPr>
            <a:r>
              <a:rPr sz="1700" b="1" i="0">
                <a:solidFill>
                  <a:srgbClr val="000091"/>
                </a:solidFill>
                <a:latin typeface="Marianne"/>
              </a:rPr>
              <a:t>Agents internes</a:t>
            </a:r>
          </a:p>
        </p:txBody>
      </p:sp>
      <p:sp>
        <p:nvSpPr>
          <p:cNvPr id="18" name="TextBox 17"/>
          <p:cNvSpPr txBox="1"/>
          <p:nvPr/>
        </p:nvSpPr>
        <p:spPr>
          <a:xfrm>
            <a:off x="6653631" y="3035808"/>
            <a:ext cx="4449927" cy="512064"/>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161616"/>
                </a:solidFill>
                <a:latin typeface="Marianne"/>
              </a:rPr>
              <a:t>≈ 20 € / siège / mois </a:t>
            </a:r>
            <a:r>
              <a:rPr sz="1500" b="1" i="0">
                <a:solidFill>
                  <a:srgbClr val="E1000F"/>
                </a:solidFill>
                <a:latin typeface="Marianne"/>
              </a:rPr>
              <a:t>+ chaque token au prix du modèle</a:t>
            </a:r>
          </a:p>
        </p:txBody>
      </p:sp>
      <p:sp>
        <p:nvSpPr>
          <p:cNvPr id="19" name="TextBox 18"/>
          <p:cNvSpPr txBox="1"/>
          <p:nvPr/>
        </p:nvSpPr>
        <p:spPr>
          <a:xfrm>
            <a:off x="6653631" y="3675887"/>
            <a:ext cx="4449927" cy="896112"/>
          </a:xfrm>
          <a:prstGeom prst="rect">
            <a:avLst/>
          </a:prstGeom>
          <a:noFill/>
        </p:spPr>
        <p:txBody>
          <a:bodyPr wrap="square" lIns="0" rIns="0" tIns="0" bIns="0" anchor="t">
            <a:spAutoFit/>
          </a:bodyPr>
          <a:lstStyle/>
          <a:p>
            <a:pPr algn="l" marL="201168" indent="-201168">
              <a:lnSpc>
                <a:spcPct val="108000"/>
              </a:lnSpc>
              <a:spcBef>
                <a:spcPts val="0"/>
              </a:spcBef>
              <a:spcAft>
                <a:spcPts val="600"/>
              </a:spcAft>
            </a:pPr>
            <a:r>
              <a:rPr sz="1200" b="0" i="0">
                <a:solidFill>
                  <a:srgbClr val="6A6AF4"/>
                </a:solidFill>
                <a:latin typeface="Marianne"/>
              </a:rPr>
              <a:t>▪  </a:t>
            </a:r>
            <a:r>
              <a:rPr sz="1300" b="0" i="0">
                <a:solidFill>
                  <a:srgbClr val="3A3A3A"/>
                </a:solidFill>
                <a:latin typeface="Marianne"/>
              </a:rPr>
              <a:t>Sièges Claude Enterprise via Bedrock : la consommation s'ajoute au siège</a:t>
            </a:r>
          </a:p>
          <a:p>
            <a:pPr algn="l" marL="201168" indent="-201168">
              <a:lnSpc>
                <a:spcPct val="108000"/>
              </a:lnSpc>
              <a:spcBef>
                <a:spcPts val="0"/>
              </a:spcBef>
              <a:spcAft>
                <a:spcPts val="600"/>
              </a:spcAft>
            </a:pPr>
            <a:r>
              <a:rPr sz="1200" b="0" i="0">
                <a:solidFill>
                  <a:srgbClr val="6A6AF4"/>
                </a:solidFill>
                <a:latin typeface="Marianne"/>
              </a:rPr>
              <a:t>▪  </a:t>
            </a:r>
            <a:r>
              <a:rPr sz="1300" b="0" i="0">
                <a:solidFill>
                  <a:srgbClr val="3A3A3A"/>
                </a:solidFill>
                <a:latin typeface="Marianne"/>
              </a:rPr>
              <a:t>Le coût suit l'usage, et l'agentique consomme beaucoup de tokens</a:t>
            </a:r>
          </a:p>
        </p:txBody>
      </p:sp>
      <p:sp>
        <p:nvSpPr>
          <p:cNvPr id="20" name="Rounded Rectangle 19"/>
          <p:cNvSpPr/>
          <p:nvPr/>
        </p:nvSpPr>
        <p:spPr>
          <a:xfrm>
            <a:off x="777240" y="4846320"/>
            <a:ext cx="10637215" cy="896112"/>
          </a:xfrm>
          <a:prstGeom prst="roundRect">
            <a:avLst>
              <a:gd name="adj" fmla="val 6000"/>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ocus-3.png"/>
          <p:cNvPicPr>
            <a:picLocks noChangeAspect="1"/>
          </p:cNvPicPr>
          <p:nvPr/>
        </p:nvPicPr>
        <p:blipFill>
          <a:blip r:embed="rId5"/>
          <a:stretch>
            <a:fillRect/>
          </a:stretch>
        </p:blipFill>
        <p:spPr>
          <a:xfrm>
            <a:off x="1051560" y="5084064"/>
            <a:ext cx="420624" cy="420624"/>
          </a:xfrm>
          <a:prstGeom prst="rect">
            <a:avLst/>
          </a:prstGeom>
        </p:spPr>
      </p:pic>
      <p:sp>
        <p:nvSpPr>
          <p:cNvPr id="22" name="TextBox 21"/>
          <p:cNvSpPr txBox="1"/>
          <p:nvPr/>
        </p:nvSpPr>
        <p:spPr>
          <a:xfrm>
            <a:off x="1673352" y="4974336"/>
            <a:ext cx="9448495" cy="640080"/>
          </a:xfrm>
          <a:prstGeom prst="rect">
            <a:avLst/>
          </a:prstGeom>
          <a:noFill/>
        </p:spPr>
        <p:txBody>
          <a:bodyPr wrap="square" lIns="0" rIns="0" tIns="0" bIns="0" anchor="ctr">
            <a:spAutoFit/>
          </a:bodyPr>
          <a:lstStyle/>
          <a:p>
            <a:pPr algn="l">
              <a:lnSpc>
                <a:spcPct val="112000"/>
              </a:lnSpc>
              <a:spcBef>
                <a:spcPts val="0"/>
              </a:spcBef>
              <a:spcAft>
                <a:spcPts val="0"/>
              </a:spcAft>
            </a:pPr>
            <a:r>
              <a:rPr sz="1450" b="1" i="0">
                <a:solidFill>
                  <a:srgbClr val="000091"/>
                </a:solidFill>
                <a:latin typeface="Marianne"/>
              </a:rPr>
              <a:t>Conséquence : </a:t>
            </a:r>
            <a:r>
              <a:rPr sz="1450" b="0" i="0">
                <a:solidFill>
                  <a:srgbClr val="161616"/>
                </a:solidFill>
                <a:latin typeface="Marianne"/>
              </a:rPr>
              <a:t>pour les internes et la CI/CD, le coût au token devient le paramètre clé. C'est l'objet du bench : identifier la stack au meilleur rapport performance / prix / souveraineté.</a:t>
            </a:r>
          </a:p>
        </p:txBody>
      </p:sp>
      <p:sp>
        <p:nvSpPr>
          <p:cNvPr id="23" name="TextBox 22"/>
          <p:cNvSpPr txBox="1"/>
          <p:nvPr/>
        </p:nvSpPr>
        <p:spPr>
          <a:xfrm>
            <a:off x="777240" y="5907023"/>
            <a:ext cx="10637215" cy="274320"/>
          </a:xfrm>
          <a:prstGeom prst="rect">
            <a:avLst/>
          </a:prstGeom>
          <a:noFill/>
        </p:spPr>
        <p:txBody>
          <a:bodyPr wrap="square" lIns="0" rIns="0" tIns="0" bIns="0" anchor="t">
            <a:spAutoFit/>
          </a:bodyPr>
          <a:lstStyle/>
          <a:p>
            <a:pPr algn="l">
              <a:lnSpc>
                <a:spcPct val="106000"/>
              </a:lnSpc>
              <a:spcBef>
                <a:spcPts val="0"/>
              </a:spcBef>
              <a:spcAft>
                <a:spcPts val="0"/>
              </a:spcAft>
            </a:pPr>
            <a:r>
              <a:rPr sz="1050" b="1" i="0">
                <a:solidFill>
                  <a:srgbClr val="6A6A6A"/>
                </a:solidFill>
                <a:latin typeface="Marianne"/>
              </a:rPr>
              <a:t>Repères / 1M tokens (entrée / sortie) : </a:t>
            </a:r>
            <a:r>
              <a:rPr sz="1050" b="0" i="0">
                <a:solidFill>
                  <a:srgbClr val="6A6A6A"/>
                </a:solidFill>
                <a:latin typeface="Marianne"/>
              </a:rPr>
              <a:t>Opus 4.8 : 5 $ / 25 $ · GLM 5.2 : 1,40 $ / 4,40 $ · DeepSeek V4 Pro : 0,44 $ / 0,87 $ · Albert (DeepSeek V4 Flash) : gratuit, quotas.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7772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Benchmark coding agentique – 17/07/2026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3</a:t>
            </a:r>
          </a:p>
        </p:txBody>
      </p:sp>
      <p:sp>
        <p:nvSpPr>
          <p:cNvPr id="8" name="TextBox 7"/>
          <p:cNvSpPr txBox="1"/>
          <p:nvPr/>
        </p:nvSpPr>
        <p:spPr>
          <a:xfrm>
            <a:off x="777240" y="1243584"/>
            <a:ext cx="10637215" cy="914400"/>
          </a:xfrm>
          <a:prstGeom prst="rect">
            <a:avLst/>
          </a:prstGeom>
          <a:noFill/>
        </p:spPr>
        <p:txBody>
          <a:bodyPr wrap="square" lIns="0" rIns="0" tIns="0" bIns="0" anchor="t">
            <a:spAutoFit/>
          </a:bodyPr>
          <a:lstStyle/>
          <a:p>
            <a:pPr algn="l">
              <a:lnSpc>
                <a:spcPct val="102000"/>
              </a:lnSpc>
              <a:spcBef>
                <a:spcPts val="0"/>
              </a:spcBef>
              <a:spcAft>
                <a:spcPts val="0"/>
              </a:spcAft>
            </a:pPr>
            <a:r>
              <a:rPr sz="3000" b="1" i="0">
                <a:solidFill>
                  <a:srgbClr val="161616"/>
                </a:solidFill>
                <a:latin typeface="Marianne"/>
              </a:rPr>
              <a:t>Deux cas d'usage, deux logiques de coût</a:t>
            </a:r>
          </a:p>
        </p:txBody>
      </p:sp>
      <p:sp>
        <p:nvSpPr>
          <p:cNvPr id="9" name="TextBox 8"/>
          <p:cNvSpPr txBox="1"/>
          <p:nvPr/>
        </p:nvSpPr>
        <p:spPr>
          <a:xfrm>
            <a:off x="777240" y="1847088"/>
            <a:ext cx="10637215" cy="365760"/>
          </a:xfrm>
          <a:prstGeom prst="rect">
            <a:avLst/>
          </a:prstGeom>
          <a:noFill/>
        </p:spPr>
        <p:txBody>
          <a:bodyPr wrap="square" lIns="0" rIns="0" tIns="0" bIns="0" anchor="t">
            <a:spAutoFit/>
          </a:bodyPr>
          <a:lstStyle/>
          <a:p>
            <a:pPr algn="l">
              <a:lnSpc>
                <a:spcPct val="106000"/>
              </a:lnSpc>
              <a:spcBef>
                <a:spcPts val="0"/>
              </a:spcBef>
              <a:spcAft>
                <a:spcPts val="0"/>
              </a:spcAft>
            </a:pPr>
            <a:r>
              <a:rPr sz="1400" b="0" i="0">
                <a:solidFill>
                  <a:srgbClr val="3A3A3A"/>
                </a:solidFill>
                <a:latin typeface="Marianne"/>
              </a:rPr>
              <a:t>Sur poste : abonnement (siège) ou clé. En CI/CD : paiement au token pour tous.</a:t>
            </a:r>
          </a:p>
        </p:txBody>
      </p:sp>
      <p:sp>
        <p:nvSpPr>
          <p:cNvPr id="10" name="Rounded Rectangle 9"/>
          <p:cNvSpPr/>
          <p:nvPr/>
        </p:nvSpPr>
        <p:spPr>
          <a:xfrm>
            <a:off x="777240" y="2157984"/>
            <a:ext cx="5090007" cy="1993392"/>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erminal-box.png"/>
          <p:cNvPicPr>
            <a:picLocks noChangeAspect="1"/>
          </p:cNvPicPr>
          <p:nvPr/>
        </p:nvPicPr>
        <p:blipFill>
          <a:blip r:embed="rId3"/>
          <a:stretch>
            <a:fillRect/>
          </a:stretch>
        </p:blipFill>
        <p:spPr>
          <a:xfrm>
            <a:off x="1088136" y="2414015"/>
            <a:ext cx="457200" cy="457200"/>
          </a:xfrm>
          <a:prstGeom prst="rect">
            <a:avLst/>
          </a:prstGeom>
        </p:spPr>
      </p:pic>
      <p:sp>
        <p:nvSpPr>
          <p:cNvPr id="12" name="TextBox 11"/>
          <p:cNvSpPr txBox="1"/>
          <p:nvPr/>
        </p:nvSpPr>
        <p:spPr>
          <a:xfrm>
            <a:off x="1691640" y="2414015"/>
            <a:ext cx="3992727" cy="457200"/>
          </a:xfrm>
          <a:prstGeom prst="rect">
            <a:avLst/>
          </a:prstGeom>
          <a:noFill/>
        </p:spPr>
        <p:txBody>
          <a:bodyPr wrap="square" lIns="0" rIns="0" tIns="0" bIns="0" anchor="ctr">
            <a:spAutoFit/>
          </a:bodyPr>
          <a:lstStyle/>
          <a:p>
            <a:pPr algn="l">
              <a:lnSpc>
                <a:spcPct val="106000"/>
              </a:lnSpc>
              <a:spcBef>
                <a:spcPts val="0"/>
              </a:spcBef>
              <a:spcAft>
                <a:spcPts val="0"/>
              </a:spcAft>
            </a:pPr>
            <a:r>
              <a:rPr sz="1700" b="1" i="0">
                <a:solidFill>
                  <a:srgbClr val="000091"/>
                </a:solidFill>
                <a:latin typeface="Marianne"/>
              </a:rPr>
              <a:t>Code agentique sur poste</a:t>
            </a:r>
          </a:p>
        </p:txBody>
      </p:sp>
      <p:sp>
        <p:nvSpPr>
          <p:cNvPr id="13" name="TextBox 12"/>
          <p:cNvSpPr txBox="1"/>
          <p:nvPr/>
        </p:nvSpPr>
        <p:spPr>
          <a:xfrm>
            <a:off x="1106424" y="2980944"/>
            <a:ext cx="4449927" cy="1097280"/>
          </a:xfrm>
          <a:prstGeom prst="rect">
            <a:avLst/>
          </a:prstGeom>
          <a:noFill/>
        </p:spPr>
        <p:txBody>
          <a:bodyPr wrap="square" lIns="0" rIns="0" tIns="0" bIns="0" anchor="t">
            <a:spAutoFit/>
          </a:bodyPr>
          <a:lstStyle/>
          <a:p>
            <a:pPr algn="l" marL="201168" indent="-201168">
              <a:lnSpc>
                <a:spcPct val="106000"/>
              </a:lnSpc>
              <a:spcBef>
                <a:spcPts val="0"/>
              </a:spcBef>
              <a:spcAft>
                <a:spcPts val="600"/>
              </a:spcAft>
            </a:pPr>
            <a:r>
              <a:rPr sz="1200" b="0" i="0">
                <a:solidFill>
                  <a:srgbClr val="6A6AF4"/>
                </a:solidFill>
                <a:latin typeface="Marianne"/>
              </a:rPr>
              <a:t>▪  </a:t>
            </a:r>
            <a:r>
              <a:rPr sz="1350" b="1" i="0">
                <a:solidFill>
                  <a:srgbClr val="161616"/>
                </a:solidFill>
                <a:latin typeface="Marianne"/>
              </a:rPr>
              <a:t>Claude Code : </a:t>
            </a:r>
            <a:r>
              <a:rPr sz="1300" b="0" i="0">
                <a:solidFill>
                  <a:srgbClr val="3A3A3A"/>
                </a:solidFill>
                <a:latin typeface="Marianne"/>
              </a:rPr>
              <a:t>siège 20–125 $/dev/mois</a:t>
            </a:r>
          </a:p>
          <a:p>
            <a:pPr algn="l" marL="201168" indent="-201168">
              <a:lnSpc>
                <a:spcPct val="106000"/>
              </a:lnSpc>
              <a:spcBef>
                <a:spcPts val="0"/>
              </a:spcBef>
              <a:spcAft>
                <a:spcPts val="600"/>
              </a:spcAft>
            </a:pPr>
            <a:r>
              <a:rPr sz="1200" b="0" i="0">
                <a:solidFill>
                  <a:srgbClr val="6A6AF4"/>
                </a:solidFill>
                <a:latin typeface="Marianne"/>
              </a:rPr>
              <a:t>▪  </a:t>
            </a:r>
            <a:r>
              <a:rPr sz="1350" b="1" i="0">
                <a:solidFill>
                  <a:srgbClr val="161616"/>
                </a:solidFill>
                <a:latin typeface="Marianne"/>
              </a:rPr>
              <a:t>OpenCode + OpenRouter : </a:t>
            </a:r>
            <a:r>
              <a:rPr sz="1300" b="0" i="0">
                <a:solidFill>
                  <a:srgbClr val="3A3A3A"/>
                </a:solidFill>
                <a:latin typeface="Marianne"/>
              </a:rPr>
              <a:t>clé, paiement au token</a:t>
            </a:r>
          </a:p>
          <a:p>
            <a:pPr algn="l" marL="201168" indent="-201168">
              <a:lnSpc>
                <a:spcPct val="106000"/>
              </a:lnSpc>
              <a:spcBef>
                <a:spcPts val="0"/>
              </a:spcBef>
              <a:spcAft>
                <a:spcPts val="600"/>
              </a:spcAft>
            </a:pPr>
            <a:r>
              <a:rPr sz="1200" b="0" i="0">
                <a:solidFill>
                  <a:srgbClr val="6A6AF4"/>
                </a:solidFill>
                <a:latin typeface="Marianne"/>
              </a:rPr>
              <a:t>▪  </a:t>
            </a:r>
            <a:r>
              <a:rPr sz="1350" b="1" i="0">
                <a:solidFill>
                  <a:srgbClr val="161616"/>
                </a:solidFill>
                <a:latin typeface="Marianne"/>
              </a:rPr>
              <a:t>OpenCode + Albert : </a:t>
            </a:r>
            <a:r>
              <a:rPr sz="1300" b="0" i="0">
                <a:solidFill>
                  <a:srgbClr val="3A3A3A"/>
                </a:solidFill>
                <a:latin typeface="Marianne"/>
              </a:rPr>
              <a:t>DeepSeek V4 Flash · clé agent État, gratuit</a:t>
            </a:r>
          </a:p>
        </p:txBody>
      </p:sp>
      <p:sp>
        <p:nvSpPr>
          <p:cNvPr id="14" name="Rounded Rectangle 13"/>
          <p:cNvSpPr/>
          <p:nvPr/>
        </p:nvSpPr>
        <p:spPr>
          <a:xfrm>
            <a:off x="6324447" y="2157984"/>
            <a:ext cx="5090007" cy="1993392"/>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ettings-3.png"/>
          <p:cNvPicPr>
            <a:picLocks noChangeAspect="1"/>
          </p:cNvPicPr>
          <p:nvPr/>
        </p:nvPicPr>
        <p:blipFill>
          <a:blip r:embed="rId4"/>
          <a:stretch>
            <a:fillRect/>
          </a:stretch>
        </p:blipFill>
        <p:spPr>
          <a:xfrm>
            <a:off x="6635343" y="2414015"/>
            <a:ext cx="457200" cy="457200"/>
          </a:xfrm>
          <a:prstGeom prst="rect">
            <a:avLst/>
          </a:prstGeom>
        </p:spPr>
      </p:pic>
      <p:sp>
        <p:nvSpPr>
          <p:cNvPr id="16" name="TextBox 15"/>
          <p:cNvSpPr txBox="1"/>
          <p:nvPr/>
        </p:nvSpPr>
        <p:spPr>
          <a:xfrm>
            <a:off x="7238847" y="2414015"/>
            <a:ext cx="3992727" cy="457200"/>
          </a:xfrm>
          <a:prstGeom prst="rect">
            <a:avLst/>
          </a:prstGeom>
          <a:noFill/>
        </p:spPr>
        <p:txBody>
          <a:bodyPr wrap="square" lIns="0" rIns="0" tIns="0" bIns="0" anchor="ctr">
            <a:spAutoFit/>
          </a:bodyPr>
          <a:lstStyle/>
          <a:p>
            <a:pPr algn="l">
              <a:lnSpc>
                <a:spcPct val="106000"/>
              </a:lnSpc>
              <a:spcBef>
                <a:spcPts val="0"/>
              </a:spcBef>
              <a:spcAft>
                <a:spcPts val="0"/>
              </a:spcAft>
            </a:pPr>
            <a:r>
              <a:rPr sz="1700" b="1" i="0">
                <a:solidFill>
                  <a:srgbClr val="000091"/>
                </a:solidFill>
                <a:latin typeface="Marianne"/>
              </a:rPr>
              <a:t>Bots sur CI/CD</a:t>
            </a:r>
          </a:p>
        </p:txBody>
      </p:sp>
      <p:sp>
        <p:nvSpPr>
          <p:cNvPr id="17" name="TextBox 16"/>
          <p:cNvSpPr txBox="1"/>
          <p:nvPr/>
        </p:nvSpPr>
        <p:spPr>
          <a:xfrm>
            <a:off x="6653631" y="2980944"/>
            <a:ext cx="4449927" cy="1097280"/>
          </a:xfrm>
          <a:prstGeom prst="rect">
            <a:avLst/>
          </a:prstGeom>
          <a:noFill/>
        </p:spPr>
        <p:txBody>
          <a:bodyPr wrap="square" lIns="0" rIns="0" tIns="0" bIns="0" anchor="t">
            <a:spAutoFit/>
          </a:bodyPr>
          <a:lstStyle/>
          <a:p>
            <a:pPr algn="l" marL="201168" indent="-201168">
              <a:lnSpc>
                <a:spcPct val="106000"/>
              </a:lnSpc>
              <a:spcBef>
                <a:spcPts val="0"/>
              </a:spcBef>
              <a:spcAft>
                <a:spcPts val="600"/>
              </a:spcAft>
            </a:pPr>
            <a:r>
              <a:rPr sz="1200" b="0" i="0">
                <a:solidFill>
                  <a:srgbClr val="6A6AF4"/>
                </a:solidFill>
                <a:latin typeface="Marianne"/>
              </a:rPr>
              <a:t>▪  </a:t>
            </a:r>
            <a:r>
              <a:rPr sz="1350" b="1" i="0">
                <a:solidFill>
                  <a:srgbClr val="161616"/>
                </a:solidFill>
                <a:latin typeface="Marianne"/>
              </a:rPr>
              <a:t>Au token pour tous : </a:t>
            </a:r>
            <a:r>
              <a:rPr sz="1300" b="0" i="0">
                <a:solidFill>
                  <a:srgbClr val="3A3A3A"/>
                </a:solidFill>
                <a:latin typeface="Marianne"/>
              </a:rPr>
              <a:t>pas de siège, clé API</a:t>
            </a:r>
          </a:p>
          <a:p>
            <a:pPr algn="l" marL="201168" indent="-201168">
              <a:lnSpc>
                <a:spcPct val="106000"/>
              </a:lnSpc>
              <a:spcBef>
                <a:spcPts val="0"/>
              </a:spcBef>
              <a:spcAft>
                <a:spcPts val="600"/>
              </a:spcAft>
            </a:pPr>
            <a:r>
              <a:rPr sz="1200" b="0" i="0">
                <a:solidFill>
                  <a:srgbClr val="6A6AF4"/>
                </a:solidFill>
                <a:latin typeface="Marianne"/>
              </a:rPr>
              <a:t>▪  </a:t>
            </a:r>
            <a:r>
              <a:rPr sz="1350" b="1" i="0">
                <a:solidFill>
                  <a:srgbClr val="161616"/>
                </a:solidFill>
                <a:latin typeface="Marianne"/>
              </a:rPr>
              <a:t>Tarifs / 1M : </a:t>
            </a:r>
            <a:r>
              <a:rPr sz="1300" b="0" i="0">
                <a:solidFill>
                  <a:srgbClr val="3A3A3A"/>
                </a:solidFill>
                <a:latin typeface="Marianne"/>
              </a:rPr>
              <a:t>Claude 5/25 · DeepSeek 0,44/0,87 · GLM 1,40/4,40</a:t>
            </a:r>
          </a:p>
          <a:p>
            <a:pPr algn="l" marL="201168" indent="-201168">
              <a:lnSpc>
                <a:spcPct val="106000"/>
              </a:lnSpc>
              <a:spcBef>
                <a:spcPts val="0"/>
              </a:spcBef>
              <a:spcAft>
                <a:spcPts val="600"/>
              </a:spcAft>
            </a:pPr>
            <a:r>
              <a:rPr sz="1200" b="0" i="0">
                <a:solidFill>
                  <a:srgbClr val="6A6AF4"/>
                </a:solidFill>
                <a:latin typeface="Marianne"/>
              </a:rPr>
              <a:t>▪  </a:t>
            </a:r>
            <a:r>
              <a:rPr sz="1350" b="1" i="0">
                <a:solidFill>
                  <a:srgbClr val="161616"/>
                </a:solidFill>
                <a:latin typeface="Marianne"/>
              </a:rPr>
              <a:t>Albert : </a:t>
            </a:r>
            <a:r>
              <a:rPr sz="1300" b="0" i="0">
                <a:solidFill>
                  <a:srgbClr val="3A3A3A"/>
                </a:solidFill>
                <a:latin typeface="Marianne"/>
              </a:rPr>
              <a:t>gratuit mais quotas 10–50 req/min</a:t>
            </a:r>
          </a:p>
        </p:txBody>
      </p:sp>
      <p:sp>
        <p:nvSpPr>
          <p:cNvPr id="18" name="TextBox 17"/>
          <p:cNvSpPr txBox="1"/>
          <p:nvPr/>
        </p:nvSpPr>
        <p:spPr>
          <a:xfrm>
            <a:off x="777240" y="4297680"/>
            <a:ext cx="10637215" cy="310896"/>
          </a:xfrm>
          <a:prstGeom prst="rect">
            <a:avLst/>
          </a:prstGeom>
          <a:noFill/>
        </p:spPr>
        <p:txBody>
          <a:bodyPr wrap="square" lIns="0" rIns="0" tIns="0" bIns="0" anchor="t">
            <a:spAutoFit/>
          </a:bodyPr>
          <a:lstStyle/>
          <a:p>
            <a:pPr algn="l">
              <a:lnSpc>
                <a:spcPct val="106000"/>
              </a:lnSpc>
              <a:spcBef>
                <a:spcPts val="0"/>
              </a:spcBef>
              <a:spcAft>
                <a:spcPts val="0"/>
              </a:spcAft>
            </a:pPr>
            <a:r>
              <a:rPr sz="1500" b="1" i="0">
                <a:solidFill>
                  <a:srgbClr val="161616"/>
                </a:solidFill>
                <a:latin typeface="Marianne"/>
              </a:rPr>
              <a:t>Recommandation selon la priorité</a:t>
            </a:r>
          </a:p>
        </p:txBody>
      </p:sp>
      <p:sp>
        <p:nvSpPr>
          <p:cNvPr id="19" name="Rounded Rectangle 18"/>
          <p:cNvSpPr/>
          <p:nvPr/>
        </p:nvSpPr>
        <p:spPr>
          <a:xfrm>
            <a:off x="777240" y="4681728"/>
            <a:ext cx="3301898" cy="1298448"/>
          </a:xfrm>
          <a:prstGeom prst="roundRect">
            <a:avLst>
              <a:gd name="adj" fmla="val 6000"/>
            </a:avLst>
          </a:prstGeom>
          <a:solidFill>
            <a:srgbClr val="FFFFFF"/>
          </a:solidFill>
          <a:ln w="17780">
            <a:solidFill>
              <a:srgbClr val="0000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cket.png"/>
          <p:cNvPicPr>
            <a:picLocks noChangeAspect="1"/>
          </p:cNvPicPr>
          <p:nvPr/>
        </p:nvPicPr>
        <p:blipFill>
          <a:blip r:embed="rId5"/>
          <a:stretch>
            <a:fillRect/>
          </a:stretch>
        </p:blipFill>
        <p:spPr>
          <a:xfrm>
            <a:off x="1014983" y="4864608"/>
            <a:ext cx="384048" cy="384048"/>
          </a:xfrm>
          <a:prstGeom prst="rect">
            <a:avLst/>
          </a:prstGeom>
        </p:spPr>
      </p:pic>
      <p:sp>
        <p:nvSpPr>
          <p:cNvPr id="21" name="TextBox 20"/>
          <p:cNvSpPr txBox="1"/>
          <p:nvPr/>
        </p:nvSpPr>
        <p:spPr>
          <a:xfrm>
            <a:off x="1527048" y="4846320"/>
            <a:ext cx="2387498" cy="457200"/>
          </a:xfrm>
          <a:prstGeom prst="rect">
            <a:avLst/>
          </a:prstGeom>
          <a:noFill/>
        </p:spPr>
        <p:txBody>
          <a:bodyPr wrap="square" lIns="0" rIns="0" tIns="0" bIns="0" anchor="ctr">
            <a:spAutoFit/>
          </a:bodyPr>
          <a:lstStyle/>
          <a:p>
            <a:pPr algn="l">
              <a:lnSpc>
                <a:spcPct val="98000"/>
              </a:lnSpc>
              <a:spcBef>
                <a:spcPts val="0"/>
              </a:spcBef>
              <a:spcAft>
                <a:spcPts val="0"/>
              </a:spcAft>
            </a:pPr>
            <a:r>
              <a:rPr sz="1150" b="1" i="0">
                <a:solidFill>
                  <a:srgbClr val="000091"/>
                </a:solidFill>
                <a:latin typeface="Marianne"/>
              </a:rPr>
              <a:t>Performance &amp; maturité</a:t>
            </a:r>
          </a:p>
        </p:txBody>
      </p:sp>
      <p:sp>
        <p:nvSpPr>
          <p:cNvPr id="22" name="TextBox 21"/>
          <p:cNvSpPr txBox="1"/>
          <p:nvPr/>
        </p:nvSpPr>
        <p:spPr>
          <a:xfrm>
            <a:off x="1014983" y="5340096"/>
            <a:ext cx="2844698" cy="566927"/>
          </a:xfrm>
          <a:prstGeom prst="rect">
            <a:avLst/>
          </a:prstGeom>
          <a:noFill/>
        </p:spPr>
        <p:txBody>
          <a:bodyPr wrap="square" lIns="0" rIns="0" tIns="0" bIns="0" anchor="t">
            <a:spAutoFit/>
          </a:bodyPr>
          <a:lstStyle/>
          <a:p>
            <a:pPr algn="l">
              <a:lnSpc>
                <a:spcPct val="100000"/>
              </a:lnSpc>
              <a:spcBef>
                <a:spcPts val="0"/>
              </a:spcBef>
              <a:spcAft>
                <a:spcPts val="0"/>
              </a:spcAft>
            </a:pPr>
            <a:r>
              <a:rPr sz="1300" b="1" i="0">
                <a:solidFill>
                  <a:srgbClr val="161616"/>
                </a:solidFill>
                <a:latin typeface="Marianne"/>
              </a:rPr>
              <a:t>Claude Code / Opus 4.8</a:t>
            </a:r>
          </a:p>
          <a:p>
            <a:pPr algn="l">
              <a:lnSpc>
                <a:spcPct val="108000"/>
              </a:lnSpc>
              <a:spcBef>
                <a:spcPts val="300"/>
              </a:spcBef>
              <a:spcAft>
                <a:spcPts val="0"/>
              </a:spcAft>
            </a:pPr>
            <a:r>
              <a:rPr sz="1000" b="0" i="0">
                <a:solidFill>
                  <a:srgbClr val="3A3A3A"/>
                </a:solidFill>
                <a:latin typeface="Marianne"/>
              </a:rPr>
              <a:t>88,6 % SWE-bench, outil mûr. </a:t>
            </a:r>
            <a:r>
              <a:rPr sz="1000" b="0" i="1">
                <a:solidFill>
                  <a:srgbClr val="6A6A6A"/>
                </a:solidFill>
                <a:latin typeface="Marianne"/>
              </a:rPr>
              <a:t>Coûteux, éditeur US.</a:t>
            </a:r>
          </a:p>
        </p:txBody>
      </p:sp>
      <p:sp>
        <p:nvSpPr>
          <p:cNvPr id="23" name="Rounded Rectangle 22"/>
          <p:cNvSpPr/>
          <p:nvPr/>
        </p:nvSpPr>
        <p:spPr>
          <a:xfrm>
            <a:off x="4444898" y="4681728"/>
            <a:ext cx="3301898" cy="1298448"/>
          </a:xfrm>
          <a:prstGeom prst="roundRect">
            <a:avLst>
              <a:gd name="adj" fmla="val 6000"/>
            </a:avLst>
          </a:prstGeom>
          <a:solidFill>
            <a:srgbClr val="FFFFFF"/>
          </a:solidFill>
          <a:ln w="17780">
            <a:solidFill>
              <a:srgbClr val="1875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overnment.png"/>
          <p:cNvPicPr>
            <a:picLocks noChangeAspect="1"/>
          </p:cNvPicPr>
          <p:nvPr/>
        </p:nvPicPr>
        <p:blipFill>
          <a:blip r:embed="rId6"/>
          <a:stretch>
            <a:fillRect/>
          </a:stretch>
        </p:blipFill>
        <p:spPr>
          <a:xfrm>
            <a:off x="4682642" y="4864608"/>
            <a:ext cx="384048" cy="384048"/>
          </a:xfrm>
          <a:prstGeom prst="rect">
            <a:avLst/>
          </a:prstGeom>
        </p:spPr>
      </p:pic>
      <p:sp>
        <p:nvSpPr>
          <p:cNvPr id="25" name="TextBox 24"/>
          <p:cNvSpPr txBox="1"/>
          <p:nvPr/>
        </p:nvSpPr>
        <p:spPr>
          <a:xfrm>
            <a:off x="5194706" y="4846320"/>
            <a:ext cx="2387498" cy="457200"/>
          </a:xfrm>
          <a:prstGeom prst="rect">
            <a:avLst/>
          </a:prstGeom>
          <a:noFill/>
        </p:spPr>
        <p:txBody>
          <a:bodyPr wrap="square" lIns="0" rIns="0" tIns="0" bIns="0" anchor="ctr">
            <a:spAutoFit/>
          </a:bodyPr>
          <a:lstStyle/>
          <a:p>
            <a:pPr algn="l">
              <a:lnSpc>
                <a:spcPct val="98000"/>
              </a:lnSpc>
              <a:spcBef>
                <a:spcPts val="0"/>
              </a:spcBef>
              <a:spcAft>
                <a:spcPts val="0"/>
              </a:spcAft>
            </a:pPr>
            <a:r>
              <a:rPr sz="1150" b="1" i="0">
                <a:solidFill>
                  <a:srgbClr val="18753C"/>
                </a:solidFill>
                <a:latin typeface="Marianne"/>
              </a:rPr>
              <a:t>Souveraineté &amp; coût</a:t>
            </a:r>
          </a:p>
        </p:txBody>
      </p:sp>
      <p:sp>
        <p:nvSpPr>
          <p:cNvPr id="26" name="TextBox 25"/>
          <p:cNvSpPr txBox="1"/>
          <p:nvPr/>
        </p:nvSpPr>
        <p:spPr>
          <a:xfrm>
            <a:off x="4682642" y="5340096"/>
            <a:ext cx="2844698" cy="566927"/>
          </a:xfrm>
          <a:prstGeom prst="rect">
            <a:avLst/>
          </a:prstGeom>
          <a:noFill/>
        </p:spPr>
        <p:txBody>
          <a:bodyPr wrap="square" lIns="0" rIns="0" tIns="0" bIns="0" anchor="t">
            <a:spAutoFit/>
          </a:bodyPr>
          <a:lstStyle/>
          <a:p>
            <a:pPr algn="l">
              <a:lnSpc>
                <a:spcPct val="100000"/>
              </a:lnSpc>
              <a:spcBef>
                <a:spcPts val="0"/>
              </a:spcBef>
              <a:spcAft>
                <a:spcPts val="0"/>
              </a:spcAft>
            </a:pPr>
            <a:r>
              <a:rPr sz="1300" b="1" i="0">
                <a:solidFill>
                  <a:srgbClr val="161616"/>
                </a:solidFill>
                <a:latin typeface="Marianne"/>
              </a:rPr>
              <a:t>Albert · DeepSeek V4 Flash</a:t>
            </a:r>
          </a:p>
          <a:p>
            <a:pPr algn="l">
              <a:lnSpc>
                <a:spcPct val="108000"/>
              </a:lnSpc>
              <a:spcBef>
                <a:spcPts val="300"/>
              </a:spcBef>
              <a:spcAft>
                <a:spcPts val="0"/>
              </a:spcAft>
            </a:pPr>
            <a:r>
              <a:rPr sz="1000" b="0" i="0">
                <a:solidFill>
                  <a:srgbClr val="3A3A3A"/>
                </a:solidFill>
                <a:latin typeface="Marianne"/>
              </a:rPr>
              <a:t>Gratuit, SecNumCloud, ≈79 %. </a:t>
            </a:r>
            <a:r>
              <a:rPr sz="1000" b="0" i="1">
                <a:solidFill>
                  <a:srgbClr val="6A6A6A"/>
                </a:solidFill>
                <a:latin typeface="Marianne"/>
              </a:rPr>
              <a:t>Réservé agents État.</a:t>
            </a:r>
          </a:p>
        </p:txBody>
      </p:sp>
      <p:sp>
        <p:nvSpPr>
          <p:cNvPr id="27" name="Rounded Rectangle 26"/>
          <p:cNvSpPr/>
          <p:nvPr/>
        </p:nvSpPr>
        <p:spPr>
          <a:xfrm>
            <a:off x="8112556" y="4681728"/>
            <a:ext cx="3301898" cy="1298448"/>
          </a:xfrm>
          <a:prstGeom prst="roundRect">
            <a:avLst>
              <a:gd name="adj" fmla="val 6000"/>
            </a:avLst>
          </a:prstGeom>
          <a:solidFill>
            <a:srgbClr val="FFFFFF"/>
          </a:solidFill>
          <a:ln w="17780">
            <a:solidFill>
              <a:srgbClr val="B85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ocus-3.png"/>
          <p:cNvPicPr>
            <a:picLocks noChangeAspect="1"/>
          </p:cNvPicPr>
          <p:nvPr/>
        </p:nvPicPr>
        <p:blipFill>
          <a:blip r:embed="rId7"/>
          <a:stretch>
            <a:fillRect/>
          </a:stretch>
        </p:blipFill>
        <p:spPr>
          <a:xfrm>
            <a:off x="8350300" y="4864608"/>
            <a:ext cx="384048" cy="384048"/>
          </a:xfrm>
          <a:prstGeom prst="rect">
            <a:avLst/>
          </a:prstGeom>
        </p:spPr>
      </p:pic>
      <p:sp>
        <p:nvSpPr>
          <p:cNvPr id="29" name="TextBox 28"/>
          <p:cNvSpPr txBox="1"/>
          <p:nvPr/>
        </p:nvSpPr>
        <p:spPr>
          <a:xfrm>
            <a:off x="8862364" y="4846320"/>
            <a:ext cx="2387498" cy="457200"/>
          </a:xfrm>
          <a:prstGeom prst="rect">
            <a:avLst/>
          </a:prstGeom>
          <a:noFill/>
        </p:spPr>
        <p:txBody>
          <a:bodyPr wrap="square" lIns="0" rIns="0" tIns="0" bIns="0" anchor="ctr">
            <a:spAutoFit/>
          </a:bodyPr>
          <a:lstStyle/>
          <a:p>
            <a:pPr algn="l">
              <a:lnSpc>
                <a:spcPct val="98000"/>
              </a:lnSpc>
              <a:spcBef>
                <a:spcPts val="0"/>
              </a:spcBef>
              <a:spcAft>
                <a:spcPts val="0"/>
              </a:spcAft>
            </a:pPr>
            <a:r>
              <a:rPr sz="1150" b="1" i="0">
                <a:solidFill>
                  <a:srgbClr val="B85C00"/>
                </a:solidFill>
                <a:latin typeface="Marianne"/>
              </a:rPr>
              <a:t>Rapport perf / prix</a:t>
            </a:r>
          </a:p>
        </p:txBody>
      </p:sp>
      <p:sp>
        <p:nvSpPr>
          <p:cNvPr id="30" name="TextBox 29"/>
          <p:cNvSpPr txBox="1"/>
          <p:nvPr/>
        </p:nvSpPr>
        <p:spPr>
          <a:xfrm>
            <a:off x="8350300" y="5340096"/>
            <a:ext cx="2844698" cy="566927"/>
          </a:xfrm>
          <a:prstGeom prst="rect">
            <a:avLst/>
          </a:prstGeom>
          <a:noFill/>
        </p:spPr>
        <p:txBody>
          <a:bodyPr wrap="square" lIns="0" rIns="0" tIns="0" bIns="0" anchor="t">
            <a:spAutoFit/>
          </a:bodyPr>
          <a:lstStyle/>
          <a:p>
            <a:pPr algn="l">
              <a:lnSpc>
                <a:spcPct val="100000"/>
              </a:lnSpc>
              <a:spcBef>
                <a:spcPts val="0"/>
              </a:spcBef>
              <a:spcAft>
                <a:spcPts val="0"/>
              </a:spcAft>
            </a:pPr>
            <a:r>
              <a:rPr sz="1300" b="1" i="0">
                <a:solidFill>
                  <a:srgbClr val="161616"/>
                </a:solidFill>
                <a:latin typeface="Marianne"/>
              </a:rPr>
              <a:t>DeepSeek V4 Pro / OR</a:t>
            </a:r>
          </a:p>
          <a:p>
            <a:pPr algn="l">
              <a:lnSpc>
                <a:spcPct val="108000"/>
              </a:lnSpc>
              <a:spcBef>
                <a:spcPts val="300"/>
              </a:spcBef>
              <a:spcAft>
                <a:spcPts val="0"/>
              </a:spcAft>
            </a:pPr>
            <a:r>
              <a:rPr sz="1000" b="0" i="0">
                <a:solidFill>
                  <a:srgbClr val="3A3A3A"/>
                </a:solidFill>
                <a:latin typeface="Marianne"/>
              </a:rPr>
              <a:t>80,6 % pour ~0,9 $ / 1M. </a:t>
            </a:r>
            <a:r>
              <a:rPr sz="1000" b="0" i="1">
                <a:solidFill>
                  <a:srgbClr val="6A6A6A"/>
                </a:solidFill>
                <a:latin typeface="Marianne"/>
              </a:rPr>
              <a:t>Éditeur CN, routeur US, preview.</a:t>
            </a:r>
          </a:p>
        </p:txBody>
      </p:sp>
      <p:sp>
        <p:nvSpPr>
          <p:cNvPr id="31" name="TextBox 30"/>
          <p:cNvSpPr txBox="1"/>
          <p:nvPr/>
        </p:nvSpPr>
        <p:spPr>
          <a:xfrm>
            <a:off x="777240" y="6108192"/>
            <a:ext cx="10637215" cy="457200"/>
          </a:xfrm>
          <a:prstGeom prst="rect">
            <a:avLst/>
          </a:prstGeom>
          <a:noFill/>
        </p:spPr>
        <p:txBody>
          <a:bodyPr wrap="square" lIns="0" rIns="0" tIns="0" bIns="0" anchor="t">
            <a:spAutoFit/>
          </a:bodyPr>
          <a:lstStyle/>
          <a:p>
            <a:pPr algn="l">
              <a:lnSpc>
                <a:spcPct val="108000"/>
              </a:lnSpc>
              <a:spcBef>
                <a:spcPts val="0"/>
              </a:spcBef>
              <a:spcAft>
                <a:spcPts val="0"/>
              </a:spcAft>
            </a:pPr>
            <a:r>
              <a:rPr sz="1000" b="1" i="0">
                <a:solidFill>
                  <a:srgbClr val="6A6A6A"/>
                </a:solidFill>
                <a:latin typeface="Marianne"/>
              </a:rPr>
              <a:t>À valider : </a:t>
            </a:r>
            <a:r>
              <a:rPr sz="1000" b="0" i="1">
                <a:solidFill>
                  <a:srgbClr val="6A6A6A"/>
                </a:solidFill>
                <a:latin typeface="Marianne"/>
              </a:rPr>
              <a:t>catalogue Albert à confirmer via /v1/models · DeepSeek V4 = tarif preview · tarifs OpenRouter = catalogue (caching −60/80 %) · tokenizer Opus 4.8 ≈ +30 % de tokens.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