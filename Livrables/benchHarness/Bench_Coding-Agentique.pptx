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Matrice comparative des 7 stacks de coding agentique. Chiffres verifies (sources primaires, 10/07 et 23/07/2026). AJOUTS DU 23/07/2026 : (a) Claude Code / Fable 5 via Bedrock : 95,0% SWE-bench Verified (llm-stats.com), 10$/50$ par 1M (2x Opus 4.8), disponible sur Bedrock (profil global.anthropic.claude-fable-5, docs.aws.amazon.com) - contraintes : activation d'un parametre de data sharing + retention 30 jours obligatoire. (b) Vibe / Mistral Medium 3.5 : Vibe = agent de codage CLI + VS Code de Mistral (mai 2026) ; Medium 3.5 = 77,6% SWE-bench Verified, 1,50$/7,50$ par 1M, poids ouverts licence MIT modifiee (mistral.ai/news/vibe-remote-agents-mistral-medium-3-5) ; plans Le Chat Pro 14,99$/Team 24,99$/mois ; deploiement SecNumCloud possible via Outscale (offre enterprise). (c) OpenCode / Kimi K3 via OpenRouter : 3$/15$ par 1M (openrouter.ai/moonshotai/kimi-k3), 93,4% SWE-bench Verified ANNONCE par Moonshot - des evaluations independantes citent des scores bien plus bas selon le harness ; capacite amont limitee (erreurs 429 frequentes). CORRECTION SOUVERAINETE : Bedrock n'est PAS souverain au sens de la CNIL - AWS reste soumis au CLOUD Act quelle que soit la region ; pastille rouge (avant : orange 'partielle'). Seuls Albert (SecNumCloud, Etat FR) et Mistral (editeur FR, SecNumCloud en option via Outscale) tiennent la souverainete. NOUVEL AXE CONFORMITE (RGPD/donnees) - distinct de la souverainete : bons = Mistral (editeur FR, RGPD), Albert (cadre Etat) et modeles Anthropic via Bedrock (region UE ex. Paris, DPA AWS) ; Anthropic direct = partielle (transfert hors UE) ; OpenRouter = insuffisante (routage via intermediaire US, sans garanties UE). RAPPEL DONNEES INITIALES (10/07/2026) : PRIX/1M tokens : Opus 4.8 = 5$ input / 25$ output (platform.claude.com/docs/.../pricing), en sus des sieges Claude Code (Pro 17$, Team 20-25$, Premium 100-125$/mois - claude.com/pricing). DeepSeek V4 Pro = 0,435$/0,87$ (openrouter.ai/deepseek/deepseek-v4-pro + api-docs.deepseek.com) MAIS tarif preview, doublement 'peak' annonce mi-juillet 2026 (technode.com 30/06/2026). GLM 5.2 = tarif liste Z.ai 1,40$/4,40$ (docs.z.ai), OpenRouter varie 0,93-3,00$ input selon fournisseur route (le 0,77$ lu en tete etait un artefact d'extraction, non confirme). Albert = GRATUIT pour agents de l'Etat, pas de facturation token, acces regule par quotas RPM/RPD/TPM (ia.numerique.gouv.fr). PERF SWE-bench Verified : Opus 4.8 88,6% (vellum.ai) ; DeepSeek V4 Pro 80,6% (morphllm) ; DeepSeek V4 Flash 79% ; Mistral Medium 3.5 77,6% (mistral.ai) ; GLM 5.2 ~78% estime (SWE-bench Pro 62,1%, Terminal-Bench 81-83% - huggingface zai-org). SCENARIO ALBERT retenu pour le bench elargi : OpenCode branche sur Albert servant DeepSeek V4 Flash (~79%) - catalogue Albert a confirmer via /v1/models. SOUVERAINETE : Anthropic = editeur US (CLOUD Act) ; Z.ai (GLM) et DeepSeek = editeurs chinois, et via OpenRouter le routage passe par un intermediaire US ; Albert = Etat francais, heberge sur Outscale SecNumCloud. Nuance : les poids GLM et DeepSeek sont ouverts (licence MIT), donc auto-hebergeables sur infra souveraine - c'est ce que fait Albert. FAISABILITE : Claude Code et OpenCode tournent tous deux sur Mac/Linux/Windows (WSL conseille sous Windows) ; le frein sur postes Windows internes est surtout la politique (Copilot only) et le proxy, pas la technique.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Souverainete (corrigee le 23/07/2026) : au sens de la CNIL, seules Albert (Etat FR, SecNumCloud) et Mistral (editeur FR, SecNumCloud en option) sont souveraines. Bedrock N'EST PAS souverain : AWS est soumis au CLOUD Act quelle que soit la region d'hebergement. En revanche, sur l'axe CONFORMITE (RGPD), Bedrock en region UE (Paris) avec DPA AWS reste une voie conforme pour les modeles Anthropic ; Anthropic direct = transfert hors UE ; OpenRouter = sans garanties UE. Albert s'utilise avec OpenCode : guide officiel DINUM guides.ia.numerique.gouv.fr/albert-api/guides/ide#agentic-coding-opencode. La problematique de deploiement : les prestataires externes peuvent rester sur leur abonnement Claude (forfait mensuel, consommation incluse, cout previsible). Les agents internes, eux, demarreront a environ 20 euros par siege et par mois (sieges Claude Enterprise via Bedrock), auxquels s'ajoute chaque token consomme, facture au prix du modele. Le cout interne suit donc l'usage, et l'usage agentique est intensif en tokens. Consequence : optimiser le cout au token (choix du modele, du harness, caching) devient le parametre cle pour les internes et pour la CI/CD - c'est ce que le bench compare, et ce que le bench elargi en conditions reelles validera (scenario Albert/DeepSeek via OpenCode face a Claude avec et sans abonnement).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Deux cas d'usage a distinguer. (1) CODE AGENTIQUE SUR POSTE : Claude Code se consomme via un SIEGE d'abonnement (Pro 17-20$, Team 20-25$, Premium 100-125$/dev/mois) ; les stacks OpenCode se consomment via une cle - OpenRouter (paiement au token) ou Albert (gratuit, cle reservee aux agents de l'Etat). (2) BOTS CI/CD : pas de siege, tout le monde paie au token via une cle API programmatique. Claude API Opus 4.8 = 5$/25$ par 1M (headless via ANTHROPIC_API_KEY ; un token OAuth d'abonnement CLAUDE_CODE_OAUTH_TOKEN est aussi possible mais Anthropic recommande la cle API pour l'automation partagee). DeepSeek V4 Pro 0,44$/0,87$, GLM 5.2 ~1,40$/4,40$ via OpenRouter. Albert est gratuit mais ses quotas (10-50 requetes/min en experimentation) peuvent brider un usage CI/CD intensif - a augmenter sur demande. RECOMMANDATION selon priorite (MAJ 23/07/2026) : performance -&gt; Claude Code/Fable 5 via Bedrock (95,0% SWE-bench, 10$/50$ par 1M, conforme RGPD en region UE mais non souverain - CLOUD Act) ; souverainete/cout -&gt; Albert ; conformite UE avec editeur prive -&gt; Vibe/Mistral Medium 3.5 (77,6%, 1,50$/7,50$, plans Le Chat des 14,99$/mois) ; rapport perf-prix brut -&gt; DeepSeek V4 Pro via OpenRouter. Kimi K3 via OpenRouter (3$/15$) annonce 93,4% SWE-bench Verified mais le score n'est pas verifie independamment et la capacite OpenRouter est limitee (429). RESERVES : 'Open Claw' n'a pas ete confirme comme outil de coding (le seul depot de ce nom est un assistant de messagerie) - candidats reels : OpenCode, Crush (Charmbracelet), Claude Code Router. Le catalogue Albert observe sur les docs publiques ne liste pas DeepSeek V4 Flash ni Mistral Medium 3.5 (mais Mistral-Small, Ministral-3-8B, gpt-oss-120b, Qwen3-Coder) - a confirmer via un appel authentifie /v1/models sur ta cle. Tarifs OpenRouter = prix catalogue variables selon le fournisseur route ; le prompt caching peut baisser le cout reel de 60 a 80%. Le nouveau tokenizer d'Opus 4.8 produit ~30% de tokens en plus pour un meme texte, ce qui renforce le cout effectif par requete.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image" Target="../media/image8.png"/><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9.png"/><Relationship Id="rId4" Type="http://schemas.openxmlformats.org/officeDocument/2006/relationships/image" Target="../media/image5.png"/><Relationship Id="rId5" Type="http://schemas.openxmlformats.org/officeDocument/2006/relationships/image" Target="../media/image10.png"/><Relationship Id="rId6" Type="http://schemas.openxmlformats.org/officeDocument/2006/relationships/image" Target="../media/image7.png"/><Relationship Id="rId7" Type="http://schemas.openxmlformats.org/officeDocument/2006/relationships/image" Target="../media/image4.png"/><Relationship Id="rId8" Type="http://schemas.openxmlformats.org/officeDocument/2006/relationships/image" Target="../media/image8.png"/><Relationship Id="rId9" Type="http://schemas.openxmlformats.org/officeDocument/2006/relationships/notesSlide" Target="../notesSlides/notesSlide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png"/>
          <p:cNvPicPr>
            <a:picLocks noChangeAspect="1"/>
          </p:cNvPicPr>
          <p:nvPr/>
        </p:nvPicPr>
        <p:blipFill>
          <a:blip r:embed="rId2"/>
          <a:stretch>
            <a:fillRect/>
          </a:stretch>
        </p:blipFill>
        <p:spPr>
          <a:xfrm>
            <a:off x="777240" y="274320"/>
            <a:ext cx="987918" cy="676656"/>
          </a:xfrm>
          <a:prstGeom prst="rect">
            <a:avLst/>
          </a:prstGeom>
        </p:spPr>
      </p:pic>
      <p:sp>
        <p:nvSpPr>
          <p:cNvPr id="4" name="TextBox 3"/>
          <p:cNvSpPr txBox="1"/>
          <p:nvPr/>
        </p:nvSpPr>
        <p:spPr>
          <a:xfrm>
            <a:off x="7573975" y="274320"/>
            <a:ext cx="3840480" cy="640080"/>
          </a:xfrm>
          <a:prstGeom prst="rect">
            <a:avLst/>
          </a:prstGeom>
          <a:noFill/>
        </p:spPr>
        <p:txBody>
          <a:bodyPr wrap="square" lIns="0" rIns="0" tIns="0" bIns="0" anchor="t">
            <a:spAutoFit/>
          </a:bodyPr>
          <a:lstStyle/>
          <a:p>
            <a:pPr algn="r">
              <a:lnSpc>
                <a:spcPct val="105000"/>
              </a:lnSpc>
              <a:spcBef>
                <a:spcPts val="0"/>
              </a:spcBef>
              <a:spcAft>
                <a:spcPts val="0"/>
              </a:spcAft>
            </a:pPr>
            <a:r>
              <a:rPr sz="1350" b="1" i="0">
                <a:solidFill>
                  <a:srgbClr val="161616"/>
                </a:solidFill>
                <a:latin typeface="Marianne"/>
              </a:rPr>
              <a:t>Secrétariat général</a:t>
            </a:r>
          </a:p>
          <a:p>
            <a:pPr algn="r">
              <a:lnSpc>
                <a:spcPct val="105000"/>
              </a:lnSpc>
              <a:spcBef>
                <a:spcPts val="0"/>
              </a:spcBef>
              <a:spcAft>
                <a:spcPts val="0"/>
              </a:spcAft>
            </a:pPr>
            <a:r>
              <a:rPr sz="1350" b="0" i="0">
                <a:solidFill>
                  <a:srgbClr val="3A3A3A"/>
                </a:solidFill>
                <a:latin typeface="Marianne"/>
              </a:rPr>
              <a:t>Direction du numérique</a:t>
            </a:r>
          </a:p>
        </p:txBody>
      </p:sp>
      <p:cxnSp>
        <p:nvCxnSpPr>
          <p:cNvPr id="5" name="Connector 4"/>
          <p:cNvCxnSpPr/>
          <p:nvPr/>
        </p:nvCxnSpPr>
        <p:spPr>
          <a:xfrm>
            <a:off x="0" y="1005840"/>
            <a:ext cx="12191695" cy="0"/>
          </a:xfrm>
          <a:prstGeom prst="line">
            <a:avLst/>
          </a:prstGeom>
          <a:ln w="9525">
            <a:solidFill>
              <a:srgbClr val="DDDDDD"/>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777240" y="6437376"/>
            <a:ext cx="7772400" cy="274320"/>
          </a:xfrm>
          <a:prstGeom prst="rect">
            <a:avLst/>
          </a:prstGeom>
          <a:noFill/>
        </p:spPr>
        <p:txBody>
          <a:bodyPr wrap="square" lIns="0" rIns="0" tIns="0" bIns="0" anchor="t">
            <a:spAutoFit/>
          </a:bodyPr>
          <a:lstStyle/>
          <a:p>
            <a:pPr algn="l">
              <a:lnSpc>
                <a:spcPct val="106000"/>
              </a:lnSpc>
              <a:spcBef>
                <a:spcPts val="0"/>
              </a:spcBef>
              <a:spcAft>
                <a:spcPts val="0"/>
              </a:spcAft>
            </a:pPr>
            <a:r>
              <a:rPr sz="1100" b="0" i="0">
                <a:solidFill>
                  <a:srgbClr val="6A6A6A"/>
                </a:solidFill>
                <a:latin typeface="Marianne"/>
              </a:rPr>
              <a:t>Ministères Sociaux – Benchmark coding agentique – 23/07/2026</a:t>
            </a:r>
          </a:p>
        </p:txBody>
      </p:sp>
      <p:sp>
        <p:nvSpPr>
          <p:cNvPr id="7" name="TextBox 6"/>
          <p:cNvSpPr txBox="1"/>
          <p:nvPr/>
        </p:nvSpPr>
        <p:spPr>
          <a:xfrm>
            <a:off x="10682935" y="6437376"/>
            <a:ext cx="731520" cy="274320"/>
          </a:xfrm>
          <a:prstGeom prst="rect">
            <a:avLst/>
          </a:prstGeom>
          <a:noFill/>
        </p:spPr>
        <p:txBody>
          <a:bodyPr wrap="square" lIns="0" rIns="0" tIns="0" bIns="0" anchor="t">
            <a:spAutoFit/>
          </a:bodyPr>
          <a:lstStyle/>
          <a:p>
            <a:pPr algn="r">
              <a:lnSpc>
                <a:spcPct val="106000"/>
              </a:lnSpc>
              <a:spcBef>
                <a:spcPts val="0"/>
              </a:spcBef>
              <a:spcAft>
                <a:spcPts val="0"/>
              </a:spcAft>
            </a:pPr>
            <a:r>
              <a:rPr sz="1100" b="0" i="0">
                <a:solidFill>
                  <a:srgbClr val="6A6A6A"/>
                </a:solidFill>
                <a:latin typeface="Marianne"/>
              </a:rPr>
              <a:t>1</a:t>
            </a:r>
          </a:p>
        </p:txBody>
      </p:sp>
      <p:sp>
        <p:nvSpPr>
          <p:cNvPr id="8" name="TextBox 7"/>
          <p:cNvSpPr txBox="1"/>
          <p:nvPr/>
        </p:nvSpPr>
        <p:spPr>
          <a:xfrm>
            <a:off x="777240" y="1243584"/>
            <a:ext cx="10637215" cy="914400"/>
          </a:xfrm>
          <a:prstGeom prst="rect">
            <a:avLst/>
          </a:prstGeom>
          <a:noFill/>
        </p:spPr>
        <p:txBody>
          <a:bodyPr wrap="square" lIns="0" rIns="0" tIns="0" bIns="0" anchor="t">
            <a:spAutoFit/>
          </a:bodyPr>
          <a:lstStyle/>
          <a:p>
            <a:pPr algn="l">
              <a:lnSpc>
                <a:spcPct val="102000"/>
              </a:lnSpc>
              <a:spcBef>
                <a:spcPts val="0"/>
              </a:spcBef>
              <a:spcAft>
                <a:spcPts val="0"/>
              </a:spcAft>
            </a:pPr>
            <a:r>
              <a:rPr sz="3000" b="1" i="0">
                <a:solidFill>
                  <a:srgbClr val="161616"/>
                </a:solidFill>
                <a:latin typeface="Marianne"/>
              </a:rPr>
              <a:t>Coding agentique : comparer 7 stacks</a:t>
            </a:r>
          </a:p>
        </p:txBody>
      </p:sp>
      <p:sp>
        <p:nvSpPr>
          <p:cNvPr id="9" name="TextBox 8"/>
          <p:cNvSpPr txBox="1"/>
          <p:nvPr/>
        </p:nvSpPr>
        <p:spPr>
          <a:xfrm>
            <a:off x="777240" y="1847088"/>
            <a:ext cx="10637215" cy="365760"/>
          </a:xfrm>
          <a:prstGeom prst="rect">
            <a:avLst/>
          </a:prstGeom>
          <a:noFill/>
        </p:spPr>
        <p:txBody>
          <a:bodyPr wrap="square" lIns="0" rIns="0" tIns="0" bIns="0" anchor="t">
            <a:spAutoFit/>
          </a:bodyPr>
          <a:lstStyle/>
          <a:p>
            <a:pPr algn="l">
              <a:lnSpc>
                <a:spcPct val="106000"/>
              </a:lnSpc>
              <a:spcBef>
                <a:spcPts val="0"/>
              </a:spcBef>
              <a:spcAft>
                <a:spcPts val="0"/>
              </a:spcAft>
            </a:pPr>
            <a:r>
              <a:rPr sz="1400" b="0" i="0">
                <a:solidFill>
                  <a:srgbClr val="3A3A3A"/>
                </a:solidFill>
                <a:latin typeface="Marianne"/>
              </a:rPr>
              <a:t>Prix, performance, souveraineté, conformité, faisabilité. Tarifs vérifiés sur sources primaires (23/07/2026).</a:t>
            </a:r>
          </a:p>
        </p:txBody>
      </p:sp>
      <p:sp>
        <p:nvSpPr>
          <p:cNvPr id="10" name="Rounded Rectangle 9"/>
          <p:cNvSpPr/>
          <p:nvPr/>
        </p:nvSpPr>
        <p:spPr>
          <a:xfrm>
            <a:off x="2560320" y="2121408"/>
            <a:ext cx="1186499" cy="768096"/>
          </a:xfrm>
          <a:prstGeom prst="roundRect">
            <a:avLst>
              <a:gd name="adj" fmla="val 8000"/>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615184" y="2121408"/>
            <a:ext cx="1076771" cy="768096"/>
          </a:xfrm>
          <a:prstGeom prst="rect">
            <a:avLst/>
          </a:prstGeom>
          <a:noFill/>
        </p:spPr>
        <p:txBody>
          <a:bodyPr wrap="square" lIns="0" rIns="0" tIns="0" bIns="0" anchor="ctr">
            <a:spAutoFit/>
          </a:bodyPr>
          <a:lstStyle/>
          <a:p>
            <a:pPr algn="ctr">
              <a:lnSpc>
                <a:spcPct val="100000"/>
              </a:lnSpc>
              <a:spcBef>
                <a:spcPts val="0"/>
              </a:spcBef>
              <a:spcAft>
                <a:spcPts val="0"/>
              </a:spcAft>
            </a:pPr>
            <a:r>
              <a:rPr sz="1150" b="1" i="0">
                <a:solidFill>
                  <a:srgbClr val="FFFFFF"/>
                </a:solidFill>
                <a:latin typeface="Marianne"/>
              </a:rPr>
              <a:t>Claude Code</a:t>
            </a:r>
          </a:p>
          <a:p>
            <a:pPr algn="ctr">
              <a:lnSpc>
                <a:spcPct val="100000"/>
              </a:lnSpc>
              <a:spcBef>
                <a:spcPts val="100"/>
              </a:spcBef>
              <a:spcAft>
                <a:spcPts val="0"/>
              </a:spcAft>
            </a:pPr>
            <a:r>
              <a:rPr sz="1000" b="1" i="0">
                <a:solidFill>
                  <a:srgbClr val="FFFFFF"/>
                </a:solidFill>
                <a:latin typeface="Marianne"/>
              </a:rPr>
              <a:t>Opus 4.8</a:t>
            </a:r>
          </a:p>
          <a:p>
            <a:pPr algn="ctr">
              <a:lnSpc>
                <a:spcPct val="100000"/>
              </a:lnSpc>
              <a:spcBef>
                <a:spcPts val="200"/>
              </a:spcBef>
              <a:spcAft>
                <a:spcPts val="0"/>
              </a:spcAft>
            </a:pPr>
            <a:r>
              <a:rPr sz="850" b="0" i="0">
                <a:solidFill>
                  <a:srgbClr val="C9C9F2"/>
                </a:solidFill>
                <a:latin typeface="Marianne"/>
              </a:rPr>
              <a:t>Anthropic</a:t>
            </a:r>
          </a:p>
        </p:txBody>
      </p:sp>
      <p:sp>
        <p:nvSpPr>
          <p:cNvPr id="12" name="Rounded Rectangle 11"/>
          <p:cNvSpPr/>
          <p:nvPr/>
        </p:nvSpPr>
        <p:spPr>
          <a:xfrm>
            <a:off x="3838259" y="2121408"/>
            <a:ext cx="1186499" cy="768096"/>
          </a:xfrm>
          <a:prstGeom prst="roundRect">
            <a:avLst>
              <a:gd name="adj" fmla="val 8000"/>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893123" y="2121408"/>
            <a:ext cx="1076771" cy="768096"/>
          </a:xfrm>
          <a:prstGeom prst="rect">
            <a:avLst/>
          </a:prstGeom>
          <a:noFill/>
        </p:spPr>
        <p:txBody>
          <a:bodyPr wrap="square" lIns="0" rIns="0" tIns="0" bIns="0" anchor="ctr">
            <a:spAutoFit/>
          </a:bodyPr>
          <a:lstStyle/>
          <a:p>
            <a:pPr algn="ctr">
              <a:lnSpc>
                <a:spcPct val="100000"/>
              </a:lnSpc>
              <a:spcBef>
                <a:spcPts val="0"/>
              </a:spcBef>
              <a:spcAft>
                <a:spcPts val="0"/>
              </a:spcAft>
            </a:pPr>
            <a:r>
              <a:rPr sz="1150" b="1" i="0">
                <a:solidFill>
                  <a:srgbClr val="FFFFFF"/>
                </a:solidFill>
                <a:latin typeface="Marianne"/>
              </a:rPr>
              <a:t>Claude Code</a:t>
            </a:r>
          </a:p>
          <a:p>
            <a:pPr algn="ctr">
              <a:lnSpc>
                <a:spcPct val="100000"/>
              </a:lnSpc>
              <a:spcBef>
                <a:spcPts val="100"/>
              </a:spcBef>
              <a:spcAft>
                <a:spcPts val="0"/>
              </a:spcAft>
            </a:pPr>
            <a:r>
              <a:rPr sz="1000" b="1" i="0">
                <a:solidFill>
                  <a:srgbClr val="FFFFFF"/>
                </a:solidFill>
                <a:latin typeface="Marianne"/>
              </a:rPr>
              <a:t>Fable 5</a:t>
            </a:r>
          </a:p>
          <a:p>
            <a:pPr algn="ctr">
              <a:lnSpc>
                <a:spcPct val="100000"/>
              </a:lnSpc>
              <a:spcBef>
                <a:spcPts val="200"/>
              </a:spcBef>
              <a:spcAft>
                <a:spcPts val="0"/>
              </a:spcAft>
            </a:pPr>
            <a:r>
              <a:rPr sz="850" b="0" i="0">
                <a:solidFill>
                  <a:srgbClr val="C9C9F2"/>
                </a:solidFill>
                <a:latin typeface="Marianne"/>
              </a:rPr>
              <a:t>AWS Bedrock</a:t>
            </a:r>
          </a:p>
        </p:txBody>
      </p:sp>
      <p:sp>
        <p:nvSpPr>
          <p:cNvPr id="14" name="Rounded Rectangle 13"/>
          <p:cNvSpPr/>
          <p:nvPr/>
        </p:nvSpPr>
        <p:spPr>
          <a:xfrm>
            <a:off x="5116198" y="2121408"/>
            <a:ext cx="1186499" cy="768096"/>
          </a:xfrm>
          <a:prstGeom prst="roundRect">
            <a:avLst>
              <a:gd name="adj" fmla="val 8000"/>
            </a:avLst>
          </a:prstGeom>
          <a:solidFill>
            <a:srgbClr val="6A6A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171062" y="2121408"/>
            <a:ext cx="1076771" cy="768096"/>
          </a:xfrm>
          <a:prstGeom prst="rect">
            <a:avLst/>
          </a:prstGeom>
          <a:noFill/>
        </p:spPr>
        <p:txBody>
          <a:bodyPr wrap="square" lIns="0" rIns="0" tIns="0" bIns="0" anchor="ctr">
            <a:spAutoFit/>
          </a:bodyPr>
          <a:lstStyle/>
          <a:p>
            <a:pPr algn="ctr">
              <a:lnSpc>
                <a:spcPct val="100000"/>
              </a:lnSpc>
              <a:spcBef>
                <a:spcPts val="0"/>
              </a:spcBef>
              <a:spcAft>
                <a:spcPts val="0"/>
              </a:spcAft>
            </a:pPr>
            <a:r>
              <a:rPr sz="1150" b="1" i="0">
                <a:solidFill>
                  <a:srgbClr val="FFFFFF"/>
                </a:solidFill>
                <a:latin typeface="Marianne"/>
              </a:rPr>
              <a:t>Vibe</a:t>
            </a:r>
          </a:p>
          <a:p>
            <a:pPr algn="ctr">
              <a:lnSpc>
                <a:spcPct val="100000"/>
              </a:lnSpc>
              <a:spcBef>
                <a:spcPts val="100"/>
              </a:spcBef>
              <a:spcAft>
                <a:spcPts val="0"/>
              </a:spcAft>
            </a:pPr>
            <a:r>
              <a:rPr sz="1000" b="1" i="0">
                <a:solidFill>
                  <a:srgbClr val="FFFFFF"/>
                </a:solidFill>
                <a:latin typeface="Marianne"/>
              </a:rPr>
              <a:t>Medium 3.5</a:t>
            </a:r>
          </a:p>
          <a:p>
            <a:pPr algn="ctr">
              <a:lnSpc>
                <a:spcPct val="100000"/>
              </a:lnSpc>
              <a:spcBef>
                <a:spcPts val="200"/>
              </a:spcBef>
              <a:spcAft>
                <a:spcPts val="0"/>
              </a:spcAft>
            </a:pPr>
            <a:r>
              <a:rPr sz="850" b="0" i="0">
                <a:solidFill>
                  <a:srgbClr val="C9C9F2"/>
                </a:solidFill>
                <a:latin typeface="Marianne"/>
              </a:rPr>
              <a:t>Mistral</a:t>
            </a:r>
          </a:p>
        </p:txBody>
      </p:sp>
      <p:sp>
        <p:nvSpPr>
          <p:cNvPr id="16" name="Rounded Rectangle 15"/>
          <p:cNvSpPr/>
          <p:nvPr/>
        </p:nvSpPr>
        <p:spPr>
          <a:xfrm>
            <a:off x="6394137" y="2121408"/>
            <a:ext cx="1186499" cy="768096"/>
          </a:xfrm>
          <a:prstGeom prst="roundRect">
            <a:avLst>
              <a:gd name="adj" fmla="val 8000"/>
            </a:avLst>
          </a:prstGeom>
          <a:solidFill>
            <a:srgbClr val="6A6A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49001" y="2121408"/>
            <a:ext cx="1076771" cy="768096"/>
          </a:xfrm>
          <a:prstGeom prst="rect">
            <a:avLst/>
          </a:prstGeom>
          <a:noFill/>
        </p:spPr>
        <p:txBody>
          <a:bodyPr wrap="square" lIns="0" rIns="0" tIns="0" bIns="0" anchor="ctr">
            <a:spAutoFit/>
          </a:bodyPr>
          <a:lstStyle/>
          <a:p>
            <a:pPr algn="ctr">
              <a:lnSpc>
                <a:spcPct val="100000"/>
              </a:lnSpc>
              <a:spcBef>
                <a:spcPts val="0"/>
              </a:spcBef>
              <a:spcAft>
                <a:spcPts val="0"/>
              </a:spcAft>
            </a:pPr>
            <a:r>
              <a:rPr sz="1150" b="1" i="0">
                <a:solidFill>
                  <a:srgbClr val="FFFFFF"/>
                </a:solidFill>
                <a:latin typeface="Marianne"/>
              </a:rPr>
              <a:t>OpenCode</a:t>
            </a:r>
          </a:p>
          <a:p>
            <a:pPr algn="ctr">
              <a:lnSpc>
                <a:spcPct val="100000"/>
              </a:lnSpc>
              <a:spcBef>
                <a:spcPts val="100"/>
              </a:spcBef>
              <a:spcAft>
                <a:spcPts val="0"/>
              </a:spcAft>
            </a:pPr>
            <a:r>
              <a:rPr sz="1000" b="1" i="0">
                <a:solidFill>
                  <a:srgbClr val="FFFFFF"/>
                </a:solidFill>
                <a:latin typeface="Marianne"/>
              </a:rPr>
              <a:t>DeepSeek V4 Flash</a:t>
            </a:r>
          </a:p>
          <a:p>
            <a:pPr algn="ctr">
              <a:lnSpc>
                <a:spcPct val="100000"/>
              </a:lnSpc>
              <a:spcBef>
                <a:spcPts val="200"/>
              </a:spcBef>
              <a:spcAft>
                <a:spcPts val="0"/>
              </a:spcAft>
            </a:pPr>
            <a:r>
              <a:rPr sz="850" b="0" i="0">
                <a:solidFill>
                  <a:srgbClr val="C9C9F2"/>
                </a:solidFill>
                <a:latin typeface="Marianne"/>
              </a:rPr>
              <a:t>Albert (DINUM)</a:t>
            </a:r>
          </a:p>
        </p:txBody>
      </p:sp>
      <p:sp>
        <p:nvSpPr>
          <p:cNvPr id="18" name="Rounded Rectangle 17"/>
          <p:cNvSpPr/>
          <p:nvPr/>
        </p:nvSpPr>
        <p:spPr>
          <a:xfrm>
            <a:off x="7672077" y="2121408"/>
            <a:ext cx="1186499" cy="768096"/>
          </a:xfrm>
          <a:prstGeom prst="roundRect">
            <a:avLst>
              <a:gd name="adj" fmla="val 8000"/>
            </a:avLst>
          </a:prstGeom>
          <a:solidFill>
            <a:srgbClr val="6A6A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726941" y="2121408"/>
            <a:ext cx="1076771" cy="768096"/>
          </a:xfrm>
          <a:prstGeom prst="rect">
            <a:avLst/>
          </a:prstGeom>
          <a:noFill/>
        </p:spPr>
        <p:txBody>
          <a:bodyPr wrap="square" lIns="0" rIns="0" tIns="0" bIns="0" anchor="ctr">
            <a:spAutoFit/>
          </a:bodyPr>
          <a:lstStyle/>
          <a:p>
            <a:pPr algn="ctr">
              <a:lnSpc>
                <a:spcPct val="100000"/>
              </a:lnSpc>
              <a:spcBef>
                <a:spcPts val="0"/>
              </a:spcBef>
              <a:spcAft>
                <a:spcPts val="0"/>
              </a:spcAft>
            </a:pPr>
            <a:r>
              <a:rPr sz="1150" b="1" i="0">
                <a:solidFill>
                  <a:srgbClr val="FFFFFF"/>
                </a:solidFill>
                <a:latin typeface="Marianne"/>
              </a:rPr>
              <a:t>OpenCode</a:t>
            </a:r>
          </a:p>
          <a:p>
            <a:pPr algn="ctr">
              <a:lnSpc>
                <a:spcPct val="100000"/>
              </a:lnSpc>
              <a:spcBef>
                <a:spcPts val="100"/>
              </a:spcBef>
              <a:spcAft>
                <a:spcPts val="0"/>
              </a:spcAft>
            </a:pPr>
            <a:r>
              <a:rPr sz="1000" b="1" i="0">
                <a:solidFill>
                  <a:srgbClr val="FFFFFF"/>
                </a:solidFill>
                <a:latin typeface="Marianne"/>
              </a:rPr>
              <a:t>DeepSeek V4 Pro</a:t>
            </a:r>
          </a:p>
          <a:p>
            <a:pPr algn="ctr">
              <a:lnSpc>
                <a:spcPct val="100000"/>
              </a:lnSpc>
              <a:spcBef>
                <a:spcPts val="200"/>
              </a:spcBef>
              <a:spcAft>
                <a:spcPts val="0"/>
              </a:spcAft>
            </a:pPr>
            <a:r>
              <a:rPr sz="850" b="0" i="0">
                <a:solidFill>
                  <a:srgbClr val="C9C9F2"/>
                </a:solidFill>
                <a:latin typeface="Marianne"/>
              </a:rPr>
              <a:t>OpenRouter</a:t>
            </a:r>
          </a:p>
        </p:txBody>
      </p:sp>
      <p:sp>
        <p:nvSpPr>
          <p:cNvPr id="20" name="Rounded Rectangle 19"/>
          <p:cNvSpPr/>
          <p:nvPr/>
        </p:nvSpPr>
        <p:spPr>
          <a:xfrm>
            <a:off x="8950016" y="2121408"/>
            <a:ext cx="1186499" cy="768096"/>
          </a:xfrm>
          <a:prstGeom prst="roundRect">
            <a:avLst>
              <a:gd name="adj" fmla="val 8000"/>
            </a:avLst>
          </a:prstGeom>
          <a:solidFill>
            <a:srgbClr val="6A6A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004880" y="2121408"/>
            <a:ext cx="1076771" cy="768096"/>
          </a:xfrm>
          <a:prstGeom prst="rect">
            <a:avLst/>
          </a:prstGeom>
          <a:noFill/>
        </p:spPr>
        <p:txBody>
          <a:bodyPr wrap="square" lIns="0" rIns="0" tIns="0" bIns="0" anchor="ctr">
            <a:spAutoFit/>
          </a:bodyPr>
          <a:lstStyle/>
          <a:p>
            <a:pPr algn="ctr">
              <a:lnSpc>
                <a:spcPct val="100000"/>
              </a:lnSpc>
              <a:spcBef>
                <a:spcPts val="0"/>
              </a:spcBef>
              <a:spcAft>
                <a:spcPts val="0"/>
              </a:spcAft>
            </a:pPr>
            <a:r>
              <a:rPr sz="1150" b="1" i="0">
                <a:solidFill>
                  <a:srgbClr val="FFFFFF"/>
                </a:solidFill>
                <a:latin typeface="Marianne"/>
              </a:rPr>
              <a:t>OpenCode</a:t>
            </a:r>
          </a:p>
          <a:p>
            <a:pPr algn="ctr">
              <a:lnSpc>
                <a:spcPct val="100000"/>
              </a:lnSpc>
              <a:spcBef>
                <a:spcPts val="100"/>
              </a:spcBef>
              <a:spcAft>
                <a:spcPts val="0"/>
              </a:spcAft>
            </a:pPr>
            <a:r>
              <a:rPr sz="1000" b="1" i="0">
                <a:solidFill>
                  <a:srgbClr val="FFFFFF"/>
                </a:solidFill>
                <a:latin typeface="Marianne"/>
              </a:rPr>
              <a:t>GLM 5.2</a:t>
            </a:r>
          </a:p>
          <a:p>
            <a:pPr algn="ctr">
              <a:lnSpc>
                <a:spcPct val="100000"/>
              </a:lnSpc>
              <a:spcBef>
                <a:spcPts val="200"/>
              </a:spcBef>
              <a:spcAft>
                <a:spcPts val="0"/>
              </a:spcAft>
            </a:pPr>
            <a:r>
              <a:rPr sz="850" b="0" i="0">
                <a:solidFill>
                  <a:srgbClr val="C9C9F2"/>
                </a:solidFill>
                <a:latin typeface="Marianne"/>
              </a:rPr>
              <a:t>OpenRouter</a:t>
            </a:r>
          </a:p>
        </p:txBody>
      </p:sp>
      <p:sp>
        <p:nvSpPr>
          <p:cNvPr id="22" name="Rounded Rectangle 21"/>
          <p:cNvSpPr/>
          <p:nvPr/>
        </p:nvSpPr>
        <p:spPr>
          <a:xfrm>
            <a:off x="10227955" y="2121408"/>
            <a:ext cx="1186499" cy="768096"/>
          </a:xfrm>
          <a:prstGeom prst="roundRect">
            <a:avLst>
              <a:gd name="adj" fmla="val 8000"/>
            </a:avLst>
          </a:prstGeom>
          <a:solidFill>
            <a:srgbClr val="6A6A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282819" y="2121408"/>
            <a:ext cx="1076771" cy="768096"/>
          </a:xfrm>
          <a:prstGeom prst="rect">
            <a:avLst/>
          </a:prstGeom>
          <a:noFill/>
        </p:spPr>
        <p:txBody>
          <a:bodyPr wrap="square" lIns="0" rIns="0" tIns="0" bIns="0" anchor="ctr">
            <a:spAutoFit/>
          </a:bodyPr>
          <a:lstStyle/>
          <a:p>
            <a:pPr algn="ctr">
              <a:lnSpc>
                <a:spcPct val="100000"/>
              </a:lnSpc>
              <a:spcBef>
                <a:spcPts val="0"/>
              </a:spcBef>
              <a:spcAft>
                <a:spcPts val="0"/>
              </a:spcAft>
            </a:pPr>
            <a:r>
              <a:rPr sz="1150" b="1" i="0">
                <a:solidFill>
                  <a:srgbClr val="FFFFFF"/>
                </a:solidFill>
                <a:latin typeface="Marianne"/>
              </a:rPr>
              <a:t>OpenCode</a:t>
            </a:r>
          </a:p>
          <a:p>
            <a:pPr algn="ctr">
              <a:lnSpc>
                <a:spcPct val="100000"/>
              </a:lnSpc>
              <a:spcBef>
                <a:spcPts val="100"/>
              </a:spcBef>
              <a:spcAft>
                <a:spcPts val="0"/>
              </a:spcAft>
            </a:pPr>
            <a:r>
              <a:rPr sz="1000" b="1" i="0">
                <a:solidFill>
                  <a:srgbClr val="FFFFFF"/>
                </a:solidFill>
                <a:latin typeface="Marianne"/>
              </a:rPr>
              <a:t>Kimi K3</a:t>
            </a:r>
          </a:p>
          <a:p>
            <a:pPr algn="ctr">
              <a:lnSpc>
                <a:spcPct val="100000"/>
              </a:lnSpc>
              <a:spcBef>
                <a:spcPts val="200"/>
              </a:spcBef>
              <a:spcAft>
                <a:spcPts val="0"/>
              </a:spcAft>
            </a:pPr>
            <a:r>
              <a:rPr sz="850" b="0" i="0">
                <a:solidFill>
                  <a:srgbClr val="C9C9F2"/>
                </a:solidFill>
                <a:latin typeface="Marianne"/>
              </a:rPr>
              <a:t>OpenRouter</a:t>
            </a:r>
          </a:p>
        </p:txBody>
      </p:sp>
      <p:sp>
        <p:nvSpPr>
          <p:cNvPr id="24" name="Rounded Rectangle 23"/>
          <p:cNvSpPr/>
          <p:nvPr/>
        </p:nvSpPr>
        <p:spPr>
          <a:xfrm>
            <a:off x="777240" y="2980944"/>
            <a:ext cx="10637215" cy="603504"/>
          </a:xfrm>
          <a:prstGeom prst="roundRect">
            <a:avLst>
              <a:gd name="adj" fmla="val 5000"/>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bank.png"/>
          <p:cNvPicPr>
            <a:picLocks noChangeAspect="1"/>
          </p:cNvPicPr>
          <p:nvPr/>
        </p:nvPicPr>
        <p:blipFill>
          <a:blip r:embed="rId3"/>
          <a:stretch>
            <a:fillRect/>
          </a:stretch>
        </p:blipFill>
        <p:spPr>
          <a:xfrm>
            <a:off x="905256" y="3118103"/>
            <a:ext cx="329184" cy="329184"/>
          </a:xfrm>
          <a:prstGeom prst="rect">
            <a:avLst/>
          </a:prstGeom>
        </p:spPr>
      </p:pic>
      <p:sp>
        <p:nvSpPr>
          <p:cNvPr id="26" name="TextBox 25"/>
          <p:cNvSpPr txBox="1"/>
          <p:nvPr/>
        </p:nvSpPr>
        <p:spPr>
          <a:xfrm>
            <a:off x="1344168" y="2980944"/>
            <a:ext cx="1106424" cy="603504"/>
          </a:xfrm>
          <a:prstGeom prst="rect">
            <a:avLst/>
          </a:prstGeom>
          <a:noFill/>
        </p:spPr>
        <p:txBody>
          <a:bodyPr wrap="square" lIns="0" rIns="0" tIns="0" bIns="0" anchor="ctr">
            <a:spAutoFit/>
          </a:bodyPr>
          <a:lstStyle/>
          <a:p>
            <a:pPr algn="l">
              <a:lnSpc>
                <a:spcPct val="100000"/>
              </a:lnSpc>
              <a:spcBef>
                <a:spcPts val="0"/>
              </a:spcBef>
              <a:spcAft>
                <a:spcPts val="0"/>
              </a:spcAft>
            </a:pPr>
            <a:r>
              <a:rPr sz="1300" b="1" i="0">
                <a:solidFill>
                  <a:srgbClr val="161616"/>
                </a:solidFill>
                <a:latin typeface="Marianne"/>
              </a:rPr>
              <a:t>Prix</a:t>
            </a:r>
          </a:p>
          <a:p>
            <a:pPr algn="l">
              <a:lnSpc>
                <a:spcPct val="100000"/>
              </a:lnSpc>
              <a:spcBef>
                <a:spcPts val="200"/>
              </a:spcBef>
              <a:spcAft>
                <a:spcPts val="0"/>
              </a:spcAft>
            </a:pPr>
            <a:r>
              <a:rPr sz="900" b="0" i="0">
                <a:solidFill>
                  <a:srgbClr val="6A6A6A"/>
                </a:solidFill>
                <a:latin typeface="Marianne"/>
              </a:rPr>
              <a:t>/ 1M tokens</a:t>
            </a:r>
          </a:p>
        </p:txBody>
      </p:sp>
      <p:sp>
        <p:nvSpPr>
          <p:cNvPr id="27" name="TextBox 26"/>
          <p:cNvSpPr txBox="1"/>
          <p:nvPr/>
        </p:nvSpPr>
        <p:spPr>
          <a:xfrm>
            <a:off x="2633472" y="3026663"/>
            <a:ext cx="1058483" cy="274320"/>
          </a:xfrm>
          <a:prstGeom prst="rect">
            <a:avLst/>
          </a:prstGeom>
          <a:noFill/>
        </p:spPr>
        <p:txBody>
          <a:bodyPr wrap="square" lIns="0" rIns="0" tIns="0" bIns="0" anchor="ctr">
            <a:spAutoFit/>
          </a:bodyPr>
          <a:lstStyle/>
          <a:p>
            <a:pPr algn="l">
              <a:lnSpc>
                <a:spcPct val="106000"/>
              </a:lnSpc>
              <a:spcBef>
                <a:spcPts val="0"/>
              </a:spcBef>
              <a:spcAft>
                <a:spcPts val="0"/>
              </a:spcAft>
            </a:pPr>
            <a:r>
              <a:rPr sz="1150" b="0" i="0">
                <a:solidFill>
                  <a:srgbClr val="E1000F"/>
                </a:solidFill>
                <a:latin typeface="Marianne"/>
              </a:rPr>
              <a:t>● ● </a:t>
            </a:r>
            <a:r>
              <a:rPr sz="1150" b="0" i="0">
                <a:solidFill>
                  <a:srgbClr val="D2D2E8"/>
                </a:solidFill>
                <a:latin typeface="Marianne"/>
              </a:rPr>
              <a:t>● ● ● </a:t>
            </a:r>
          </a:p>
        </p:txBody>
      </p:sp>
      <p:sp>
        <p:nvSpPr>
          <p:cNvPr id="28" name="TextBox 27"/>
          <p:cNvSpPr txBox="1"/>
          <p:nvPr/>
        </p:nvSpPr>
        <p:spPr>
          <a:xfrm>
            <a:off x="2633472" y="3255263"/>
            <a:ext cx="1058483" cy="310896"/>
          </a:xfrm>
          <a:prstGeom prst="rect">
            <a:avLst/>
          </a:prstGeom>
          <a:noFill/>
        </p:spPr>
        <p:txBody>
          <a:bodyPr wrap="square" lIns="0" rIns="0" tIns="0" bIns="0" anchor="t">
            <a:spAutoFit/>
          </a:bodyPr>
          <a:lstStyle/>
          <a:p>
            <a:pPr algn="l">
              <a:lnSpc>
                <a:spcPct val="100000"/>
              </a:lnSpc>
              <a:spcBef>
                <a:spcPts val="0"/>
              </a:spcBef>
              <a:spcAft>
                <a:spcPts val="0"/>
              </a:spcAft>
            </a:pPr>
            <a:r>
              <a:rPr sz="1000" b="1" i="0">
                <a:solidFill>
                  <a:srgbClr val="161616"/>
                </a:solidFill>
                <a:latin typeface="Marianne"/>
              </a:rPr>
              <a:t>5 $ / 25 $</a:t>
            </a:r>
          </a:p>
          <a:p>
            <a:pPr algn="l">
              <a:lnSpc>
                <a:spcPct val="100000"/>
              </a:lnSpc>
              <a:spcBef>
                <a:spcPts val="100"/>
              </a:spcBef>
              <a:spcAft>
                <a:spcPts val="0"/>
              </a:spcAft>
            </a:pPr>
            <a:r>
              <a:rPr sz="800" b="0" i="0">
                <a:solidFill>
                  <a:srgbClr val="6A6A6A"/>
                </a:solidFill>
                <a:latin typeface="Marianne"/>
              </a:rPr>
              <a:t>+ siège 20–125 $/m</a:t>
            </a:r>
          </a:p>
        </p:txBody>
      </p:sp>
      <p:sp>
        <p:nvSpPr>
          <p:cNvPr id="29" name="TextBox 28"/>
          <p:cNvSpPr txBox="1"/>
          <p:nvPr/>
        </p:nvSpPr>
        <p:spPr>
          <a:xfrm>
            <a:off x="3911411" y="3026663"/>
            <a:ext cx="1058483" cy="274320"/>
          </a:xfrm>
          <a:prstGeom prst="rect">
            <a:avLst/>
          </a:prstGeom>
          <a:noFill/>
        </p:spPr>
        <p:txBody>
          <a:bodyPr wrap="square" lIns="0" rIns="0" tIns="0" bIns="0" anchor="ctr">
            <a:spAutoFit/>
          </a:bodyPr>
          <a:lstStyle/>
          <a:p>
            <a:pPr algn="l">
              <a:lnSpc>
                <a:spcPct val="106000"/>
              </a:lnSpc>
              <a:spcBef>
                <a:spcPts val="0"/>
              </a:spcBef>
              <a:spcAft>
                <a:spcPts val="0"/>
              </a:spcAft>
            </a:pPr>
            <a:r>
              <a:rPr sz="1150" b="0" i="0">
                <a:solidFill>
                  <a:srgbClr val="E1000F"/>
                </a:solidFill>
                <a:latin typeface="Marianne"/>
              </a:rPr>
              <a:t>● </a:t>
            </a:r>
            <a:r>
              <a:rPr sz="1150" b="0" i="0">
                <a:solidFill>
                  <a:srgbClr val="D2D2E8"/>
                </a:solidFill>
                <a:latin typeface="Marianne"/>
              </a:rPr>
              <a:t>● ● ● ● </a:t>
            </a:r>
          </a:p>
        </p:txBody>
      </p:sp>
      <p:sp>
        <p:nvSpPr>
          <p:cNvPr id="30" name="TextBox 29"/>
          <p:cNvSpPr txBox="1"/>
          <p:nvPr/>
        </p:nvSpPr>
        <p:spPr>
          <a:xfrm>
            <a:off x="3911411" y="3255263"/>
            <a:ext cx="1058483" cy="310896"/>
          </a:xfrm>
          <a:prstGeom prst="rect">
            <a:avLst/>
          </a:prstGeom>
          <a:noFill/>
        </p:spPr>
        <p:txBody>
          <a:bodyPr wrap="square" lIns="0" rIns="0" tIns="0" bIns="0" anchor="t">
            <a:spAutoFit/>
          </a:bodyPr>
          <a:lstStyle/>
          <a:p>
            <a:pPr algn="l">
              <a:lnSpc>
                <a:spcPct val="100000"/>
              </a:lnSpc>
              <a:spcBef>
                <a:spcPts val="0"/>
              </a:spcBef>
              <a:spcAft>
                <a:spcPts val="0"/>
              </a:spcAft>
            </a:pPr>
            <a:r>
              <a:rPr sz="1000" b="1" i="0">
                <a:solidFill>
                  <a:srgbClr val="161616"/>
                </a:solidFill>
                <a:latin typeface="Marianne"/>
              </a:rPr>
              <a:t>10 $ / 50 $</a:t>
            </a:r>
          </a:p>
          <a:p>
            <a:pPr algn="l">
              <a:lnSpc>
                <a:spcPct val="100000"/>
              </a:lnSpc>
              <a:spcBef>
                <a:spcPts val="100"/>
              </a:spcBef>
              <a:spcAft>
                <a:spcPts val="0"/>
              </a:spcAft>
            </a:pPr>
            <a:r>
              <a:rPr sz="800" b="0" i="0">
                <a:solidFill>
                  <a:srgbClr val="6A6A6A"/>
                </a:solidFill>
                <a:latin typeface="Marianne"/>
              </a:rPr>
              <a:t>+ siège ≈20 €/m</a:t>
            </a:r>
          </a:p>
        </p:txBody>
      </p:sp>
      <p:sp>
        <p:nvSpPr>
          <p:cNvPr id="31" name="TextBox 30"/>
          <p:cNvSpPr txBox="1"/>
          <p:nvPr/>
        </p:nvSpPr>
        <p:spPr>
          <a:xfrm>
            <a:off x="5189350" y="3026663"/>
            <a:ext cx="1058483" cy="274320"/>
          </a:xfrm>
          <a:prstGeom prst="rect">
            <a:avLst/>
          </a:prstGeom>
          <a:noFill/>
        </p:spPr>
        <p:txBody>
          <a:bodyPr wrap="square" lIns="0" rIns="0" tIns="0" bIns="0" anchor="ctr">
            <a:spAutoFit/>
          </a:bodyPr>
          <a:lstStyle/>
          <a:p>
            <a:pPr algn="l">
              <a:lnSpc>
                <a:spcPct val="106000"/>
              </a:lnSpc>
              <a:spcBef>
                <a:spcPts val="0"/>
              </a:spcBef>
              <a:spcAft>
                <a:spcPts val="0"/>
              </a:spcAft>
            </a:pPr>
            <a:r>
              <a:rPr sz="1150" b="0" i="0">
                <a:solidFill>
                  <a:srgbClr val="18753C"/>
                </a:solidFill>
                <a:latin typeface="Marianne"/>
              </a:rPr>
              <a:t>● ● ● ● </a:t>
            </a:r>
            <a:r>
              <a:rPr sz="1150" b="0" i="0">
                <a:solidFill>
                  <a:srgbClr val="D2D2E8"/>
                </a:solidFill>
                <a:latin typeface="Marianne"/>
              </a:rPr>
              <a:t>● </a:t>
            </a:r>
          </a:p>
        </p:txBody>
      </p:sp>
      <p:sp>
        <p:nvSpPr>
          <p:cNvPr id="32" name="TextBox 31"/>
          <p:cNvSpPr txBox="1"/>
          <p:nvPr/>
        </p:nvSpPr>
        <p:spPr>
          <a:xfrm>
            <a:off x="5189350" y="3255263"/>
            <a:ext cx="1058483" cy="310896"/>
          </a:xfrm>
          <a:prstGeom prst="rect">
            <a:avLst/>
          </a:prstGeom>
          <a:noFill/>
        </p:spPr>
        <p:txBody>
          <a:bodyPr wrap="square" lIns="0" rIns="0" tIns="0" bIns="0" anchor="t">
            <a:spAutoFit/>
          </a:bodyPr>
          <a:lstStyle/>
          <a:p>
            <a:pPr algn="l">
              <a:lnSpc>
                <a:spcPct val="100000"/>
              </a:lnSpc>
              <a:spcBef>
                <a:spcPts val="0"/>
              </a:spcBef>
              <a:spcAft>
                <a:spcPts val="0"/>
              </a:spcAft>
            </a:pPr>
            <a:r>
              <a:rPr sz="1000" b="1" i="0">
                <a:solidFill>
                  <a:srgbClr val="161616"/>
                </a:solidFill>
                <a:latin typeface="Marianne"/>
              </a:rPr>
              <a:t>1,50 $ / 7,50 $</a:t>
            </a:r>
          </a:p>
          <a:p>
            <a:pPr algn="l">
              <a:lnSpc>
                <a:spcPct val="100000"/>
              </a:lnSpc>
              <a:spcBef>
                <a:spcPts val="100"/>
              </a:spcBef>
              <a:spcAft>
                <a:spcPts val="0"/>
              </a:spcAft>
            </a:pPr>
            <a:r>
              <a:rPr sz="800" b="0" i="0">
                <a:solidFill>
                  <a:srgbClr val="6A6A6A"/>
                </a:solidFill>
                <a:latin typeface="Marianne"/>
              </a:rPr>
              <a:t>plans dès 14,99 $/m</a:t>
            </a:r>
          </a:p>
        </p:txBody>
      </p:sp>
      <p:sp>
        <p:nvSpPr>
          <p:cNvPr id="33" name="TextBox 32"/>
          <p:cNvSpPr txBox="1"/>
          <p:nvPr/>
        </p:nvSpPr>
        <p:spPr>
          <a:xfrm>
            <a:off x="6467289" y="3026663"/>
            <a:ext cx="1058483" cy="274320"/>
          </a:xfrm>
          <a:prstGeom prst="rect">
            <a:avLst/>
          </a:prstGeom>
          <a:noFill/>
        </p:spPr>
        <p:txBody>
          <a:bodyPr wrap="square" lIns="0" rIns="0" tIns="0" bIns="0" anchor="ctr">
            <a:spAutoFit/>
          </a:bodyPr>
          <a:lstStyle/>
          <a:p>
            <a:pPr algn="l">
              <a:lnSpc>
                <a:spcPct val="106000"/>
              </a:lnSpc>
              <a:spcBef>
                <a:spcPts val="0"/>
              </a:spcBef>
              <a:spcAft>
                <a:spcPts val="0"/>
              </a:spcAft>
            </a:pPr>
            <a:r>
              <a:rPr sz="1150" b="0" i="0">
                <a:solidFill>
                  <a:srgbClr val="18753C"/>
                </a:solidFill>
                <a:latin typeface="Marianne"/>
              </a:rPr>
              <a:t>● ● ● ● ● </a:t>
            </a:r>
            <a:r>
              <a:rPr sz="1150" b="0" i="0">
                <a:solidFill>
                  <a:srgbClr val="D2D2E8"/>
                </a:solidFill>
                <a:latin typeface="Marianne"/>
              </a:rPr>
              <a:t/>
            </a:r>
          </a:p>
        </p:txBody>
      </p:sp>
      <p:sp>
        <p:nvSpPr>
          <p:cNvPr id="34" name="TextBox 33"/>
          <p:cNvSpPr txBox="1"/>
          <p:nvPr/>
        </p:nvSpPr>
        <p:spPr>
          <a:xfrm>
            <a:off x="6467289" y="3255263"/>
            <a:ext cx="1058483" cy="310896"/>
          </a:xfrm>
          <a:prstGeom prst="rect">
            <a:avLst/>
          </a:prstGeom>
          <a:noFill/>
        </p:spPr>
        <p:txBody>
          <a:bodyPr wrap="square" lIns="0" rIns="0" tIns="0" bIns="0" anchor="t">
            <a:spAutoFit/>
          </a:bodyPr>
          <a:lstStyle/>
          <a:p>
            <a:pPr algn="l">
              <a:lnSpc>
                <a:spcPct val="100000"/>
              </a:lnSpc>
              <a:spcBef>
                <a:spcPts val="0"/>
              </a:spcBef>
              <a:spcAft>
                <a:spcPts val="0"/>
              </a:spcAft>
            </a:pPr>
            <a:r>
              <a:rPr sz="1000" b="1" i="0">
                <a:solidFill>
                  <a:srgbClr val="161616"/>
                </a:solidFill>
                <a:latin typeface="Marianne"/>
              </a:rPr>
              <a:t>Gratuit</a:t>
            </a:r>
          </a:p>
          <a:p>
            <a:pPr algn="l">
              <a:lnSpc>
                <a:spcPct val="100000"/>
              </a:lnSpc>
              <a:spcBef>
                <a:spcPts val="100"/>
              </a:spcBef>
              <a:spcAft>
                <a:spcPts val="0"/>
              </a:spcAft>
            </a:pPr>
            <a:r>
              <a:rPr sz="800" b="0" i="0">
                <a:solidFill>
                  <a:srgbClr val="6A6A6A"/>
                </a:solidFill>
                <a:latin typeface="Marianne"/>
              </a:rPr>
              <a:t>quotas, agents État</a:t>
            </a:r>
          </a:p>
        </p:txBody>
      </p:sp>
      <p:sp>
        <p:nvSpPr>
          <p:cNvPr id="35" name="TextBox 34"/>
          <p:cNvSpPr txBox="1"/>
          <p:nvPr/>
        </p:nvSpPr>
        <p:spPr>
          <a:xfrm>
            <a:off x="7745229" y="3026663"/>
            <a:ext cx="1058483" cy="274320"/>
          </a:xfrm>
          <a:prstGeom prst="rect">
            <a:avLst/>
          </a:prstGeom>
          <a:noFill/>
        </p:spPr>
        <p:txBody>
          <a:bodyPr wrap="square" lIns="0" rIns="0" tIns="0" bIns="0" anchor="ctr">
            <a:spAutoFit/>
          </a:bodyPr>
          <a:lstStyle/>
          <a:p>
            <a:pPr algn="l">
              <a:lnSpc>
                <a:spcPct val="106000"/>
              </a:lnSpc>
              <a:spcBef>
                <a:spcPts val="0"/>
              </a:spcBef>
              <a:spcAft>
                <a:spcPts val="0"/>
              </a:spcAft>
            </a:pPr>
            <a:r>
              <a:rPr sz="1150" b="0" i="0">
                <a:solidFill>
                  <a:srgbClr val="18753C"/>
                </a:solidFill>
                <a:latin typeface="Marianne"/>
              </a:rPr>
              <a:t>● ● ● ● ● </a:t>
            </a:r>
            <a:r>
              <a:rPr sz="1150" b="0" i="0">
                <a:solidFill>
                  <a:srgbClr val="D2D2E8"/>
                </a:solidFill>
                <a:latin typeface="Marianne"/>
              </a:rPr>
              <a:t/>
            </a:r>
          </a:p>
        </p:txBody>
      </p:sp>
      <p:sp>
        <p:nvSpPr>
          <p:cNvPr id="36" name="TextBox 35"/>
          <p:cNvSpPr txBox="1"/>
          <p:nvPr/>
        </p:nvSpPr>
        <p:spPr>
          <a:xfrm>
            <a:off x="7745229" y="3255263"/>
            <a:ext cx="1058483" cy="310896"/>
          </a:xfrm>
          <a:prstGeom prst="rect">
            <a:avLst/>
          </a:prstGeom>
          <a:noFill/>
        </p:spPr>
        <p:txBody>
          <a:bodyPr wrap="square" lIns="0" rIns="0" tIns="0" bIns="0" anchor="t">
            <a:spAutoFit/>
          </a:bodyPr>
          <a:lstStyle/>
          <a:p>
            <a:pPr algn="l">
              <a:lnSpc>
                <a:spcPct val="100000"/>
              </a:lnSpc>
              <a:spcBef>
                <a:spcPts val="0"/>
              </a:spcBef>
              <a:spcAft>
                <a:spcPts val="0"/>
              </a:spcAft>
            </a:pPr>
            <a:r>
              <a:rPr sz="1000" b="1" i="0">
                <a:solidFill>
                  <a:srgbClr val="161616"/>
                </a:solidFill>
                <a:latin typeface="Marianne"/>
              </a:rPr>
              <a:t>0,44 $ / 0,87 $</a:t>
            </a:r>
          </a:p>
          <a:p>
            <a:pPr algn="l">
              <a:lnSpc>
                <a:spcPct val="100000"/>
              </a:lnSpc>
              <a:spcBef>
                <a:spcPts val="100"/>
              </a:spcBef>
              <a:spcAft>
                <a:spcPts val="0"/>
              </a:spcAft>
            </a:pPr>
            <a:r>
              <a:rPr sz="800" b="0" i="0">
                <a:solidFill>
                  <a:srgbClr val="6A6A6A"/>
                </a:solidFill>
                <a:latin typeface="Marianne"/>
              </a:rPr>
              <a:t>tarif preview *</a:t>
            </a:r>
          </a:p>
        </p:txBody>
      </p:sp>
      <p:sp>
        <p:nvSpPr>
          <p:cNvPr id="37" name="TextBox 36"/>
          <p:cNvSpPr txBox="1"/>
          <p:nvPr/>
        </p:nvSpPr>
        <p:spPr>
          <a:xfrm>
            <a:off x="9023168" y="3026663"/>
            <a:ext cx="1058483" cy="274320"/>
          </a:xfrm>
          <a:prstGeom prst="rect">
            <a:avLst/>
          </a:prstGeom>
          <a:noFill/>
        </p:spPr>
        <p:txBody>
          <a:bodyPr wrap="square" lIns="0" rIns="0" tIns="0" bIns="0" anchor="ctr">
            <a:spAutoFit/>
          </a:bodyPr>
          <a:lstStyle/>
          <a:p>
            <a:pPr algn="l">
              <a:lnSpc>
                <a:spcPct val="106000"/>
              </a:lnSpc>
              <a:spcBef>
                <a:spcPts val="0"/>
              </a:spcBef>
              <a:spcAft>
                <a:spcPts val="0"/>
              </a:spcAft>
            </a:pPr>
            <a:r>
              <a:rPr sz="1150" b="0" i="0">
                <a:solidFill>
                  <a:srgbClr val="18753C"/>
                </a:solidFill>
                <a:latin typeface="Marianne"/>
              </a:rPr>
              <a:t>● ● ● ● </a:t>
            </a:r>
            <a:r>
              <a:rPr sz="1150" b="0" i="0">
                <a:solidFill>
                  <a:srgbClr val="D2D2E8"/>
                </a:solidFill>
                <a:latin typeface="Marianne"/>
              </a:rPr>
              <a:t>● </a:t>
            </a:r>
          </a:p>
        </p:txBody>
      </p:sp>
      <p:sp>
        <p:nvSpPr>
          <p:cNvPr id="38" name="TextBox 37"/>
          <p:cNvSpPr txBox="1"/>
          <p:nvPr/>
        </p:nvSpPr>
        <p:spPr>
          <a:xfrm>
            <a:off x="9023168" y="3255263"/>
            <a:ext cx="1058483" cy="310896"/>
          </a:xfrm>
          <a:prstGeom prst="rect">
            <a:avLst/>
          </a:prstGeom>
          <a:noFill/>
        </p:spPr>
        <p:txBody>
          <a:bodyPr wrap="square" lIns="0" rIns="0" tIns="0" bIns="0" anchor="t">
            <a:spAutoFit/>
          </a:bodyPr>
          <a:lstStyle/>
          <a:p>
            <a:pPr algn="l">
              <a:lnSpc>
                <a:spcPct val="100000"/>
              </a:lnSpc>
              <a:spcBef>
                <a:spcPts val="0"/>
              </a:spcBef>
              <a:spcAft>
                <a:spcPts val="0"/>
              </a:spcAft>
            </a:pPr>
            <a:r>
              <a:rPr sz="1000" b="1" i="0">
                <a:solidFill>
                  <a:srgbClr val="161616"/>
                </a:solidFill>
                <a:latin typeface="Marianne"/>
              </a:rPr>
              <a:t>1,40 $ / 4,40 $</a:t>
            </a:r>
          </a:p>
        </p:txBody>
      </p:sp>
      <p:sp>
        <p:nvSpPr>
          <p:cNvPr id="39" name="TextBox 38"/>
          <p:cNvSpPr txBox="1"/>
          <p:nvPr/>
        </p:nvSpPr>
        <p:spPr>
          <a:xfrm>
            <a:off x="10301107" y="3026663"/>
            <a:ext cx="1058483" cy="274320"/>
          </a:xfrm>
          <a:prstGeom prst="rect">
            <a:avLst/>
          </a:prstGeom>
          <a:noFill/>
        </p:spPr>
        <p:txBody>
          <a:bodyPr wrap="square" lIns="0" rIns="0" tIns="0" bIns="0" anchor="ctr">
            <a:spAutoFit/>
          </a:bodyPr>
          <a:lstStyle/>
          <a:p>
            <a:pPr algn="l">
              <a:lnSpc>
                <a:spcPct val="106000"/>
              </a:lnSpc>
              <a:spcBef>
                <a:spcPts val="0"/>
              </a:spcBef>
              <a:spcAft>
                <a:spcPts val="0"/>
              </a:spcAft>
            </a:pPr>
            <a:r>
              <a:rPr sz="1150" b="0" i="0">
                <a:solidFill>
                  <a:srgbClr val="B85C00"/>
                </a:solidFill>
                <a:latin typeface="Marianne"/>
              </a:rPr>
              <a:t>● ● ● </a:t>
            </a:r>
            <a:r>
              <a:rPr sz="1150" b="0" i="0">
                <a:solidFill>
                  <a:srgbClr val="D2D2E8"/>
                </a:solidFill>
                <a:latin typeface="Marianne"/>
              </a:rPr>
              <a:t>● ● </a:t>
            </a:r>
          </a:p>
        </p:txBody>
      </p:sp>
      <p:sp>
        <p:nvSpPr>
          <p:cNvPr id="40" name="TextBox 39"/>
          <p:cNvSpPr txBox="1"/>
          <p:nvPr/>
        </p:nvSpPr>
        <p:spPr>
          <a:xfrm>
            <a:off x="10301107" y="3255263"/>
            <a:ext cx="1058483" cy="310896"/>
          </a:xfrm>
          <a:prstGeom prst="rect">
            <a:avLst/>
          </a:prstGeom>
          <a:noFill/>
        </p:spPr>
        <p:txBody>
          <a:bodyPr wrap="square" lIns="0" rIns="0" tIns="0" bIns="0" anchor="t">
            <a:spAutoFit/>
          </a:bodyPr>
          <a:lstStyle/>
          <a:p>
            <a:pPr algn="l">
              <a:lnSpc>
                <a:spcPct val="100000"/>
              </a:lnSpc>
              <a:spcBef>
                <a:spcPts val="0"/>
              </a:spcBef>
              <a:spcAft>
                <a:spcPts val="0"/>
              </a:spcAft>
            </a:pPr>
            <a:r>
              <a:rPr sz="1000" b="1" i="0">
                <a:solidFill>
                  <a:srgbClr val="161616"/>
                </a:solidFill>
                <a:latin typeface="Marianne"/>
              </a:rPr>
              <a:t>3 $ / 15 $</a:t>
            </a:r>
          </a:p>
          <a:p>
            <a:pPr algn="l">
              <a:lnSpc>
                <a:spcPct val="100000"/>
              </a:lnSpc>
              <a:spcBef>
                <a:spcPts val="100"/>
              </a:spcBef>
              <a:spcAft>
                <a:spcPts val="0"/>
              </a:spcAft>
            </a:pPr>
            <a:r>
              <a:rPr sz="800" b="0" i="0">
                <a:solidFill>
                  <a:srgbClr val="6A6A6A"/>
                </a:solidFill>
                <a:latin typeface="Marianne"/>
              </a:rPr>
              <a:t>cache −60/80 %</a:t>
            </a:r>
          </a:p>
        </p:txBody>
      </p:sp>
      <p:sp>
        <p:nvSpPr>
          <p:cNvPr id="41" name="Rounded Rectangle 40"/>
          <p:cNvSpPr/>
          <p:nvPr/>
        </p:nvSpPr>
        <p:spPr>
          <a:xfrm>
            <a:off x="777240" y="3639311"/>
            <a:ext cx="10637215" cy="603504"/>
          </a:xfrm>
          <a:prstGeom prst="roundRect">
            <a:avLst>
              <a:gd name="adj" fmla="val 5000"/>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2" name="Picture 41" descr="code-s-slash.png"/>
          <p:cNvPicPr>
            <a:picLocks noChangeAspect="1"/>
          </p:cNvPicPr>
          <p:nvPr/>
        </p:nvPicPr>
        <p:blipFill>
          <a:blip r:embed="rId4"/>
          <a:stretch>
            <a:fillRect/>
          </a:stretch>
        </p:blipFill>
        <p:spPr>
          <a:xfrm>
            <a:off x="905256" y="3776472"/>
            <a:ext cx="329184" cy="329184"/>
          </a:xfrm>
          <a:prstGeom prst="rect">
            <a:avLst/>
          </a:prstGeom>
        </p:spPr>
      </p:pic>
      <p:sp>
        <p:nvSpPr>
          <p:cNvPr id="43" name="TextBox 42"/>
          <p:cNvSpPr txBox="1"/>
          <p:nvPr/>
        </p:nvSpPr>
        <p:spPr>
          <a:xfrm>
            <a:off x="1344168" y="3639311"/>
            <a:ext cx="1106424" cy="603504"/>
          </a:xfrm>
          <a:prstGeom prst="rect">
            <a:avLst/>
          </a:prstGeom>
          <a:noFill/>
        </p:spPr>
        <p:txBody>
          <a:bodyPr wrap="square" lIns="0" rIns="0" tIns="0" bIns="0" anchor="ctr">
            <a:spAutoFit/>
          </a:bodyPr>
          <a:lstStyle/>
          <a:p>
            <a:pPr algn="l">
              <a:lnSpc>
                <a:spcPct val="100000"/>
              </a:lnSpc>
              <a:spcBef>
                <a:spcPts val="0"/>
              </a:spcBef>
              <a:spcAft>
                <a:spcPts val="0"/>
              </a:spcAft>
            </a:pPr>
            <a:r>
              <a:rPr sz="1300" b="1" i="0">
                <a:solidFill>
                  <a:srgbClr val="161616"/>
                </a:solidFill>
                <a:latin typeface="Marianne"/>
              </a:rPr>
              <a:t>Performance</a:t>
            </a:r>
          </a:p>
          <a:p>
            <a:pPr algn="l">
              <a:lnSpc>
                <a:spcPct val="100000"/>
              </a:lnSpc>
              <a:spcBef>
                <a:spcPts val="200"/>
              </a:spcBef>
              <a:spcAft>
                <a:spcPts val="0"/>
              </a:spcAft>
            </a:pPr>
            <a:r>
              <a:rPr sz="900" b="0" i="0">
                <a:solidFill>
                  <a:srgbClr val="6A6A6A"/>
                </a:solidFill>
                <a:latin typeface="Marianne"/>
              </a:rPr>
              <a:t>SWE-bench Verified</a:t>
            </a:r>
          </a:p>
        </p:txBody>
      </p:sp>
      <p:sp>
        <p:nvSpPr>
          <p:cNvPr id="44" name="TextBox 43"/>
          <p:cNvSpPr txBox="1"/>
          <p:nvPr/>
        </p:nvSpPr>
        <p:spPr>
          <a:xfrm>
            <a:off x="2633472" y="3685031"/>
            <a:ext cx="1058483" cy="274320"/>
          </a:xfrm>
          <a:prstGeom prst="rect">
            <a:avLst/>
          </a:prstGeom>
          <a:noFill/>
        </p:spPr>
        <p:txBody>
          <a:bodyPr wrap="square" lIns="0" rIns="0" tIns="0" bIns="0" anchor="ctr">
            <a:spAutoFit/>
          </a:bodyPr>
          <a:lstStyle/>
          <a:p>
            <a:pPr algn="l">
              <a:lnSpc>
                <a:spcPct val="106000"/>
              </a:lnSpc>
              <a:spcBef>
                <a:spcPts val="0"/>
              </a:spcBef>
              <a:spcAft>
                <a:spcPts val="0"/>
              </a:spcAft>
            </a:pPr>
            <a:r>
              <a:rPr sz="1150" b="0" i="0">
                <a:solidFill>
                  <a:srgbClr val="18753C"/>
                </a:solidFill>
                <a:latin typeface="Marianne"/>
              </a:rPr>
              <a:t>● ● ● ● ● </a:t>
            </a:r>
            <a:r>
              <a:rPr sz="1150" b="0" i="0">
                <a:solidFill>
                  <a:srgbClr val="D2D2E8"/>
                </a:solidFill>
                <a:latin typeface="Marianne"/>
              </a:rPr>
              <a:t/>
            </a:r>
          </a:p>
        </p:txBody>
      </p:sp>
      <p:sp>
        <p:nvSpPr>
          <p:cNvPr id="45" name="TextBox 44"/>
          <p:cNvSpPr txBox="1"/>
          <p:nvPr/>
        </p:nvSpPr>
        <p:spPr>
          <a:xfrm>
            <a:off x="2633472" y="3913631"/>
            <a:ext cx="1058483" cy="310896"/>
          </a:xfrm>
          <a:prstGeom prst="rect">
            <a:avLst/>
          </a:prstGeom>
          <a:noFill/>
        </p:spPr>
        <p:txBody>
          <a:bodyPr wrap="square" lIns="0" rIns="0" tIns="0" bIns="0" anchor="t">
            <a:spAutoFit/>
          </a:bodyPr>
          <a:lstStyle/>
          <a:p>
            <a:pPr algn="l">
              <a:lnSpc>
                <a:spcPct val="100000"/>
              </a:lnSpc>
              <a:spcBef>
                <a:spcPts val="0"/>
              </a:spcBef>
              <a:spcAft>
                <a:spcPts val="0"/>
              </a:spcAft>
            </a:pPr>
            <a:r>
              <a:rPr sz="1000" b="1" i="0">
                <a:solidFill>
                  <a:srgbClr val="161616"/>
                </a:solidFill>
                <a:latin typeface="Marianne"/>
              </a:rPr>
              <a:t>88,6 %</a:t>
            </a:r>
          </a:p>
        </p:txBody>
      </p:sp>
      <p:sp>
        <p:nvSpPr>
          <p:cNvPr id="46" name="TextBox 45"/>
          <p:cNvSpPr txBox="1"/>
          <p:nvPr/>
        </p:nvSpPr>
        <p:spPr>
          <a:xfrm>
            <a:off x="3911411" y="3685031"/>
            <a:ext cx="1058483" cy="274320"/>
          </a:xfrm>
          <a:prstGeom prst="rect">
            <a:avLst/>
          </a:prstGeom>
          <a:noFill/>
        </p:spPr>
        <p:txBody>
          <a:bodyPr wrap="square" lIns="0" rIns="0" tIns="0" bIns="0" anchor="ctr">
            <a:spAutoFit/>
          </a:bodyPr>
          <a:lstStyle/>
          <a:p>
            <a:pPr algn="l">
              <a:lnSpc>
                <a:spcPct val="106000"/>
              </a:lnSpc>
              <a:spcBef>
                <a:spcPts val="0"/>
              </a:spcBef>
              <a:spcAft>
                <a:spcPts val="0"/>
              </a:spcAft>
            </a:pPr>
            <a:r>
              <a:rPr sz="1150" b="0" i="0">
                <a:solidFill>
                  <a:srgbClr val="18753C"/>
                </a:solidFill>
                <a:latin typeface="Marianne"/>
              </a:rPr>
              <a:t>● ● ● ● ● </a:t>
            </a:r>
            <a:r>
              <a:rPr sz="1150" b="0" i="0">
                <a:solidFill>
                  <a:srgbClr val="D2D2E8"/>
                </a:solidFill>
                <a:latin typeface="Marianne"/>
              </a:rPr>
              <a:t/>
            </a:r>
          </a:p>
        </p:txBody>
      </p:sp>
      <p:sp>
        <p:nvSpPr>
          <p:cNvPr id="47" name="TextBox 46"/>
          <p:cNvSpPr txBox="1"/>
          <p:nvPr/>
        </p:nvSpPr>
        <p:spPr>
          <a:xfrm>
            <a:off x="3911411" y="3913631"/>
            <a:ext cx="1058483" cy="310896"/>
          </a:xfrm>
          <a:prstGeom prst="rect">
            <a:avLst/>
          </a:prstGeom>
          <a:noFill/>
        </p:spPr>
        <p:txBody>
          <a:bodyPr wrap="square" lIns="0" rIns="0" tIns="0" bIns="0" anchor="t">
            <a:spAutoFit/>
          </a:bodyPr>
          <a:lstStyle/>
          <a:p>
            <a:pPr algn="l">
              <a:lnSpc>
                <a:spcPct val="100000"/>
              </a:lnSpc>
              <a:spcBef>
                <a:spcPts val="0"/>
              </a:spcBef>
              <a:spcAft>
                <a:spcPts val="0"/>
              </a:spcAft>
            </a:pPr>
            <a:r>
              <a:rPr sz="1000" b="1" i="0">
                <a:solidFill>
                  <a:srgbClr val="161616"/>
                </a:solidFill>
                <a:latin typeface="Marianne"/>
              </a:rPr>
              <a:t>95,0 %</a:t>
            </a:r>
          </a:p>
          <a:p>
            <a:pPr algn="l">
              <a:lnSpc>
                <a:spcPct val="100000"/>
              </a:lnSpc>
              <a:spcBef>
                <a:spcPts val="100"/>
              </a:spcBef>
              <a:spcAft>
                <a:spcPts val="0"/>
              </a:spcAft>
            </a:pPr>
            <a:r>
              <a:rPr sz="800" b="0" i="0">
                <a:solidFill>
                  <a:srgbClr val="6A6A6A"/>
                </a:solidFill>
                <a:latin typeface="Marianne"/>
              </a:rPr>
              <a:t>tête du bench</a:t>
            </a:r>
          </a:p>
        </p:txBody>
      </p:sp>
      <p:sp>
        <p:nvSpPr>
          <p:cNvPr id="48" name="TextBox 47"/>
          <p:cNvSpPr txBox="1"/>
          <p:nvPr/>
        </p:nvSpPr>
        <p:spPr>
          <a:xfrm>
            <a:off x="5189350" y="3685031"/>
            <a:ext cx="1058483" cy="274320"/>
          </a:xfrm>
          <a:prstGeom prst="rect">
            <a:avLst/>
          </a:prstGeom>
          <a:noFill/>
        </p:spPr>
        <p:txBody>
          <a:bodyPr wrap="square" lIns="0" rIns="0" tIns="0" bIns="0" anchor="ctr">
            <a:spAutoFit/>
          </a:bodyPr>
          <a:lstStyle/>
          <a:p>
            <a:pPr algn="l">
              <a:lnSpc>
                <a:spcPct val="106000"/>
              </a:lnSpc>
              <a:spcBef>
                <a:spcPts val="0"/>
              </a:spcBef>
              <a:spcAft>
                <a:spcPts val="0"/>
              </a:spcAft>
            </a:pPr>
            <a:r>
              <a:rPr sz="1150" b="0" i="0">
                <a:solidFill>
                  <a:srgbClr val="18753C"/>
                </a:solidFill>
                <a:latin typeface="Marianne"/>
              </a:rPr>
              <a:t>● ● ● ● </a:t>
            </a:r>
            <a:r>
              <a:rPr sz="1150" b="0" i="0">
                <a:solidFill>
                  <a:srgbClr val="D2D2E8"/>
                </a:solidFill>
                <a:latin typeface="Marianne"/>
              </a:rPr>
              <a:t>● </a:t>
            </a:r>
          </a:p>
        </p:txBody>
      </p:sp>
      <p:sp>
        <p:nvSpPr>
          <p:cNvPr id="49" name="TextBox 48"/>
          <p:cNvSpPr txBox="1"/>
          <p:nvPr/>
        </p:nvSpPr>
        <p:spPr>
          <a:xfrm>
            <a:off x="5189350" y="3913631"/>
            <a:ext cx="1058483" cy="310896"/>
          </a:xfrm>
          <a:prstGeom prst="rect">
            <a:avLst/>
          </a:prstGeom>
          <a:noFill/>
        </p:spPr>
        <p:txBody>
          <a:bodyPr wrap="square" lIns="0" rIns="0" tIns="0" bIns="0" anchor="t">
            <a:spAutoFit/>
          </a:bodyPr>
          <a:lstStyle/>
          <a:p>
            <a:pPr algn="l">
              <a:lnSpc>
                <a:spcPct val="100000"/>
              </a:lnSpc>
              <a:spcBef>
                <a:spcPts val="0"/>
              </a:spcBef>
              <a:spcAft>
                <a:spcPts val="0"/>
              </a:spcAft>
            </a:pPr>
            <a:r>
              <a:rPr sz="1000" b="1" i="0">
                <a:solidFill>
                  <a:srgbClr val="161616"/>
                </a:solidFill>
                <a:latin typeface="Marianne"/>
              </a:rPr>
              <a:t>77,6 %</a:t>
            </a:r>
          </a:p>
        </p:txBody>
      </p:sp>
      <p:sp>
        <p:nvSpPr>
          <p:cNvPr id="50" name="TextBox 49"/>
          <p:cNvSpPr txBox="1"/>
          <p:nvPr/>
        </p:nvSpPr>
        <p:spPr>
          <a:xfrm>
            <a:off x="6467289" y="3685031"/>
            <a:ext cx="1058483" cy="274320"/>
          </a:xfrm>
          <a:prstGeom prst="rect">
            <a:avLst/>
          </a:prstGeom>
          <a:noFill/>
        </p:spPr>
        <p:txBody>
          <a:bodyPr wrap="square" lIns="0" rIns="0" tIns="0" bIns="0" anchor="ctr">
            <a:spAutoFit/>
          </a:bodyPr>
          <a:lstStyle/>
          <a:p>
            <a:pPr algn="l">
              <a:lnSpc>
                <a:spcPct val="106000"/>
              </a:lnSpc>
              <a:spcBef>
                <a:spcPts val="0"/>
              </a:spcBef>
              <a:spcAft>
                <a:spcPts val="0"/>
              </a:spcAft>
            </a:pPr>
            <a:r>
              <a:rPr sz="1150" b="0" i="0">
                <a:solidFill>
                  <a:srgbClr val="18753C"/>
                </a:solidFill>
                <a:latin typeface="Marianne"/>
              </a:rPr>
              <a:t>● ● ● ● </a:t>
            </a:r>
            <a:r>
              <a:rPr sz="1150" b="0" i="0">
                <a:solidFill>
                  <a:srgbClr val="D2D2E8"/>
                </a:solidFill>
                <a:latin typeface="Marianne"/>
              </a:rPr>
              <a:t>● </a:t>
            </a:r>
          </a:p>
        </p:txBody>
      </p:sp>
      <p:sp>
        <p:nvSpPr>
          <p:cNvPr id="51" name="TextBox 50"/>
          <p:cNvSpPr txBox="1"/>
          <p:nvPr/>
        </p:nvSpPr>
        <p:spPr>
          <a:xfrm>
            <a:off x="6467289" y="3913631"/>
            <a:ext cx="1058483" cy="310896"/>
          </a:xfrm>
          <a:prstGeom prst="rect">
            <a:avLst/>
          </a:prstGeom>
          <a:noFill/>
        </p:spPr>
        <p:txBody>
          <a:bodyPr wrap="square" lIns="0" rIns="0" tIns="0" bIns="0" anchor="t">
            <a:spAutoFit/>
          </a:bodyPr>
          <a:lstStyle/>
          <a:p>
            <a:pPr algn="l">
              <a:lnSpc>
                <a:spcPct val="100000"/>
              </a:lnSpc>
              <a:spcBef>
                <a:spcPts val="0"/>
              </a:spcBef>
              <a:spcAft>
                <a:spcPts val="0"/>
              </a:spcAft>
            </a:pPr>
            <a:r>
              <a:rPr sz="1000" b="1" i="0">
                <a:solidFill>
                  <a:srgbClr val="161616"/>
                </a:solidFill>
                <a:latin typeface="Marianne"/>
              </a:rPr>
              <a:t>≈79 % *</a:t>
            </a:r>
          </a:p>
          <a:p>
            <a:pPr algn="l">
              <a:lnSpc>
                <a:spcPct val="100000"/>
              </a:lnSpc>
              <a:spcBef>
                <a:spcPts val="100"/>
              </a:spcBef>
              <a:spcAft>
                <a:spcPts val="0"/>
              </a:spcAft>
            </a:pPr>
            <a:r>
              <a:rPr sz="800" b="0" i="0">
                <a:solidFill>
                  <a:srgbClr val="6A6A6A"/>
                </a:solidFill>
                <a:latin typeface="Marianne"/>
              </a:rPr>
              <a:t>estimée</a:t>
            </a:r>
          </a:p>
        </p:txBody>
      </p:sp>
      <p:sp>
        <p:nvSpPr>
          <p:cNvPr id="52" name="TextBox 51"/>
          <p:cNvSpPr txBox="1"/>
          <p:nvPr/>
        </p:nvSpPr>
        <p:spPr>
          <a:xfrm>
            <a:off x="7745229" y="3685031"/>
            <a:ext cx="1058483" cy="274320"/>
          </a:xfrm>
          <a:prstGeom prst="rect">
            <a:avLst/>
          </a:prstGeom>
          <a:noFill/>
        </p:spPr>
        <p:txBody>
          <a:bodyPr wrap="square" lIns="0" rIns="0" tIns="0" bIns="0" anchor="ctr">
            <a:spAutoFit/>
          </a:bodyPr>
          <a:lstStyle/>
          <a:p>
            <a:pPr algn="l">
              <a:lnSpc>
                <a:spcPct val="106000"/>
              </a:lnSpc>
              <a:spcBef>
                <a:spcPts val="0"/>
              </a:spcBef>
              <a:spcAft>
                <a:spcPts val="0"/>
              </a:spcAft>
            </a:pPr>
            <a:r>
              <a:rPr sz="1150" b="0" i="0">
                <a:solidFill>
                  <a:srgbClr val="18753C"/>
                </a:solidFill>
                <a:latin typeface="Marianne"/>
              </a:rPr>
              <a:t>● ● ● ● </a:t>
            </a:r>
            <a:r>
              <a:rPr sz="1150" b="0" i="0">
                <a:solidFill>
                  <a:srgbClr val="D2D2E8"/>
                </a:solidFill>
                <a:latin typeface="Marianne"/>
              </a:rPr>
              <a:t>● </a:t>
            </a:r>
          </a:p>
        </p:txBody>
      </p:sp>
      <p:sp>
        <p:nvSpPr>
          <p:cNvPr id="53" name="TextBox 52"/>
          <p:cNvSpPr txBox="1"/>
          <p:nvPr/>
        </p:nvSpPr>
        <p:spPr>
          <a:xfrm>
            <a:off x="7745229" y="3913631"/>
            <a:ext cx="1058483" cy="310896"/>
          </a:xfrm>
          <a:prstGeom prst="rect">
            <a:avLst/>
          </a:prstGeom>
          <a:noFill/>
        </p:spPr>
        <p:txBody>
          <a:bodyPr wrap="square" lIns="0" rIns="0" tIns="0" bIns="0" anchor="t">
            <a:spAutoFit/>
          </a:bodyPr>
          <a:lstStyle/>
          <a:p>
            <a:pPr algn="l">
              <a:lnSpc>
                <a:spcPct val="100000"/>
              </a:lnSpc>
              <a:spcBef>
                <a:spcPts val="0"/>
              </a:spcBef>
              <a:spcAft>
                <a:spcPts val="0"/>
              </a:spcAft>
            </a:pPr>
            <a:r>
              <a:rPr sz="1000" b="1" i="0">
                <a:solidFill>
                  <a:srgbClr val="161616"/>
                </a:solidFill>
                <a:latin typeface="Marianne"/>
              </a:rPr>
              <a:t>80,6 %</a:t>
            </a:r>
          </a:p>
        </p:txBody>
      </p:sp>
      <p:sp>
        <p:nvSpPr>
          <p:cNvPr id="54" name="TextBox 53"/>
          <p:cNvSpPr txBox="1"/>
          <p:nvPr/>
        </p:nvSpPr>
        <p:spPr>
          <a:xfrm>
            <a:off x="9023168" y="3685031"/>
            <a:ext cx="1058483" cy="274320"/>
          </a:xfrm>
          <a:prstGeom prst="rect">
            <a:avLst/>
          </a:prstGeom>
          <a:noFill/>
        </p:spPr>
        <p:txBody>
          <a:bodyPr wrap="square" lIns="0" rIns="0" tIns="0" bIns="0" anchor="ctr">
            <a:spAutoFit/>
          </a:bodyPr>
          <a:lstStyle/>
          <a:p>
            <a:pPr algn="l">
              <a:lnSpc>
                <a:spcPct val="106000"/>
              </a:lnSpc>
              <a:spcBef>
                <a:spcPts val="0"/>
              </a:spcBef>
              <a:spcAft>
                <a:spcPts val="0"/>
              </a:spcAft>
            </a:pPr>
            <a:r>
              <a:rPr sz="1150" b="0" i="0">
                <a:solidFill>
                  <a:srgbClr val="18753C"/>
                </a:solidFill>
                <a:latin typeface="Marianne"/>
              </a:rPr>
              <a:t>● ● ● ● </a:t>
            </a:r>
            <a:r>
              <a:rPr sz="1150" b="0" i="0">
                <a:solidFill>
                  <a:srgbClr val="D2D2E8"/>
                </a:solidFill>
                <a:latin typeface="Marianne"/>
              </a:rPr>
              <a:t>● </a:t>
            </a:r>
          </a:p>
        </p:txBody>
      </p:sp>
      <p:sp>
        <p:nvSpPr>
          <p:cNvPr id="55" name="TextBox 54"/>
          <p:cNvSpPr txBox="1"/>
          <p:nvPr/>
        </p:nvSpPr>
        <p:spPr>
          <a:xfrm>
            <a:off x="9023168" y="3913631"/>
            <a:ext cx="1058483" cy="310896"/>
          </a:xfrm>
          <a:prstGeom prst="rect">
            <a:avLst/>
          </a:prstGeom>
          <a:noFill/>
        </p:spPr>
        <p:txBody>
          <a:bodyPr wrap="square" lIns="0" rIns="0" tIns="0" bIns="0" anchor="t">
            <a:spAutoFit/>
          </a:bodyPr>
          <a:lstStyle/>
          <a:p>
            <a:pPr algn="l">
              <a:lnSpc>
                <a:spcPct val="100000"/>
              </a:lnSpc>
              <a:spcBef>
                <a:spcPts val="0"/>
              </a:spcBef>
              <a:spcAft>
                <a:spcPts val="0"/>
              </a:spcAft>
            </a:pPr>
            <a:r>
              <a:rPr sz="1000" b="1" i="0">
                <a:solidFill>
                  <a:srgbClr val="161616"/>
                </a:solidFill>
                <a:latin typeface="Marianne"/>
              </a:rPr>
              <a:t>≈78 % *</a:t>
            </a:r>
          </a:p>
          <a:p>
            <a:pPr algn="l">
              <a:lnSpc>
                <a:spcPct val="100000"/>
              </a:lnSpc>
              <a:spcBef>
                <a:spcPts val="100"/>
              </a:spcBef>
              <a:spcAft>
                <a:spcPts val="0"/>
              </a:spcAft>
            </a:pPr>
            <a:r>
              <a:rPr sz="800" b="0" i="0">
                <a:solidFill>
                  <a:srgbClr val="6A6A6A"/>
                </a:solidFill>
                <a:latin typeface="Marianne"/>
              </a:rPr>
              <a:t>estimée</a:t>
            </a:r>
          </a:p>
        </p:txBody>
      </p:sp>
      <p:sp>
        <p:nvSpPr>
          <p:cNvPr id="56" name="TextBox 55"/>
          <p:cNvSpPr txBox="1"/>
          <p:nvPr/>
        </p:nvSpPr>
        <p:spPr>
          <a:xfrm>
            <a:off x="10301107" y="3685031"/>
            <a:ext cx="1058483" cy="274320"/>
          </a:xfrm>
          <a:prstGeom prst="rect">
            <a:avLst/>
          </a:prstGeom>
          <a:noFill/>
        </p:spPr>
        <p:txBody>
          <a:bodyPr wrap="square" lIns="0" rIns="0" tIns="0" bIns="0" anchor="ctr">
            <a:spAutoFit/>
          </a:bodyPr>
          <a:lstStyle/>
          <a:p>
            <a:pPr algn="l">
              <a:lnSpc>
                <a:spcPct val="106000"/>
              </a:lnSpc>
              <a:spcBef>
                <a:spcPts val="0"/>
              </a:spcBef>
              <a:spcAft>
                <a:spcPts val="0"/>
              </a:spcAft>
            </a:pPr>
            <a:r>
              <a:rPr sz="1150" b="0" i="0">
                <a:solidFill>
                  <a:srgbClr val="18753C"/>
                </a:solidFill>
                <a:latin typeface="Marianne"/>
              </a:rPr>
              <a:t>● ● ● ● ● </a:t>
            </a:r>
            <a:r>
              <a:rPr sz="1150" b="0" i="0">
                <a:solidFill>
                  <a:srgbClr val="D2D2E8"/>
                </a:solidFill>
                <a:latin typeface="Marianne"/>
              </a:rPr>
              <a:t/>
            </a:r>
          </a:p>
        </p:txBody>
      </p:sp>
      <p:sp>
        <p:nvSpPr>
          <p:cNvPr id="57" name="TextBox 56"/>
          <p:cNvSpPr txBox="1"/>
          <p:nvPr/>
        </p:nvSpPr>
        <p:spPr>
          <a:xfrm>
            <a:off x="10301107" y="3913631"/>
            <a:ext cx="1058483" cy="310896"/>
          </a:xfrm>
          <a:prstGeom prst="rect">
            <a:avLst/>
          </a:prstGeom>
          <a:noFill/>
        </p:spPr>
        <p:txBody>
          <a:bodyPr wrap="square" lIns="0" rIns="0" tIns="0" bIns="0" anchor="t">
            <a:spAutoFit/>
          </a:bodyPr>
          <a:lstStyle/>
          <a:p>
            <a:pPr algn="l">
              <a:lnSpc>
                <a:spcPct val="100000"/>
              </a:lnSpc>
              <a:spcBef>
                <a:spcPts val="0"/>
              </a:spcBef>
              <a:spcAft>
                <a:spcPts val="0"/>
              </a:spcAft>
            </a:pPr>
            <a:r>
              <a:rPr sz="1000" b="1" i="0">
                <a:solidFill>
                  <a:srgbClr val="161616"/>
                </a:solidFill>
                <a:latin typeface="Marianne"/>
              </a:rPr>
              <a:t>93,4 % *</a:t>
            </a:r>
          </a:p>
          <a:p>
            <a:pPr algn="l">
              <a:lnSpc>
                <a:spcPct val="100000"/>
              </a:lnSpc>
              <a:spcBef>
                <a:spcPts val="100"/>
              </a:spcBef>
              <a:spcAft>
                <a:spcPts val="0"/>
              </a:spcAft>
            </a:pPr>
            <a:r>
              <a:rPr sz="800" b="0" i="0">
                <a:solidFill>
                  <a:srgbClr val="6A6A6A"/>
                </a:solidFill>
                <a:latin typeface="Marianne"/>
              </a:rPr>
              <a:t>annoncé éditeur</a:t>
            </a:r>
          </a:p>
        </p:txBody>
      </p:sp>
      <p:sp>
        <p:nvSpPr>
          <p:cNvPr id="58" name="Rounded Rectangle 57"/>
          <p:cNvSpPr/>
          <p:nvPr/>
        </p:nvSpPr>
        <p:spPr>
          <a:xfrm>
            <a:off x="777240" y="4297679"/>
            <a:ext cx="10637215" cy="603504"/>
          </a:xfrm>
          <a:prstGeom prst="roundRect">
            <a:avLst>
              <a:gd name="adj" fmla="val 5000"/>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9" name="Picture 58" descr="shield-check.png"/>
          <p:cNvPicPr>
            <a:picLocks noChangeAspect="1"/>
          </p:cNvPicPr>
          <p:nvPr/>
        </p:nvPicPr>
        <p:blipFill>
          <a:blip r:embed="rId5"/>
          <a:stretch>
            <a:fillRect/>
          </a:stretch>
        </p:blipFill>
        <p:spPr>
          <a:xfrm>
            <a:off x="905256" y="4434840"/>
            <a:ext cx="329184" cy="329184"/>
          </a:xfrm>
          <a:prstGeom prst="rect">
            <a:avLst/>
          </a:prstGeom>
        </p:spPr>
      </p:pic>
      <p:sp>
        <p:nvSpPr>
          <p:cNvPr id="60" name="TextBox 59"/>
          <p:cNvSpPr txBox="1"/>
          <p:nvPr/>
        </p:nvSpPr>
        <p:spPr>
          <a:xfrm>
            <a:off x="1344168" y="4297679"/>
            <a:ext cx="1106424" cy="603504"/>
          </a:xfrm>
          <a:prstGeom prst="rect">
            <a:avLst/>
          </a:prstGeom>
          <a:noFill/>
        </p:spPr>
        <p:txBody>
          <a:bodyPr wrap="square" lIns="0" rIns="0" tIns="0" bIns="0" anchor="ctr">
            <a:spAutoFit/>
          </a:bodyPr>
          <a:lstStyle/>
          <a:p>
            <a:pPr algn="l">
              <a:lnSpc>
                <a:spcPct val="100000"/>
              </a:lnSpc>
              <a:spcBef>
                <a:spcPts val="0"/>
              </a:spcBef>
              <a:spcAft>
                <a:spcPts val="0"/>
              </a:spcAft>
            </a:pPr>
            <a:r>
              <a:rPr sz="1300" b="1" i="0">
                <a:solidFill>
                  <a:srgbClr val="161616"/>
                </a:solidFill>
                <a:latin typeface="Marianne"/>
              </a:rPr>
              <a:t>Souveraineté</a:t>
            </a:r>
          </a:p>
          <a:p>
            <a:pPr algn="l">
              <a:lnSpc>
                <a:spcPct val="100000"/>
              </a:lnSpc>
              <a:spcBef>
                <a:spcPts val="200"/>
              </a:spcBef>
              <a:spcAft>
                <a:spcPts val="0"/>
              </a:spcAft>
            </a:pPr>
            <a:r>
              <a:rPr sz="900" b="0" i="0">
                <a:solidFill>
                  <a:srgbClr val="6A6A6A"/>
                </a:solidFill>
                <a:latin typeface="Marianne"/>
              </a:rPr>
              <a:t>au sens CNIL</a:t>
            </a:r>
          </a:p>
        </p:txBody>
      </p:sp>
      <p:sp>
        <p:nvSpPr>
          <p:cNvPr id="61" name="TextBox 60"/>
          <p:cNvSpPr txBox="1"/>
          <p:nvPr/>
        </p:nvSpPr>
        <p:spPr>
          <a:xfrm>
            <a:off x="2633472" y="4343399"/>
            <a:ext cx="1058483" cy="274320"/>
          </a:xfrm>
          <a:prstGeom prst="rect">
            <a:avLst/>
          </a:prstGeom>
          <a:noFill/>
        </p:spPr>
        <p:txBody>
          <a:bodyPr wrap="square" lIns="0" rIns="0" tIns="0" bIns="0" anchor="ctr">
            <a:spAutoFit/>
          </a:bodyPr>
          <a:lstStyle/>
          <a:p>
            <a:pPr algn="l">
              <a:lnSpc>
                <a:spcPct val="106000"/>
              </a:lnSpc>
              <a:spcBef>
                <a:spcPts val="0"/>
              </a:spcBef>
              <a:spcAft>
                <a:spcPts val="0"/>
              </a:spcAft>
            </a:pPr>
            <a:r>
              <a:rPr sz="1150" b="0" i="0">
                <a:solidFill>
                  <a:srgbClr val="E1000F"/>
                </a:solidFill>
                <a:latin typeface="Marianne"/>
              </a:rPr>
              <a:t>● </a:t>
            </a:r>
            <a:r>
              <a:rPr sz="1150" b="0" i="0">
                <a:solidFill>
                  <a:srgbClr val="D2D2E8"/>
                </a:solidFill>
                <a:latin typeface="Marianne"/>
              </a:rPr>
              <a:t>● ● ● ● </a:t>
            </a:r>
          </a:p>
        </p:txBody>
      </p:sp>
      <p:sp>
        <p:nvSpPr>
          <p:cNvPr id="62" name="TextBox 61"/>
          <p:cNvSpPr txBox="1"/>
          <p:nvPr/>
        </p:nvSpPr>
        <p:spPr>
          <a:xfrm>
            <a:off x="2633472" y="4571999"/>
            <a:ext cx="1058483" cy="310896"/>
          </a:xfrm>
          <a:prstGeom prst="rect">
            <a:avLst/>
          </a:prstGeom>
          <a:noFill/>
        </p:spPr>
        <p:txBody>
          <a:bodyPr wrap="square" lIns="0" rIns="0" tIns="0" bIns="0" anchor="t">
            <a:spAutoFit/>
          </a:bodyPr>
          <a:lstStyle/>
          <a:p>
            <a:pPr algn="l">
              <a:lnSpc>
                <a:spcPct val="100000"/>
              </a:lnSpc>
              <a:spcBef>
                <a:spcPts val="0"/>
              </a:spcBef>
              <a:spcAft>
                <a:spcPts val="0"/>
              </a:spcAft>
            </a:pPr>
            <a:r>
              <a:rPr sz="1000" b="1" i="0">
                <a:solidFill>
                  <a:srgbClr val="161616"/>
                </a:solidFill>
                <a:latin typeface="Marianne"/>
              </a:rPr>
              <a:t>Éditeur US</a:t>
            </a:r>
          </a:p>
          <a:p>
            <a:pPr algn="l">
              <a:lnSpc>
                <a:spcPct val="100000"/>
              </a:lnSpc>
              <a:spcBef>
                <a:spcPts val="100"/>
              </a:spcBef>
              <a:spcAft>
                <a:spcPts val="0"/>
              </a:spcAft>
            </a:pPr>
            <a:r>
              <a:rPr sz="800" b="0" i="0">
                <a:solidFill>
                  <a:srgbClr val="6A6A6A"/>
                </a:solidFill>
                <a:latin typeface="Marianne"/>
              </a:rPr>
              <a:t>CLOUD Act</a:t>
            </a:r>
          </a:p>
        </p:txBody>
      </p:sp>
      <p:sp>
        <p:nvSpPr>
          <p:cNvPr id="63" name="TextBox 62"/>
          <p:cNvSpPr txBox="1"/>
          <p:nvPr/>
        </p:nvSpPr>
        <p:spPr>
          <a:xfrm>
            <a:off x="3911411" y="4343399"/>
            <a:ext cx="1058483" cy="274320"/>
          </a:xfrm>
          <a:prstGeom prst="rect">
            <a:avLst/>
          </a:prstGeom>
          <a:noFill/>
        </p:spPr>
        <p:txBody>
          <a:bodyPr wrap="square" lIns="0" rIns="0" tIns="0" bIns="0" anchor="ctr">
            <a:spAutoFit/>
          </a:bodyPr>
          <a:lstStyle/>
          <a:p>
            <a:pPr algn="l">
              <a:lnSpc>
                <a:spcPct val="106000"/>
              </a:lnSpc>
              <a:spcBef>
                <a:spcPts val="0"/>
              </a:spcBef>
              <a:spcAft>
                <a:spcPts val="0"/>
              </a:spcAft>
            </a:pPr>
            <a:r>
              <a:rPr sz="1150" b="0" i="0">
                <a:solidFill>
                  <a:srgbClr val="E1000F"/>
                </a:solidFill>
                <a:latin typeface="Marianne"/>
              </a:rPr>
              <a:t>● </a:t>
            </a:r>
            <a:r>
              <a:rPr sz="1150" b="0" i="0">
                <a:solidFill>
                  <a:srgbClr val="D2D2E8"/>
                </a:solidFill>
                <a:latin typeface="Marianne"/>
              </a:rPr>
              <a:t>● ● ● ● </a:t>
            </a:r>
          </a:p>
        </p:txBody>
      </p:sp>
      <p:sp>
        <p:nvSpPr>
          <p:cNvPr id="64" name="TextBox 63"/>
          <p:cNvSpPr txBox="1"/>
          <p:nvPr/>
        </p:nvSpPr>
        <p:spPr>
          <a:xfrm>
            <a:off x="3911411" y="4571999"/>
            <a:ext cx="1058483" cy="310896"/>
          </a:xfrm>
          <a:prstGeom prst="rect">
            <a:avLst/>
          </a:prstGeom>
          <a:noFill/>
        </p:spPr>
        <p:txBody>
          <a:bodyPr wrap="square" lIns="0" rIns="0" tIns="0" bIns="0" anchor="t">
            <a:spAutoFit/>
          </a:bodyPr>
          <a:lstStyle/>
          <a:p>
            <a:pPr algn="l">
              <a:lnSpc>
                <a:spcPct val="100000"/>
              </a:lnSpc>
              <a:spcBef>
                <a:spcPts val="0"/>
              </a:spcBef>
              <a:spcAft>
                <a:spcPts val="0"/>
              </a:spcAft>
            </a:pPr>
            <a:r>
              <a:rPr sz="1000" b="1" i="0">
                <a:solidFill>
                  <a:srgbClr val="161616"/>
                </a:solidFill>
                <a:latin typeface="Marianne"/>
              </a:rPr>
              <a:t>Cloud US</a:t>
            </a:r>
          </a:p>
          <a:p>
            <a:pPr algn="l">
              <a:lnSpc>
                <a:spcPct val="100000"/>
              </a:lnSpc>
              <a:spcBef>
                <a:spcPts val="100"/>
              </a:spcBef>
              <a:spcAft>
                <a:spcPts val="0"/>
              </a:spcAft>
            </a:pPr>
            <a:r>
              <a:rPr sz="800" b="0" i="0">
                <a:solidFill>
                  <a:srgbClr val="6A6A6A"/>
                </a:solidFill>
                <a:latin typeface="Marianne"/>
              </a:rPr>
              <a:t>CLOUD Act (CNIL)</a:t>
            </a:r>
          </a:p>
        </p:txBody>
      </p:sp>
      <p:sp>
        <p:nvSpPr>
          <p:cNvPr id="65" name="TextBox 64"/>
          <p:cNvSpPr txBox="1"/>
          <p:nvPr/>
        </p:nvSpPr>
        <p:spPr>
          <a:xfrm>
            <a:off x="5189350" y="4343399"/>
            <a:ext cx="1058483" cy="274320"/>
          </a:xfrm>
          <a:prstGeom prst="rect">
            <a:avLst/>
          </a:prstGeom>
          <a:noFill/>
        </p:spPr>
        <p:txBody>
          <a:bodyPr wrap="square" lIns="0" rIns="0" tIns="0" bIns="0" anchor="ctr">
            <a:spAutoFit/>
          </a:bodyPr>
          <a:lstStyle/>
          <a:p>
            <a:pPr algn="l">
              <a:lnSpc>
                <a:spcPct val="106000"/>
              </a:lnSpc>
              <a:spcBef>
                <a:spcPts val="0"/>
              </a:spcBef>
              <a:spcAft>
                <a:spcPts val="0"/>
              </a:spcAft>
            </a:pPr>
            <a:r>
              <a:rPr sz="1150" b="0" i="0">
                <a:solidFill>
                  <a:srgbClr val="18753C"/>
                </a:solidFill>
                <a:latin typeface="Marianne"/>
              </a:rPr>
              <a:t>● ● ● ● </a:t>
            </a:r>
            <a:r>
              <a:rPr sz="1150" b="0" i="0">
                <a:solidFill>
                  <a:srgbClr val="D2D2E8"/>
                </a:solidFill>
                <a:latin typeface="Marianne"/>
              </a:rPr>
              <a:t>● </a:t>
            </a:r>
          </a:p>
        </p:txBody>
      </p:sp>
      <p:sp>
        <p:nvSpPr>
          <p:cNvPr id="66" name="TextBox 65"/>
          <p:cNvSpPr txBox="1"/>
          <p:nvPr/>
        </p:nvSpPr>
        <p:spPr>
          <a:xfrm>
            <a:off x="5189350" y="4571999"/>
            <a:ext cx="1058483" cy="310896"/>
          </a:xfrm>
          <a:prstGeom prst="rect">
            <a:avLst/>
          </a:prstGeom>
          <a:noFill/>
        </p:spPr>
        <p:txBody>
          <a:bodyPr wrap="square" lIns="0" rIns="0" tIns="0" bIns="0" anchor="t">
            <a:spAutoFit/>
          </a:bodyPr>
          <a:lstStyle/>
          <a:p>
            <a:pPr algn="l">
              <a:lnSpc>
                <a:spcPct val="100000"/>
              </a:lnSpc>
              <a:spcBef>
                <a:spcPts val="0"/>
              </a:spcBef>
              <a:spcAft>
                <a:spcPts val="0"/>
              </a:spcAft>
            </a:pPr>
            <a:r>
              <a:rPr sz="1000" b="1" i="0">
                <a:solidFill>
                  <a:srgbClr val="161616"/>
                </a:solidFill>
                <a:latin typeface="Marianne"/>
              </a:rPr>
              <a:t>Éditeur FR</a:t>
            </a:r>
          </a:p>
          <a:p>
            <a:pPr algn="l">
              <a:lnSpc>
                <a:spcPct val="100000"/>
              </a:lnSpc>
              <a:spcBef>
                <a:spcPts val="100"/>
              </a:spcBef>
              <a:spcAft>
                <a:spcPts val="0"/>
              </a:spcAft>
            </a:pPr>
            <a:r>
              <a:rPr sz="800" b="0" i="0">
                <a:solidFill>
                  <a:srgbClr val="6A6A6A"/>
                </a:solidFill>
                <a:latin typeface="Marianne"/>
              </a:rPr>
              <a:t>SecNumCloud en opt.</a:t>
            </a:r>
          </a:p>
        </p:txBody>
      </p:sp>
      <p:sp>
        <p:nvSpPr>
          <p:cNvPr id="67" name="TextBox 66"/>
          <p:cNvSpPr txBox="1"/>
          <p:nvPr/>
        </p:nvSpPr>
        <p:spPr>
          <a:xfrm>
            <a:off x="6467289" y="4343399"/>
            <a:ext cx="1058483" cy="274320"/>
          </a:xfrm>
          <a:prstGeom prst="rect">
            <a:avLst/>
          </a:prstGeom>
          <a:noFill/>
        </p:spPr>
        <p:txBody>
          <a:bodyPr wrap="square" lIns="0" rIns="0" tIns="0" bIns="0" anchor="ctr">
            <a:spAutoFit/>
          </a:bodyPr>
          <a:lstStyle/>
          <a:p>
            <a:pPr algn="l">
              <a:lnSpc>
                <a:spcPct val="106000"/>
              </a:lnSpc>
              <a:spcBef>
                <a:spcPts val="0"/>
              </a:spcBef>
              <a:spcAft>
                <a:spcPts val="0"/>
              </a:spcAft>
            </a:pPr>
            <a:r>
              <a:rPr sz="1150" b="0" i="0">
                <a:solidFill>
                  <a:srgbClr val="18753C"/>
                </a:solidFill>
                <a:latin typeface="Marianne"/>
              </a:rPr>
              <a:t>● ● ● ● ● </a:t>
            </a:r>
            <a:r>
              <a:rPr sz="1150" b="0" i="0">
                <a:solidFill>
                  <a:srgbClr val="D2D2E8"/>
                </a:solidFill>
                <a:latin typeface="Marianne"/>
              </a:rPr>
              <a:t/>
            </a:r>
          </a:p>
        </p:txBody>
      </p:sp>
      <p:sp>
        <p:nvSpPr>
          <p:cNvPr id="68" name="TextBox 67"/>
          <p:cNvSpPr txBox="1"/>
          <p:nvPr/>
        </p:nvSpPr>
        <p:spPr>
          <a:xfrm>
            <a:off x="6467289" y="4571999"/>
            <a:ext cx="1058483" cy="310896"/>
          </a:xfrm>
          <a:prstGeom prst="rect">
            <a:avLst/>
          </a:prstGeom>
          <a:noFill/>
        </p:spPr>
        <p:txBody>
          <a:bodyPr wrap="square" lIns="0" rIns="0" tIns="0" bIns="0" anchor="t">
            <a:spAutoFit/>
          </a:bodyPr>
          <a:lstStyle/>
          <a:p>
            <a:pPr algn="l">
              <a:lnSpc>
                <a:spcPct val="100000"/>
              </a:lnSpc>
              <a:spcBef>
                <a:spcPts val="0"/>
              </a:spcBef>
              <a:spcAft>
                <a:spcPts val="0"/>
              </a:spcAft>
            </a:pPr>
            <a:r>
              <a:rPr sz="1000" b="1" i="0">
                <a:solidFill>
                  <a:srgbClr val="161616"/>
                </a:solidFill>
                <a:latin typeface="Marianne"/>
              </a:rPr>
              <a:t>État FR</a:t>
            </a:r>
          </a:p>
          <a:p>
            <a:pPr algn="l">
              <a:lnSpc>
                <a:spcPct val="100000"/>
              </a:lnSpc>
              <a:spcBef>
                <a:spcPts val="100"/>
              </a:spcBef>
              <a:spcAft>
                <a:spcPts val="0"/>
              </a:spcAft>
            </a:pPr>
            <a:r>
              <a:rPr sz="800" b="0" i="0">
                <a:solidFill>
                  <a:srgbClr val="6A6A6A"/>
                </a:solidFill>
                <a:latin typeface="Marianne"/>
              </a:rPr>
              <a:t>SecNumCloud</a:t>
            </a:r>
          </a:p>
        </p:txBody>
      </p:sp>
      <p:sp>
        <p:nvSpPr>
          <p:cNvPr id="69" name="TextBox 68"/>
          <p:cNvSpPr txBox="1"/>
          <p:nvPr/>
        </p:nvSpPr>
        <p:spPr>
          <a:xfrm>
            <a:off x="7745229" y="4343399"/>
            <a:ext cx="1058483" cy="274320"/>
          </a:xfrm>
          <a:prstGeom prst="rect">
            <a:avLst/>
          </a:prstGeom>
          <a:noFill/>
        </p:spPr>
        <p:txBody>
          <a:bodyPr wrap="square" lIns="0" rIns="0" tIns="0" bIns="0" anchor="ctr">
            <a:spAutoFit/>
          </a:bodyPr>
          <a:lstStyle/>
          <a:p>
            <a:pPr algn="l">
              <a:lnSpc>
                <a:spcPct val="106000"/>
              </a:lnSpc>
              <a:spcBef>
                <a:spcPts val="0"/>
              </a:spcBef>
              <a:spcAft>
                <a:spcPts val="0"/>
              </a:spcAft>
            </a:pPr>
            <a:r>
              <a:rPr sz="1150" b="0" i="0">
                <a:solidFill>
                  <a:srgbClr val="E1000F"/>
                </a:solidFill>
                <a:latin typeface="Marianne"/>
              </a:rPr>
              <a:t>● </a:t>
            </a:r>
            <a:r>
              <a:rPr sz="1150" b="0" i="0">
                <a:solidFill>
                  <a:srgbClr val="D2D2E8"/>
                </a:solidFill>
                <a:latin typeface="Marianne"/>
              </a:rPr>
              <a:t>● ● ● ● </a:t>
            </a:r>
          </a:p>
        </p:txBody>
      </p:sp>
      <p:sp>
        <p:nvSpPr>
          <p:cNvPr id="70" name="TextBox 69"/>
          <p:cNvSpPr txBox="1"/>
          <p:nvPr/>
        </p:nvSpPr>
        <p:spPr>
          <a:xfrm>
            <a:off x="7745229" y="4571999"/>
            <a:ext cx="1058483" cy="310896"/>
          </a:xfrm>
          <a:prstGeom prst="rect">
            <a:avLst/>
          </a:prstGeom>
          <a:noFill/>
        </p:spPr>
        <p:txBody>
          <a:bodyPr wrap="square" lIns="0" rIns="0" tIns="0" bIns="0" anchor="t">
            <a:spAutoFit/>
          </a:bodyPr>
          <a:lstStyle/>
          <a:p>
            <a:pPr algn="l">
              <a:lnSpc>
                <a:spcPct val="100000"/>
              </a:lnSpc>
              <a:spcBef>
                <a:spcPts val="0"/>
              </a:spcBef>
              <a:spcAft>
                <a:spcPts val="0"/>
              </a:spcAft>
            </a:pPr>
            <a:r>
              <a:rPr sz="1000" b="1" i="0">
                <a:solidFill>
                  <a:srgbClr val="161616"/>
                </a:solidFill>
                <a:latin typeface="Marianne"/>
              </a:rPr>
              <a:t>Éditeur CN</a:t>
            </a:r>
          </a:p>
          <a:p>
            <a:pPr algn="l">
              <a:lnSpc>
                <a:spcPct val="100000"/>
              </a:lnSpc>
              <a:spcBef>
                <a:spcPts val="100"/>
              </a:spcBef>
              <a:spcAft>
                <a:spcPts val="0"/>
              </a:spcAft>
            </a:pPr>
            <a:r>
              <a:rPr sz="800" b="0" i="0">
                <a:solidFill>
                  <a:srgbClr val="6A6A6A"/>
                </a:solidFill>
                <a:latin typeface="Marianne"/>
              </a:rPr>
              <a:t>+ routeur US</a:t>
            </a:r>
          </a:p>
        </p:txBody>
      </p:sp>
      <p:sp>
        <p:nvSpPr>
          <p:cNvPr id="71" name="TextBox 70"/>
          <p:cNvSpPr txBox="1"/>
          <p:nvPr/>
        </p:nvSpPr>
        <p:spPr>
          <a:xfrm>
            <a:off x="9023168" y="4343399"/>
            <a:ext cx="1058483" cy="274320"/>
          </a:xfrm>
          <a:prstGeom prst="rect">
            <a:avLst/>
          </a:prstGeom>
          <a:noFill/>
        </p:spPr>
        <p:txBody>
          <a:bodyPr wrap="square" lIns="0" rIns="0" tIns="0" bIns="0" anchor="ctr">
            <a:spAutoFit/>
          </a:bodyPr>
          <a:lstStyle/>
          <a:p>
            <a:pPr algn="l">
              <a:lnSpc>
                <a:spcPct val="106000"/>
              </a:lnSpc>
              <a:spcBef>
                <a:spcPts val="0"/>
              </a:spcBef>
              <a:spcAft>
                <a:spcPts val="0"/>
              </a:spcAft>
            </a:pPr>
            <a:r>
              <a:rPr sz="1150" b="0" i="0">
                <a:solidFill>
                  <a:srgbClr val="E1000F"/>
                </a:solidFill>
                <a:latin typeface="Marianne"/>
              </a:rPr>
              <a:t>● </a:t>
            </a:r>
            <a:r>
              <a:rPr sz="1150" b="0" i="0">
                <a:solidFill>
                  <a:srgbClr val="D2D2E8"/>
                </a:solidFill>
                <a:latin typeface="Marianne"/>
              </a:rPr>
              <a:t>● ● ● ● </a:t>
            </a:r>
          </a:p>
        </p:txBody>
      </p:sp>
      <p:sp>
        <p:nvSpPr>
          <p:cNvPr id="72" name="TextBox 71"/>
          <p:cNvSpPr txBox="1"/>
          <p:nvPr/>
        </p:nvSpPr>
        <p:spPr>
          <a:xfrm>
            <a:off x="9023168" y="4571999"/>
            <a:ext cx="1058483" cy="310896"/>
          </a:xfrm>
          <a:prstGeom prst="rect">
            <a:avLst/>
          </a:prstGeom>
          <a:noFill/>
        </p:spPr>
        <p:txBody>
          <a:bodyPr wrap="square" lIns="0" rIns="0" tIns="0" bIns="0" anchor="t">
            <a:spAutoFit/>
          </a:bodyPr>
          <a:lstStyle/>
          <a:p>
            <a:pPr algn="l">
              <a:lnSpc>
                <a:spcPct val="100000"/>
              </a:lnSpc>
              <a:spcBef>
                <a:spcPts val="0"/>
              </a:spcBef>
              <a:spcAft>
                <a:spcPts val="0"/>
              </a:spcAft>
            </a:pPr>
            <a:r>
              <a:rPr sz="1000" b="1" i="0">
                <a:solidFill>
                  <a:srgbClr val="161616"/>
                </a:solidFill>
                <a:latin typeface="Marianne"/>
              </a:rPr>
              <a:t>Éditeur CN</a:t>
            </a:r>
          </a:p>
          <a:p>
            <a:pPr algn="l">
              <a:lnSpc>
                <a:spcPct val="100000"/>
              </a:lnSpc>
              <a:spcBef>
                <a:spcPts val="100"/>
              </a:spcBef>
              <a:spcAft>
                <a:spcPts val="0"/>
              </a:spcAft>
            </a:pPr>
            <a:r>
              <a:rPr sz="800" b="0" i="0">
                <a:solidFill>
                  <a:srgbClr val="6A6A6A"/>
                </a:solidFill>
                <a:latin typeface="Marianne"/>
              </a:rPr>
              <a:t>+ routeur US</a:t>
            </a:r>
          </a:p>
        </p:txBody>
      </p:sp>
      <p:sp>
        <p:nvSpPr>
          <p:cNvPr id="73" name="TextBox 72"/>
          <p:cNvSpPr txBox="1"/>
          <p:nvPr/>
        </p:nvSpPr>
        <p:spPr>
          <a:xfrm>
            <a:off x="10301107" y="4343399"/>
            <a:ext cx="1058483" cy="274320"/>
          </a:xfrm>
          <a:prstGeom prst="rect">
            <a:avLst/>
          </a:prstGeom>
          <a:noFill/>
        </p:spPr>
        <p:txBody>
          <a:bodyPr wrap="square" lIns="0" rIns="0" tIns="0" bIns="0" anchor="ctr">
            <a:spAutoFit/>
          </a:bodyPr>
          <a:lstStyle/>
          <a:p>
            <a:pPr algn="l">
              <a:lnSpc>
                <a:spcPct val="106000"/>
              </a:lnSpc>
              <a:spcBef>
                <a:spcPts val="0"/>
              </a:spcBef>
              <a:spcAft>
                <a:spcPts val="0"/>
              </a:spcAft>
            </a:pPr>
            <a:r>
              <a:rPr sz="1150" b="0" i="0">
                <a:solidFill>
                  <a:srgbClr val="E1000F"/>
                </a:solidFill>
                <a:latin typeface="Marianne"/>
              </a:rPr>
              <a:t>● </a:t>
            </a:r>
            <a:r>
              <a:rPr sz="1150" b="0" i="0">
                <a:solidFill>
                  <a:srgbClr val="D2D2E8"/>
                </a:solidFill>
                <a:latin typeface="Marianne"/>
              </a:rPr>
              <a:t>● ● ● ● </a:t>
            </a:r>
          </a:p>
        </p:txBody>
      </p:sp>
      <p:sp>
        <p:nvSpPr>
          <p:cNvPr id="74" name="TextBox 73"/>
          <p:cNvSpPr txBox="1"/>
          <p:nvPr/>
        </p:nvSpPr>
        <p:spPr>
          <a:xfrm>
            <a:off x="10301107" y="4571999"/>
            <a:ext cx="1058483" cy="310896"/>
          </a:xfrm>
          <a:prstGeom prst="rect">
            <a:avLst/>
          </a:prstGeom>
          <a:noFill/>
        </p:spPr>
        <p:txBody>
          <a:bodyPr wrap="square" lIns="0" rIns="0" tIns="0" bIns="0" anchor="t">
            <a:spAutoFit/>
          </a:bodyPr>
          <a:lstStyle/>
          <a:p>
            <a:pPr algn="l">
              <a:lnSpc>
                <a:spcPct val="100000"/>
              </a:lnSpc>
              <a:spcBef>
                <a:spcPts val="0"/>
              </a:spcBef>
              <a:spcAft>
                <a:spcPts val="0"/>
              </a:spcAft>
            </a:pPr>
            <a:r>
              <a:rPr sz="1000" b="1" i="0">
                <a:solidFill>
                  <a:srgbClr val="161616"/>
                </a:solidFill>
                <a:latin typeface="Marianne"/>
              </a:rPr>
              <a:t>Éditeur CN</a:t>
            </a:r>
          </a:p>
          <a:p>
            <a:pPr algn="l">
              <a:lnSpc>
                <a:spcPct val="100000"/>
              </a:lnSpc>
              <a:spcBef>
                <a:spcPts val="100"/>
              </a:spcBef>
              <a:spcAft>
                <a:spcPts val="0"/>
              </a:spcAft>
            </a:pPr>
            <a:r>
              <a:rPr sz="800" b="0" i="0">
                <a:solidFill>
                  <a:srgbClr val="6A6A6A"/>
                </a:solidFill>
                <a:latin typeface="Marianne"/>
              </a:rPr>
              <a:t>+ routeur US</a:t>
            </a:r>
          </a:p>
        </p:txBody>
      </p:sp>
      <p:sp>
        <p:nvSpPr>
          <p:cNvPr id="75" name="Rounded Rectangle 74"/>
          <p:cNvSpPr/>
          <p:nvPr/>
        </p:nvSpPr>
        <p:spPr>
          <a:xfrm>
            <a:off x="777240" y="4956048"/>
            <a:ext cx="10637215" cy="603504"/>
          </a:xfrm>
          <a:prstGeom prst="roundRect">
            <a:avLst>
              <a:gd name="adj" fmla="val 5000"/>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6" name="Picture 75" descr="shield-check.png"/>
          <p:cNvPicPr>
            <a:picLocks noChangeAspect="1"/>
          </p:cNvPicPr>
          <p:nvPr/>
        </p:nvPicPr>
        <p:blipFill>
          <a:blip r:embed="rId5"/>
          <a:stretch>
            <a:fillRect/>
          </a:stretch>
        </p:blipFill>
        <p:spPr>
          <a:xfrm>
            <a:off x="905256" y="5093208"/>
            <a:ext cx="329184" cy="329184"/>
          </a:xfrm>
          <a:prstGeom prst="rect">
            <a:avLst/>
          </a:prstGeom>
        </p:spPr>
      </p:pic>
      <p:sp>
        <p:nvSpPr>
          <p:cNvPr id="77" name="TextBox 76"/>
          <p:cNvSpPr txBox="1"/>
          <p:nvPr/>
        </p:nvSpPr>
        <p:spPr>
          <a:xfrm>
            <a:off x="1344168" y="4956048"/>
            <a:ext cx="1106424" cy="603504"/>
          </a:xfrm>
          <a:prstGeom prst="rect">
            <a:avLst/>
          </a:prstGeom>
          <a:noFill/>
        </p:spPr>
        <p:txBody>
          <a:bodyPr wrap="square" lIns="0" rIns="0" tIns="0" bIns="0" anchor="ctr">
            <a:spAutoFit/>
          </a:bodyPr>
          <a:lstStyle/>
          <a:p>
            <a:pPr algn="l">
              <a:lnSpc>
                <a:spcPct val="100000"/>
              </a:lnSpc>
              <a:spcBef>
                <a:spcPts val="0"/>
              </a:spcBef>
              <a:spcAft>
                <a:spcPts val="0"/>
              </a:spcAft>
            </a:pPr>
            <a:r>
              <a:rPr sz="1300" b="1" i="0">
                <a:solidFill>
                  <a:srgbClr val="161616"/>
                </a:solidFill>
                <a:latin typeface="Marianne"/>
              </a:rPr>
              <a:t>Conformité</a:t>
            </a:r>
          </a:p>
          <a:p>
            <a:pPr algn="l">
              <a:lnSpc>
                <a:spcPct val="100000"/>
              </a:lnSpc>
              <a:spcBef>
                <a:spcPts val="200"/>
              </a:spcBef>
              <a:spcAft>
                <a:spcPts val="0"/>
              </a:spcAft>
            </a:pPr>
            <a:r>
              <a:rPr sz="900" b="0" i="0">
                <a:solidFill>
                  <a:srgbClr val="6A6A6A"/>
                </a:solidFill>
                <a:latin typeface="Marianne"/>
              </a:rPr>
              <a:t>RGPD / données</a:t>
            </a:r>
          </a:p>
        </p:txBody>
      </p:sp>
      <p:sp>
        <p:nvSpPr>
          <p:cNvPr id="78" name="TextBox 77"/>
          <p:cNvSpPr txBox="1"/>
          <p:nvPr/>
        </p:nvSpPr>
        <p:spPr>
          <a:xfrm>
            <a:off x="2633472" y="5001768"/>
            <a:ext cx="1058483" cy="274320"/>
          </a:xfrm>
          <a:prstGeom prst="rect">
            <a:avLst/>
          </a:prstGeom>
          <a:noFill/>
        </p:spPr>
        <p:txBody>
          <a:bodyPr wrap="square" lIns="0" rIns="0" tIns="0" bIns="0" anchor="ctr">
            <a:spAutoFit/>
          </a:bodyPr>
          <a:lstStyle/>
          <a:p>
            <a:pPr algn="l">
              <a:lnSpc>
                <a:spcPct val="106000"/>
              </a:lnSpc>
              <a:spcBef>
                <a:spcPts val="0"/>
              </a:spcBef>
              <a:spcAft>
                <a:spcPts val="0"/>
              </a:spcAft>
            </a:pPr>
            <a:r>
              <a:rPr sz="1150" b="0" i="0">
                <a:solidFill>
                  <a:srgbClr val="B85C00"/>
                </a:solidFill>
                <a:latin typeface="Marianne"/>
              </a:rPr>
              <a:t>● ● ● </a:t>
            </a:r>
            <a:r>
              <a:rPr sz="1150" b="0" i="0">
                <a:solidFill>
                  <a:srgbClr val="D2D2E8"/>
                </a:solidFill>
                <a:latin typeface="Marianne"/>
              </a:rPr>
              <a:t>● ● </a:t>
            </a:r>
          </a:p>
        </p:txBody>
      </p:sp>
      <p:sp>
        <p:nvSpPr>
          <p:cNvPr id="79" name="TextBox 78"/>
          <p:cNvSpPr txBox="1"/>
          <p:nvPr/>
        </p:nvSpPr>
        <p:spPr>
          <a:xfrm>
            <a:off x="2633472" y="5230368"/>
            <a:ext cx="1058483" cy="310896"/>
          </a:xfrm>
          <a:prstGeom prst="rect">
            <a:avLst/>
          </a:prstGeom>
          <a:noFill/>
        </p:spPr>
        <p:txBody>
          <a:bodyPr wrap="square" lIns="0" rIns="0" tIns="0" bIns="0" anchor="t">
            <a:spAutoFit/>
          </a:bodyPr>
          <a:lstStyle/>
          <a:p>
            <a:pPr algn="l">
              <a:lnSpc>
                <a:spcPct val="100000"/>
              </a:lnSpc>
              <a:spcBef>
                <a:spcPts val="0"/>
              </a:spcBef>
              <a:spcAft>
                <a:spcPts val="0"/>
              </a:spcAft>
            </a:pPr>
            <a:r>
              <a:rPr sz="1000" b="1" i="0">
                <a:solidFill>
                  <a:srgbClr val="161616"/>
                </a:solidFill>
                <a:latin typeface="Marianne"/>
              </a:rPr>
              <a:t>Partielle</a:t>
            </a:r>
          </a:p>
          <a:p>
            <a:pPr algn="l">
              <a:lnSpc>
                <a:spcPct val="100000"/>
              </a:lnSpc>
              <a:spcBef>
                <a:spcPts val="100"/>
              </a:spcBef>
              <a:spcAft>
                <a:spcPts val="0"/>
              </a:spcAft>
            </a:pPr>
            <a:r>
              <a:rPr sz="800" b="0" i="0">
                <a:solidFill>
                  <a:srgbClr val="6A6A6A"/>
                </a:solidFill>
                <a:latin typeface="Marianne"/>
              </a:rPr>
              <a:t>transfert hors UE</a:t>
            </a:r>
          </a:p>
        </p:txBody>
      </p:sp>
      <p:sp>
        <p:nvSpPr>
          <p:cNvPr id="80" name="TextBox 79"/>
          <p:cNvSpPr txBox="1"/>
          <p:nvPr/>
        </p:nvSpPr>
        <p:spPr>
          <a:xfrm>
            <a:off x="3911411" y="5001768"/>
            <a:ext cx="1058483" cy="274320"/>
          </a:xfrm>
          <a:prstGeom prst="rect">
            <a:avLst/>
          </a:prstGeom>
          <a:noFill/>
        </p:spPr>
        <p:txBody>
          <a:bodyPr wrap="square" lIns="0" rIns="0" tIns="0" bIns="0" anchor="ctr">
            <a:spAutoFit/>
          </a:bodyPr>
          <a:lstStyle/>
          <a:p>
            <a:pPr algn="l">
              <a:lnSpc>
                <a:spcPct val="106000"/>
              </a:lnSpc>
              <a:spcBef>
                <a:spcPts val="0"/>
              </a:spcBef>
              <a:spcAft>
                <a:spcPts val="0"/>
              </a:spcAft>
            </a:pPr>
            <a:r>
              <a:rPr sz="1150" b="0" i="0">
                <a:solidFill>
                  <a:srgbClr val="18753C"/>
                </a:solidFill>
                <a:latin typeface="Marianne"/>
              </a:rPr>
              <a:t>● ● ● ● </a:t>
            </a:r>
            <a:r>
              <a:rPr sz="1150" b="0" i="0">
                <a:solidFill>
                  <a:srgbClr val="D2D2E8"/>
                </a:solidFill>
                <a:latin typeface="Marianne"/>
              </a:rPr>
              <a:t>● </a:t>
            </a:r>
          </a:p>
        </p:txBody>
      </p:sp>
      <p:sp>
        <p:nvSpPr>
          <p:cNvPr id="81" name="TextBox 80"/>
          <p:cNvSpPr txBox="1"/>
          <p:nvPr/>
        </p:nvSpPr>
        <p:spPr>
          <a:xfrm>
            <a:off x="3911411" y="5230368"/>
            <a:ext cx="1058483" cy="310896"/>
          </a:xfrm>
          <a:prstGeom prst="rect">
            <a:avLst/>
          </a:prstGeom>
          <a:noFill/>
        </p:spPr>
        <p:txBody>
          <a:bodyPr wrap="square" lIns="0" rIns="0" tIns="0" bIns="0" anchor="t">
            <a:spAutoFit/>
          </a:bodyPr>
          <a:lstStyle/>
          <a:p>
            <a:pPr algn="l">
              <a:lnSpc>
                <a:spcPct val="100000"/>
              </a:lnSpc>
              <a:spcBef>
                <a:spcPts val="0"/>
              </a:spcBef>
              <a:spcAft>
                <a:spcPts val="0"/>
              </a:spcAft>
            </a:pPr>
            <a:r>
              <a:rPr sz="1000" b="1" i="0">
                <a:solidFill>
                  <a:srgbClr val="161616"/>
                </a:solidFill>
                <a:latin typeface="Marianne"/>
              </a:rPr>
              <a:t>Bonne</a:t>
            </a:r>
          </a:p>
          <a:p>
            <a:pPr algn="l">
              <a:lnSpc>
                <a:spcPct val="100000"/>
              </a:lnSpc>
              <a:spcBef>
                <a:spcPts val="100"/>
              </a:spcBef>
              <a:spcAft>
                <a:spcPts val="0"/>
              </a:spcAft>
            </a:pPr>
            <a:r>
              <a:rPr sz="800" b="0" i="0">
                <a:solidFill>
                  <a:srgbClr val="6A6A6A"/>
                </a:solidFill>
                <a:latin typeface="Marianne"/>
              </a:rPr>
              <a:t>région UE · DPA AWS</a:t>
            </a:r>
          </a:p>
        </p:txBody>
      </p:sp>
      <p:sp>
        <p:nvSpPr>
          <p:cNvPr id="82" name="TextBox 81"/>
          <p:cNvSpPr txBox="1"/>
          <p:nvPr/>
        </p:nvSpPr>
        <p:spPr>
          <a:xfrm>
            <a:off x="5189350" y="5001768"/>
            <a:ext cx="1058483" cy="274320"/>
          </a:xfrm>
          <a:prstGeom prst="rect">
            <a:avLst/>
          </a:prstGeom>
          <a:noFill/>
        </p:spPr>
        <p:txBody>
          <a:bodyPr wrap="square" lIns="0" rIns="0" tIns="0" bIns="0" anchor="ctr">
            <a:spAutoFit/>
          </a:bodyPr>
          <a:lstStyle/>
          <a:p>
            <a:pPr algn="l">
              <a:lnSpc>
                <a:spcPct val="106000"/>
              </a:lnSpc>
              <a:spcBef>
                <a:spcPts val="0"/>
              </a:spcBef>
              <a:spcAft>
                <a:spcPts val="0"/>
              </a:spcAft>
            </a:pPr>
            <a:r>
              <a:rPr sz="1150" b="0" i="0">
                <a:solidFill>
                  <a:srgbClr val="18753C"/>
                </a:solidFill>
                <a:latin typeface="Marianne"/>
              </a:rPr>
              <a:t>● ● ● ● ● </a:t>
            </a:r>
            <a:r>
              <a:rPr sz="1150" b="0" i="0">
                <a:solidFill>
                  <a:srgbClr val="D2D2E8"/>
                </a:solidFill>
                <a:latin typeface="Marianne"/>
              </a:rPr>
              <a:t/>
            </a:r>
          </a:p>
        </p:txBody>
      </p:sp>
      <p:sp>
        <p:nvSpPr>
          <p:cNvPr id="83" name="TextBox 82"/>
          <p:cNvSpPr txBox="1"/>
          <p:nvPr/>
        </p:nvSpPr>
        <p:spPr>
          <a:xfrm>
            <a:off x="5189350" y="5230368"/>
            <a:ext cx="1058483" cy="310896"/>
          </a:xfrm>
          <a:prstGeom prst="rect">
            <a:avLst/>
          </a:prstGeom>
          <a:noFill/>
        </p:spPr>
        <p:txBody>
          <a:bodyPr wrap="square" lIns="0" rIns="0" tIns="0" bIns="0" anchor="t">
            <a:spAutoFit/>
          </a:bodyPr>
          <a:lstStyle/>
          <a:p>
            <a:pPr algn="l">
              <a:lnSpc>
                <a:spcPct val="100000"/>
              </a:lnSpc>
              <a:spcBef>
                <a:spcPts val="0"/>
              </a:spcBef>
              <a:spcAft>
                <a:spcPts val="0"/>
              </a:spcAft>
            </a:pPr>
            <a:r>
              <a:rPr sz="1000" b="1" i="0">
                <a:solidFill>
                  <a:srgbClr val="161616"/>
                </a:solidFill>
                <a:latin typeface="Marianne"/>
              </a:rPr>
              <a:t>Bonne</a:t>
            </a:r>
          </a:p>
          <a:p>
            <a:pPr algn="l">
              <a:lnSpc>
                <a:spcPct val="100000"/>
              </a:lnSpc>
              <a:spcBef>
                <a:spcPts val="100"/>
              </a:spcBef>
              <a:spcAft>
                <a:spcPts val="0"/>
              </a:spcAft>
            </a:pPr>
            <a:r>
              <a:rPr sz="800" b="0" i="0">
                <a:solidFill>
                  <a:srgbClr val="6A6A6A"/>
                </a:solidFill>
                <a:latin typeface="Marianne"/>
              </a:rPr>
              <a:t>RGPD · éditeur FR</a:t>
            </a:r>
          </a:p>
        </p:txBody>
      </p:sp>
      <p:sp>
        <p:nvSpPr>
          <p:cNvPr id="84" name="TextBox 83"/>
          <p:cNvSpPr txBox="1"/>
          <p:nvPr/>
        </p:nvSpPr>
        <p:spPr>
          <a:xfrm>
            <a:off x="6467289" y="5001768"/>
            <a:ext cx="1058483" cy="274320"/>
          </a:xfrm>
          <a:prstGeom prst="rect">
            <a:avLst/>
          </a:prstGeom>
          <a:noFill/>
        </p:spPr>
        <p:txBody>
          <a:bodyPr wrap="square" lIns="0" rIns="0" tIns="0" bIns="0" anchor="ctr">
            <a:spAutoFit/>
          </a:bodyPr>
          <a:lstStyle/>
          <a:p>
            <a:pPr algn="l">
              <a:lnSpc>
                <a:spcPct val="106000"/>
              </a:lnSpc>
              <a:spcBef>
                <a:spcPts val="0"/>
              </a:spcBef>
              <a:spcAft>
                <a:spcPts val="0"/>
              </a:spcAft>
            </a:pPr>
            <a:r>
              <a:rPr sz="1150" b="0" i="0">
                <a:solidFill>
                  <a:srgbClr val="18753C"/>
                </a:solidFill>
                <a:latin typeface="Marianne"/>
              </a:rPr>
              <a:t>● ● ● ● ● </a:t>
            </a:r>
            <a:r>
              <a:rPr sz="1150" b="0" i="0">
                <a:solidFill>
                  <a:srgbClr val="D2D2E8"/>
                </a:solidFill>
                <a:latin typeface="Marianne"/>
              </a:rPr>
              <a:t/>
            </a:r>
          </a:p>
        </p:txBody>
      </p:sp>
      <p:sp>
        <p:nvSpPr>
          <p:cNvPr id="85" name="TextBox 84"/>
          <p:cNvSpPr txBox="1"/>
          <p:nvPr/>
        </p:nvSpPr>
        <p:spPr>
          <a:xfrm>
            <a:off x="6467289" y="5230368"/>
            <a:ext cx="1058483" cy="310896"/>
          </a:xfrm>
          <a:prstGeom prst="rect">
            <a:avLst/>
          </a:prstGeom>
          <a:noFill/>
        </p:spPr>
        <p:txBody>
          <a:bodyPr wrap="square" lIns="0" rIns="0" tIns="0" bIns="0" anchor="t">
            <a:spAutoFit/>
          </a:bodyPr>
          <a:lstStyle/>
          <a:p>
            <a:pPr algn="l">
              <a:lnSpc>
                <a:spcPct val="100000"/>
              </a:lnSpc>
              <a:spcBef>
                <a:spcPts val="0"/>
              </a:spcBef>
              <a:spcAft>
                <a:spcPts val="0"/>
              </a:spcAft>
            </a:pPr>
            <a:r>
              <a:rPr sz="1000" b="1" i="0">
                <a:solidFill>
                  <a:srgbClr val="161616"/>
                </a:solidFill>
                <a:latin typeface="Marianne"/>
              </a:rPr>
              <a:t>Bonne</a:t>
            </a:r>
          </a:p>
          <a:p>
            <a:pPr algn="l">
              <a:lnSpc>
                <a:spcPct val="100000"/>
              </a:lnSpc>
              <a:spcBef>
                <a:spcPts val="100"/>
              </a:spcBef>
              <a:spcAft>
                <a:spcPts val="0"/>
              </a:spcAft>
            </a:pPr>
            <a:r>
              <a:rPr sz="800" b="0" i="0">
                <a:solidFill>
                  <a:srgbClr val="6A6A6A"/>
                </a:solidFill>
                <a:latin typeface="Marianne"/>
              </a:rPr>
              <a:t>cadre État (DINUM)</a:t>
            </a:r>
          </a:p>
        </p:txBody>
      </p:sp>
      <p:sp>
        <p:nvSpPr>
          <p:cNvPr id="86" name="TextBox 85"/>
          <p:cNvSpPr txBox="1"/>
          <p:nvPr/>
        </p:nvSpPr>
        <p:spPr>
          <a:xfrm>
            <a:off x="7745229" y="5001768"/>
            <a:ext cx="1058483" cy="274320"/>
          </a:xfrm>
          <a:prstGeom prst="rect">
            <a:avLst/>
          </a:prstGeom>
          <a:noFill/>
        </p:spPr>
        <p:txBody>
          <a:bodyPr wrap="square" lIns="0" rIns="0" tIns="0" bIns="0" anchor="ctr">
            <a:spAutoFit/>
          </a:bodyPr>
          <a:lstStyle/>
          <a:p>
            <a:pPr algn="l">
              <a:lnSpc>
                <a:spcPct val="106000"/>
              </a:lnSpc>
              <a:spcBef>
                <a:spcPts val="0"/>
              </a:spcBef>
              <a:spcAft>
                <a:spcPts val="0"/>
              </a:spcAft>
            </a:pPr>
            <a:r>
              <a:rPr sz="1150" b="0" i="0">
                <a:solidFill>
                  <a:srgbClr val="E1000F"/>
                </a:solidFill>
                <a:latin typeface="Marianne"/>
              </a:rPr>
              <a:t>● </a:t>
            </a:r>
            <a:r>
              <a:rPr sz="1150" b="0" i="0">
                <a:solidFill>
                  <a:srgbClr val="D2D2E8"/>
                </a:solidFill>
                <a:latin typeface="Marianne"/>
              </a:rPr>
              <a:t>● ● ● ● </a:t>
            </a:r>
          </a:p>
        </p:txBody>
      </p:sp>
      <p:sp>
        <p:nvSpPr>
          <p:cNvPr id="87" name="TextBox 86"/>
          <p:cNvSpPr txBox="1"/>
          <p:nvPr/>
        </p:nvSpPr>
        <p:spPr>
          <a:xfrm>
            <a:off x="7745229" y="5230368"/>
            <a:ext cx="1058483" cy="310896"/>
          </a:xfrm>
          <a:prstGeom prst="rect">
            <a:avLst/>
          </a:prstGeom>
          <a:noFill/>
        </p:spPr>
        <p:txBody>
          <a:bodyPr wrap="square" lIns="0" rIns="0" tIns="0" bIns="0" anchor="t">
            <a:spAutoFit/>
          </a:bodyPr>
          <a:lstStyle/>
          <a:p>
            <a:pPr algn="l">
              <a:lnSpc>
                <a:spcPct val="100000"/>
              </a:lnSpc>
              <a:spcBef>
                <a:spcPts val="0"/>
              </a:spcBef>
              <a:spcAft>
                <a:spcPts val="0"/>
              </a:spcAft>
            </a:pPr>
            <a:r>
              <a:rPr sz="1000" b="1" i="0">
                <a:solidFill>
                  <a:srgbClr val="161616"/>
                </a:solidFill>
                <a:latin typeface="Marianne"/>
              </a:rPr>
              <a:t>Insuffisante</a:t>
            </a:r>
          </a:p>
          <a:p>
            <a:pPr algn="l">
              <a:lnSpc>
                <a:spcPct val="100000"/>
              </a:lnSpc>
              <a:spcBef>
                <a:spcPts val="100"/>
              </a:spcBef>
              <a:spcAft>
                <a:spcPts val="0"/>
              </a:spcAft>
            </a:pPr>
            <a:r>
              <a:rPr sz="800" b="0" i="0">
                <a:solidFill>
                  <a:srgbClr val="6A6A6A"/>
                </a:solidFill>
                <a:latin typeface="Marianne"/>
              </a:rPr>
              <a:t>sans garanties UE</a:t>
            </a:r>
          </a:p>
        </p:txBody>
      </p:sp>
      <p:sp>
        <p:nvSpPr>
          <p:cNvPr id="88" name="TextBox 87"/>
          <p:cNvSpPr txBox="1"/>
          <p:nvPr/>
        </p:nvSpPr>
        <p:spPr>
          <a:xfrm>
            <a:off x="9023168" y="5001768"/>
            <a:ext cx="1058483" cy="274320"/>
          </a:xfrm>
          <a:prstGeom prst="rect">
            <a:avLst/>
          </a:prstGeom>
          <a:noFill/>
        </p:spPr>
        <p:txBody>
          <a:bodyPr wrap="square" lIns="0" rIns="0" tIns="0" bIns="0" anchor="ctr">
            <a:spAutoFit/>
          </a:bodyPr>
          <a:lstStyle/>
          <a:p>
            <a:pPr algn="l">
              <a:lnSpc>
                <a:spcPct val="106000"/>
              </a:lnSpc>
              <a:spcBef>
                <a:spcPts val="0"/>
              </a:spcBef>
              <a:spcAft>
                <a:spcPts val="0"/>
              </a:spcAft>
            </a:pPr>
            <a:r>
              <a:rPr sz="1150" b="0" i="0">
                <a:solidFill>
                  <a:srgbClr val="E1000F"/>
                </a:solidFill>
                <a:latin typeface="Marianne"/>
              </a:rPr>
              <a:t>● </a:t>
            </a:r>
            <a:r>
              <a:rPr sz="1150" b="0" i="0">
                <a:solidFill>
                  <a:srgbClr val="D2D2E8"/>
                </a:solidFill>
                <a:latin typeface="Marianne"/>
              </a:rPr>
              <a:t>● ● ● ● </a:t>
            </a:r>
          </a:p>
        </p:txBody>
      </p:sp>
      <p:sp>
        <p:nvSpPr>
          <p:cNvPr id="89" name="TextBox 88"/>
          <p:cNvSpPr txBox="1"/>
          <p:nvPr/>
        </p:nvSpPr>
        <p:spPr>
          <a:xfrm>
            <a:off x="9023168" y="5230368"/>
            <a:ext cx="1058483" cy="310896"/>
          </a:xfrm>
          <a:prstGeom prst="rect">
            <a:avLst/>
          </a:prstGeom>
          <a:noFill/>
        </p:spPr>
        <p:txBody>
          <a:bodyPr wrap="square" lIns="0" rIns="0" tIns="0" bIns="0" anchor="t">
            <a:spAutoFit/>
          </a:bodyPr>
          <a:lstStyle/>
          <a:p>
            <a:pPr algn="l">
              <a:lnSpc>
                <a:spcPct val="100000"/>
              </a:lnSpc>
              <a:spcBef>
                <a:spcPts val="0"/>
              </a:spcBef>
              <a:spcAft>
                <a:spcPts val="0"/>
              </a:spcAft>
            </a:pPr>
            <a:r>
              <a:rPr sz="1000" b="1" i="0">
                <a:solidFill>
                  <a:srgbClr val="161616"/>
                </a:solidFill>
                <a:latin typeface="Marianne"/>
              </a:rPr>
              <a:t>Insuffisante</a:t>
            </a:r>
          </a:p>
          <a:p>
            <a:pPr algn="l">
              <a:lnSpc>
                <a:spcPct val="100000"/>
              </a:lnSpc>
              <a:spcBef>
                <a:spcPts val="100"/>
              </a:spcBef>
              <a:spcAft>
                <a:spcPts val="0"/>
              </a:spcAft>
            </a:pPr>
            <a:r>
              <a:rPr sz="800" b="0" i="0">
                <a:solidFill>
                  <a:srgbClr val="6A6A6A"/>
                </a:solidFill>
                <a:latin typeface="Marianne"/>
              </a:rPr>
              <a:t>sans garanties UE</a:t>
            </a:r>
          </a:p>
        </p:txBody>
      </p:sp>
      <p:sp>
        <p:nvSpPr>
          <p:cNvPr id="90" name="TextBox 89"/>
          <p:cNvSpPr txBox="1"/>
          <p:nvPr/>
        </p:nvSpPr>
        <p:spPr>
          <a:xfrm>
            <a:off x="10301107" y="5001768"/>
            <a:ext cx="1058483" cy="274320"/>
          </a:xfrm>
          <a:prstGeom prst="rect">
            <a:avLst/>
          </a:prstGeom>
          <a:noFill/>
        </p:spPr>
        <p:txBody>
          <a:bodyPr wrap="square" lIns="0" rIns="0" tIns="0" bIns="0" anchor="ctr">
            <a:spAutoFit/>
          </a:bodyPr>
          <a:lstStyle/>
          <a:p>
            <a:pPr algn="l">
              <a:lnSpc>
                <a:spcPct val="106000"/>
              </a:lnSpc>
              <a:spcBef>
                <a:spcPts val="0"/>
              </a:spcBef>
              <a:spcAft>
                <a:spcPts val="0"/>
              </a:spcAft>
            </a:pPr>
            <a:r>
              <a:rPr sz="1150" b="0" i="0">
                <a:solidFill>
                  <a:srgbClr val="E1000F"/>
                </a:solidFill>
                <a:latin typeface="Marianne"/>
              </a:rPr>
              <a:t>● </a:t>
            </a:r>
            <a:r>
              <a:rPr sz="1150" b="0" i="0">
                <a:solidFill>
                  <a:srgbClr val="D2D2E8"/>
                </a:solidFill>
                <a:latin typeface="Marianne"/>
              </a:rPr>
              <a:t>● ● ● ● </a:t>
            </a:r>
          </a:p>
        </p:txBody>
      </p:sp>
      <p:sp>
        <p:nvSpPr>
          <p:cNvPr id="91" name="TextBox 90"/>
          <p:cNvSpPr txBox="1"/>
          <p:nvPr/>
        </p:nvSpPr>
        <p:spPr>
          <a:xfrm>
            <a:off x="10301107" y="5230368"/>
            <a:ext cx="1058483" cy="310896"/>
          </a:xfrm>
          <a:prstGeom prst="rect">
            <a:avLst/>
          </a:prstGeom>
          <a:noFill/>
        </p:spPr>
        <p:txBody>
          <a:bodyPr wrap="square" lIns="0" rIns="0" tIns="0" bIns="0" anchor="t">
            <a:spAutoFit/>
          </a:bodyPr>
          <a:lstStyle/>
          <a:p>
            <a:pPr algn="l">
              <a:lnSpc>
                <a:spcPct val="100000"/>
              </a:lnSpc>
              <a:spcBef>
                <a:spcPts val="0"/>
              </a:spcBef>
              <a:spcAft>
                <a:spcPts val="0"/>
              </a:spcAft>
            </a:pPr>
            <a:r>
              <a:rPr sz="1000" b="1" i="0">
                <a:solidFill>
                  <a:srgbClr val="161616"/>
                </a:solidFill>
                <a:latin typeface="Marianne"/>
              </a:rPr>
              <a:t>Insuffisante</a:t>
            </a:r>
          </a:p>
          <a:p>
            <a:pPr algn="l">
              <a:lnSpc>
                <a:spcPct val="100000"/>
              </a:lnSpc>
              <a:spcBef>
                <a:spcPts val="100"/>
              </a:spcBef>
              <a:spcAft>
                <a:spcPts val="0"/>
              </a:spcAft>
            </a:pPr>
            <a:r>
              <a:rPr sz="800" b="0" i="0">
                <a:solidFill>
                  <a:srgbClr val="6A6A6A"/>
                </a:solidFill>
                <a:latin typeface="Marianne"/>
              </a:rPr>
              <a:t>sans garanties UE</a:t>
            </a:r>
          </a:p>
        </p:txBody>
      </p:sp>
      <p:sp>
        <p:nvSpPr>
          <p:cNvPr id="92" name="Rounded Rectangle 91"/>
          <p:cNvSpPr/>
          <p:nvPr/>
        </p:nvSpPr>
        <p:spPr>
          <a:xfrm>
            <a:off x="777240" y="5614416"/>
            <a:ext cx="10637215" cy="603504"/>
          </a:xfrm>
          <a:prstGeom prst="roundRect">
            <a:avLst>
              <a:gd name="adj" fmla="val 5000"/>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3" name="Picture 92" descr="settings-3.png"/>
          <p:cNvPicPr>
            <a:picLocks noChangeAspect="1"/>
          </p:cNvPicPr>
          <p:nvPr/>
        </p:nvPicPr>
        <p:blipFill>
          <a:blip r:embed="rId6"/>
          <a:stretch>
            <a:fillRect/>
          </a:stretch>
        </p:blipFill>
        <p:spPr>
          <a:xfrm>
            <a:off x="905256" y="5751576"/>
            <a:ext cx="329184" cy="329184"/>
          </a:xfrm>
          <a:prstGeom prst="rect">
            <a:avLst/>
          </a:prstGeom>
        </p:spPr>
      </p:pic>
      <p:sp>
        <p:nvSpPr>
          <p:cNvPr id="94" name="TextBox 93"/>
          <p:cNvSpPr txBox="1"/>
          <p:nvPr/>
        </p:nvSpPr>
        <p:spPr>
          <a:xfrm>
            <a:off x="1344168" y="5614416"/>
            <a:ext cx="1106424" cy="603504"/>
          </a:xfrm>
          <a:prstGeom prst="rect">
            <a:avLst/>
          </a:prstGeom>
          <a:noFill/>
        </p:spPr>
        <p:txBody>
          <a:bodyPr wrap="square" lIns="0" rIns="0" tIns="0" bIns="0" anchor="ctr">
            <a:spAutoFit/>
          </a:bodyPr>
          <a:lstStyle/>
          <a:p>
            <a:pPr algn="l">
              <a:lnSpc>
                <a:spcPct val="100000"/>
              </a:lnSpc>
              <a:spcBef>
                <a:spcPts val="0"/>
              </a:spcBef>
              <a:spcAft>
                <a:spcPts val="0"/>
              </a:spcAft>
            </a:pPr>
            <a:r>
              <a:rPr sz="1300" b="1" i="0">
                <a:solidFill>
                  <a:srgbClr val="161616"/>
                </a:solidFill>
                <a:latin typeface="Marianne"/>
              </a:rPr>
              <a:t>Faisabilité</a:t>
            </a:r>
          </a:p>
          <a:p>
            <a:pPr algn="l">
              <a:lnSpc>
                <a:spcPct val="100000"/>
              </a:lnSpc>
              <a:spcBef>
                <a:spcPts val="200"/>
              </a:spcBef>
              <a:spcAft>
                <a:spcPts val="0"/>
              </a:spcAft>
            </a:pPr>
            <a:r>
              <a:rPr sz="900" b="0" i="0">
                <a:solidFill>
                  <a:srgbClr val="6A6A6A"/>
                </a:solidFill>
                <a:latin typeface="Marianne"/>
              </a:rPr>
              <a:t>poste interne</a:t>
            </a:r>
          </a:p>
        </p:txBody>
      </p:sp>
      <p:sp>
        <p:nvSpPr>
          <p:cNvPr id="95" name="TextBox 94"/>
          <p:cNvSpPr txBox="1"/>
          <p:nvPr/>
        </p:nvSpPr>
        <p:spPr>
          <a:xfrm>
            <a:off x="2633472" y="5660136"/>
            <a:ext cx="1058483" cy="274320"/>
          </a:xfrm>
          <a:prstGeom prst="rect">
            <a:avLst/>
          </a:prstGeom>
          <a:noFill/>
        </p:spPr>
        <p:txBody>
          <a:bodyPr wrap="square" lIns="0" rIns="0" tIns="0" bIns="0" anchor="ctr">
            <a:spAutoFit/>
          </a:bodyPr>
          <a:lstStyle/>
          <a:p>
            <a:pPr algn="l">
              <a:lnSpc>
                <a:spcPct val="106000"/>
              </a:lnSpc>
              <a:spcBef>
                <a:spcPts val="0"/>
              </a:spcBef>
              <a:spcAft>
                <a:spcPts val="0"/>
              </a:spcAft>
            </a:pPr>
            <a:r>
              <a:rPr sz="1150" b="0" i="0">
                <a:solidFill>
                  <a:srgbClr val="18753C"/>
                </a:solidFill>
                <a:latin typeface="Marianne"/>
              </a:rPr>
              <a:t>● ● ● ● </a:t>
            </a:r>
            <a:r>
              <a:rPr sz="1150" b="0" i="0">
                <a:solidFill>
                  <a:srgbClr val="D2D2E8"/>
                </a:solidFill>
                <a:latin typeface="Marianne"/>
              </a:rPr>
              <a:t>● </a:t>
            </a:r>
          </a:p>
        </p:txBody>
      </p:sp>
      <p:sp>
        <p:nvSpPr>
          <p:cNvPr id="96" name="TextBox 95"/>
          <p:cNvSpPr txBox="1"/>
          <p:nvPr/>
        </p:nvSpPr>
        <p:spPr>
          <a:xfrm>
            <a:off x="2633472" y="5888736"/>
            <a:ext cx="1058483" cy="310896"/>
          </a:xfrm>
          <a:prstGeom prst="rect">
            <a:avLst/>
          </a:prstGeom>
          <a:noFill/>
        </p:spPr>
        <p:txBody>
          <a:bodyPr wrap="square" lIns="0" rIns="0" tIns="0" bIns="0" anchor="t">
            <a:spAutoFit/>
          </a:bodyPr>
          <a:lstStyle/>
          <a:p>
            <a:pPr algn="l">
              <a:lnSpc>
                <a:spcPct val="100000"/>
              </a:lnSpc>
              <a:spcBef>
                <a:spcPts val="0"/>
              </a:spcBef>
              <a:spcAft>
                <a:spcPts val="0"/>
              </a:spcAft>
            </a:pPr>
            <a:r>
              <a:rPr sz="1000" b="1" i="0">
                <a:solidFill>
                  <a:srgbClr val="161616"/>
                </a:solidFill>
                <a:latin typeface="Marianne"/>
              </a:rPr>
              <a:t>Multi-OS natif</a:t>
            </a:r>
          </a:p>
          <a:p>
            <a:pPr algn="l">
              <a:lnSpc>
                <a:spcPct val="100000"/>
              </a:lnSpc>
              <a:spcBef>
                <a:spcPts val="100"/>
              </a:spcBef>
              <a:spcAft>
                <a:spcPts val="0"/>
              </a:spcAft>
            </a:pPr>
            <a:r>
              <a:rPr sz="800" b="0" i="0">
                <a:solidFill>
                  <a:srgbClr val="6A6A6A"/>
                </a:solidFill>
                <a:latin typeface="Marianne"/>
              </a:rPr>
              <a:t>outil mûr, admin ent.</a:t>
            </a:r>
          </a:p>
        </p:txBody>
      </p:sp>
      <p:sp>
        <p:nvSpPr>
          <p:cNvPr id="97" name="TextBox 96"/>
          <p:cNvSpPr txBox="1"/>
          <p:nvPr/>
        </p:nvSpPr>
        <p:spPr>
          <a:xfrm>
            <a:off x="3911411" y="5660136"/>
            <a:ext cx="1058483" cy="274320"/>
          </a:xfrm>
          <a:prstGeom prst="rect">
            <a:avLst/>
          </a:prstGeom>
          <a:noFill/>
        </p:spPr>
        <p:txBody>
          <a:bodyPr wrap="square" lIns="0" rIns="0" tIns="0" bIns="0" anchor="ctr">
            <a:spAutoFit/>
          </a:bodyPr>
          <a:lstStyle/>
          <a:p>
            <a:pPr algn="l">
              <a:lnSpc>
                <a:spcPct val="106000"/>
              </a:lnSpc>
              <a:spcBef>
                <a:spcPts val="0"/>
              </a:spcBef>
              <a:spcAft>
                <a:spcPts val="0"/>
              </a:spcAft>
            </a:pPr>
            <a:r>
              <a:rPr sz="1150" b="0" i="0">
                <a:solidFill>
                  <a:srgbClr val="B85C00"/>
                </a:solidFill>
                <a:latin typeface="Marianne"/>
              </a:rPr>
              <a:t>● ● ● </a:t>
            </a:r>
            <a:r>
              <a:rPr sz="1150" b="0" i="0">
                <a:solidFill>
                  <a:srgbClr val="D2D2E8"/>
                </a:solidFill>
                <a:latin typeface="Marianne"/>
              </a:rPr>
              <a:t>● ● </a:t>
            </a:r>
          </a:p>
        </p:txBody>
      </p:sp>
      <p:sp>
        <p:nvSpPr>
          <p:cNvPr id="98" name="TextBox 97"/>
          <p:cNvSpPr txBox="1"/>
          <p:nvPr/>
        </p:nvSpPr>
        <p:spPr>
          <a:xfrm>
            <a:off x="3911411" y="5888736"/>
            <a:ext cx="1058483" cy="310896"/>
          </a:xfrm>
          <a:prstGeom prst="rect">
            <a:avLst/>
          </a:prstGeom>
          <a:noFill/>
        </p:spPr>
        <p:txBody>
          <a:bodyPr wrap="square" lIns="0" rIns="0" tIns="0" bIns="0" anchor="t">
            <a:spAutoFit/>
          </a:bodyPr>
          <a:lstStyle/>
          <a:p>
            <a:pPr algn="l">
              <a:lnSpc>
                <a:spcPct val="100000"/>
              </a:lnSpc>
              <a:spcBef>
                <a:spcPts val="0"/>
              </a:spcBef>
              <a:spcAft>
                <a:spcPts val="0"/>
              </a:spcAft>
            </a:pPr>
            <a:r>
              <a:rPr sz="1000" b="1" i="0">
                <a:solidFill>
                  <a:srgbClr val="161616"/>
                </a:solidFill>
                <a:latin typeface="Marianne"/>
              </a:rPr>
              <a:t>Bedrock (IAM)</a:t>
            </a:r>
          </a:p>
          <a:p>
            <a:pPr algn="l">
              <a:lnSpc>
                <a:spcPct val="100000"/>
              </a:lnSpc>
              <a:spcBef>
                <a:spcPts val="100"/>
              </a:spcBef>
              <a:spcAft>
                <a:spcPts val="0"/>
              </a:spcAft>
            </a:pPr>
            <a:r>
              <a:rPr sz="800" b="0" i="0">
                <a:solidFill>
                  <a:srgbClr val="6A6A6A"/>
                </a:solidFill>
                <a:latin typeface="Marianne"/>
              </a:rPr>
              <a:t>data sharing requis</a:t>
            </a:r>
          </a:p>
        </p:txBody>
      </p:sp>
      <p:sp>
        <p:nvSpPr>
          <p:cNvPr id="99" name="TextBox 98"/>
          <p:cNvSpPr txBox="1"/>
          <p:nvPr/>
        </p:nvSpPr>
        <p:spPr>
          <a:xfrm>
            <a:off x="5189350" y="5660136"/>
            <a:ext cx="1058483" cy="274320"/>
          </a:xfrm>
          <a:prstGeom prst="rect">
            <a:avLst/>
          </a:prstGeom>
          <a:noFill/>
        </p:spPr>
        <p:txBody>
          <a:bodyPr wrap="square" lIns="0" rIns="0" tIns="0" bIns="0" anchor="ctr">
            <a:spAutoFit/>
          </a:bodyPr>
          <a:lstStyle/>
          <a:p>
            <a:pPr algn="l">
              <a:lnSpc>
                <a:spcPct val="106000"/>
              </a:lnSpc>
              <a:spcBef>
                <a:spcPts val="0"/>
              </a:spcBef>
              <a:spcAft>
                <a:spcPts val="0"/>
              </a:spcAft>
            </a:pPr>
            <a:r>
              <a:rPr sz="1150" b="0" i="0">
                <a:solidFill>
                  <a:srgbClr val="B85C00"/>
                </a:solidFill>
                <a:latin typeface="Marianne"/>
              </a:rPr>
              <a:t>● ● ● </a:t>
            </a:r>
            <a:r>
              <a:rPr sz="1150" b="0" i="0">
                <a:solidFill>
                  <a:srgbClr val="D2D2E8"/>
                </a:solidFill>
                <a:latin typeface="Marianne"/>
              </a:rPr>
              <a:t>● ● </a:t>
            </a:r>
          </a:p>
        </p:txBody>
      </p:sp>
      <p:sp>
        <p:nvSpPr>
          <p:cNvPr id="100" name="TextBox 99"/>
          <p:cNvSpPr txBox="1"/>
          <p:nvPr/>
        </p:nvSpPr>
        <p:spPr>
          <a:xfrm>
            <a:off x="5189350" y="5888736"/>
            <a:ext cx="1058483" cy="310896"/>
          </a:xfrm>
          <a:prstGeom prst="rect">
            <a:avLst/>
          </a:prstGeom>
          <a:noFill/>
        </p:spPr>
        <p:txBody>
          <a:bodyPr wrap="square" lIns="0" rIns="0" tIns="0" bIns="0" anchor="t">
            <a:spAutoFit/>
          </a:bodyPr>
          <a:lstStyle/>
          <a:p>
            <a:pPr algn="l">
              <a:lnSpc>
                <a:spcPct val="100000"/>
              </a:lnSpc>
              <a:spcBef>
                <a:spcPts val="0"/>
              </a:spcBef>
              <a:spcAft>
                <a:spcPts val="0"/>
              </a:spcAft>
            </a:pPr>
            <a:r>
              <a:rPr sz="1000" b="1" i="0">
                <a:solidFill>
                  <a:srgbClr val="161616"/>
                </a:solidFill>
                <a:latin typeface="Marianne"/>
              </a:rPr>
              <a:t>CLI + VS Code</a:t>
            </a:r>
          </a:p>
          <a:p>
            <a:pPr algn="l">
              <a:lnSpc>
                <a:spcPct val="100000"/>
              </a:lnSpc>
              <a:spcBef>
                <a:spcPts val="100"/>
              </a:spcBef>
              <a:spcAft>
                <a:spcPts val="0"/>
              </a:spcAft>
            </a:pPr>
            <a:r>
              <a:rPr sz="800" b="0" i="0">
                <a:solidFill>
                  <a:srgbClr val="6A6A6A"/>
                </a:solidFill>
                <a:latin typeface="Marianne"/>
              </a:rPr>
              <a:t>clé Mistral ou plan</a:t>
            </a:r>
          </a:p>
        </p:txBody>
      </p:sp>
      <p:sp>
        <p:nvSpPr>
          <p:cNvPr id="101" name="TextBox 100"/>
          <p:cNvSpPr txBox="1"/>
          <p:nvPr/>
        </p:nvSpPr>
        <p:spPr>
          <a:xfrm>
            <a:off x="6467289" y="5660136"/>
            <a:ext cx="1058483" cy="274320"/>
          </a:xfrm>
          <a:prstGeom prst="rect">
            <a:avLst/>
          </a:prstGeom>
          <a:noFill/>
        </p:spPr>
        <p:txBody>
          <a:bodyPr wrap="square" lIns="0" rIns="0" tIns="0" bIns="0" anchor="ctr">
            <a:spAutoFit/>
          </a:bodyPr>
          <a:lstStyle/>
          <a:p>
            <a:pPr algn="l">
              <a:lnSpc>
                <a:spcPct val="106000"/>
              </a:lnSpc>
              <a:spcBef>
                <a:spcPts val="0"/>
              </a:spcBef>
              <a:spcAft>
                <a:spcPts val="0"/>
              </a:spcAft>
            </a:pPr>
            <a:r>
              <a:rPr sz="1150" b="0" i="0">
                <a:solidFill>
                  <a:srgbClr val="B85C00"/>
                </a:solidFill>
                <a:latin typeface="Marianne"/>
              </a:rPr>
              <a:t>● ● ● </a:t>
            </a:r>
            <a:r>
              <a:rPr sz="1150" b="0" i="0">
                <a:solidFill>
                  <a:srgbClr val="D2D2E8"/>
                </a:solidFill>
                <a:latin typeface="Marianne"/>
              </a:rPr>
              <a:t>● ● </a:t>
            </a:r>
          </a:p>
        </p:txBody>
      </p:sp>
      <p:sp>
        <p:nvSpPr>
          <p:cNvPr id="102" name="TextBox 101"/>
          <p:cNvSpPr txBox="1"/>
          <p:nvPr/>
        </p:nvSpPr>
        <p:spPr>
          <a:xfrm>
            <a:off x="6467289" y="5888736"/>
            <a:ext cx="1058483" cy="310896"/>
          </a:xfrm>
          <a:prstGeom prst="rect">
            <a:avLst/>
          </a:prstGeom>
          <a:noFill/>
        </p:spPr>
        <p:txBody>
          <a:bodyPr wrap="square" lIns="0" rIns="0" tIns="0" bIns="0" anchor="t">
            <a:spAutoFit/>
          </a:bodyPr>
          <a:lstStyle/>
          <a:p>
            <a:pPr algn="l">
              <a:lnSpc>
                <a:spcPct val="100000"/>
              </a:lnSpc>
              <a:spcBef>
                <a:spcPts val="0"/>
              </a:spcBef>
              <a:spcAft>
                <a:spcPts val="0"/>
              </a:spcAft>
            </a:pPr>
            <a:r>
              <a:rPr sz="1000" b="1" i="0">
                <a:solidFill>
                  <a:srgbClr val="161616"/>
                </a:solidFill>
                <a:latin typeface="Marianne"/>
              </a:rPr>
              <a:t>OpenAI-compat.</a:t>
            </a:r>
          </a:p>
          <a:p>
            <a:pPr algn="l">
              <a:lnSpc>
                <a:spcPct val="100000"/>
              </a:lnSpc>
              <a:spcBef>
                <a:spcPts val="100"/>
              </a:spcBef>
              <a:spcAft>
                <a:spcPts val="0"/>
              </a:spcAft>
            </a:pPr>
            <a:r>
              <a:rPr sz="800" b="0" i="0">
                <a:solidFill>
                  <a:srgbClr val="6A6A6A"/>
                </a:solidFill>
                <a:latin typeface="Marianne"/>
              </a:rPr>
              <a:t>agents État · quotas</a:t>
            </a:r>
          </a:p>
        </p:txBody>
      </p:sp>
      <p:sp>
        <p:nvSpPr>
          <p:cNvPr id="103" name="TextBox 102"/>
          <p:cNvSpPr txBox="1"/>
          <p:nvPr/>
        </p:nvSpPr>
        <p:spPr>
          <a:xfrm>
            <a:off x="7745229" y="5660136"/>
            <a:ext cx="1058483" cy="274320"/>
          </a:xfrm>
          <a:prstGeom prst="rect">
            <a:avLst/>
          </a:prstGeom>
          <a:noFill/>
        </p:spPr>
        <p:txBody>
          <a:bodyPr wrap="square" lIns="0" rIns="0" tIns="0" bIns="0" anchor="ctr">
            <a:spAutoFit/>
          </a:bodyPr>
          <a:lstStyle/>
          <a:p>
            <a:pPr algn="l">
              <a:lnSpc>
                <a:spcPct val="106000"/>
              </a:lnSpc>
              <a:spcBef>
                <a:spcPts val="0"/>
              </a:spcBef>
              <a:spcAft>
                <a:spcPts val="0"/>
              </a:spcAft>
            </a:pPr>
            <a:r>
              <a:rPr sz="1150" b="0" i="0">
                <a:solidFill>
                  <a:srgbClr val="B85C00"/>
                </a:solidFill>
                <a:latin typeface="Marianne"/>
              </a:rPr>
              <a:t>● ● ● </a:t>
            </a:r>
            <a:r>
              <a:rPr sz="1150" b="0" i="0">
                <a:solidFill>
                  <a:srgbClr val="D2D2E8"/>
                </a:solidFill>
                <a:latin typeface="Marianne"/>
              </a:rPr>
              <a:t>● ● </a:t>
            </a:r>
          </a:p>
        </p:txBody>
      </p:sp>
      <p:sp>
        <p:nvSpPr>
          <p:cNvPr id="104" name="TextBox 103"/>
          <p:cNvSpPr txBox="1"/>
          <p:nvPr/>
        </p:nvSpPr>
        <p:spPr>
          <a:xfrm>
            <a:off x="7745229" y="5888736"/>
            <a:ext cx="1058483" cy="310896"/>
          </a:xfrm>
          <a:prstGeom prst="rect">
            <a:avLst/>
          </a:prstGeom>
          <a:noFill/>
        </p:spPr>
        <p:txBody>
          <a:bodyPr wrap="square" lIns="0" rIns="0" tIns="0" bIns="0" anchor="t">
            <a:spAutoFit/>
          </a:bodyPr>
          <a:lstStyle/>
          <a:p>
            <a:pPr algn="l">
              <a:lnSpc>
                <a:spcPct val="100000"/>
              </a:lnSpc>
              <a:spcBef>
                <a:spcPts val="0"/>
              </a:spcBef>
              <a:spcAft>
                <a:spcPts val="0"/>
              </a:spcAft>
            </a:pPr>
            <a:r>
              <a:rPr sz="1000" b="1" i="0">
                <a:solidFill>
                  <a:srgbClr val="161616"/>
                </a:solidFill>
                <a:latin typeface="Marianne"/>
              </a:rPr>
              <a:t>clé OpenRouter</a:t>
            </a:r>
          </a:p>
          <a:p>
            <a:pPr algn="l">
              <a:lnSpc>
                <a:spcPct val="100000"/>
              </a:lnSpc>
              <a:spcBef>
                <a:spcPts val="100"/>
              </a:spcBef>
              <a:spcAft>
                <a:spcPts val="0"/>
              </a:spcAft>
            </a:pPr>
            <a:r>
              <a:rPr sz="800" b="0" i="0">
                <a:solidFill>
                  <a:srgbClr val="6A6A6A"/>
                </a:solidFill>
                <a:latin typeface="Marianne"/>
              </a:rPr>
              <a:t>Mac/Linux/Win (WSL)</a:t>
            </a:r>
          </a:p>
        </p:txBody>
      </p:sp>
      <p:sp>
        <p:nvSpPr>
          <p:cNvPr id="105" name="TextBox 104"/>
          <p:cNvSpPr txBox="1"/>
          <p:nvPr/>
        </p:nvSpPr>
        <p:spPr>
          <a:xfrm>
            <a:off x="9023168" y="5660136"/>
            <a:ext cx="1058483" cy="274320"/>
          </a:xfrm>
          <a:prstGeom prst="rect">
            <a:avLst/>
          </a:prstGeom>
          <a:noFill/>
        </p:spPr>
        <p:txBody>
          <a:bodyPr wrap="square" lIns="0" rIns="0" tIns="0" bIns="0" anchor="ctr">
            <a:spAutoFit/>
          </a:bodyPr>
          <a:lstStyle/>
          <a:p>
            <a:pPr algn="l">
              <a:lnSpc>
                <a:spcPct val="106000"/>
              </a:lnSpc>
              <a:spcBef>
                <a:spcPts val="0"/>
              </a:spcBef>
              <a:spcAft>
                <a:spcPts val="0"/>
              </a:spcAft>
            </a:pPr>
            <a:r>
              <a:rPr sz="1150" b="0" i="0">
                <a:solidFill>
                  <a:srgbClr val="B85C00"/>
                </a:solidFill>
                <a:latin typeface="Marianne"/>
              </a:rPr>
              <a:t>● ● ● </a:t>
            </a:r>
            <a:r>
              <a:rPr sz="1150" b="0" i="0">
                <a:solidFill>
                  <a:srgbClr val="D2D2E8"/>
                </a:solidFill>
                <a:latin typeface="Marianne"/>
              </a:rPr>
              <a:t>● ● </a:t>
            </a:r>
          </a:p>
        </p:txBody>
      </p:sp>
      <p:sp>
        <p:nvSpPr>
          <p:cNvPr id="106" name="TextBox 105"/>
          <p:cNvSpPr txBox="1"/>
          <p:nvPr/>
        </p:nvSpPr>
        <p:spPr>
          <a:xfrm>
            <a:off x="9023168" y="5888736"/>
            <a:ext cx="1058483" cy="310896"/>
          </a:xfrm>
          <a:prstGeom prst="rect">
            <a:avLst/>
          </a:prstGeom>
          <a:noFill/>
        </p:spPr>
        <p:txBody>
          <a:bodyPr wrap="square" lIns="0" rIns="0" tIns="0" bIns="0" anchor="t">
            <a:spAutoFit/>
          </a:bodyPr>
          <a:lstStyle/>
          <a:p>
            <a:pPr algn="l">
              <a:lnSpc>
                <a:spcPct val="100000"/>
              </a:lnSpc>
              <a:spcBef>
                <a:spcPts val="0"/>
              </a:spcBef>
              <a:spcAft>
                <a:spcPts val="0"/>
              </a:spcAft>
            </a:pPr>
            <a:r>
              <a:rPr sz="1000" b="1" i="0">
                <a:solidFill>
                  <a:srgbClr val="161616"/>
                </a:solidFill>
                <a:latin typeface="Marianne"/>
              </a:rPr>
              <a:t>clé OpenRouter</a:t>
            </a:r>
          </a:p>
          <a:p>
            <a:pPr algn="l">
              <a:lnSpc>
                <a:spcPct val="100000"/>
              </a:lnSpc>
              <a:spcBef>
                <a:spcPts val="100"/>
              </a:spcBef>
              <a:spcAft>
                <a:spcPts val="0"/>
              </a:spcAft>
            </a:pPr>
            <a:r>
              <a:rPr sz="800" b="0" i="0">
                <a:solidFill>
                  <a:srgbClr val="6A6A6A"/>
                </a:solidFill>
                <a:latin typeface="Marianne"/>
              </a:rPr>
              <a:t>Mac/Linux/Win (WSL)</a:t>
            </a:r>
          </a:p>
        </p:txBody>
      </p:sp>
      <p:sp>
        <p:nvSpPr>
          <p:cNvPr id="107" name="TextBox 106"/>
          <p:cNvSpPr txBox="1"/>
          <p:nvPr/>
        </p:nvSpPr>
        <p:spPr>
          <a:xfrm>
            <a:off x="10301107" y="5660136"/>
            <a:ext cx="1058483" cy="274320"/>
          </a:xfrm>
          <a:prstGeom prst="rect">
            <a:avLst/>
          </a:prstGeom>
          <a:noFill/>
        </p:spPr>
        <p:txBody>
          <a:bodyPr wrap="square" lIns="0" rIns="0" tIns="0" bIns="0" anchor="ctr">
            <a:spAutoFit/>
          </a:bodyPr>
          <a:lstStyle/>
          <a:p>
            <a:pPr algn="l">
              <a:lnSpc>
                <a:spcPct val="106000"/>
              </a:lnSpc>
              <a:spcBef>
                <a:spcPts val="0"/>
              </a:spcBef>
              <a:spcAft>
                <a:spcPts val="0"/>
              </a:spcAft>
            </a:pPr>
            <a:r>
              <a:rPr sz="1150" b="0" i="0">
                <a:solidFill>
                  <a:srgbClr val="B85C00"/>
                </a:solidFill>
                <a:latin typeface="Marianne"/>
              </a:rPr>
              <a:t>● ● ● </a:t>
            </a:r>
            <a:r>
              <a:rPr sz="1150" b="0" i="0">
                <a:solidFill>
                  <a:srgbClr val="D2D2E8"/>
                </a:solidFill>
                <a:latin typeface="Marianne"/>
              </a:rPr>
              <a:t>● ● </a:t>
            </a:r>
          </a:p>
        </p:txBody>
      </p:sp>
      <p:sp>
        <p:nvSpPr>
          <p:cNvPr id="108" name="TextBox 107"/>
          <p:cNvSpPr txBox="1"/>
          <p:nvPr/>
        </p:nvSpPr>
        <p:spPr>
          <a:xfrm>
            <a:off x="10301107" y="5888736"/>
            <a:ext cx="1058483" cy="310896"/>
          </a:xfrm>
          <a:prstGeom prst="rect">
            <a:avLst/>
          </a:prstGeom>
          <a:noFill/>
        </p:spPr>
        <p:txBody>
          <a:bodyPr wrap="square" lIns="0" rIns="0" tIns="0" bIns="0" anchor="t">
            <a:spAutoFit/>
          </a:bodyPr>
          <a:lstStyle/>
          <a:p>
            <a:pPr algn="l">
              <a:lnSpc>
                <a:spcPct val="100000"/>
              </a:lnSpc>
              <a:spcBef>
                <a:spcPts val="0"/>
              </a:spcBef>
              <a:spcAft>
                <a:spcPts val="0"/>
              </a:spcAft>
            </a:pPr>
            <a:r>
              <a:rPr sz="1000" b="1" i="0">
                <a:solidFill>
                  <a:srgbClr val="161616"/>
                </a:solidFill>
                <a:latin typeface="Marianne"/>
              </a:rPr>
              <a:t>clé OpenRouter</a:t>
            </a:r>
          </a:p>
          <a:p>
            <a:pPr algn="l">
              <a:lnSpc>
                <a:spcPct val="100000"/>
              </a:lnSpc>
              <a:spcBef>
                <a:spcPts val="100"/>
              </a:spcBef>
              <a:spcAft>
                <a:spcPts val="0"/>
              </a:spcAft>
            </a:pPr>
            <a:r>
              <a:rPr sz="800" b="0" i="0">
                <a:solidFill>
                  <a:srgbClr val="6A6A6A"/>
                </a:solidFill>
                <a:latin typeface="Marianne"/>
              </a:rPr>
              <a:t>capacité limitée</a:t>
            </a:r>
          </a:p>
        </p:txBody>
      </p:sp>
      <p:sp>
        <p:nvSpPr>
          <p:cNvPr id="109" name="TextBox 108"/>
          <p:cNvSpPr txBox="1"/>
          <p:nvPr/>
        </p:nvSpPr>
        <p:spPr>
          <a:xfrm>
            <a:off x="777240" y="6291071"/>
            <a:ext cx="10637215" cy="274320"/>
          </a:xfrm>
          <a:prstGeom prst="rect">
            <a:avLst/>
          </a:prstGeom>
          <a:noFill/>
        </p:spPr>
        <p:txBody>
          <a:bodyPr wrap="square" lIns="0" rIns="0" tIns="0" bIns="0" anchor="t">
            <a:spAutoFit/>
          </a:bodyPr>
          <a:lstStyle/>
          <a:p>
            <a:pPr algn="l">
              <a:lnSpc>
                <a:spcPct val="106000"/>
              </a:lnSpc>
              <a:spcBef>
                <a:spcPts val="0"/>
              </a:spcBef>
              <a:spcAft>
                <a:spcPts val="0"/>
              </a:spcAft>
            </a:pPr>
            <a:r>
              <a:rPr sz="1050" b="0" i="0">
                <a:solidFill>
                  <a:srgbClr val="18753C"/>
                </a:solidFill>
                <a:latin typeface="Marianne"/>
              </a:rPr>
              <a:t>● ● ● ● ● </a:t>
            </a:r>
            <a:r>
              <a:rPr sz="1000" b="0" i="0">
                <a:solidFill>
                  <a:srgbClr val="6A6A6A"/>
                </a:solidFill>
                <a:latin typeface="Marianne"/>
              </a:rPr>
              <a:t>favorable    </a:t>
            </a:r>
            <a:r>
              <a:rPr sz="1050" b="0" i="0">
                <a:solidFill>
                  <a:srgbClr val="B85C00"/>
                </a:solidFill>
                <a:latin typeface="Marianne"/>
              </a:rPr>
              <a:t>● ● ● </a:t>
            </a:r>
            <a:r>
              <a:rPr sz="1000" b="0" i="0">
                <a:solidFill>
                  <a:srgbClr val="6A6A6A"/>
                </a:solidFill>
                <a:latin typeface="Marianne"/>
              </a:rPr>
              <a:t>moyen    </a:t>
            </a:r>
            <a:r>
              <a:rPr sz="1050" b="0" i="0">
                <a:solidFill>
                  <a:srgbClr val="E1000F"/>
                </a:solidFill>
                <a:latin typeface="Marianne"/>
              </a:rPr>
              <a:t>● </a:t>
            </a:r>
            <a:r>
              <a:rPr sz="1000" b="0" i="0">
                <a:solidFill>
                  <a:srgbClr val="6A6A6A"/>
                </a:solidFill>
                <a:latin typeface="Marianne"/>
              </a:rPr>
              <a:t>défavorable</a:t>
            </a:r>
            <a:r>
              <a:rPr sz="950" b="0" i="1">
                <a:solidFill>
                  <a:srgbClr val="6A6A6A"/>
                </a:solidFill>
                <a:latin typeface="Marianne"/>
              </a:rPr>
              <a:t>        * DeepSeek V4 : tarif preview ; GLM et Albert : perf estimée ; Kimi K3 : score annoncé par l'éditeur.</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png"/>
          <p:cNvPicPr>
            <a:picLocks noChangeAspect="1"/>
          </p:cNvPicPr>
          <p:nvPr/>
        </p:nvPicPr>
        <p:blipFill>
          <a:blip r:embed="rId2"/>
          <a:stretch>
            <a:fillRect/>
          </a:stretch>
        </p:blipFill>
        <p:spPr>
          <a:xfrm>
            <a:off x="777240" y="274320"/>
            <a:ext cx="987918" cy="676656"/>
          </a:xfrm>
          <a:prstGeom prst="rect">
            <a:avLst/>
          </a:prstGeom>
        </p:spPr>
      </p:pic>
      <p:sp>
        <p:nvSpPr>
          <p:cNvPr id="4" name="TextBox 3"/>
          <p:cNvSpPr txBox="1"/>
          <p:nvPr/>
        </p:nvSpPr>
        <p:spPr>
          <a:xfrm>
            <a:off x="7573975" y="274320"/>
            <a:ext cx="3840480" cy="640080"/>
          </a:xfrm>
          <a:prstGeom prst="rect">
            <a:avLst/>
          </a:prstGeom>
          <a:noFill/>
        </p:spPr>
        <p:txBody>
          <a:bodyPr wrap="square" lIns="0" rIns="0" tIns="0" bIns="0" anchor="t">
            <a:spAutoFit/>
          </a:bodyPr>
          <a:lstStyle/>
          <a:p>
            <a:pPr algn="r">
              <a:lnSpc>
                <a:spcPct val="105000"/>
              </a:lnSpc>
              <a:spcBef>
                <a:spcPts val="0"/>
              </a:spcBef>
              <a:spcAft>
                <a:spcPts val="0"/>
              </a:spcAft>
            </a:pPr>
            <a:r>
              <a:rPr sz="1350" b="1" i="0">
                <a:solidFill>
                  <a:srgbClr val="161616"/>
                </a:solidFill>
                <a:latin typeface="Marianne"/>
              </a:rPr>
              <a:t>Secrétariat général</a:t>
            </a:r>
          </a:p>
          <a:p>
            <a:pPr algn="r">
              <a:lnSpc>
                <a:spcPct val="105000"/>
              </a:lnSpc>
              <a:spcBef>
                <a:spcPts val="0"/>
              </a:spcBef>
              <a:spcAft>
                <a:spcPts val="0"/>
              </a:spcAft>
            </a:pPr>
            <a:r>
              <a:rPr sz="1350" b="0" i="0">
                <a:solidFill>
                  <a:srgbClr val="3A3A3A"/>
                </a:solidFill>
                <a:latin typeface="Marianne"/>
              </a:rPr>
              <a:t>Direction du numérique</a:t>
            </a:r>
          </a:p>
        </p:txBody>
      </p:sp>
      <p:cxnSp>
        <p:nvCxnSpPr>
          <p:cNvPr id="5" name="Connector 4"/>
          <p:cNvCxnSpPr/>
          <p:nvPr/>
        </p:nvCxnSpPr>
        <p:spPr>
          <a:xfrm>
            <a:off x="0" y="1005840"/>
            <a:ext cx="12191695" cy="0"/>
          </a:xfrm>
          <a:prstGeom prst="line">
            <a:avLst/>
          </a:prstGeom>
          <a:ln w="9525">
            <a:solidFill>
              <a:srgbClr val="DDDDDD"/>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777240" y="6437376"/>
            <a:ext cx="7772400" cy="274320"/>
          </a:xfrm>
          <a:prstGeom prst="rect">
            <a:avLst/>
          </a:prstGeom>
          <a:noFill/>
        </p:spPr>
        <p:txBody>
          <a:bodyPr wrap="square" lIns="0" rIns="0" tIns="0" bIns="0" anchor="t">
            <a:spAutoFit/>
          </a:bodyPr>
          <a:lstStyle/>
          <a:p>
            <a:pPr algn="l">
              <a:lnSpc>
                <a:spcPct val="106000"/>
              </a:lnSpc>
              <a:spcBef>
                <a:spcPts val="0"/>
              </a:spcBef>
              <a:spcAft>
                <a:spcPts val="0"/>
              </a:spcAft>
            </a:pPr>
            <a:r>
              <a:rPr sz="1100" b="0" i="0">
                <a:solidFill>
                  <a:srgbClr val="6A6A6A"/>
                </a:solidFill>
                <a:latin typeface="Marianne"/>
              </a:rPr>
              <a:t>Ministères Sociaux – Benchmark coding agentique – 23/07/2026</a:t>
            </a:r>
          </a:p>
        </p:txBody>
      </p:sp>
      <p:sp>
        <p:nvSpPr>
          <p:cNvPr id="7" name="TextBox 6"/>
          <p:cNvSpPr txBox="1"/>
          <p:nvPr/>
        </p:nvSpPr>
        <p:spPr>
          <a:xfrm>
            <a:off x="10682935" y="6437376"/>
            <a:ext cx="731520" cy="274320"/>
          </a:xfrm>
          <a:prstGeom prst="rect">
            <a:avLst/>
          </a:prstGeom>
          <a:noFill/>
        </p:spPr>
        <p:txBody>
          <a:bodyPr wrap="square" lIns="0" rIns="0" tIns="0" bIns="0" anchor="t">
            <a:spAutoFit/>
          </a:bodyPr>
          <a:lstStyle/>
          <a:p>
            <a:pPr algn="r">
              <a:lnSpc>
                <a:spcPct val="106000"/>
              </a:lnSpc>
              <a:spcBef>
                <a:spcPts val="0"/>
              </a:spcBef>
              <a:spcAft>
                <a:spcPts val="0"/>
              </a:spcAft>
            </a:pPr>
            <a:r>
              <a:rPr sz="1100" b="0" i="0">
                <a:solidFill>
                  <a:srgbClr val="6A6A6A"/>
                </a:solidFill>
                <a:latin typeface="Marianne"/>
              </a:rPr>
              <a:t>2</a:t>
            </a:r>
          </a:p>
        </p:txBody>
      </p:sp>
      <p:sp>
        <p:nvSpPr>
          <p:cNvPr id="8" name="TextBox 7"/>
          <p:cNvSpPr txBox="1"/>
          <p:nvPr/>
        </p:nvSpPr>
        <p:spPr>
          <a:xfrm>
            <a:off x="777240" y="1243584"/>
            <a:ext cx="10637215" cy="914400"/>
          </a:xfrm>
          <a:prstGeom prst="rect">
            <a:avLst/>
          </a:prstGeom>
          <a:noFill/>
        </p:spPr>
        <p:txBody>
          <a:bodyPr wrap="square" lIns="0" rIns="0" tIns="0" bIns="0" anchor="t">
            <a:spAutoFit/>
          </a:bodyPr>
          <a:lstStyle/>
          <a:p>
            <a:pPr algn="l">
              <a:lnSpc>
                <a:spcPct val="102000"/>
              </a:lnSpc>
              <a:spcBef>
                <a:spcPts val="0"/>
              </a:spcBef>
              <a:spcAft>
                <a:spcPts val="0"/>
              </a:spcAft>
            </a:pPr>
            <a:r>
              <a:rPr sz="3000" b="1" i="0">
                <a:solidFill>
                  <a:srgbClr val="161616"/>
                </a:solidFill>
                <a:latin typeface="Marianne"/>
              </a:rPr>
              <a:t>Externes, internes : qui paie quoi ?</a:t>
            </a:r>
          </a:p>
        </p:txBody>
      </p:sp>
      <p:sp>
        <p:nvSpPr>
          <p:cNvPr id="9" name="TextBox 8"/>
          <p:cNvSpPr txBox="1"/>
          <p:nvPr/>
        </p:nvSpPr>
        <p:spPr>
          <a:xfrm>
            <a:off x="777240" y="1847088"/>
            <a:ext cx="10637215" cy="365760"/>
          </a:xfrm>
          <a:prstGeom prst="rect">
            <a:avLst/>
          </a:prstGeom>
          <a:noFill/>
        </p:spPr>
        <p:txBody>
          <a:bodyPr wrap="square" lIns="0" rIns="0" tIns="0" bIns="0" anchor="t">
            <a:spAutoFit/>
          </a:bodyPr>
          <a:lstStyle/>
          <a:p>
            <a:pPr algn="l">
              <a:lnSpc>
                <a:spcPct val="106000"/>
              </a:lnSpc>
              <a:spcBef>
                <a:spcPts val="0"/>
              </a:spcBef>
              <a:spcAft>
                <a:spcPts val="0"/>
              </a:spcAft>
            </a:pPr>
            <a:r>
              <a:rPr sz="1400" b="0" i="0">
                <a:solidFill>
                  <a:srgbClr val="3A3A3A"/>
                </a:solidFill>
                <a:latin typeface="Marianne"/>
              </a:rPr>
              <a:t>Le déploiement interne change l'équation économique de l'IA agentique.</a:t>
            </a:r>
          </a:p>
        </p:txBody>
      </p:sp>
      <p:sp>
        <p:nvSpPr>
          <p:cNvPr id="10" name="Rounded Rectangle 9"/>
          <p:cNvSpPr/>
          <p:nvPr/>
        </p:nvSpPr>
        <p:spPr>
          <a:xfrm>
            <a:off x="777240" y="2194560"/>
            <a:ext cx="5090007" cy="2450592"/>
          </a:xfrm>
          <a:prstGeom prst="roundRect">
            <a:avLst>
              <a:gd name="adj" fmla="val 5000"/>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briefcase.png"/>
          <p:cNvPicPr>
            <a:picLocks noChangeAspect="1"/>
          </p:cNvPicPr>
          <p:nvPr/>
        </p:nvPicPr>
        <p:blipFill>
          <a:blip r:embed="rId3"/>
          <a:stretch>
            <a:fillRect/>
          </a:stretch>
        </p:blipFill>
        <p:spPr>
          <a:xfrm>
            <a:off x="1088136" y="2468879"/>
            <a:ext cx="457200" cy="457200"/>
          </a:xfrm>
          <a:prstGeom prst="rect">
            <a:avLst/>
          </a:prstGeom>
        </p:spPr>
      </p:pic>
      <p:sp>
        <p:nvSpPr>
          <p:cNvPr id="12" name="TextBox 11"/>
          <p:cNvSpPr txBox="1"/>
          <p:nvPr/>
        </p:nvSpPr>
        <p:spPr>
          <a:xfrm>
            <a:off x="1691640" y="2468879"/>
            <a:ext cx="3992727" cy="457200"/>
          </a:xfrm>
          <a:prstGeom prst="rect">
            <a:avLst/>
          </a:prstGeom>
          <a:noFill/>
        </p:spPr>
        <p:txBody>
          <a:bodyPr wrap="square" lIns="0" rIns="0" tIns="0" bIns="0" anchor="ctr">
            <a:spAutoFit/>
          </a:bodyPr>
          <a:lstStyle/>
          <a:p>
            <a:pPr algn="l">
              <a:lnSpc>
                <a:spcPct val="106000"/>
              </a:lnSpc>
              <a:spcBef>
                <a:spcPts val="0"/>
              </a:spcBef>
              <a:spcAft>
                <a:spcPts val="0"/>
              </a:spcAft>
            </a:pPr>
            <a:r>
              <a:rPr sz="1700" b="1" i="0">
                <a:solidFill>
                  <a:srgbClr val="000091"/>
                </a:solidFill>
                <a:latin typeface="Marianne"/>
              </a:rPr>
              <a:t>Prestataires externes</a:t>
            </a:r>
          </a:p>
        </p:txBody>
      </p:sp>
      <p:sp>
        <p:nvSpPr>
          <p:cNvPr id="13" name="TextBox 12"/>
          <p:cNvSpPr txBox="1"/>
          <p:nvPr/>
        </p:nvSpPr>
        <p:spPr>
          <a:xfrm>
            <a:off x="1106424" y="3090672"/>
            <a:ext cx="4449927" cy="384048"/>
          </a:xfrm>
          <a:prstGeom prst="rect">
            <a:avLst/>
          </a:prstGeom>
          <a:noFill/>
        </p:spPr>
        <p:txBody>
          <a:bodyPr wrap="square" lIns="0" rIns="0" tIns="0" bIns="0" anchor="t">
            <a:spAutoFit/>
          </a:bodyPr>
          <a:lstStyle/>
          <a:p>
            <a:pPr algn="l">
              <a:lnSpc>
                <a:spcPct val="106000"/>
              </a:lnSpc>
              <a:spcBef>
                <a:spcPts val="0"/>
              </a:spcBef>
              <a:spcAft>
                <a:spcPts val="0"/>
              </a:spcAft>
            </a:pPr>
            <a:r>
              <a:rPr sz="1500" b="1" i="0">
                <a:solidFill>
                  <a:srgbClr val="161616"/>
                </a:solidFill>
                <a:latin typeface="Marianne"/>
              </a:rPr>
              <a:t>Abonnement Claude : un forfait mensuel</a:t>
            </a:r>
          </a:p>
        </p:txBody>
      </p:sp>
      <p:sp>
        <p:nvSpPr>
          <p:cNvPr id="14" name="TextBox 13"/>
          <p:cNvSpPr txBox="1"/>
          <p:nvPr/>
        </p:nvSpPr>
        <p:spPr>
          <a:xfrm>
            <a:off x="1106424" y="3547872"/>
            <a:ext cx="4449927" cy="1024128"/>
          </a:xfrm>
          <a:prstGeom prst="rect">
            <a:avLst/>
          </a:prstGeom>
          <a:noFill/>
        </p:spPr>
        <p:txBody>
          <a:bodyPr wrap="square" lIns="0" rIns="0" tIns="0" bIns="0" anchor="t">
            <a:spAutoFit/>
          </a:bodyPr>
          <a:lstStyle/>
          <a:p>
            <a:pPr algn="l" marL="201168" indent="-201168">
              <a:lnSpc>
                <a:spcPct val="108000"/>
              </a:lnSpc>
              <a:spcBef>
                <a:spcPts val="0"/>
              </a:spcBef>
              <a:spcAft>
                <a:spcPts val="600"/>
              </a:spcAft>
            </a:pPr>
            <a:r>
              <a:rPr sz="1200" b="0" i="0">
                <a:solidFill>
                  <a:srgbClr val="6A6AF4"/>
                </a:solidFill>
                <a:latin typeface="Marianne"/>
              </a:rPr>
              <a:t>▪  </a:t>
            </a:r>
            <a:r>
              <a:rPr sz="1300" b="0" i="0">
                <a:solidFill>
                  <a:srgbClr val="3A3A3A"/>
                </a:solidFill>
                <a:latin typeface="Marianne"/>
              </a:rPr>
              <a:t>Consommation incluse dans le forfait : coût prévisible et plafonné</a:t>
            </a:r>
          </a:p>
          <a:p>
            <a:pPr algn="l" marL="201168" indent="-201168">
              <a:lnSpc>
                <a:spcPct val="108000"/>
              </a:lnSpc>
              <a:spcBef>
                <a:spcPts val="0"/>
              </a:spcBef>
              <a:spcAft>
                <a:spcPts val="600"/>
              </a:spcAft>
            </a:pPr>
            <a:r>
              <a:rPr sz="1200" b="0" i="0">
                <a:solidFill>
                  <a:srgbClr val="6A6AF4"/>
                </a:solidFill>
                <a:latin typeface="Marianne"/>
              </a:rPr>
              <a:t>▪  </a:t>
            </a:r>
            <a:r>
              <a:rPr sz="1300" b="0" i="0">
                <a:solidFill>
                  <a:srgbClr val="3A3A3A"/>
                </a:solidFill>
                <a:latin typeface="Marianne"/>
              </a:rPr>
              <a:t>Rien à changer : l'outillage actuel reste valable</a:t>
            </a:r>
          </a:p>
        </p:txBody>
      </p:sp>
      <p:sp>
        <p:nvSpPr>
          <p:cNvPr id="15" name="Rounded Rectangle 14"/>
          <p:cNvSpPr/>
          <p:nvPr/>
        </p:nvSpPr>
        <p:spPr>
          <a:xfrm>
            <a:off x="6324447" y="2194560"/>
            <a:ext cx="5090007" cy="2450592"/>
          </a:xfrm>
          <a:prstGeom prst="roundRect">
            <a:avLst>
              <a:gd name="adj" fmla="val 5000"/>
            </a:avLst>
          </a:prstGeom>
          <a:solidFill>
            <a:srgbClr val="ECEC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government.png"/>
          <p:cNvPicPr>
            <a:picLocks noChangeAspect="1"/>
          </p:cNvPicPr>
          <p:nvPr/>
        </p:nvPicPr>
        <p:blipFill>
          <a:blip r:embed="rId4"/>
          <a:stretch>
            <a:fillRect/>
          </a:stretch>
        </p:blipFill>
        <p:spPr>
          <a:xfrm>
            <a:off x="6635343" y="2468879"/>
            <a:ext cx="457200" cy="457200"/>
          </a:xfrm>
          <a:prstGeom prst="rect">
            <a:avLst/>
          </a:prstGeom>
        </p:spPr>
      </p:pic>
      <p:sp>
        <p:nvSpPr>
          <p:cNvPr id="17" name="TextBox 16"/>
          <p:cNvSpPr txBox="1"/>
          <p:nvPr/>
        </p:nvSpPr>
        <p:spPr>
          <a:xfrm>
            <a:off x="7238847" y="2468879"/>
            <a:ext cx="3992727" cy="457200"/>
          </a:xfrm>
          <a:prstGeom prst="rect">
            <a:avLst/>
          </a:prstGeom>
          <a:noFill/>
        </p:spPr>
        <p:txBody>
          <a:bodyPr wrap="square" lIns="0" rIns="0" tIns="0" bIns="0" anchor="ctr">
            <a:spAutoFit/>
          </a:bodyPr>
          <a:lstStyle/>
          <a:p>
            <a:pPr algn="l">
              <a:lnSpc>
                <a:spcPct val="106000"/>
              </a:lnSpc>
              <a:spcBef>
                <a:spcPts val="0"/>
              </a:spcBef>
              <a:spcAft>
                <a:spcPts val="0"/>
              </a:spcAft>
            </a:pPr>
            <a:r>
              <a:rPr sz="1700" b="1" i="0">
                <a:solidFill>
                  <a:srgbClr val="000091"/>
                </a:solidFill>
                <a:latin typeface="Marianne"/>
              </a:rPr>
              <a:t>Agents internes</a:t>
            </a:r>
          </a:p>
        </p:txBody>
      </p:sp>
      <p:sp>
        <p:nvSpPr>
          <p:cNvPr id="18" name="TextBox 17"/>
          <p:cNvSpPr txBox="1"/>
          <p:nvPr/>
        </p:nvSpPr>
        <p:spPr>
          <a:xfrm>
            <a:off x="6653631" y="3035808"/>
            <a:ext cx="4449927" cy="512064"/>
          </a:xfrm>
          <a:prstGeom prst="rect">
            <a:avLst/>
          </a:prstGeom>
          <a:noFill/>
        </p:spPr>
        <p:txBody>
          <a:bodyPr wrap="square" lIns="0" rIns="0" tIns="0" bIns="0" anchor="t">
            <a:spAutoFit/>
          </a:bodyPr>
          <a:lstStyle/>
          <a:p>
            <a:pPr algn="l">
              <a:lnSpc>
                <a:spcPct val="105000"/>
              </a:lnSpc>
              <a:spcBef>
                <a:spcPts val="0"/>
              </a:spcBef>
              <a:spcAft>
                <a:spcPts val="0"/>
              </a:spcAft>
            </a:pPr>
            <a:r>
              <a:rPr sz="1500" b="1" i="0">
                <a:solidFill>
                  <a:srgbClr val="161616"/>
                </a:solidFill>
                <a:latin typeface="Marianne"/>
              </a:rPr>
              <a:t>≈ 20 € / siège / mois </a:t>
            </a:r>
            <a:r>
              <a:rPr sz="1500" b="1" i="0">
                <a:solidFill>
                  <a:srgbClr val="E1000F"/>
                </a:solidFill>
                <a:latin typeface="Marianne"/>
              </a:rPr>
              <a:t>+ chaque token au prix du modèle</a:t>
            </a:r>
          </a:p>
        </p:txBody>
      </p:sp>
      <p:sp>
        <p:nvSpPr>
          <p:cNvPr id="19" name="TextBox 18"/>
          <p:cNvSpPr txBox="1"/>
          <p:nvPr/>
        </p:nvSpPr>
        <p:spPr>
          <a:xfrm>
            <a:off x="6653631" y="3675887"/>
            <a:ext cx="4449927" cy="896112"/>
          </a:xfrm>
          <a:prstGeom prst="rect">
            <a:avLst/>
          </a:prstGeom>
          <a:noFill/>
        </p:spPr>
        <p:txBody>
          <a:bodyPr wrap="square" lIns="0" rIns="0" tIns="0" bIns="0" anchor="t">
            <a:spAutoFit/>
          </a:bodyPr>
          <a:lstStyle/>
          <a:p>
            <a:pPr algn="l" marL="201168" indent="-201168">
              <a:lnSpc>
                <a:spcPct val="108000"/>
              </a:lnSpc>
              <a:spcBef>
                <a:spcPts val="0"/>
              </a:spcBef>
              <a:spcAft>
                <a:spcPts val="600"/>
              </a:spcAft>
            </a:pPr>
            <a:r>
              <a:rPr sz="1200" b="0" i="0">
                <a:solidFill>
                  <a:srgbClr val="6A6AF4"/>
                </a:solidFill>
                <a:latin typeface="Marianne"/>
              </a:rPr>
              <a:t>▪  </a:t>
            </a:r>
            <a:r>
              <a:rPr sz="1300" b="0" i="0">
                <a:solidFill>
                  <a:srgbClr val="3A3A3A"/>
                </a:solidFill>
                <a:latin typeface="Marianne"/>
              </a:rPr>
              <a:t>Sièges Claude Enterprise via Bedrock</a:t>
            </a:r>
          </a:p>
          <a:p>
            <a:pPr algn="l" marL="201168" indent="-201168">
              <a:lnSpc>
                <a:spcPct val="108000"/>
              </a:lnSpc>
              <a:spcBef>
                <a:spcPts val="0"/>
              </a:spcBef>
              <a:spcAft>
                <a:spcPts val="600"/>
              </a:spcAft>
            </a:pPr>
            <a:r>
              <a:rPr sz="1200" b="0" i="0">
                <a:solidFill>
                  <a:srgbClr val="6A6AF4"/>
                </a:solidFill>
                <a:latin typeface="Marianne"/>
              </a:rPr>
              <a:t>▪  </a:t>
            </a:r>
            <a:r>
              <a:rPr sz="1300" b="0" i="0">
                <a:solidFill>
                  <a:srgbClr val="3A3A3A"/>
                </a:solidFill>
                <a:latin typeface="Marianne"/>
              </a:rPr>
              <a:t>Coût à l'usage : l'agentique consomme beaucoup</a:t>
            </a:r>
          </a:p>
          <a:p>
            <a:pPr algn="l" marL="201168" indent="-201168">
              <a:lnSpc>
                <a:spcPct val="108000"/>
              </a:lnSpc>
              <a:spcBef>
                <a:spcPts val="0"/>
              </a:spcBef>
              <a:spcAft>
                <a:spcPts val="600"/>
              </a:spcAft>
            </a:pPr>
            <a:r>
              <a:rPr sz="1200" b="0" i="0">
                <a:solidFill>
                  <a:srgbClr val="6A6AF4"/>
                </a:solidFill>
                <a:latin typeface="Marianne"/>
              </a:rPr>
              <a:t>▪  </a:t>
            </a:r>
            <a:r>
              <a:rPr sz="1300" b="0" i="0">
                <a:solidFill>
                  <a:srgbClr val="3A3A3A"/>
                </a:solidFill>
                <a:latin typeface="Marianne"/>
              </a:rPr>
              <a:t>Non souverain au sens CNIL (CLOUD Act) · RGPD ok</a:t>
            </a:r>
          </a:p>
        </p:txBody>
      </p:sp>
      <p:sp>
        <p:nvSpPr>
          <p:cNvPr id="20" name="Rounded Rectangle 19"/>
          <p:cNvSpPr/>
          <p:nvPr/>
        </p:nvSpPr>
        <p:spPr>
          <a:xfrm>
            <a:off x="777240" y="4846320"/>
            <a:ext cx="10637215" cy="896112"/>
          </a:xfrm>
          <a:prstGeom prst="roundRect">
            <a:avLst>
              <a:gd name="adj" fmla="val 6000"/>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focus-3.png"/>
          <p:cNvPicPr>
            <a:picLocks noChangeAspect="1"/>
          </p:cNvPicPr>
          <p:nvPr/>
        </p:nvPicPr>
        <p:blipFill>
          <a:blip r:embed="rId5"/>
          <a:stretch>
            <a:fillRect/>
          </a:stretch>
        </p:blipFill>
        <p:spPr>
          <a:xfrm>
            <a:off x="1051560" y="5084064"/>
            <a:ext cx="420624" cy="420624"/>
          </a:xfrm>
          <a:prstGeom prst="rect">
            <a:avLst/>
          </a:prstGeom>
        </p:spPr>
      </p:pic>
      <p:sp>
        <p:nvSpPr>
          <p:cNvPr id="22" name="TextBox 21"/>
          <p:cNvSpPr txBox="1"/>
          <p:nvPr/>
        </p:nvSpPr>
        <p:spPr>
          <a:xfrm>
            <a:off x="1673352" y="4974336"/>
            <a:ext cx="9448495" cy="640080"/>
          </a:xfrm>
          <a:prstGeom prst="rect">
            <a:avLst/>
          </a:prstGeom>
          <a:noFill/>
        </p:spPr>
        <p:txBody>
          <a:bodyPr wrap="square" lIns="0" rIns="0" tIns="0" bIns="0" anchor="ctr">
            <a:spAutoFit/>
          </a:bodyPr>
          <a:lstStyle/>
          <a:p>
            <a:pPr algn="l">
              <a:lnSpc>
                <a:spcPct val="112000"/>
              </a:lnSpc>
              <a:spcBef>
                <a:spcPts val="0"/>
              </a:spcBef>
              <a:spcAft>
                <a:spcPts val="0"/>
              </a:spcAft>
            </a:pPr>
            <a:r>
              <a:rPr sz="1450" b="1" i="0">
                <a:solidFill>
                  <a:srgbClr val="000091"/>
                </a:solidFill>
                <a:latin typeface="Marianne"/>
              </a:rPr>
              <a:t>Conséquence : </a:t>
            </a:r>
            <a:r>
              <a:rPr sz="1450" b="0" i="0">
                <a:solidFill>
                  <a:srgbClr val="161616"/>
                </a:solidFill>
                <a:latin typeface="Marianne"/>
              </a:rPr>
              <a:t>pour les internes et la CI/CD, le coût au token devient le paramètre clé. C'est l'objet du bench : identifier la stack au meilleur rapport performance / prix / souveraineté.</a:t>
            </a:r>
          </a:p>
        </p:txBody>
      </p:sp>
      <p:sp>
        <p:nvSpPr>
          <p:cNvPr id="23" name="TextBox 22"/>
          <p:cNvSpPr txBox="1"/>
          <p:nvPr/>
        </p:nvSpPr>
        <p:spPr>
          <a:xfrm>
            <a:off x="777240" y="5907023"/>
            <a:ext cx="10637215" cy="274320"/>
          </a:xfrm>
          <a:prstGeom prst="rect">
            <a:avLst/>
          </a:prstGeom>
          <a:noFill/>
        </p:spPr>
        <p:txBody>
          <a:bodyPr wrap="square" lIns="0" rIns="0" tIns="0" bIns="0" anchor="t">
            <a:spAutoFit/>
          </a:bodyPr>
          <a:lstStyle/>
          <a:p>
            <a:pPr algn="l">
              <a:lnSpc>
                <a:spcPct val="106000"/>
              </a:lnSpc>
              <a:spcBef>
                <a:spcPts val="0"/>
              </a:spcBef>
              <a:spcAft>
                <a:spcPts val="0"/>
              </a:spcAft>
            </a:pPr>
            <a:r>
              <a:rPr sz="1050" b="1" i="0">
                <a:solidFill>
                  <a:srgbClr val="6A6A6A"/>
                </a:solidFill>
                <a:latin typeface="Marianne"/>
              </a:rPr>
              <a:t>Repères / 1M tokens (entrée / sortie) : </a:t>
            </a:r>
            <a:r>
              <a:rPr sz="1050" b="0" i="0">
                <a:solidFill>
                  <a:srgbClr val="6A6A6A"/>
                </a:solidFill>
                <a:latin typeface="Marianne"/>
              </a:rPr>
              <a:t>Fable 5 : 10 $ / 50 $ · Opus 4.8 : 5 $ / 25 $ · Kimi K3 : 3 $ / 15 $ · Mistral Medium 3.5 : 1,50 $ / 7,50 $ · GLM 5.2 : 1,40 $ / 4,40 $ · DeepSeek V4 Pro : 0,44 $ / 0,87 $ · Albert : gratuit, quotas.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png"/>
          <p:cNvPicPr>
            <a:picLocks noChangeAspect="1"/>
          </p:cNvPicPr>
          <p:nvPr/>
        </p:nvPicPr>
        <p:blipFill>
          <a:blip r:embed="rId2"/>
          <a:stretch>
            <a:fillRect/>
          </a:stretch>
        </p:blipFill>
        <p:spPr>
          <a:xfrm>
            <a:off x="777240" y="274320"/>
            <a:ext cx="987918" cy="676656"/>
          </a:xfrm>
          <a:prstGeom prst="rect">
            <a:avLst/>
          </a:prstGeom>
        </p:spPr>
      </p:pic>
      <p:sp>
        <p:nvSpPr>
          <p:cNvPr id="4" name="TextBox 3"/>
          <p:cNvSpPr txBox="1"/>
          <p:nvPr/>
        </p:nvSpPr>
        <p:spPr>
          <a:xfrm>
            <a:off x="7573975" y="274320"/>
            <a:ext cx="3840480" cy="640080"/>
          </a:xfrm>
          <a:prstGeom prst="rect">
            <a:avLst/>
          </a:prstGeom>
          <a:noFill/>
        </p:spPr>
        <p:txBody>
          <a:bodyPr wrap="square" lIns="0" rIns="0" tIns="0" bIns="0" anchor="t">
            <a:spAutoFit/>
          </a:bodyPr>
          <a:lstStyle/>
          <a:p>
            <a:pPr algn="r">
              <a:lnSpc>
                <a:spcPct val="105000"/>
              </a:lnSpc>
              <a:spcBef>
                <a:spcPts val="0"/>
              </a:spcBef>
              <a:spcAft>
                <a:spcPts val="0"/>
              </a:spcAft>
            </a:pPr>
            <a:r>
              <a:rPr sz="1350" b="1" i="0">
                <a:solidFill>
                  <a:srgbClr val="161616"/>
                </a:solidFill>
                <a:latin typeface="Marianne"/>
              </a:rPr>
              <a:t>Secrétariat général</a:t>
            </a:r>
          </a:p>
          <a:p>
            <a:pPr algn="r">
              <a:lnSpc>
                <a:spcPct val="105000"/>
              </a:lnSpc>
              <a:spcBef>
                <a:spcPts val="0"/>
              </a:spcBef>
              <a:spcAft>
                <a:spcPts val="0"/>
              </a:spcAft>
            </a:pPr>
            <a:r>
              <a:rPr sz="1350" b="0" i="0">
                <a:solidFill>
                  <a:srgbClr val="3A3A3A"/>
                </a:solidFill>
                <a:latin typeface="Marianne"/>
              </a:rPr>
              <a:t>Direction du numérique</a:t>
            </a:r>
          </a:p>
        </p:txBody>
      </p:sp>
      <p:cxnSp>
        <p:nvCxnSpPr>
          <p:cNvPr id="5" name="Connector 4"/>
          <p:cNvCxnSpPr/>
          <p:nvPr/>
        </p:nvCxnSpPr>
        <p:spPr>
          <a:xfrm>
            <a:off x="0" y="1005840"/>
            <a:ext cx="12191695" cy="0"/>
          </a:xfrm>
          <a:prstGeom prst="line">
            <a:avLst/>
          </a:prstGeom>
          <a:ln w="9525">
            <a:solidFill>
              <a:srgbClr val="DDDDDD"/>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777240" y="6437376"/>
            <a:ext cx="7772400" cy="274320"/>
          </a:xfrm>
          <a:prstGeom prst="rect">
            <a:avLst/>
          </a:prstGeom>
          <a:noFill/>
        </p:spPr>
        <p:txBody>
          <a:bodyPr wrap="square" lIns="0" rIns="0" tIns="0" bIns="0" anchor="t">
            <a:spAutoFit/>
          </a:bodyPr>
          <a:lstStyle/>
          <a:p>
            <a:pPr algn="l">
              <a:lnSpc>
                <a:spcPct val="106000"/>
              </a:lnSpc>
              <a:spcBef>
                <a:spcPts val="0"/>
              </a:spcBef>
              <a:spcAft>
                <a:spcPts val="0"/>
              </a:spcAft>
            </a:pPr>
            <a:r>
              <a:rPr sz="1100" b="0" i="0">
                <a:solidFill>
                  <a:srgbClr val="6A6A6A"/>
                </a:solidFill>
                <a:latin typeface="Marianne"/>
              </a:rPr>
              <a:t>Ministères Sociaux – Benchmark coding agentique – 23/07/2026</a:t>
            </a:r>
          </a:p>
        </p:txBody>
      </p:sp>
      <p:sp>
        <p:nvSpPr>
          <p:cNvPr id="7" name="TextBox 6"/>
          <p:cNvSpPr txBox="1"/>
          <p:nvPr/>
        </p:nvSpPr>
        <p:spPr>
          <a:xfrm>
            <a:off x="10682935" y="6437376"/>
            <a:ext cx="731520" cy="274320"/>
          </a:xfrm>
          <a:prstGeom prst="rect">
            <a:avLst/>
          </a:prstGeom>
          <a:noFill/>
        </p:spPr>
        <p:txBody>
          <a:bodyPr wrap="square" lIns="0" rIns="0" tIns="0" bIns="0" anchor="t">
            <a:spAutoFit/>
          </a:bodyPr>
          <a:lstStyle/>
          <a:p>
            <a:pPr algn="r">
              <a:lnSpc>
                <a:spcPct val="106000"/>
              </a:lnSpc>
              <a:spcBef>
                <a:spcPts val="0"/>
              </a:spcBef>
              <a:spcAft>
                <a:spcPts val="0"/>
              </a:spcAft>
            </a:pPr>
            <a:r>
              <a:rPr sz="1100" b="0" i="0">
                <a:solidFill>
                  <a:srgbClr val="6A6A6A"/>
                </a:solidFill>
                <a:latin typeface="Marianne"/>
              </a:rPr>
              <a:t>3</a:t>
            </a:r>
          </a:p>
        </p:txBody>
      </p:sp>
      <p:sp>
        <p:nvSpPr>
          <p:cNvPr id="8" name="TextBox 7"/>
          <p:cNvSpPr txBox="1"/>
          <p:nvPr/>
        </p:nvSpPr>
        <p:spPr>
          <a:xfrm>
            <a:off x="777240" y="1243584"/>
            <a:ext cx="10637215" cy="914400"/>
          </a:xfrm>
          <a:prstGeom prst="rect">
            <a:avLst/>
          </a:prstGeom>
          <a:noFill/>
        </p:spPr>
        <p:txBody>
          <a:bodyPr wrap="square" lIns="0" rIns="0" tIns="0" bIns="0" anchor="t">
            <a:spAutoFit/>
          </a:bodyPr>
          <a:lstStyle/>
          <a:p>
            <a:pPr algn="l">
              <a:lnSpc>
                <a:spcPct val="102000"/>
              </a:lnSpc>
              <a:spcBef>
                <a:spcPts val="0"/>
              </a:spcBef>
              <a:spcAft>
                <a:spcPts val="0"/>
              </a:spcAft>
            </a:pPr>
            <a:r>
              <a:rPr sz="3000" b="1" i="0">
                <a:solidFill>
                  <a:srgbClr val="161616"/>
                </a:solidFill>
                <a:latin typeface="Marianne"/>
              </a:rPr>
              <a:t>Deux cas d'usage, deux logiques de coût</a:t>
            </a:r>
          </a:p>
        </p:txBody>
      </p:sp>
      <p:sp>
        <p:nvSpPr>
          <p:cNvPr id="9" name="TextBox 8"/>
          <p:cNvSpPr txBox="1"/>
          <p:nvPr/>
        </p:nvSpPr>
        <p:spPr>
          <a:xfrm>
            <a:off x="777240" y="1847088"/>
            <a:ext cx="10637215" cy="365760"/>
          </a:xfrm>
          <a:prstGeom prst="rect">
            <a:avLst/>
          </a:prstGeom>
          <a:noFill/>
        </p:spPr>
        <p:txBody>
          <a:bodyPr wrap="square" lIns="0" rIns="0" tIns="0" bIns="0" anchor="t">
            <a:spAutoFit/>
          </a:bodyPr>
          <a:lstStyle/>
          <a:p>
            <a:pPr algn="l">
              <a:lnSpc>
                <a:spcPct val="106000"/>
              </a:lnSpc>
              <a:spcBef>
                <a:spcPts val="0"/>
              </a:spcBef>
              <a:spcAft>
                <a:spcPts val="0"/>
              </a:spcAft>
            </a:pPr>
            <a:r>
              <a:rPr sz="1400" b="0" i="0">
                <a:solidFill>
                  <a:srgbClr val="3A3A3A"/>
                </a:solidFill>
                <a:latin typeface="Marianne"/>
              </a:rPr>
              <a:t>Sur poste : abonnement (siège) ou clé. En CI/CD : paiement au token pour tous.</a:t>
            </a:r>
          </a:p>
        </p:txBody>
      </p:sp>
      <p:sp>
        <p:nvSpPr>
          <p:cNvPr id="10" name="Rounded Rectangle 9"/>
          <p:cNvSpPr/>
          <p:nvPr/>
        </p:nvSpPr>
        <p:spPr>
          <a:xfrm>
            <a:off x="777240" y="2157984"/>
            <a:ext cx="5090007" cy="1993392"/>
          </a:xfrm>
          <a:prstGeom prst="roundRect">
            <a:avLst>
              <a:gd name="adj" fmla="val 5000"/>
            </a:avLst>
          </a:prstGeom>
          <a:solidFill>
            <a:srgbClr val="ECEC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terminal-box.png"/>
          <p:cNvPicPr>
            <a:picLocks noChangeAspect="1"/>
          </p:cNvPicPr>
          <p:nvPr/>
        </p:nvPicPr>
        <p:blipFill>
          <a:blip r:embed="rId3"/>
          <a:stretch>
            <a:fillRect/>
          </a:stretch>
        </p:blipFill>
        <p:spPr>
          <a:xfrm>
            <a:off x="1088136" y="2414015"/>
            <a:ext cx="457200" cy="457200"/>
          </a:xfrm>
          <a:prstGeom prst="rect">
            <a:avLst/>
          </a:prstGeom>
        </p:spPr>
      </p:pic>
      <p:sp>
        <p:nvSpPr>
          <p:cNvPr id="12" name="TextBox 11"/>
          <p:cNvSpPr txBox="1"/>
          <p:nvPr/>
        </p:nvSpPr>
        <p:spPr>
          <a:xfrm>
            <a:off x="1691640" y="2414015"/>
            <a:ext cx="3992727" cy="457200"/>
          </a:xfrm>
          <a:prstGeom prst="rect">
            <a:avLst/>
          </a:prstGeom>
          <a:noFill/>
        </p:spPr>
        <p:txBody>
          <a:bodyPr wrap="square" lIns="0" rIns="0" tIns="0" bIns="0" anchor="ctr">
            <a:spAutoFit/>
          </a:bodyPr>
          <a:lstStyle/>
          <a:p>
            <a:pPr algn="l">
              <a:lnSpc>
                <a:spcPct val="106000"/>
              </a:lnSpc>
              <a:spcBef>
                <a:spcPts val="0"/>
              </a:spcBef>
              <a:spcAft>
                <a:spcPts val="0"/>
              </a:spcAft>
            </a:pPr>
            <a:r>
              <a:rPr sz="1700" b="1" i="0">
                <a:solidFill>
                  <a:srgbClr val="000091"/>
                </a:solidFill>
                <a:latin typeface="Marianne"/>
              </a:rPr>
              <a:t>Code agentique sur poste</a:t>
            </a:r>
          </a:p>
        </p:txBody>
      </p:sp>
      <p:sp>
        <p:nvSpPr>
          <p:cNvPr id="13" name="TextBox 12"/>
          <p:cNvSpPr txBox="1"/>
          <p:nvPr/>
        </p:nvSpPr>
        <p:spPr>
          <a:xfrm>
            <a:off x="1106424" y="2980944"/>
            <a:ext cx="4449927" cy="1097280"/>
          </a:xfrm>
          <a:prstGeom prst="rect">
            <a:avLst/>
          </a:prstGeom>
          <a:noFill/>
        </p:spPr>
        <p:txBody>
          <a:bodyPr wrap="square" lIns="0" rIns="0" tIns="0" bIns="0" anchor="t">
            <a:spAutoFit/>
          </a:bodyPr>
          <a:lstStyle/>
          <a:p>
            <a:pPr algn="l" marL="201168" indent="-201168">
              <a:lnSpc>
                <a:spcPct val="105000"/>
              </a:lnSpc>
              <a:spcBef>
                <a:spcPts val="0"/>
              </a:spcBef>
              <a:spcAft>
                <a:spcPts val="400"/>
              </a:spcAft>
            </a:pPr>
            <a:r>
              <a:rPr sz="1200" b="0" i="0">
                <a:solidFill>
                  <a:srgbClr val="6A6AF4"/>
                </a:solidFill>
                <a:latin typeface="Marianne"/>
              </a:rPr>
              <a:t>▪  </a:t>
            </a:r>
            <a:r>
              <a:rPr sz="1300" b="1" i="0">
                <a:solidFill>
                  <a:srgbClr val="161616"/>
                </a:solidFill>
                <a:latin typeface="Marianne"/>
              </a:rPr>
              <a:t>Claude Code : </a:t>
            </a:r>
            <a:r>
              <a:rPr sz="1250" b="0" i="0">
                <a:solidFill>
                  <a:srgbClr val="3A3A3A"/>
                </a:solidFill>
                <a:latin typeface="Marianne"/>
              </a:rPr>
              <a:t>siège 20–125 $/dev/mois</a:t>
            </a:r>
          </a:p>
          <a:p>
            <a:pPr algn="l" marL="201168" indent="-201168">
              <a:lnSpc>
                <a:spcPct val="105000"/>
              </a:lnSpc>
              <a:spcBef>
                <a:spcPts val="0"/>
              </a:spcBef>
              <a:spcAft>
                <a:spcPts val="400"/>
              </a:spcAft>
            </a:pPr>
            <a:r>
              <a:rPr sz="1200" b="0" i="0">
                <a:solidFill>
                  <a:srgbClr val="6A6AF4"/>
                </a:solidFill>
                <a:latin typeface="Marianne"/>
              </a:rPr>
              <a:t>▪  </a:t>
            </a:r>
            <a:r>
              <a:rPr sz="1300" b="1" i="0">
                <a:solidFill>
                  <a:srgbClr val="161616"/>
                </a:solidFill>
                <a:latin typeface="Marianne"/>
              </a:rPr>
              <a:t>Vibe (Mistral) : </a:t>
            </a:r>
            <a:r>
              <a:rPr sz="1250" b="0" i="0">
                <a:solidFill>
                  <a:srgbClr val="3A3A3A"/>
                </a:solidFill>
                <a:latin typeface="Marianne"/>
              </a:rPr>
              <a:t>plan 14,99–24,99 $/m ou clé API</a:t>
            </a:r>
          </a:p>
          <a:p>
            <a:pPr algn="l" marL="201168" indent="-201168">
              <a:lnSpc>
                <a:spcPct val="105000"/>
              </a:lnSpc>
              <a:spcBef>
                <a:spcPts val="0"/>
              </a:spcBef>
              <a:spcAft>
                <a:spcPts val="400"/>
              </a:spcAft>
            </a:pPr>
            <a:r>
              <a:rPr sz="1200" b="0" i="0">
                <a:solidFill>
                  <a:srgbClr val="6A6AF4"/>
                </a:solidFill>
                <a:latin typeface="Marianne"/>
              </a:rPr>
              <a:t>▪  </a:t>
            </a:r>
            <a:r>
              <a:rPr sz="1300" b="1" i="0">
                <a:solidFill>
                  <a:srgbClr val="161616"/>
                </a:solidFill>
                <a:latin typeface="Marianne"/>
              </a:rPr>
              <a:t>OpenCode + OpenRouter : </a:t>
            </a:r>
            <a:r>
              <a:rPr sz="1250" b="0" i="0">
                <a:solidFill>
                  <a:srgbClr val="3A3A3A"/>
                </a:solidFill>
                <a:latin typeface="Marianne"/>
              </a:rPr>
              <a:t>clé, paiement au token</a:t>
            </a:r>
          </a:p>
          <a:p>
            <a:pPr algn="l" marL="201168" indent="-201168">
              <a:lnSpc>
                <a:spcPct val="105000"/>
              </a:lnSpc>
              <a:spcBef>
                <a:spcPts val="0"/>
              </a:spcBef>
              <a:spcAft>
                <a:spcPts val="400"/>
              </a:spcAft>
            </a:pPr>
            <a:r>
              <a:rPr sz="1200" b="0" i="0">
                <a:solidFill>
                  <a:srgbClr val="6A6AF4"/>
                </a:solidFill>
                <a:latin typeface="Marianne"/>
              </a:rPr>
              <a:t>▪  </a:t>
            </a:r>
            <a:r>
              <a:rPr sz="1300" b="1" i="0">
                <a:solidFill>
                  <a:srgbClr val="161616"/>
                </a:solidFill>
                <a:latin typeface="Marianne"/>
              </a:rPr>
              <a:t>OpenCode + Albert : </a:t>
            </a:r>
            <a:r>
              <a:rPr sz="1250" b="0" i="0">
                <a:solidFill>
                  <a:srgbClr val="3A3A3A"/>
                </a:solidFill>
                <a:latin typeface="Marianne"/>
              </a:rPr>
              <a:t>clé agent État, gratuit</a:t>
            </a:r>
          </a:p>
        </p:txBody>
      </p:sp>
      <p:sp>
        <p:nvSpPr>
          <p:cNvPr id="14" name="Rounded Rectangle 13"/>
          <p:cNvSpPr/>
          <p:nvPr/>
        </p:nvSpPr>
        <p:spPr>
          <a:xfrm>
            <a:off x="6324447" y="2157984"/>
            <a:ext cx="5090007" cy="1993392"/>
          </a:xfrm>
          <a:prstGeom prst="roundRect">
            <a:avLst>
              <a:gd name="adj" fmla="val 5000"/>
            </a:avLst>
          </a:prstGeom>
          <a:solidFill>
            <a:srgbClr val="ECEC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settings-3.png"/>
          <p:cNvPicPr>
            <a:picLocks noChangeAspect="1"/>
          </p:cNvPicPr>
          <p:nvPr/>
        </p:nvPicPr>
        <p:blipFill>
          <a:blip r:embed="rId4"/>
          <a:stretch>
            <a:fillRect/>
          </a:stretch>
        </p:blipFill>
        <p:spPr>
          <a:xfrm>
            <a:off x="6635343" y="2414015"/>
            <a:ext cx="457200" cy="457200"/>
          </a:xfrm>
          <a:prstGeom prst="rect">
            <a:avLst/>
          </a:prstGeom>
        </p:spPr>
      </p:pic>
      <p:sp>
        <p:nvSpPr>
          <p:cNvPr id="16" name="TextBox 15"/>
          <p:cNvSpPr txBox="1"/>
          <p:nvPr/>
        </p:nvSpPr>
        <p:spPr>
          <a:xfrm>
            <a:off x="7238847" y="2414015"/>
            <a:ext cx="3992727" cy="457200"/>
          </a:xfrm>
          <a:prstGeom prst="rect">
            <a:avLst/>
          </a:prstGeom>
          <a:noFill/>
        </p:spPr>
        <p:txBody>
          <a:bodyPr wrap="square" lIns="0" rIns="0" tIns="0" bIns="0" anchor="ctr">
            <a:spAutoFit/>
          </a:bodyPr>
          <a:lstStyle/>
          <a:p>
            <a:pPr algn="l">
              <a:lnSpc>
                <a:spcPct val="106000"/>
              </a:lnSpc>
              <a:spcBef>
                <a:spcPts val="0"/>
              </a:spcBef>
              <a:spcAft>
                <a:spcPts val="0"/>
              </a:spcAft>
            </a:pPr>
            <a:r>
              <a:rPr sz="1700" b="1" i="0">
                <a:solidFill>
                  <a:srgbClr val="000091"/>
                </a:solidFill>
                <a:latin typeface="Marianne"/>
              </a:rPr>
              <a:t>Bots sur CI/CD</a:t>
            </a:r>
          </a:p>
        </p:txBody>
      </p:sp>
      <p:sp>
        <p:nvSpPr>
          <p:cNvPr id="17" name="TextBox 16"/>
          <p:cNvSpPr txBox="1"/>
          <p:nvPr/>
        </p:nvSpPr>
        <p:spPr>
          <a:xfrm>
            <a:off x="6653631" y="2980944"/>
            <a:ext cx="4449927" cy="1097280"/>
          </a:xfrm>
          <a:prstGeom prst="rect">
            <a:avLst/>
          </a:prstGeom>
          <a:noFill/>
        </p:spPr>
        <p:txBody>
          <a:bodyPr wrap="square" lIns="0" rIns="0" tIns="0" bIns="0" anchor="t">
            <a:spAutoFit/>
          </a:bodyPr>
          <a:lstStyle/>
          <a:p>
            <a:pPr algn="l" marL="201168" indent="-201168">
              <a:lnSpc>
                <a:spcPct val="105000"/>
              </a:lnSpc>
              <a:spcBef>
                <a:spcPts val="0"/>
              </a:spcBef>
              <a:spcAft>
                <a:spcPts val="400"/>
              </a:spcAft>
            </a:pPr>
            <a:r>
              <a:rPr sz="1200" b="0" i="0">
                <a:solidFill>
                  <a:srgbClr val="6A6AF4"/>
                </a:solidFill>
                <a:latin typeface="Marianne"/>
              </a:rPr>
              <a:t>▪  </a:t>
            </a:r>
            <a:r>
              <a:rPr sz="1300" b="1" i="0">
                <a:solidFill>
                  <a:srgbClr val="161616"/>
                </a:solidFill>
                <a:latin typeface="Marianne"/>
              </a:rPr>
              <a:t>Au token pour tous : </a:t>
            </a:r>
            <a:r>
              <a:rPr sz="1250" b="0" i="0">
                <a:solidFill>
                  <a:srgbClr val="3A3A3A"/>
                </a:solidFill>
                <a:latin typeface="Marianne"/>
              </a:rPr>
              <a:t>pas de siège, clé API</a:t>
            </a:r>
          </a:p>
          <a:p>
            <a:pPr algn="l" marL="201168" indent="-201168">
              <a:lnSpc>
                <a:spcPct val="105000"/>
              </a:lnSpc>
              <a:spcBef>
                <a:spcPts val="0"/>
              </a:spcBef>
              <a:spcAft>
                <a:spcPts val="400"/>
              </a:spcAft>
            </a:pPr>
            <a:r>
              <a:rPr sz="1200" b="0" i="0">
                <a:solidFill>
                  <a:srgbClr val="6A6AF4"/>
                </a:solidFill>
                <a:latin typeface="Marianne"/>
              </a:rPr>
              <a:t>▪  </a:t>
            </a:r>
            <a:r>
              <a:rPr sz="1300" b="1" i="0">
                <a:solidFill>
                  <a:srgbClr val="161616"/>
                </a:solidFill>
                <a:latin typeface="Marianne"/>
              </a:rPr>
              <a:t>Tarifs / 1M en sortie : </a:t>
            </a:r>
            <a:r>
              <a:rPr sz="1250" b="0" i="0">
                <a:solidFill>
                  <a:srgbClr val="3A3A3A"/>
                </a:solidFill>
                <a:latin typeface="Marianne"/>
              </a:rPr>
              <a:t>de 0,87 $ (DeepSeek) à 50 $ (Fable 5)</a:t>
            </a:r>
          </a:p>
          <a:p>
            <a:pPr algn="l" marL="201168" indent="-201168">
              <a:lnSpc>
                <a:spcPct val="105000"/>
              </a:lnSpc>
              <a:spcBef>
                <a:spcPts val="0"/>
              </a:spcBef>
              <a:spcAft>
                <a:spcPts val="400"/>
              </a:spcAft>
            </a:pPr>
            <a:r>
              <a:rPr sz="1200" b="0" i="0">
                <a:solidFill>
                  <a:srgbClr val="6A6AF4"/>
                </a:solidFill>
                <a:latin typeface="Marianne"/>
              </a:rPr>
              <a:t>▪  </a:t>
            </a:r>
            <a:r>
              <a:rPr sz="1300" b="1" i="0">
                <a:solidFill>
                  <a:srgbClr val="161616"/>
                </a:solidFill>
                <a:latin typeface="Marianne"/>
              </a:rPr>
              <a:t>Albert : </a:t>
            </a:r>
            <a:r>
              <a:rPr sz="1250" b="0" i="0">
                <a:solidFill>
                  <a:srgbClr val="3A3A3A"/>
                </a:solidFill>
                <a:latin typeface="Marianne"/>
              </a:rPr>
              <a:t>gratuit mais quotas 10–50 req/min</a:t>
            </a:r>
          </a:p>
        </p:txBody>
      </p:sp>
      <p:sp>
        <p:nvSpPr>
          <p:cNvPr id="18" name="TextBox 17"/>
          <p:cNvSpPr txBox="1"/>
          <p:nvPr/>
        </p:nvSpPr>
        <p:spPr>
          <a:xfrm>
            <a:off x="777240" y="4297680"/>
            <a:ext cx="10637215" cy="310896"/>
          </a:xfrm>
          <a:prstGeom prst="rect">
            <a:avLst/>
          </a:prstGeom>
          <a:noFill/>
        </p:spPr>
        <p:txBody>
          <a:bodyPr wrap="square" lIns="0" rIns="0" tIns="0" bIns="0" anchor="t">
            <a:spAutoFit/>
          </a:bodyPr>
          <a:lstStyle/>
          <a:p>
            <a:pPr algn="l">
              <a:lnSpc>
                <a:spcPct val="106000"/>
              </a:lnSpc>
              <a:spcBef>
                <a:spcPts val="0"/>
              </a:spcBef>
              <a:spcAft>
                <a:spcPts val="0"/>
              </a:spcAft>
            </a:pPr>
            <a:r>
              <a:rPr sz="1500" b="1" i="0">
                <a:solidFill>
                  <a:srgbClr val="161616"/>
                </a:solidFill>
                <a:latin typeface="Marianne"/>
              </a:rPr>
              <a:t>Recommandation selon la priorité</a:t>
            </a:r>
          </a:p>
        </p:txBody>
      </p:sp>
      <p:sp>
        <p:nvSpPr>
          <p:cNvPr id="19" name="Rounded Rectangle 18"/>
          <p:cNvSpPr/>
          <p:nvPr/>
        </p:nvSpPr>
        <p:spPr>
          <a:xfrm>
            <a:off x="777240" y="4681728"/>
            <a:ext cx="2453563" cy="1298448"/>
          </a:xfrm>
          <a:prstGeom prst="roundRect">
            <a:avLst>
              <a:gd name="adj" fmla="val 6000"/>
            </a:avLst>
          </a:prstGeom>
          <a:solidFill>
            <a:srgbClr val="FFFFFF"/>
          </a:solidFill>
          <a:ln w="17780">
            <a:solidFill>
              <a:srgbClr val="00009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rocket.png"/>
          <p:cNvPicPr>
            <a:picLocks noChangeAspect="1"/>
          </p:cNvPicPr>
          <p:nvPr/>
        </p:nvPicPr>
        <p:blipFill>
          <a:blip r:embed="rId5"/>
          <a:stretch>
            <a:fillRect/>
          </a:stretch>
        </p:blipFill>
        <p:spPr>
          <a:xfrm>
            <a:off x="978408" y="4846320"/>
            <a:ext cx="365760" cy="365760"/>
          </a:xfrm>
          <a:prstGeom prst="rect">
            <a:avLst/>
          </a:prstGeom>
        </p:spPr>
      </p:pic>
      <p:sp>
        <p:nvSpPr>
          <p:cNvPr id="21" name="TextBox 20"/>
          <p:cNvSpPr txBox="1"/>
          <p:nvPr/>
        </p:nvSpPr>
        <p:spPr>
          <a:xfrm>
            <a:off x="1453895" y="4828032"/>
            <a:ext cx="1630603" cy="457200"/>
          </a:xfrm>
          <a:prstGeom prst="rect">
            <a:avLst/>
          </a:prstGeom>
          <a:noFill/>
        </p:spPr>
        <p:txBody>
          <a:bodyPr wrap="square" lIns="0" rIns="0" tIns="0" bIns="0" anchor="ctr">
            <a:spAutoFit/>
          </a:bodyPr>
          <a:lstStyle/>
          <a:p>
            <a:pPr algn="l">
              <a:lnSpc>
                <a:spcPct val="98000"/>
              </a:lnSpc>
              <a:spcBef>
                <a:spcPts val="0"/>
              </a:spcBef>
              <a:spcAft>
                <a:spcPts val="0"/>
              </a:spcAft>
            </a:pPr>
            <a:r>
              <a:rPr sz="1100" b="1" i="0">
                <a:solidFill>
                  <a:srgbClr val="000091"/>
                </a:solidFill>
                <a:latin typeface="Marianne"/>
              </a:rPr>
              <a:t>Performance</a:t>
            </a:r>
          </a:p>
        </p:txBody>
      </p:sp>
      <p:sp>
        <p:nvSpPr>
          <p:cNvPr id="22" name="TextBox 21"/>
          <p:cNvSpPr txBox="1"/>
          <p:nvPr/>
        </p:nvSpPr>
        <p:spPr>
          <a:xfrm>
            <a:off x="978408" y="5321808"/>
            <a:ext cx="2069515" cy="585215"/>
          </a:xfrm>
          <a:prstGeom prst="rect">
            <a:avLst/>
          </a:prstGeom>
          <a:noFill/>
        </p:spPr>
        <p:txBody>
          <a:bodyPr wrap="square" lIns="0" rIns="0" tIns="0" bIns="0" anchor="t">
            <a:spAutoFit/>
          </a:bodyPr>
          <a:lstStyle/>
          <a:p>
            <a:pPr algn="l">
              <a:lnSpc>
                <a:spcPct val="100000"/>
              </a:lnSpc>
              <a:spcBef>
                <a:spcPts val="0"/>
              </a:spcBef>
              <a:spcAft>
                <a:spcPts val="0"/>
              </a:spcAft>
            </a:pPr>
            <a:r>
              <a:rPr sz="1200" b="1" i="0">
                <a:solidFill>
                  <a:srgbClr val="161616"/>
                </a:solidFill>
                <a:latin typeface="Marianne"/>
              </a:rPr>
              <a:t>Claude Code · Fable 5</a:t>
            </a:r>
          </a:p>
          <a:p>
            <a:pPr algn="l">
              <a:lnSpc>
                <a:spcPct val="106000"/>
              </a:lnSpc>
              <a:spcBef>
                <a:spcPts val="300"/>
              </a:spcBef>
              <a:spcAft>
                <a:spcPts val="0"/>
              </a:spcAft>
            </a:pPr>
            <a:r>
              <a:rPr sz="950" b="0" i="0">
                <a:solidFill>
                  <a:srgbClr val="3A3A3A"/>
                </a:solidFill>
                <a:latin typeface="Marianne"/>
              </a:rPr>
              <a:t>95,0 % SWE-bench, via Bedrock. </a:t>
            </a:r>
            <a:r>
              <a:rPr sz="950" b="0" i="1">
                <a:solidFill>
                  <a:srgbClr val="6A6A6A"/>
                </a:solidFill>
                <a:latin typeface="Marianne"/>
              </a:rPr>
              <a:t>Le plus cher, CLOUD Act.</a:t>
            </a:r>
          </a:p>
        </p:txBody>
      </p:sp>
      <p:sp>
        <p:nvSpPr>
          <p:cNvPr id="23" name="Rounded Rectangle 22"/>
          <p:cNvSpPr/>
          <p:nvPr/>
        </p:nvSpPr>
        <p:spPr>
          <a:xfrm>
            <a:off x="3505123" y="4681728"/>
            <a:ext cx="2453563" cy="1298448"/>
          </a:xfrm>
          <a:prstGeom prst="roundRect">
            <a:avLst>
              <a:gd name="adj" fmla="val 6000"/>
            </a:avLst>
          </a:prstGeom>
          <a:solidFill>
            <a:srgbClr val="FFFFFF"/>
          </a:solidFill>
          <a:ln w="17780">
            <a:solidFill>
              <a:srgbClr val="18753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government.png"/>
          <p:cNvPicPr>
            <a:picLocks noChangeAspect="1"/>
          </p:cNvPicPr>
          <p:nvPr/>
        </p:nvPicPr>
        <p:blipFill>
          <a:blip r:embed="rId6"/>
          <a:stretch>
            <a:fillRect/>
          </a:stretch>
        </p:blipFill>
        <p:spPr>
          <a:xfrm>
            <a:off x="3706291" y="4846320"/>
            <a:ext cx="365760" cy="365760"/>
          </a:xfrm>
          <a:prstGeom prst="rect">
            <a:avLst/>
          </a:prstGeom>
        </p:spPr>
      </p:pic>
      <p:sp>
        <p:nvSpPr>
          <p:cNvPr id="25" name="TextBox 24"/>
          <p:cNvSpPr txBox="1"/>
          <p:nvPr/>
        </p:nvSpPr>
        <p:spPr>
          <a:xfrm>
            <a:off x="4181779" y="4828032"/>
            <a:ext cx="1630603" cy="457200"/>
          </a:xfrm>
          <a:prstGeom prst="rect">
            <a:avLst/>
          </a:prstGeom>
          <a:noFill/>
        </p:spPr>
        <p:txBody>
          <a:bodyPr wrap="square" lIns="0" rIns="0" tIns="0" bIns="0" anchor="ctr">
            <a:spAutoFit/>
          </a:bodyPr>
          <a:lstStyle/>
          <a:p>
            <a:pPr algn="l">
              <a:lnSpc>
                <a:spcPct val="98000"/>
              </a:lnSpc>
              <a:spcBef>
                <a:spcPts val="0"/>
              </a:spcBef>
              <a:spcAft>
                <a:spcPts val="0"/>
              </a:spcAft>
            </a:pPr>
            <a:r>
              <a:rPr sz="1100" b="1" i="0">
                <a:solidFill>
                  <a:srgbClr val="18753C"/>
                </a:solidFill>
                <a:latin typeface="Marianne"/>
              </a:rPr>
              <a:t>Souveraineté &amp; coût</a:t>
            </a:r>
          </a:p>
        </p:txBody>
      </p:sp>
      <p:sp>
        <p:nvSpPr>
          <p:cNvPr id="26" name="TextBox 25"/>
          <p:cNvSpPr txBox="1"/>
          <p:nvPr/>
        </p:nvSpPr>
        <p:spPr>
          <a:xfrm>
            <a:off x="3706291" y="5321808"/>
            <a:ext cx="2069515" cy="585215"/>
          </a:xfrm>
          <a:prstGeom prst="rect">
            <a:avLst/>
          </a:prstGeom>
          <a:noFill/>
        </p:spPr>
        <p:txBody>
          <a:bodyPr wrap="square" lIns="0" rIns="0" tIns="0" bIns="0" anchor="t">
            <a:spAutoFit/>
          </a:bodyPr>
          <a:lstStyle/>
          <a:p>
            <a:pPr algn="l">
              <a:lnSpc>
                <a:spcPct val="100000"/>
              </a:lnSpc>
              <a:spcBef>
                <a:spcPts val="0"/>
              </a:spcBef>
              <a:spcAft>
                <a:spcPts val="0"/>
              </a:spcAft>
            </a:pPr>
            <a:r>
              <a:rPr sz="1200" b="1" i="0">
                <a:solidFill>
                  <a:srgbClr val="161616"/>
                </a:solidFill>
                <a:latin typeface="Marianne"/>
              </a:rPr>
              <a:t>Albert · DeepSeek Flash</a:t>
            </a:r>
          </a:p>
          <a:p>
            <a:pPr algn="l">
              <a:lnSpc>
                <a:spcPct val="106000"/>
              </a:lnSpc>
              <a:spcBef>
                <a:spcPts val="300"/>
              </a:spcBef>
              <a:spcAft>
                <a:spcPts val="0"/>
              </a:spcAft>
            </a:pPr>
            <a:r>
              <a:rPr sz="950" b="0" i="0">
                <a:solidFill>
                  <a:srgbClr val="3A3A3A"/>
                </a:solidFill>
                <a:latin typeface="Marianne"/>
              </a:rPr>
              <a:t>Gratuit, SecNumCloud, ≈79 %. </a:t>
            </a:r>
            <a:r>
              <a:rPr sz="950" b="0" i="1">
                <a:solidFill>
                  <a:srgbClr val="6A6A6A"/>
                </a:solidFill>
                <a:latin typeface="Marianne"/>
              </a:rPr>
              <a:t>Réservé agents État.</a:t>
            </a:r>
          </a:p>
        </p:txBody>
      </p:sp>
      <p:sp>
        <p:nvSpPr>
          <p:cNvPr id="27" name="Rounded Rectangle 26"/>
          <p:cNvSpPr/>
          <p:nvPr/>
        </p:nvSpPr>
        <p:spPr>
          <a:xfrm>
            <a:off x="6233007" y="4681728"/>
            <a:ext cx="2453563" cy="1298448"/>
          </a:xfrm>
          <a:prstGeom prst="roundRect">
            <a:avLst>
              <a:gd name="adj" fmla="val 6000"/>
            </a:avLst>
          </a:prstGeom>
          <a:solidFill>
            <a:srgbClr val="FFFFFF"/>
          </a:solidFill>
          <a:ln w="17780">
            <a:solidFill>
              <a:srgbClr val="6A6AF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8" name="Picture 27" descr="shield-check.png"/>
          <p:cNvPicPr>
            <a:picLocks noChangeAspect="1"/>
          </p:cNvPicPr>
          <p:nvPr/>
        </p:nvPicPr>
        <p:blipFill>
          <a:blip r:embed="rId7"/>
          <a:stretch>
            <a:fillRect/>
          </a:stretch>
        </p:blipFill>
        <p:spPr>
          <a:xfrm>
            <a:off x="6434175" y="4846320"/>
            <a:ext cx="365760" cy="365760"/>
          </a:xfrm>
          <a:prstGeom prst="rect">
            <a:avLst/>
          </a:prstGeom>
        </p:spPr>
      </p:pic>
      <p:sp>
        <p:nvSpPr>
          <p:cNvPr id="29" name="TextBox 28"/>
          <p:cNvSpPr txBox="1"/>
          <p:nvPr/>
        </p:nvSpPr>
        <p:spPr>
          <a:xfrm>
            <a:off x="6909663" y="4828032"/>
            <a:ext cx="1630603" cy="457200"/>
          </a:xfrm>
          <a:prstGeom prst="rect">
            <a:avLst/>
          </a:prstGeom>
          <a:noFill/>
        </p:spPr>
        <p:txBody>
          <a:bodyPr wrap="square" lIns="0" rIns="0" tIns="0" bIns="0" anchor="ctr">
            <a:spAutoFit/>
          </a:bodyPr>
          <a:lstStyle/>
          <a:p>
            <a:pPr algn="l">
              <a:lnSpc>
                <a:spcPct val="98000"/>
              </a:lnSpc>
              <a:spcBef>
                <a:spcPts val="0"/>
              </a:spcBef>
              <a:spcAft>
                <a:spcPts val="0"/>
              </a:spcAft>
            </a:pPr>
            <a:r>
              <a:rPr sz="1100" b="1" i="0">
                <a:solidFill>
                  <a:srgbClr val="6A6AF4"/>
                </a:solidFill>
                <a:latin typeface="Marianne"/>
              </a:rPr>
              <a:t>Conformité UE</a:t>
            </a:r>
          </a:p>
        </p:txBody>
      </p:sp>
      <p:sp>
        <p:nvSpPr>
          <p:cNvPr id="30" name="TextBox 29"/>
          <p:cNvSpPr txBox="1"/>
          <p:nvPr/>
        </p:nvSpPr>
        <p:spPr>
          <a:xfrm>
            <a:off x="6434175" y="5321808"/>
            <a:ext cx="2069515" cy="585215"/>
          </a:xfrm>
          <a:prstGeom prst="rect">
            <a:avLst/>
          </a:prstGeom>
          <a:noFill/>
        </p:spPr>
        <p:txBody>
          <a:bodyPr wrap="square" lIns="0" rIns="0" tIns="0" bIns="0" anchor="t">
            <a:spAutoFit/>
          </a:bodyPr>
          <a:lstStyle/>
          <a:p>
            <a:pPr algn="l">
              <a:lnSpc>
                <a:spcPct val="100000"/>
              </a:lnSpc>
              <a:spcBef>
                <a:spcPts val="0"/>
              </a:spcBef>
              <a:spcAft>
                <a:spcPts val="0"/>
              </a:spcAft>
            </a:pPr>
            <a:r>
              <a:rPr sz="1200" b="1" i="0">
                <a:solidFill>
                  <a:srgbClr val="161616"/>
                </a:solidFill>
                <a:latin typeface="Marianne"/>
              </a:rPr>
              <a:t>Vibe · Mistral Medium 3.5</a:t>
            </a:r>
          </a:p>
          <a:p>
            <a:pPr algn="l">
              <a:lnSpc>
                <a:spcPct val="106000"/>
              </a:lnSpc>
              <a:spcBef>
                <a:spcPts val="300"/>
              </a:spcBef>
              <a:spcAft>
                <a:spcPts val="0"/>
              </a:spcAft>
            </a:pPr>
            <a:r>
              <a:rPr sz="950" b="0" i="0">
                <a:solidFill>
                  <a:srgbClr val="3A3A3A"/>
                </a:solidFill>
                <a:latin typeface="Marianne"/>
              </a:rPr>
              <a:t>77,6 %, RGPD, éditeur FR. </a:t>
            </a:r>
            <a:r>
              <a:rPr sz="950" b="0" i="1">
                <a:solidFill>
                  <a:srgbClr val="6A6A6A"/>
                </a:solidFill>
                <a:latin typeface="Marianne"/>
              </a:rPr>
              <a:t>Perf en retrait.</a:t>
            </a:r>
          </a:p>
        </p:txBody>
      </p:sp>
      <p:sp>
        <p:nvSpPr>
          <p:cNvPr id="31" name="Rounded Rectangle 30"/>
          <p:cNvSpPr/>
          <p:nvPr/>
        </p:nvSpPr>
        <p:spPr>
          <a:xfrm>
            <a:off x="8960891" y="4681728"/>
            <a:ext cx="2453563" cy="1298448"/>
          </a:xfrm>
          <a:prstGeom prst="roundRect">
            <a:avLst>
              <a:gd name="adj" fmla="val 6000"/>
            </a:avLst>
          </a:prstGeom>
          <a:solidFill>
            <a:srgbClr val="FFFFFF"/>
          </a:solidFill>
          <a:ln w="17780">
            <a:solidFill>
              <a:srgbClr val="B85C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2" name="Picture 31" descr="focus-3.png"/>
          <p:cNvPicPr>
            <a:picLocks noChangeAspect="1"/>
          </p:cNvPicPr>
          <p:nvPr/>
        </p:nvPicPr>
        <p:blipFill>
          <a:blip r:embed="rId8"/>
          <a:stretch>
            <a:fillRect/>
          </a:stretch>
        </p:blipFill>
        <p:spPr>
          <a:xfrm>
            <a:off x="9162059" y="4846320"/>
            <a:ext cx="365760" cy="365760"/>
          </a:xfrm>
          <a:prstGeom prst="rect">
            <a:avLst/>
          </a:prstGeom>
        </p:spPr>
      </p:pic>
      <p:sp>
        <p:nvSpPr>
          <p:cNvPr id="33" name="TextBox 32"/>
          <p:cNvSpPr txBox="1"/>
          <p:nvPr/>
        </p:nvSpPr>
        <p:spPr>
          <a:xfrm>
            <a:off x="9637547" y="4828032"/>
            <a:ext cx="1630603" cy="457200"/>
          </a:xfrm>
          <a:prstGeom prst="rect">
            <a:avLst/>
          </a:prstGeom>
          <a:noFill/>
        </p:spPr>
        <p:txBody>
          <a:bodyPr wrap="square" lIns="0" rIns="0" tIns="0" bIns="0" anchor="ctr">
            <a:spAutoFit/>
          </a:bodyPr>
          <a:lstStyle/>
          <a:p>
            <a:pPr algn="l">
              <a:lnSpc>
                <a:spcPct val="98000"/>
              </a:lnSpc>
              <a:spcBef>
                <a:spcPts val="0"/>
              </a:spcBef>
              <a:spcAft>
                <a:spcPts val="0"/>
              </a:spcAft>
            </a:pPr>
            <a:r>
              <a:rPr sz="1100" b="1" i="0">
                <a:solidFill>
                  <a:srgbClr val="B85C00"/>
                </a:solidFill>
                <a:latin typeface="Marianne"/>
              </a:rPr>
              <a:t>Rapport perf / prix</a:t>
            </a:r>
          </a:p>
        </p:txBody>
      </p:sp>
      <p:sp>
        <p:nvSpPr>
          <p:cNvPr id="34" name="TextBox 33"/>
          <p:cNvSpPr txBox="1"/>
          <p:nvPr/>
        </p:nvSpPr>
        <p:spPr>
          <a:xfrm>
            <a:off x="9162059" y="5321808"/>
            <a:ext cx="2069515" cy="585215"/>
          </a:xfrm>
          <a:prstGeom prst="rect">
            <a:avLst/>
          </a:prstGeom>
          <a:noFill/>
        </p:spPr>
        <p:txBody>
          <a:bodyPr wrap="square" lIns="0" rIns="0" tIns="0" bIns="0" anchor="t">
            <a:spAutoFit/>
          </a:bodyPr>
          <a:lstStyle/>
          <a:p>
            <a:pPr algn="l">
              <a:lnSpc>
                <a:spcPct val="100000"/>
              </a:lnSpc>
              <a:spcBef>
                <a:spcPts val="0"/>
              </a:spcBef>
              <a:spcAft>
                <a:spcPts val="0"/>
              </a:spcAft>
            </a:pPr>
            <a:r>
              <a:rPr sz="1200" b="1" i="0">
                <a:solidFill>
                  <a:srgbClr val="161616"/>
                </a:solidFill>
                <a:latin typeface="Marianne"/>
              </a:rPr>
              <a:t>DeepSeek V4 Pro · OR</a:t>
            </a:r>
          </a:p>
          <a:p>
            <a:pPr algn="l">
              <a:lnSpc>
                <a:spcPct val="106000"/>
              </a:lnSpc>
              <a:spcBef>
                <a:spcPts val="300"/>
              </a:spcBef>
              <a:spcAft>
                <a:spcPts val="0"/>
              </a:spcAft>
            </a:pPr>
            <a:r>
              <a:rPr sz="950" b="0" i="0">
                <a:solidFill>
                  <a:srgbClr val="3A3A3A"/>
                </a:solidFill>
                <a:latin typeface="Marianne"/>
              </a:rPr>
              <a:t>80,6 % pour ~0,9 $ / 1M. </a:t>
            </a:r>
            <a:r>
              <a:rPr sz="950" b="0" i="1">
                <a:solidFill>
                  <a:srgbClr val="6A6A6A"/>
                </a:solidFill>
                <a:latin typeface="Marianne"/>
              </a:rPr>
              <a:t>Éditeur CN, routeur US.</a:t>
            </a:r>
          </a:p>
        </p:txBody>
      </p:sp>
      <p:sp>
        <p:nvSpPr>
          <p:cNvPr id="35" name="TextBox 34"/>
          <p:cNvSpPr txBox="1"/>
          <p:nvPr/>
        </p:nvSpPr>
        <p:spPr>
          <a:xfrm>
            <a:off x="777240" y="6071616"/>
            <a:ext cx="10637215" cy="457200"/>
          </a:xfrm>
          <a:prstGeom prst="rect">
            <a:avLst/>
          </a:prstGeom>
          <a:noFill/>
        </p:spPr>
        <p:txBody>
          <a:bodyPr wrap="square" lIns="0" rIns="0" tIns="0" bIns="0" anchor="t">
            <a:spAutoFit/>
          </a:bodyPr>
          <a:lstStyle/>
          <a:p>
            <a:pPr algn="l">
              <a:lnSpc>
                <a:spcPct val="108000"/>
              </a:lnSpc>
              <a:spcBef>
                <a:spcPts val="0"/>
              </a:spcBef>
              <a:spcAft>
                <a:spcPts val="0"/>
              </a:spcAft>
            </a:pPr>
            <a:r>
              <a:rPr sz="1000" b="1" i="0">
                <a:solidFill>
                  <a:srgbClr val="6A6A6A"/>
                </a:solidFill>
                <a:latin typeface="Marianne"/>
              </a:rPr>
              <a:t>À noter : </a:t>
            </a:r>
            <a:r>
              <a:rPr sz="1000" b="0" i="1">
                <a:solidFill>
                  <a:srgbClr val="6A6A6A"/>
                </a:solidFill>
                <a:latin typeface="Marianne"/>
              </a:rPr>
              <a:t>OpenCode + Albert documenté par la DINUM (guides.ia.numerique.gouv.fr) · catalogue Albert à confirmer via /v1/models · DeepSeek V4 = tarif preview · Kimi K3 = score annoncé éditeur, capacité OpenRouter limitée · Fable 5 sur Bedrock = data sharing à activer + rétention 30 j · tarifs OpenRouter = catalogue (caching −60/80 %).</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