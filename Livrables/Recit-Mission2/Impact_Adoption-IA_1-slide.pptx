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00091"/>
                </a:solidFill>
                <a:latin typeface="Marianne"/>
              </a:rPr>
              <a:t>TRANSFORMATION IA · MINISTÈRES SOCIAUX · SEMAINE DU 10 AU 14 AOÛT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0091"/>
                </a:solidFill>
                <a:latin typeface="Marianne"/>
              </a:rPr>
              <a:t>De l'usage individuel à l'adoption par les équipes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666666"/>
                </a:solidFill>
                <a:latin typeface="Marianne"/>
              </a:rPr>
              <a:t>Une acculturation réelle aux rôles et aux métiers — pas des démos.</a:t>
            </a:r>
          </a:p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666666"/>
                </a:solidFill>
                <a:latin typeface="Marianne"/>
              </a:rPr>
              <a:t>Impact · Ippon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109960" cy="1828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arianne"/>
              </a:rPr>
              <a:t>Le sujet n'est pas d'installer un outil, mais de </a:t>
            </a:r>
            <a:r>
              <a:rPr sz="1200" b="1">
                <a:solidFill>
                  <a:srgbClr val="000091"/>
                </a:solidFill>
                <a:latin typeface="Marianne"/>
              </a:rPr>
              <a:t>faire de l'IA une vraie pratique d'équipe</a:t>
            </a:r>
            <a:r>
              <a:rPr sz="1200" b="0">
                <a:solidFill>
                  <a:srgbClr val="2B2B2B"/>
                </a:solidFill>
                <a:latin typeface="Marianne"/>
              </a:rPr>
              <a:t> : on accompagne chaque rôle sur son métier, on lève les freins (outillage interne, souveraineté), et la demande devient entrante — les équipes viennent nous chercher.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84831"/>
            <a:ext cx="3584448" cy="2743200"/>
          </a:xfrm>
          <a:prstGeom prst="rect">
            <a:avLst/>
          </a:prstGeom>
          <a:solidFill>
            <a:srgbClr val="F5F5FE"/>
          </a:solidFill>
          <a:ln w="9525">
            <a:solidFill>
              <a:srgbClr val="E3E3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3584448" cy="502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194560"/>
            <a:ext cx="3328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0091"/>
                </a:solidFill>
                <a:latin typeface="Marianne"/>
              </a:rPr>
              <a:t>LES ÉQUIPES ACCOMPAGNÉES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450591"/>
            <a:ext cx="3328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>
                <a:solidFill>
                  <a:srgbClr val="666666"/>
                </a:solidFill>
                <a:latin typeface="Marianne"/>
              </a:rPr>
              <a:t>5 chantiers · 4 métiers · de la pratique au passage à l'échelle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706624"/>
            <a:ext cx="33284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Egapro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pilote, passé de 3 à 4 en maturité : orchestrations en routine.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DACCORD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équipe moteur, monte sa propre orchestration (1 → 2).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SIRENA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demande entrante : la cheffe de projet demande à être formée.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VAO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en découverte, atelier dev augmenté le 8 septembre.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Transverse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architectes (1 → 2), designers, référentiels (CEPS compris).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1396" y="2084831"/>
            <a:ext cx="3584448" cy="2743200"/>
          </a:xfrm>
          <a:prstGeom prst="rect">
            <a:avLst/>
          </a:prstGeom>
          <a:solidFill>
            <a:srgbClr val="F5F5FE"/>
          </a:solidFill>
          <a:ln w="9525">
            <a:solidFill>
              <a:srgbClr val="E3E3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1396" y="2084831"/>
            <a:ext cx="3584448" cy="502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9412" y="2194560"/>
            <a:ext cx="3328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0091"/>
                </a:solidFill>
                <a:latin typeface="Marianne"/>
              </a:rPr>
              <a:t>RÔLES AVEC LESQUELS ÇA AVANCE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9412" y="2450591"/>
            <a:ext cx="3328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>
                <a:solidFill>
                  <a:srgbClr val="666666"/>
                </a:solidFill>
                <a:latin typeface="Marianne"/>
              </a:rPr>
              <a:t>Autant de leviers que de métiers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9412" y="2706624"/>
            <a:ext cx="33284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Développeurs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orchestrations sécurisées : le code n'est plus testé par l'agent qui l'a écrit.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Chefs de projet / PM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Egapro pilote à la vitesse de l'IA · DACCORD &amp; SIRENA passent aux tickets générés.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Designers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prototypes DSFR testables, maquette Figma générée : Louis valide (13/08).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Architectes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cinq use cases identifiés, priorisés par eux-mêmes.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PO &amp; RU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use cases en formalisation (Olivier, Felix).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2084831"/>
            <a:ext cx="3584448" cy="2743200"/>
          </a:xfrm>
          <a:prstGeom prst="rect">
            <a:avLst/>
          </a:prstGeom>
          <a:solidFill>
            <a:srgbClr val="F5F5FE"/>
          </a:solidFill>
          <a:ln w="9525">
            <a:solidFill>
              <a:srgbClr val="E3E3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2084831"/>
            <a:ext cx="3584448" cy="502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194560"/>
            <a:ext cx="3328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0091"/>
                </a:solidFill>
                <a:latin typeface="Marianne"/>
              </a:rPr>
              <a:t>CE QUI CONDITIONNE L'ÉCHELLE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450591"/>
            <a:ext cx="3328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>
                <a:solidFill>
                  <a:srgbClr val="666666"/>
                </a:solidFill>
                <a:latin typeface="Marianne"/>
              </a:rPr>
              <a:t>Poste de travail · fournisseurs · bench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706624"/>
            <a:ext cx="33284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Poste de travail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deux voies opérationnelles sur PC ministère : OpenCode Desktop, Claude Code dans VS Code ; la matrice « qui peut utiliser quoi » est livrée.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Fournisseurs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Bedrock viable (Claude Code + observabilité) mais harness imposé : Scaleway et Vertex AI à explorer.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>
                <a:solidFill>
                  <a:srgbClr val="1E1E1E"/>
                </a:solidFill>
                <a:latin typeface="Marianne"/>
              </a:rPr>
              <a:t>Bench</a:t>
            </a:r>
            <a:r>
              <a:rPr sz="950" b="0">
                <a:solidFill>
                  <a:srgbClr val="2B2B2B"/>
                </a:solidFill>
                <a:latin typeface="Marianne"/>
              </a:rPr>
              <a:t> — 7 stacks comparées (perf / prix / souveraineté / conformité), élargi aux modèles Bedrock en août.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56048"/>
            <a:ext cx="11109960" cy="1298448"/>
          </a:xfrm>
          <a:prstGeom prst="rect">
            <a:avLst/>
          </a:prstGeom>
          <a:solidFill>
            <a:srgbClr val="DA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56048"/>
            <a:ext cx="64008" cy="1298448"/>
          </a:xfrm>
          <a:prstGeom prst="rect">
            <a:avLst/>
          </a:prstGeom>
          <a:solidFill>
            <a:srgbClr val="187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04748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8753C"/>
                </a:solidFill>
                <a:latin typeface="Marianne"/>
              </a:rPr>
              <a:t>LE DÉCLIC, MÉTIER PAR MÉTIER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321807"/>
            <a:ext cx="107076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00091"/>
                </a:solidFill>
                <a:latin typeface="Marianne"/>
              </a:rPr>
              <a:t>DACCORD</a:t>
            </a:r>
            <a:r>
              <a:rPr sz="950" b="0">
                <a:solidFill>
                  <a:srgbClr val="1E1E1E"/>
                </a:solidFill>
                <a:latin typeface="Marianne"/>
              </a:rPr>
              <a:t> : dès le lundi suivant le coaching, l'équipe met en commun ses </a:t>
            </a:r>
            <a:r>
              <a:rPr sz="950" b="1">
                <a:solidFill>
                  <a:srgbClr val="000091"/>
                </a:solidFill>
                <a:latin typeface="Marianne"/>
              </a:rPr>
              <a:t>system prompts</a:t>
            </a:r>
            <a:r>
              <a:rPr sz="950" b="0">
                <a:solidFill>
                  <a:srgbClr val="1E1E1E"/>
                </a:solidFill>
                <a:latin typeface="Marianne"/>
              </a:rPr>
              <a:t> de sa propre initiative ; l'orchestration se monte en accompagnement individuel. </a:t>
            </a:r>
            <a:r>
              <a:rPr sz="950" b="1">
                <a:solidFill>
                  <a:srgbClr val="000091"/>
                </a:solidFill>
                <a:latin typeface="Marianne"/>
              </a:rPr>
              <a:t>Chefs de projet</a:t>
            </a:r>
            <a:r>
              <a:rPr sz="950" b="0">
                <a:solidFill>
                  <a:srgbClr val="1E1E1E"/>
                </a:solidFill>
                <a:latin typeface="Marianne"/>
              </a:rPr>
              <a:t> : formation à la </a:t>
            </a:r>
            <a:r>
              <a:rPr sz="950" b="1">
                <a:solidFill>
                  <a:srgbClr val="000091"/>
                </a:solidFill>
                <a:latin typeface="Marianne"/>
              </a:rPr>
              <a:t>génération de tickets Jira</a:t>
            </a:r>
            <a:r>
              <a:rPr sz="950" b="0">
                <a:solidFill>
                  <a:srgbClr val="1E1E1E"/>
                </a:solidFill>
                <a:latin typeface="Marianne"/>
              </a:rPr>
              <a:t> actée — DACCORD le 25 août avec Richard et Noura, SIRENA à caler (Aurélie est demandeuse). </a:t>
            </a:r>
            <a:r>
              <a:rPr sz="950" b="1">
                <a:solidFill>
                  <a:srgbClr val="000091"/>
                </a:solidFill>
                <a:latin typeface="Marianne"/>
              </a:rPr>
              <a:t>Architectes</a:t>
            </a:r>
            <a:r>
              <a:rPr sz="950" b="0">
                <a:solidFill>
                  <a:srgbClr val="1E1E1E"/>
                </a:solidFill>
                <a:latin typeface="Marianne"/>
              </a:rPr>
              <a:t> : de zéro intérêt à </a:t>
            </a:r>
            <a:r>
              <a:rPr sz="950" b="1">
                <a:solidFill>
                  <a:srgbClr val="000091"/>
                </a:solidFill>
                <a:latin typeface="Marianne"/>
              </a:rPr>
              <a:t>cinq use cases</a:t>
            </a:r>
            <a:r>
              <a:rPr sz="950" b="0">
                <a:solidFill>
                  <a:srgbClr val="1E1E1E"/>
                </a:solidFill>
                <a:latin typeface="Marianne"/>
              </a:rPr>
              <a:t> qu'ils priorisent eux-mêmes. </a:t>
            </a:r>
            <a:r>
              <a:rPr sz="950" b="1">
                <a:solidFill>
                  <a:srgbClr val="000091"/>
                </a:solidFill>
                <a:latin typeface="Marianne"/>
              </a:rPr>
              <a:t>Designers</a:t>
            </a:r>
            <a:r>
              <a:rPr sz="950" b="0">
                <a:solidFill>
                  <a:srgbClr val="1E1E1E"/>
                </a:solidFill>
                <a:latin typeface="Marianne"/>
              </a:rPr>
              <a:t> : de « l'IA a peu de valeur pour nous » à des </a:t>
            </a:r>
            <a:r>
              <a:rPr sz="950" b="1">
                <a:solidFill>
                  <a:srgbClr val="000091"/>
                </a:solidFill>
                <a:latin typeface="Marianne"/>
              </a:rPr>
              <a:t>prototypes DSFR</a:t>
            </a:r>
            <a:r>
              <a:rPr sz="950" b="0">
                <a:solidFill>
                  <a:srgbClr val="1E1E1E"/>
                </a:solidFill>
                <a:latin typeface="Marianne"/>
              </a:rPr>
              <a:t> testables et des </a:t>
            </a:r>
            <a:r>
              <a:rPr sz="950" b="1">
                <a:solidFill>
                  <a:srgbClr val="000091"/>
                </a:solidFill>
                <a:latin typeface="Marianne"/>
              </a:rPr>
              <a:t>maquettes Figma générées</a:t>
            </a:r>
            <a:r>
              <a:rPr sz="950" b="0">
                <a:solidFill>
                  <a:srgbClr val="1E1E1E"/>
                </a:solidFill>
                <a:latin typeface="Marianne"/>
              </a:rPr>
              <a:t> — Louis valide (13/08). </a:t>
            </a:r>
            <a:r>
              <a:rPr sz="950" b="1">
                <a:solidFill>
                  <a:srgbClr val="000091"/>
                </a:solidFill>
                <a:latin typeface="Marianne"/>
              </a:rPr>
              <a:t>PO &amp; RU</a:t>
            </a:r>
            <a:r>
              <a:rPr sz="950" b="0">
                <a:solidFill>
                  <a:srgbClr val="1E1E1E"/>
                </a:solidFill>
                <a:latin typeface="Marianne"/>
              </a:rPr>
              <a:t> : Felix formalise les use cases.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109960" cy="118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8309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000091"/>
                </a:solidFill>
                <a:latin typeface="Marianne"/>
              </a:rPr>
              <a:t>La stratégie avance à trois horizons</a:t>
            </a:r>
            <a:r>
              <a:rPr sz="900" b="0">
                <a:solidFill>
                  <a:srgbClr val="666666"/>
                </a:solidFill>
                <a:latin typeface="Marianne"/>
              </a:rPr>
              <a:t> — outiller chaque métier, puis faire monter la pratique, puis passer à l'échelle.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48309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66666"/>
                </a:solidFill>
                <a:latin typeface="Marianne"/>
              </a:rPr>
              <a:t>Accompagnement réel, demande entrante, fondations posées.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