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0091"/>
                </a:solidFill>
                <a:latin typeface="Marianne"/>
              </a:rPr>
              <a:t>LE POINT DE DÉPART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0091"/>
                </a:solidFill>
                <a:latin typeface="Marianne"/>
              </a:rPr>
              <a:t>L'IA existait. Mais elle</a:t>
            </a:r>
            <a:r>
              <a:rPr sz="2600" b="0">
                <a:solidFill>
                  <a:srgbClr val="666666"/>
                </a:solidFill>
                <a:latin typeface="Marianne"/>
              </a:rPr>
              <a:t> restait dans les silos.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926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F7FC8"/>
                </a:solidFill>
                <a:latin typeface="Marianne"/>
              </a:rPr>
              <a:t>1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868680"/>
          </a:xfrm>
          <a:prstGeom prst="rect">
            <a:avLst/>
          </a:prstGeom>
          <a:solidFill>
            <a:srgbClr val="F5F5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64008" cy="86868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08760"/>
            <a:ext cx="10707624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1E1E1E"/>
                </a:solidFill>
                <a:latin typeface="Marianne"/>
              </a:rPr>
              <a:t>Le frein n'est jamais le modèle, c'est </a:t>
            </a:r>
            <a:r>
              <a:rPr sz="1200" b="1">
                <a:solidFill>
                  <a:srgbClr val="000091"/>
                </a:solidFill>
                <a:latin typeface="Marianne"/>
              </a:rPr>
              <a:t>l'usage et l'outillage</a:t>
            </a:r>
            <a:r>
              <a:rPr sz="1200" b="0">
                <a:solidFill>
                  <a:srgbClr val="1E1E1E"/>
                </a:solidFill>
                <a:latin typeface="Marianne"/>
              </a:rPr>
              <a:t>. Sur poste managé, un agent ne pouvait même pas installer un harness. L'adoption, elle, restait individuelle — sans pratique d'équipe.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3584448" cy="178308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60604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Un usage en silo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862072"/>
            <a:ext cx="3364991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B2B2B"/>
                </a:solidFill>
                <a:latin typeface="Marianne"/>
              </a:rPr>
              <a:t>L'IA était pratiquée individuellement (développeurs de SIRENA, etc.), sans coordination ni mutualisation.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aucune pratique d'équipe partagée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1396" y="2514600"/>
            <a:ext cx="3584448" cy="178308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1124" y="260604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Des postes qui bloquaient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1124" y="2862072"/>
            <a:ext cx="3364991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B2B2B"/>
                </a:solidFill>
                <a:latin typeface="Marianne"/>
              </a:rPr>
              <a:t>Sur un poste interne managé, impossible d'installer un harness soi-même.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adoption cantonnée aux prestataires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514600"/>
            <a:ext cx="3584448" cy="178308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2606040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Une opportunité non vue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862072"/>
            <a:ext cx="3364991" cy="1362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B2B2B"/>
                </a:solidFill>
                <a:latin typeface="Marianne"/>
              </a:rPr>
              <a:t>Les métiers ne connaissaient pas leurs propres cas d'usage potentiels.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l'acculturation pouvait créer la demande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0091"/>
                </a:solidFill>
                <a:latin typeface="Marianne"/>
              </a:rPr>
              <a:t>LE DÉCLIC · ACCOMPAGNER CHAQUE MÉTIER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0091"/>
                </a:solidFill>
                <a:latin typeface="Marianne"/>
              </a:rPr>
              <a:t>On accompagne les rôles,</a:t>
            </a:r>
            <a:r>
              <a:rPr sz="2600" b="0">
                <a:solidFill>
                  <a:srgbClr val="666666"/>
                </a:solidFill>
                <a:latin typeface="Marianne"/>
              </a:rPr>
              <a:t> la demande devient entrante.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926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F7FC8"/>
                </a:solidFill>
                <a:latin typeface="Marianne"/>
              </a:rPr>
              <a:t>2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Développeurs · Egapro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pilote : 3 → 4 en maturité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66543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Orchestrations en routine, désormais </a:t>
            </a:r>
            <a:r>
              <a:rPr sz="1000" b="1">
                <a:solidFill>
                  <a:srgbClr val="1E1E1E"/>
                </a:solidFill>
                <a:latin typeface="Marianne"/>
              </a:rPr>
              <a:t>sécurisées</a:t>
            </a:r>
            <a:r>
              <a:rPr sz="1000" b="0">
                <a:solidFill>
                  <a:srgbClr val="2B2B2B"/>
                </a:solidFill>
                <a:latin typeface="Marianne"/>
              </a:rPr>
              <a:t> : codeur et testeur séparés. Le chef de projet pilote à la vitesse de l'IA (estimations T-shirt, tickets design).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1396" y="1481328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21124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Développeurs · DACCORD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1124" y="1828800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objectif : sa propre orchestration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1124" y="2066543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Dès le lundi suivant le coaching, </a:t>
            </a:r>
            <a:r>
              <a:rPr sz="1000" b="1">
                <a:solidFill>
                  <a:srgbClr val="1E1E1E"/>
                </a:solidFill>
                <a:latin typeface="Marianne"/>
              </a:rPr>
              <a:t>l'équipe met ses system prompts en commun d'elle-même</a:t>
            </a:r>
            <a:r>
              <a:rPr sz="1000" b="0">
                <a:solidFill>
                  <a:srgbClr val="2B2B2B"/>
                </a:solidFill>
                <a:latin typeface="Marianne"/>
              </a:rPr>
              <a:t>. Skills sur cinq domaines (6/08), orchestration en accompagnement individuel.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4152" y="1481328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Chefs de projet · DACCORD &amp; SIRENA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1828800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tickets Jira générés sur poste ministère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2066543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Formation actée : </a:t>
            </a:r>
            <a:r>
              <a:rPr sz="1000" b="1">
                <a:solidFill>
                  <a:srgbClr val="1E1E1E"/>
                </a:solidFill>
                <a:latin typeface="Marianne"/>
              </a:rPr>
              <a:t>DACCORD le 25 août</a:t>
            </a:r>
            <a:r>
              <a:rPr sz="1000" b="0">
                <a:solidFill>
                  <a:srgbClr val="2B2B2B"/>
                </a:solidFill>
                <a:latin typeface="Marianne"/>
              </a:rPr>
              <a:t> avec Richard et Noura ; Aurélie (SIRENA) </a:t>
            </a:r>
            <a:r>
              <a:rPr sz="1000" b="1">
                <a:solidFill>
                  <a:srgbClr val="1E1E1E"/>
                </a:solidFill>
                <a:latin typeface="Marianne"/>
              </a:rPr>
              <a:t>demande elle-même à être formée</a:t>
            </a:r>
            <a:r>
              <a:rPr sz="1000" b="0">
                <a:solidFill>
                  <a:srgbClr val="2B2B2B"/>
                </a:solidFill>
                <a:latin typeface="Marianne"/>
              </a:rPr>
              <a:t>, créneau à caler. Le ticket arrive formalisé, tests inclus.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68496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059935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Designers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315968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de « peu de valeur » au flux complet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553712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Depuis un poste ministère : </a:t>
            </a:r>
            <a:r>
              <a:rPr sz="1000" b="1">
                <a:solidFill>
                  <a:srgbClr val="1E1E1E"/>
                </a:solidFill>
                <a:latin typeface="Marianne"/>
              </a:rPr>
              <a:t>prototypes DSFR testables</a:t>
            </a:r>
            <a:r>
              <a:rPr sz="1000" b="0">
                <a:solidFill>
                  <a:srgbClr val="2B2B2B"/>
                </a:solidFill>
                <a:latin typeface="Marianne"/>
              </a:rPr>
              <a:t> par des utilisateurs, puis </a:t>
            </a:r>
            <a:r>
              <a:rPr sz="1000" b="1">
                <a:solidFill>
                  <a:srgbClr val="1E1E1E"/>
                </a:solidFill>
                <a:latin typeface="Marianne"/>
              </a:rPr>
              <a:t>maquette Figma générée</a:t>
            </a:r>
            <a:r>
              <a:rPr sz="1000" b="0">
                <a:solidFill>
                  <a:srgbClr val="2B2B2B"/>
                </a:solidFill>
                <a:latin typeface="Marianne"/>
              </a:rPr>
              <a:t> en composants DSFR officiels. Louis valide le use case (13/08).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11396" y="3968496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21124" y="4059935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Architectes · Transverse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1124" y="4315968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atelier de génération de 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1124" y="4553712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Ils ne connaissaient pas leurs cas d'usage : </a:t>
            </a:r>
            <a:r>
              <a:rPr sz="1000" b="1">
                <a:solidFill>
                  <a:srgbClr val="1E1E1E"/>
                </a:solidFill>
                <a:latin typeface="Marianne"/>
              </a:rPr>
              <a:t>l'atelier en a fait émerger cinq</a:t>
            </a:r>
            <a:r>
              <a:rPr sz="1000" b="0">
                <a:solidFill>
                  <a:srgbClr val="2B2B2B"/>
                </a:solidFill>
                <a:latin typeface="Marianne"/>
              </a:rPr>
              <a:t> (cohérence des choix, schémas, conformité, écarts DA/code). Priorisation d'ici au 21 août.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74152" y="3968496"/>
            <a:ext cx="3584448" cy="233172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79" y="4059935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PO &amp; Recherche utilisateurs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315968"/>
            <a:ext cx="33649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850" b="1">
                <a:solidFill>
                  <a:srgbClr val="666666"/>
                </a:solidFill>
                <a:latin typeface="Marianne"/>
              </a:rPr>
              <a:t>RU et PO · en synchronisation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553712"/>
            <a:ext cx="3364991" cy="1673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00" b="0">
                <a:solidFill>
                  <a:srgbClr val="2B2B2B"/>
                </a:solidFill>
                <a:latin typeface="Marianne"/>
              </a:rPr>
              <a:t>Synchronisation avec </a:t>
            </a:r>
            <a:r>
              <a:rPr sz="1000" b="1">
                <a:solidFill>
                  <a:srgbClr val="1E1E1E"/>
                </a:solidFill>
                <a:latin typeface="Marianne"/>
              </a:rPr>
              <a:t>Olivier Toumsy</a:t>
            </a:r>
            <a:r>
              <a:rPr sz="1000" b="0">
                <a:solidFill>
                  <a:srgbClr val="2B2B2B"/>
                </a:solidFill>
                <a:latin typeface="Marianne"/>
              </a:rPr>
              <a:t> ; </a:t>
            </a:r>
            <a:r>
              <a:rPr sz="1000" b="1">
                <a:solidFill>
                  <a:srgbClr val="1E1E1E"/>
                </a:solidFill>
                <a:latin typeface="Marianne"/>
              </a:rPr>
              <a:t>Felix</a:t>
            </a:r>
            <a:r>
              <a:rPr sz="1000" b="0">
                <a:solidFill>
                  <a:srgbClr val="2B2B2B"/>
                </a:solidFill>
                <a:latin typeface="Marianne"/>
              </a:rPr>
              <a:t> revient avec une </a:t>
            </a:r>
            <a:r>
              <a:rPr sz="1000" b="1">
                <a:solidFill>
                  <a:srgbClr val="1E1E1E"/>
                </a:solidFill>
                <a:latin typeface="Marianne"/>
              </a:rPr>
              <a:t>map des use cases RU et PO</a:t>
            </a:r>
            <a:r>
              <a:rPr sz="1000" b="0">
                <a:solidFill>
                  <a:srgbClr val="2B2B2B"/>
                </a:solidFill>
                <a:latin typeface="Marianne"/>
              </a:rPr>
              <a:t>. L'accompagnement tickets s'étend à VAO (Halim) et BIO2 (Yuna).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000091"/>
                </a:solidFill>
                <a:latin typeface="Marianne"/>
              </a:rPr>
              <a:t>LES FONDATIONS · POUR PASSER À L'ÉCHELLE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30352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2600" b="1">
                <a:solidFill>
                  <a:srgbClr val="000091"/>
                </a:solidFill>
                <a:latin typeface="Marianne"/>
              </a:rPr>
              <a:t>On lève les freins :</a:t>
            </a:r>
            <a:r>
              <a:rPr sz="2600" b="0">
                <a:solidFill>
                  <a:srgbClr val="666666"/>
                </a:solidFill>
                <a:latin typeface="Marianne"/>
              </a:rPr>
              <a:t> poste de travail, fournisseurs, bench.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292608"/>
            <a:ext cx="822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400"/>
              </a:spcAft>
            </a:pPr>
            <a:r>
              <a:rPr sz="950" b="1">
                <a:solidFill>
                  <a:srgbClr val="7F7FC8"/>
                </a:solidFill>
                <a:latin typeface="Marianne"/>
              </a:rPr>
              <a:t>3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3584448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Poste de travail : deux voies passent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28800"/>
            <a:ext cx="3364991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E1E1E"/>
                </a:solidFill>
                <a:latin typeface="Marianne"/>
              </a:rPr>
              <a:t>OpenCode Desktop</a:t>
            </a:r>
            <a:r>
              <a:rPr sz="1050" b="0">
                <a:solidFill>
                  <a:srgbClr val="2B2B2B"/>
                </a:solidFill>
                <a:latin typeface="Marianne"/>
              </a:rPr>
              <a:t> (sans droits admin, clé Albert) et </a:t>
            </a:r>
            <a:r>
              <a:rPr sz="1050" b="1">
                <a:solidFill>
                  <a:srgbClr val="1E1E1E"/>
                </a:solidFill>
                <a:latin typeface="Marianne"/>
              </a:rPr>
              <a:t>Claude Code dans VS Code</a:t>
            </a:r>
            <a:r>
              <a:rPr sz="1050" b="0">
                <a:solidFill>
                  <a:srgbClr val="2B2B2B"/>
                </a:solidFill>
                <a:latin typeface="Marianne"/>
              </a:rPr>
              <a:t> (clé Bedrock) fonctionnent sur PC ministère ; la matrice « qui peut utiliser quoi » est </a:t>
            </a:r>
            <a:r>
              <a:rPr sz="1050" b="1">
                <a:solidFill>
                  <a:srgbClr val="1E1E1E"/>
                </a:solidFill>
                <a:latin typeface="Marianne"/>
              </a:rPr>
              <a:t>livrée</a:t>
            </a:r>
            <a:r>
              <a:rPr sz="1050" b="0">
                <a:solidFill>
                  <a:srgbClr val="2B2B2B"/>
                </a:solidFill>
                <a:latin typeface="Marianne"/>
              </a:rPr>
              <a:t>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l'enjeu devient la liberté du choix du harness (centre logiciel, introduction par Olivier)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1396" y="1481328"/>
            <a:ext cx="3584448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1124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Fournisseurs : ouvrir le choix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1124" y="1828800"/>
            <a:ext cx="3364991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1E1E1E"/>
                </a:solidFill>
                <a:latin typeface="Marianne"/>
              </a:rPr>
              <a:t>Bedrock exploré avec AWS</a:t>
            </a:r>
            <a:r>
              <a:rPr sz="1050" b="0">
                <a:solidFill>
                  <a:srgbClr val="2B2B2B"/>
                </a:solidFill>
                <a:latin typeface="Marianne"/>
              </a:rPr>
              <a:t> : viable (Claude Code adossé à l'observabilité), mais le harness est imposé et gourmand en contexte. </a:t>
            </a:r>
            <a:r>
              <a:rPr sz="1050" b="1">
                <a:solidFill>
                  <a:srgbClr val="1E1E1E"/>
                </a:solidFill>
                <a:latin typeface="Marianne"/>
              </a:rPr>
              <a:t>Scaleway</a:t>
            </a:r>
            <a:r>
              <a:rPr sz="1050" b="0">
                <a:solidFill>
                  <a:srgbClr val="2B2B2B"/>
                </a:solidFill>
                <a:latin typeface="Marianne"/>
              </a:rPr>
              <a:t> (open-weight, souveraineté) et </a:t>
            </a:r>
            <a:r>
              <a:rPr sz="1050" b="1">
                <a:solidFill>
                  <a:srgbClr val="1E1E1E"/>
                </a:solidFill>
                <a:latin typeface="Marianne"/>
              </a:rPr>
              <a:t>Google Vertex AI</a:t>
            </a:r>
            <a:r>
              <a:rPr sz="1050" b="0">
                <a:solidFill>
                  <a:srgbClr val="2B2B2B"/>
                </a:solidFill>
                <a:latin typeface="Marianne"/>
              </a:rPr>
              <a:t> à explorer.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viser une observabilité indépendante du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1481328"/>
            <a:ext cx="3584448" cy="2514600"/>
          </a:xfrm>
          <a:prstGeom prst="rect">
            <a:avLst/>
          </a:prstGeom>
          <a:solidFill>
            <a:srgbClr val="F6F6F6"/>
          </a:solidFill>
          <a:ln w="9525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572768"/>
            <a:ext cx="3364991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Bench : décider sur des faits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28800"/>
            <a:ext cx="3364991" cy="2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0">
                <a:solidFill>
                  <a:srgbClr val="2B2B2B"/>
                </a:solidFill>
                <a:latin typeface="Marianne"/>
              </a:rPr>
              <a:t>Une </a:t>
            </a:r>
            <a:r>
              <a:rPr sz="1050" b="1">
                <a:solidFill>
                  <a:srgbClr val="1E1E1E"/>
                </a:solidFill>
                <a:latin typeface="Marianne"/>
              </a:rPr>
              <a:t>matrice performance / prix / souveraineté / conformité</a:t>
            </a:r>
            <a:r>
              <a:rPr sz="1050" b="0">
                <a:solidFill>
                  <a:srgbClr val="2B2B2B"/>
                </a:solidFill>
                <a:latin typeface="Marianne"/>
              </a:rPr>
              <a:t> a été bâtie (7 stacks), élargie aux modèles Bedrock en août ; la stack interne (et externes sur sujets confidentiels) se tranchera ensuite.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7F7FC8"/>
                </a:solidFill>
                <a:latin typeface="Marianne"/>
              </a:rPr>
              <a:t>→ un choix documenté, pas un pari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24528"/>
            <a:ext cx="11109960" cy="1051560"/>
          </a:xfrm>
          <a:prstGeom prst="rect">
            <a:avLst/>
          </a:prstGeom>
          <a:solidFill>
            <a:srgbClr val="DAF5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24528"/>
            <a:ext cx="64008" cy="1051560"/>
          </a:xfrm>
          <a:prstGeom prst="rect">
            <a:avLst/>
          </a:prstGeom>
          <a:solidFill>
            <a:srgbClr val="1875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315968"/>
            <a:ext cx="10707624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1">
                <a:solidFill>
                  <a:srgbClr val="000091"/>
                </a:solidFill>
                <a:latin typeface="Marianne"/>
              </a:rPr>
              <a:t>La boucle se ferme.</a:t>
            </a:r>
            <a:r>
              <a:rPr sz="1150" b="0">
                <a:solidFill>
                  <a:srgbClr val="1E1E1E"/>
                </a:solidFill>
                <a:latin typeface="Marianne"/>
              </a:rPr>
              <a:t> À chaque métier accompagné, la demande arrive ensuite d'elle-même (SIRENA, architectes, designers, PO/RU). Accompagnement réel + freins levés = l'adoption devient </a:t>
            </a:r>
            <a:r>
              <a:rPr sz="1150" b="1">
                <a:solidFill>
                  <a:srgbClr val="000091"/>
                </a:solidFill>
                <a:latin typeface="Marianne"/>
              </a:rPr>
              <a:t>une dynamique d'équipe</a:t>
            </a:r>
            <a:r>
              <a:rPr sz="1150" b="0">
                <a:solidFill>
                  <a:srgbClr val="1E1E1E"/>
                </a:solidFill>
                <a:latin typeface="Marianne"/>
              </a:rPr>
              <a:t>, et non plus une somme d'usages individuels.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