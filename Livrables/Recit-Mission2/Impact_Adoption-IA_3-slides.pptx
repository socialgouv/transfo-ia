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201400" cy="4114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7FC8"/>
                </a:solidFill>
                <a:latin typeface="Marianne"/>
              </a:rPr>
              <a:t>LE POINT DE DÉPART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83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F7FC8"/>
                </a:solidFill>
                <a:latin typeface="Marianne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01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000091"/>
                </a:solidFill>
                <a:latin typeface="Marianne"/>
              </a:rPr>
              <a:t>L'IA existait. Mais elle restait dans les silos.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11201400" cy="960120"/>
          </a:xfrm>
          <a:prstGeom prst="rect">
            <a:avLst/>
          </a:prstGeom>
          <a:solidFill>
            <a:srgbClr val="F5F5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91440"/>
          <a:lstStyle/>
          <a:p>
            <a:pPr algn="ctr">
              <a:lnSpc>
                <a:spcPct val="115000"/>
              </a:lnSpc>
            </a:pPr>
            <a:r>
              <a:rPr sz="1600">
                <a:solidFill>
                  <a:srgbClr val="2B2B2B"/>
                </a:solidFill>
                <a:latin typeface="Marianne"/>
              </a:rPr>
              <a:t>Le frein n'est jamais le modèle, c'est l'usage et l'outillage. Sur poste managé, un agent ne peut même pas installer un harness. L'adoption restait individuelle — sans pratique d'équipe.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4864" cy="96012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36118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13631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Un usage en silo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16551"/>
            <a:ext cx="324612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L'IA était pratiquée individuellement, sans coordination ni mutualisation.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Aucune pratique d'équipe partagée.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749039"/>
            <a:ext cx="36118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749039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913631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Des postes qui bloquent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416551"/>
            <a:ext cx="324612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Sur un poste interne managé, impossible d'installer un harness soi-même.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Adoption cantonnée aux prestataires.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3749039"/>
            <a:ext cx="36118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3749039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3913631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Une opportunité non vue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4416551"/>
            <a:ext cx="3246120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Les métiers ne connaissaient pas leurs propres cas d'usage potentiels.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L'acculturation pouvait créer la demande.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201400" cy="4114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7FC8"/>
                </a:solidFill>
                <a:latin typeface="Marianne"/>
              </a:rPr>
              <a:t>LE DÉCLIC · ACCOMPAGNER CHAQUE MÉTIER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83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F7FC8"/>
                </a:solidFill>
                <a:latin typeface="Marianne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01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000091"/>
                </a:solidFill>
                <a:latin typeface="Marianne"/>
              </a:rPr>
              <a:t>On accompagne les rôles, la demande devient entrante.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06040"/>
            <a:ext cx="548640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606040"/>
            <a:ext cx="548640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7063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Développeurs · DACCORD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Marianne"/>
              </a:rPr>
              <a:t>objectif : orchestration de subagents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02152"/>
            <a:ext cx="5120640" cy="2350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Coaching développement augmenté : system prompts, agents, orchestration de subagents.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Dès le lundi suivant, l'équipe met ses system prompts en commun d'elle-même.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La PM (Kahina) est aussi accompagnée, sur les tickets de spec.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606040"/>
            <a:ext cx="5486400" cy="3383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2606040"/>
            <a:ext cx="548640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77063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Chefs de projet · SIRENA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136392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66666"/>
                </a:solidFill>
                <a:latin typeface="Marianne"/>
              </a:rPr>
              <a:t>Aurélie, PM/PO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02152"/>
            <a:ext cx="5120640" cy="2350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La cheffe de projet demande elle-même à être formée pour le PM et le PO, au-delà des tickets.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Session commune avec DACCORD, mi-août.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Une équipe qui accède à ses utilisateurs peut poser les questions auxquelles personne n'avait pensé.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6126480"/>
            <a:ext cx="5486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6126480"/>
            <a:ext cx="548640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29107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Architectes · Transverse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793992"/>
            <a:ext cx="5120640" cy="-256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Ils ne connaissaient pas leurs cas d'usage : l'atelier en a fait émerger cinq, qu'ils priorisent.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6126480"/>
            <a:ext cx="54864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6126480"/>
            <a:ext cx="548640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6291072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PO &amp; Recherche utilisateurs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793992"/>
            <a:ext cx="5120640" cy="-2560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Sync avec Olivier Toumsy ; Felix revient avec une map des use cases RU et 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1201400" cy="4114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7FC8"/>
                </a:solidFill>
                <a:latin typeface="Marianne"/>
              </a:rPr>
              <a:t>LES FONDATIONS · POUR PASSER À L'ÉCHELLE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5836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7F7FC8"/>
                </a:solidFill>
                <a:latin typeface="Marianne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97280"/>
            <a:ext cx="112014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3200" b="1">
                <a:solidFill>
                  <a:srgbClr val="000091"/>
                </a:solidFill>
                <a:latin typeface="Marianne"/>
              </a:rPr>
              <a:t>On lève les freins : outillage interne, Bedrock, souveraineté.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65176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6517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8163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Outillage des postes internes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19272"/>
            <a:ext cx="324612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Le point dur trouve sa piste : packaging par le centre logiciel (Céline Liechti) ou compte admin temporaire.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L'adoption s'ouvre aux postes internes.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265176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6517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8163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Voie Bedrock, cadrée avec 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3319272"/>
            <a:ext cx="324612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Large catalogue de modèles, dont l'open-weight, en conservant l'observabilité.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Coûts au token potentiellement inférieurs à ceux d'Anthropic.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265176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2651760"/>
            <a:ext cx="3611880" cy="64008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816352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000091"/>
                </a:solidFill>
                <a:latin typeface="Marianne"/>
              </a:rPr>
              <a:t>Bench souveraineté &amp; conformité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319272"/>
            <a:ext cx="3246120" cy="15727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Matrice performance / prix / souveraineté / conformité (7 stacks comparées).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300" b="0">
                <a:solidFill>
                  <a:srgbClr val="2B2B2B"/>
                </a:solidFill>
                <a:latin typeface="Marianne"/>
              </a:rPr>
              <a:t>Élargie aux modèles Bedrock pour décider de la direction.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394960"/>
            <a:ext cx="11201400" cy="1051560"/>
          </a:xfrm>
          <a:prstGeom prst="rect">
            <a:avLst/>
          </a:prstGeom>
          <a:solidFill>
            <a:srgbClr val="DAF5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09728" bIns="91440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2B2B2B"/>
                </a:solidFill>
                <a:latin typeface="Marianne"/>
              </a:rPr>
              <a:t>La boucle se ferme. À chaque métier accompagné, la demande arrive ensuite d'elle-même (SIRENA, architectes, PO/RU). Accompagnement réel + freins levés = une dynamique d'équipe, et non plus une somme d'usages individuels.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394960"/>
            <a:ext cx="54864" cy="1051560"/>
          </a:xfrm>
          <a:prstGeom prst="rect">
            <a:avLst/>
          </a:prstGeom>
          <a:solidFill>
            <a:srgbClr val="1875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