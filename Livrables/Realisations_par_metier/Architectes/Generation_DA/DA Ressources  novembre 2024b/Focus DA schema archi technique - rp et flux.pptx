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3C60"/>
    <a:srgbClr val="FFE5E5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B646E-B348-40EB-85C8-E312DEC7E0A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02D8-B476-430A-A537-E6110CD2CD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220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B646E-B348-40EB-85C8-E312DEC7E0A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02D8-B476-430A-A537-E6110CD2CD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2250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B646E-B348-40EB-85C8-E312DEC7E0A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02D8-B476-430A-A537-E6110CD2CD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9837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B646E-B348-40EB-85C8-E312DEC7E0A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02D8-B476-430A-A537-E6110CD2CD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6488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B646E-B348-40EB-85C8-E312DEC7E0A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02D8-B476-430A-A537-E6110CD2CD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29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B646E-B348-40EB-85C8-E312DEC7E0A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02D8-B476-430A-A537-E6110CD2CD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1995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B646E-B348-40EB-85C8-E312DEC7E0A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02D8-B476-430A-A537-E6110CD2CD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7297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B646E-B348-40EB-85C8-E312DEC7E0A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02D8-B476-430A-A537-E6110CD2CD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4122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B646E-B348-40EB-85C8-E312DEC7E0A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02D8-B476-430A-A537-E6110CD2CD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3520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B646E-B348-40EB-85C8-E312DEC7E0A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02D8-B476-430A-A537-E6110CD2CD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6704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B646E-B348-40EB-85C8-E312DEC7E0A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02D8-B476-430A-A537-E6110CD2CD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299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B646E-B348-40EB-85C8-E312DEC7E0A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402D8-B476-430A-A537-E6110CD2CD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945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139200" y="2264717"/>
            <a:ext cx="815237" cy="57476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002060"/>
                </a:solidFill>
              </a:rPr>
              <a:t>RP</a:t>
            </a:r>
          </a:p>
          <a:p>
            <a:pPr algn="ctr"/>
            <a:r>
              <a:rPr lang="fr-FR" sz="1400" b="1" dirty="0">
                <a:solidFill>
                  <a:srgbClr val="002060"/>
                </a:solidFill>
              </a:rPr>
              <a:t>INT</a:t>
            </a:r>
          </a:p>
        </p:txBody>
      </p:sp>
      <p:cxnSp>
        <p:nvCxnSpPr>
          <p:cNvPr id="25" name="Connecteur droit 24"/>
          <p:cNvCxnSpPr/>
          <p:nvPr/>
        </p:nvCxnSpPr>
        <p:spPr>
          <a:xfrm>
            <a:off x="5812966" y="0"/>
            <a:ext cx="0" cy="685800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/>
        </p:nvCxnSpPr>
        <p:spPr>
          <a:xfrm>
            <a:off x="0" y="473835"/>
            <a:ext cx="1219200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/>
          <p:cNvSpPr txBox="1"/>
          <p:nvPr/>
        </p:nvSpPr>
        <p:spPr>
          <a:xfrm>
            <a:off x="1411008" y="0"/>
            <a:ext cx="2418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00B0F0"/>
                </a:solidFill>
              </a:rPr>
              <a:t>Hébergement CEGEDIM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79176" y="5112840"/>
            <a:ext cx="3240239" cy="1410789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Rectangle 32"/>
          <p:cNvSpPr/>
          <p:nvPr/>
        </p:nvSpPr>
        <p:spPr>
          <a:xfrm>
            <a:off x="6772804" y="3353280"/>
            <a:ext cx="2664823" cy="1343258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cv</a:t>
            </a:r>
          </a:p>
        </p:txBody>
      </p:sp>
      <p:sp>
        <p:nvSpPr>
          <p:cNvPr id="37" name="ZoneTexte 36"/>
          <p:cNvSpPr txBox="1"/>
          <p:nvPr/>
        </p:nvSpPr>
        <p:spPr>
          <a:xfrm>
            <a:off x="9662878" y="3764021"/>
            <a:ext cx="13937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/>
              <a:t>DMZ applicative</a:t>
            </a:r>
          </a:p>
          <a:p>
            <a:pPr algn="ctr"/>
            <a:r>
              <a:rPr lang="fr-FR" sz="1400" dirty="0"/>
              <a:t> REACTEUR-APP</a:t>
            </a:r>
          </a:p>
        </p:txBody>
      </p:sp>
      <p:sp>
        <p:nvSpPr>
          <p:cNvPr id="38" name="ZoneTexte 37"/>
          <p:cNvSpPr txBox="1"/>
          <p:nvPr/>
        </p:nvSpPr>
        <p:spPr>
          <a:xfrm>
            <a:off x="9651164" y="5442747"/>
            <a:ext cx="16915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DMZ applicative</a:t>
            </a:r>
          </a:p>
          <a:p>
            <a:pPr algn="ctr"/>
            <a:r>
              <a:rPr lang="fr-FR" sz="1400" dirty="0"/>
              <a:t> REACTEUR-ESBDD</a:t>
            </a:r>
          </a:p>
        </p:txBody>
      </p:sp>
      <p:sp>
        <p:nvSpPr>
          <p:cNvPr id="39" name="ZoneTexte 38"/>
          <p:cNvSpPr txBox="1"/>
          <p:nvPr/>
        </p:nvSpPr>
        <p:spPr>
          <a:xfrm>
            <a:off x="7749441" y="12343"/>
            <a:ext cx="2102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00B0F0"/>
                </a:solidFill>
              </a:rPr>
              <a:t>Hébergement MASS</a:t>
            </a:r>
          </a:p>
        </p:txBody>
      </p:sp>
      <p:cxnSp>
        <p:nvCxnSpPr>
          <p:cNvPr id="47" name="Connecteur droit avec flèche 46"/>
          <p:cNvCxnSpPr>
            <a:endCxn id="129" idx="0"/>
          </p:cNvCxnSpPr>
          <p:nvPr/>
        </p:nvCxnSpPr>
        <p:spPr>
          <a:xfrm flipH="1">
            <a:off x="7282783" y="4257876"/>
            <a:ext cx="714566" cy="13429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/>
          <p:cNvCxnSpPr>
            <a:endCxn id="130" idx="0"/>
          </p:cNvCxnSpPr>
          <p:nvPr/>
        </p:nvCxnSpPr>
        <p:spPr>
          <a:xfrm>
            <a:off x="8165120" y="4176383"/>
            <a:ext cx="709099" cy="14244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8491695" y="2264717"/>
            <a:ext cx="815237" cy="57476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002060"/>
                </a:solidFill>
              </a:rPr>
              <a:t>RP</a:t>
            </a:r>
          </a:p>
          <a:p>
            <a:pPr algn="ctr"/>
            <a:r>
              <a:rPr lang="fr-FR" sz="1400" b="1" dirty="0">
                <a:solidFill>
                  <a:srgbClr val="002060"/>
                </a:solidFill>
              </a:rPr>
              <a:t>EXT</a:t>
            </a:r>
          </a:p>
        </p:txBody>
      </p:sp>
      <p:cxnSp>
        <p:nvCxnSpPr>
          <p:cNvPr id="56" name="Connecteur droit avec flèche 55"/>
          <p:cNvCxnSpPr>
            <a:stCxn id="107" idx="2"/>
            <a:endCxn id="7" idx="0"/>
          </p:cNvCxnSpPr>
          <p:nvPr/>
        </p:nvCxnSpPr>
        <p:spPr>
          <a:xfrm>
            <a:off x="7479677" y="1610023"/>
            <a:ext cx="67142" cy="6546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/>
          <p:cNvCxnSpPr>
            <a:stCxn id="7" idx="2"/>
            <a:endCxn id="125" idx="0"/>
          </p:cNvCxnSpPr>
          <p:nvPr/>
        </p:nvCxnSpPr>
        <p:spPr>
          <a:xfrm>
            <a:off x="7546819" y="2839483"/>
            <a:ext cx="575930" cy="8817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avec flèche 59"/>
          <p:cNvCxnSpPr>
            <a:stCxn id="51" idx="2"/>
          </p:cNvCxnSpPr>
          <p:nvPr/>
        </p:nvCxnSpPr>
        <p:spPr>
          <a:xfrm flipH="1">
            <a:off x="8323924" y="2839483"/>
            <a:ext cx="575390" cy="8817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/>
          <p:cNvCxnSpPr>
            <a:stCxn id="108" idx="2"/>
            <a:endCxn id="51" idx="0"/>
          </p:cNvCxnSpPr>
          <p:nvPr/>
        </p:nvCxnSpPr>
        <p:spPr>
          <a:xfrm flipH="1">
            <a:off x="8899314" y="1632243"/>
            <a:ext cx="438980" cy="6324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6145438" y="2034656"/>
            <a:ext cx="5289766" cy="473190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ZoneTexte 69"/>
          <p:cNvSpPr txBox="1"/>
          <p:nvPr/>
        </p:nvSpPr>
        <p:spPr>
          <a:xfrm>
            <a:off x="10195413" y="2038657"/>
            <a:ext cx="12554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bg2">
                    <a:lumMod val="50000"/>
                  </a:schemeClr>
                </a:solidFill>
              </a:rPr>
              <a:t>INFRA MASS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2514" y="4828473"/>
            <a:ext cx="3254450" cy="120656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Rectangle 72"/>
          <p:cNvSpPr/>
          <p:nvPr/>
        </p:nvSpPr>
        <p:spPr>
          <a:xfrm>
            <a:off x="894876" y="3149747"/>
            <a:ext cx="2664823" cy="1343258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cv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428122" y="3637508"/>
            <a:ext cx="1646833" cy="574766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VM</a:t>
            </a:r>
          </a:p>
          <a:p>
            <a:pPr algn="ctr"/>
            <a:r>
              <a:rPr lang="fr-FR" sz="1400" b="1" dirty="0"/>
              <a:t> REACTEUR.APP</a:t>
            </a:r>
          </a:p>
        </p:txBody>
      </p:sp>
      <p:sp>
        <p:nvSpPr>
          <p:cNvPr id="77" name="ZoneTexte 76"/>
          <p:cNvSpPr txBox="1"/>
          <p:nvPr/>
        </p:nvSpPr>
        <p:spPr>
          <a:xfrm>
            <a:off x="3791669" y="3664281"/>
            <a:ext cx="13937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/>
              <a:t>DMZ applicative</a:t>
            </a:r>
          </a:p>
          <a:p>
            <a:pPr algn="ctr"/>
            <a:r>
              <a:rPr lang="fr-FR" sz="1400" dirty="0"/>
              <a:t> REACTEUR-APP</a:t>
            </a:r>
          </a:p>
        </p:txBody>
      </p:sp>
      <p:sp>
        <p:nvSpPr>
          <p:cNvPr id="78" name="ZoneTexte 77"/>
          <p:cNvSpPr txBox="1"/>
          <p:nvPr/>
        </p:nvSpPr>
        <p:spPr>
          <a:xfrm>
            <a:off x="3829900" y="5222456"/>
            <a:ext cx="1562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/>
              <a:t>DMZ applicative</a:t>
            </a:r>
          </a:p>
          <a:p>
            <a:pPr algn="ctr"/>
            <a:r>
              <a:rPr lang="fr-FR" sz="1400" dirty="0"/>
              <a:t> REACTEUR-ESBDD</a:t>
            </a:r>
          </a:p>
        </p:txBody>
      </p:sp>
      <p:cxnSp>
        <p:nvCxnSpPr>
          <p:cNvPr id="79" name="Connecteur droit avec flèche 78"/>
          <p:cNvCxnSpPr/>
          <p:nvPr/>
        </p:nvCxnSpPr>
        <p:spPr>
          <a:xfrm flipH="1">
            <a:off x="1318556" y="4187501"/>
            <a:ext cx="932985" cy="11103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avec flèche 79"/>
          <p:cNvCxnSpPr/>
          <p:nvPr/>
        </p:nvCxnSpPr>
        <p:spPr>
          <a:xfrm>
            <a:off x="2237374" y="4246319"/>
            <a:ext cx="705398" cy="10515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1843921" y="2433447"/>
            <a:ext cx="815237" cy="4986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002060"/>
                </a:solidFill>
              </a:rPr>
              <a:t>RP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8382" y="856816"/>
            <a:ext cx="1572868" cy="74100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002060"/>
                </a:solidFill>
              </a:rPr>
              <a:t>Usagers</a:t>
            </a:r>
          </a:p>
          <a:p>
            <a:pPr algn="ctr"/>
            <a:r>
              <a:rPr lang="fr-FR" dirty="0">
                <a:solidFill>
                  <a:srgbClr val="002060"/>
                </a:solidFill>
              </a:rPr>
              <a:t>MASS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618869" y="856816"/>
            <a:ext cx="1572868" cy="741001"/>
          </a:xfrm>
          <a:prstGeom prst="rect">
            <a:avLst/>
          </a:prstGeom>
          <a:noFill/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002060"/>
                </a:solidFill>
              </a:rPr>
              <a:t>Usagers</a:t>
            </a:r>
          </a:p>
          <a:p>
            <a:pPr algn="ctr"/>
            <a:r>
              <a:rPr lang="fr-FR" dirty="0">
                <a:solidFill>
                  <a:srgbClr val="002060"/>
                </a:solidFill>
              </a:rPr>
              <a:t>externes</a:t>
            </a:r>
          </a:p>
        </p:txBody>
      </p:sp>
      <p:cxnSp>
        <p:nvCxnSpPr>
          <p:cNvPr id="86" name="Connecteur droit avec flèche 85"/>
          <p:cNvCxnSpPr>
            <a:stCxn id="82" idx="2"/>
            <a:endCxn id="81" idx="0"/>
          </p:cNvCxnSpPr>
          <p:nvPr/>
        </p:nvCxnSpPr>
        <p:spPr>
          <a:xfrm>
            <a:off x="1424816" y="1597817"/>
            <a:ext cx="826724" cy="8356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avec flèche 87"/>
          <p:cNvCxnSpPr>
            <a:stCxn id="81" idx="2"/>
          </p:cNvCxnSpPr>
          <p:nvPr/>
        </p:nvCxnSpPr>
        <p:spPr>
          <a:xfrm>
            <a:off x="2251540" y="2932113"/>
            <a:ext cx="0" cy="714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avec flèche 88"/>
          <p:cNvCxnSpPr>
            <a:stCxn id="84" idx="2"/>
          </p:cNvCxnSpPr>
          <p:nvPr/>
        </p:nvCxnSpPr>
        <p:spPr>
          <a:xfrm flipH="1">
            <a:off x="2387046" y="1597817"/>
            <a:ext cx="1018257" cy="8305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300446" y="2034655"/>
            <a:ext cx="5196481" cy="473190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1" name="ZoneTexte 90"/>
          <p:cNvSpPr txBox="1"/>
          <p:nvPr/>
        </p:nvSpPr>
        <p:spPr>
          <a:xfrm>
            <a:off x="3922893" y="2073572"/>
            <a:ext cx="15554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bg2">
                    <a:lumMod val="50000"/>
                  </a:schemeClr>
                </a:solidFill>
              </a:rPr>
              <a:t>INFRA CEGEDIM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693243" y="712637"/>
            <a:ext cx="1572868" cy="897386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002060"/>
                </a:solidFill>
              </a:rPr>
              <a:t>Usagers</a:t>
            </a:r>
          </a:p>
          <a:p>
            <a:pPr algn="ctr"/>
            <a:r>
              <a:rPr lang="fr-FR" dirty="0">
                <a:solidFill>
                  <a:srgbClr val="002060"/>
                </a:solidFill>
              </a:rPr>
              <a:t>MASS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704577" y="734857"/>
            <a:ext cx="1267433" cy="897386"/>
          </a:xfrm>
          <a:prstGeom prst="rect">
            <a:avLst/>
          </a:prstGeom>
          <a:noFill/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002060"/>
                </a:solidFill>
              </a:rPr>
              <a:t>Usagers</a:t>
            </a:r>
          </a:p>
          <a:p>
            <a:pPr algn="ctr"/>
            <a:r>
              <a:rPr lang="fr-FR" dirty="0">
                <a:solidFill>
                  <a:srgbClr val="002060"/>
                </a:solidFill>
              </a:rPr>
              <a:t>externes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299332" y="3721183"/>
            <a:ext cx="1646833" cy="574766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VM</a:t>
            </a:r>
          </a:p>
          <a:p>
            <a:pPr algn="ctr"/>
            <a:r>
              <a:rPr lang="fr-FR" sz="1400" b="1" dirty="0"/>
              <a:t> REACTEUR.APP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70097" y="5315365"/>
            <a:ext cx="1282986" cy="574766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VM</a:t>
            </a:r>
          </a:p>
          <a:p>
            <a:pPr algn="ctr"/>
            <a:r>
              <a:rPr lang="fr-FR" sz="1400" b="1" dirty="0"/>
              <a:t> REACTEUR.ES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199628" y="5315365"/>
            <a:ext cx="1406796" cy="574766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VM</a:t>
            </a:r>
          </a:p>
          <a:p>
            <a:pPr algn="ctr"/>
            <a:r>
              <a:rPr lang="fr-FR" sz="1400" b="1" dirty="0"/>
              <a:t> REACTEUR.BDD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641290" y="5600787"/>
            <a:ext cx="1282986" cy="574766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VM</a:t>
            </a:r>
          </a:p>
          <a:p>
            <a:pPr algn="ctr"/>
            <a:r>
              <a:rPr lang="fr-FR" sz="1400" b="1" dirty="0"/>
              <a:t> REACTEUR.ES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170821" y="5600787"/>
            <a:ext cx="1406796" cy="574766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VM</a:t>
            </a:r>
          </a:p>
          <a:p>
            <a:pPr algn="ctr"/>
            <a:r>
              <a:rPr lang="fr-FR" sz="1400" b="1" dirty="0"/>
              <a:t> REACTEUR.BDD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908088" y="6252104"/>
            <a:ext cx="37630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i="1" dirty="0">
                <a:solidFill>
                  <a:srgbClr val="C00000"/>
                </a:solidFill>
              </a:rPr>
              <a:t>Zone ES/BDD de niveau rouge de confiance</a:t>
            </a:r>
          </a:p>
          <a:p>
            <a:pPr algn="ctr"/>
            <a:r>
              <a:rPr lang="fr-FR" sz="1400" i="1" dirty="0">
                <a:solidFill>
                  <a:srgbClr val="C00000"/>
                </a:solidFill>
              </a:rPr>
              <a:t>car 3 couches sécu (RP + DMZ APP + DMZ ESBDD)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92969" y="3149747"/>
            <a:ext cx="4974464" cy="1678726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 49"/>
          <p:cNvSpPr/>
          <p:nvPr/>
        </p:nvSpPr>
        <p:spPr>
          <a:xfrm>
            <a:off x="6284332" y="4974574"/>
            <a:ext cx="4974464" cy="167872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10082175" y="3121223"/>
            <a:ext cx="12186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i="1" dirty="0">
                <a:solidFill>
                  <a:schemeClr val="accent4">
                    <a:lumMod val="75000"/>
                  </a:schemeClr>
                </a:solidFill>
              </a:rPr>
              <a:t>DMZ publique</a:t>
            </a:r>
          </a:p>
        </p:txBody>
      </p:sp>
      <p:sp>
        <p:nvSpPr>
          <p:cNvPr id="52" name="ZoneTexte 51"/>
          <p:cNvSpPr txBox="1"/>
          <p:nvPr/>
        </p:nvSpPr>
        <p:spPr>
          <a:xfrm>
            <a:off x="10227873" y="6355983"/>
            <a:ext cx="10309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i="1" dirty="0">
                <a:solidFill>
                  <a:srgbClr val="C00000"/>
                </a:solidFill>
              </a:rPr>
              <a:t>DMZ privée</a:t>
            </a:r>
          </a:p>
        </p:txBody>
      </p:sp>
    </p:spTree>
    <p:extLst>
      <p:ext uri="{BB962C8B-B14F-4D97-AF65-F5344CB8AC3E}">
        <p14:creationId xmlns:p14="http://schemas.microsoft.com/office/powerpoint/2010/main" val="864538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A7519-F16A-54CC-96AF-8D539FD52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76F803E6-2EEC-6041-FB87-89A57102E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436" y="307325"/>
            <a:ext cx="8391701" cy="50188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C5EAD9A9-1B8B-9287-38C0-47B5AA034D64}"/>
              </a:ext>
            </a:extLst>
          </p:cNvPr>
          <p:cNvSpPr txBox="1"/>
          <p:nvPr/>
        </p:nvSpPr>
        <p:spPr>
          <a:xfrm flipH="1">
            <a:off x="31863" y="16381"/>
            <a:ext cx="39028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1"/>
                </a:solidFill>
              </a:rPr>
              <a:t>Représentation des flux </a:t>
            </a:r>
          </a:p>
          <a:p>
            <a:r>
              <a:rPr lang="fr-FR" b="1" dirty="0">
                <a:solidFill>
                  <a:schemeClr val="accent1"/>
                </a:solidFill>
              </a:rPr>
              <a:t>des SI externes dans schéma</a:t>
            </a:r>
          </a:p>
          <a:p>
            <a:r>
              <a:rPr lang="fr-FR" b="1" dirty="0">
                <a:solidFill>
                  <a:schemeClr val="accent1"/>
                </a:solidFill>
              </a:rPr>
              <a:t>Archi </a:t>
            </a:r>
            <a:r>
              <a:rPr lang="fr-FR" b="1" dirty="0" err="1">
                <a:solidFill>
                  <a:schemeClr val="accent1"/>
                </a:solidFill>
              </a:rPr>
              <a:t>techni</a:t>
            </a:r>
            <a:r>
              <a:rPr lang="fr-FR" b="1" dirty="0">
                <a:solidFill>
                  <a:schemeClr val="accent1"/>
                </a:solidFill>
              </a:rPr>
              <a:t>&lt;</a:t>
            </a:r>
            <a:r>
              <a:rPr lang="fr-FR" b="1" dirty="0" err="1">
                <a:solidFill>
                  <a:schemeClr val="accent1"/>
                </a:solidFill>
              </a:rPr>
              <a:t>ue</a:t>
            </a:r>
            <a:endParaRPr lang="fr-FR" b="1" dirty="0">
              <a:solidFill>
                <a:schemeClr val="accent1"/>
              </a:solidFill>
            </a:endParaRPr>
          </a:p>
          <a:p>
            <a:r>
              <a:rPr lang="fr-FR" dirty="0">
                <a:solidFill>
                  <a:schemeClr val="accent1"/>
                </a:solidFill>
              </a:rPr>
              <a:t>(Exemple DA SANTE HABITAT)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C6FDA48-BE3C-44ED-956B-9E79027F8D06}"/>
              </a:ext>
            </a:extLst>
          </p:cNvPr>
          <p:cNvSpPr txBox="1"/>
          <p:nvPr/>
        </p:nvSpPr>
        <p:spPr>
          <a:xfrm>
            <a:off x="652857" y="1569210"/>
            <a:ext cx="2321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>
                <a:solidFill>
                  <a:srgbClr val="FF0000"/>
                </a:solidFill>
              </a:rPr>
              <a:t>Page 1 du DA</a:t>
            </a:r>
          </a:p>
          <a:p>
            <a:pPr algn="ctr"/>
            <a:r>
              <a:rPr lang="fr-FR" dirty="0">
                <a:solidFill>
                  <a:srgbClr val="FF0000"/>
                </a:solidFill>
              </a:rPr>
              <a:t>Dépendances externes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3C9ECE3-E96F-AC1C-4E95-B9B4C293C750}"/>
              </a:ext>
            </a:extLst>
          </p:cNvPr>
          <p:cNvSpPr txBox="1"/>
          <p:nvPr/>
        </p:nvSpPr>
        <p:spPr>
          <a:xfrm>
            <a:off x="10307782" y="4065717"/>
            <a:ext cx="1499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FF0000"/>
                </a:solidFill>
              </a:rPr>
              <a:t>Page 2 du DA</a:t>
            </a:r>
          </a:p>
          <a:p>
            <a:pPr algn="ctr"/>
            <a:r>
              <a:rPr lang="fr-FR" dirty="0">
                <a:solidFill>
                  <a:srgbClr val="FF0000"/>
                </a:solidFill>
              </a:rPr>
              <a:t>4eme schéma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39A1464F-FBF6-302E-A5F4-D24CF52C4721}"/>
              </a:ext>
            </a:extLst>
          </p:cNvPr>
          <p:cNvSpPr txBox="1"/>
          <p:nvPr/>
        </p:nvSpPr>
        <p:spPr>
          <a:xfrm>
            <a:off x="1066799" y="5064548"/>
            <a:ext cx="9448801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/>
              <a:t>Si  le SI externe est appelé par le SI du DA, flèche directe entre les 2</a:t>
            </a:r>
          </a:p>
          <a:p>
            <a:pPr algn="ctr"/>
            <a:r>
              <a:rPr lang="fr-FR" sz="1600" dirty="0"/>
              <a:t>Départ Flèche (zone APP) ; préciser dans matrice de flux (passa par PFAI)</a:t>
            </a:r>
          </a:p>
          <a:p>
            <a:pPr algn="ctr"/>
            <a:r>
              <a:rPr lang="fr-FR" sz="1600" dirty="0"/>
              <a:t>ci-dessus exemple : SI AXEL (flux 7) et SI BAN (flux 8)</a:t>
            </a:r>
          </a:p>
          <a:p>
            <a:pPr algn="ctr"/>
            <a:endParaRPr lang="fr-FR" sz="1600" dirty="0"/>
          </a:p>
          <a:p>
            <a:pPr algn="ctr"/>
            <a:r>
              <a:rPr lang="fr-FR" sz="1600" dirty="0"/>
              <a:t>Si le SI du DA est appelé par le SI externe, flèche à faire entrer dans RP EXT</a:t>
            </a:r>
          </a:p>
          <a:p>
            <a:pPr algn="ctr"/>
            <a:r>
              <a:rPr lang="fr-FR" sz="1600" dirty="0"/>
              <a:t>car nécessité de rentrer dans le MASS par un point de confiance et datage flux</a:t>
            </a:r>
          </a:p>
          <a:p>
            <a:pPr algn="ctr"/>
            <a:r>
              <a:rPr lang="fr-FR" sz="1600" dirty="0"/>
              <a:t>ci-dessus exemple : SI PHD / HABITAB et Signal Logement (flux 8/10/11)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E6690157-A19F-7A91-6A51-8D94C14D8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91187"/>
            <a:ext cx="3902828" cy="263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5255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223</Words>
  <Application>Microsoft Office PowerPoint</Application>
  <PresentationFormat>Grand écran</PresentationFormat>
  <Paragraphs>58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Présentation PowerPoint</vt:lpstr>
      <vt:lpstr>Présentation PowerPoint</vt:lpstr>
    </vt:vector>
  </TitlesOfParts>
  <Company>PPT/DSI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LECOQ, Patrice (DNUM/MCNum)</dc:creator>
  <cp:lastModifiedBy>LECOQ, Patrice (DNUM/MCNum)</cp:lastModifiedBy>
  <cp:revision>12</cp:revision>
  <dcterms:created xsi:type="dcterms:W3CDTF">2021-11-25T09:41:46Z</dcterms:created>
  <dcterms:modified xsi:type="dcterms:W3CDTF">2025-11-27T09:30:16Z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094c1fb-3db8-4cce-b079-9b022302847f_Enabled">
    <vt:lpwstr>true</vt:lpwstr>
  </property>
  <property fmtid="{D5CDD505-2E9C-101B-9397-08002B2CF9AE}" pid="3" name="MSIP_Label_3094c1fb-3db8-4cce-b079-9b022302847f_SetDate">
    <vt:lpwstr>2025-11-20T12:03:19Z</vt:lpwstr>
  </property>
  <property fmtid="{D5CDD505-2E9C-101B-9397-08002B2CF9AE}" pid="4" name="MSIP_Label_3094c1fb-3db8-4cce-b079-9b022302847f_Method">
    <vt:lpwstr>Standard</vt:lpwstr>
  </property>
  <property fmtid="{D5CDD505-2E9C-101B-9397-08002B2CF9AE}" pid="5" name="MSIP_Label_3094c1fb-3db8-4cce-b079-9b022302847f_Name">
    <vt:lpwstr>[Prod v5] C1 - Standard</vt:lpwstr>
  </property>
  <property fmtid="{D5CDD505-2E9C-101B-9397-08002B2CF9AE}" pid="6" name="MSIP_Label_3094c1fb-3db8-4cce-b079-9b022302847f_SiteId">
    <vt:lpwstr>035e5292-5a25-4509-bb08-a555f7d31a8b</vt:lpwstr>
  </property>
  <property fmtid="{D5CDD505-2E9C-101B-9397-08002B2CF9AE}" pid="7" name="MSIP_Label_3094c1fb-3db8-4cce-b079-9b022302847f_ActionId">
    <vt:lpwstr>22dd7320-152f-4960-b621-4d4a5047d967</vt:lpwstr>
  </property>
  <property fmtid="{D5CDD505-2E9C-101B-9397-08002B2CF9AE}" pid="8" name="MSIP_Label_3094c1fb-3db8-4cce-b079-9b022302847f_ContentBits">
    <vt:lpwstr>0</vt:lpwstr>
  </property>
  <property fmtid="{D5CDD505-2E9C-101B-9397-08002B2CF9AE}" pid="9" name="MSIP_Label_3094c1fb-3db8-4cce-b079-9b022302847f_Tag">
    <vt:lpwstr>10, 3, 0, 1</vt:lpwstr>
  </property>
</Properties>
</file>