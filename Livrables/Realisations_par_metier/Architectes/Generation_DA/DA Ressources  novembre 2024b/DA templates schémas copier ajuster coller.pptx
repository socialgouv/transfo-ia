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sldIdLst>
    <p:sldId id="266" r:id="rId5"/>
    <p:sldId id="267" r:id="rId6"/>
    <p:sldId id="268" r:id="rId7"/>
  </p:sldIdLst>
  <p:sldSz cx="9144000" cy="6858000" type="screen4x3"/>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20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56DA3CAC-18AB-4824-8928-E747E7F5C13A}" type="datetimeFigureOut">
              <a:rPr lang="fr-FR" smtClean="0"/>
              <a:t>12/07/2023</a:t>
            </a:fld>
            <a:endParaRPr lang="fr-FR"/>
          </a:p>
        </p:txBody>
      </p:sp>
      <p:sp>
        <p:nvSpPr>
          <p:cNvPr id="4" name="Espace réservé de l'image des diapositives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C3FC979-BDAB-4160-999E-9225CB87870A}" type="slidenum">
              <a:rPr lang="fr-FR" smtClean="0"/>
              <a:t>‹N°›</a:t>
            </a:fld>
            <a:endParaRPr lang="fr-FR"/>
          </a:p>
        </p:txBody>
      </p:sp>
    </p:spTree>
    <p:extLst>
      <p:ext uri="{BB962C8B-B14F-4D97-AF65-F5344CB8AC3E}">
        <p14:creationId xmlns:p14="http://schemas.microsoft.com/office/powerpoint/2010/main" val="84408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2D30ACD-7D03-465D-828E-86811472480F}" type="slidenum">
              <a:rPr lang="fr-FR" smtClean="0"/>
              <a:t>1</a:t>
            </a:fld>
            <a:endParaRPr lang="fr-FR"/>
          </a:p>
        </p:txBody>
      </p:sp>
    </p:spTree>
    <p:extLst>
      <p:ext uri="{BB962C8B-B14F-4D97-AF65-F5344CB8AC3E}">
        <p14:creationId xmlns:p14="http://schemas.microsoft.com/office/powerpoint/2010/main" val="242953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2D30ACD-7D03-465D-828E-86811472480F}" type="slidenum">
              <a:rPr lang="fr-FR" smtClean="0"/>
              <a:t>2</a:t>
            </a:fld>
            <a:endParaRPr lang="fr-FR"/>
          </a:p>
        </p:txBody>
      </p:sp>
    </p:spTree>
    <p:extLst>
      <p:ext uri="{BB962C8B-B14F-4D97-AF65-F5344CB8AC3E}">
        <p14:creationId xmlns:p14="http://schemas.microsoft.com/office/powerpoint/2010/main" val="1195342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289604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2468357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1946576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0BC748F3-47C1-4608-AE96-02F1633D32CC}" type="datetimeFigureOut">
              <a:rPr lang="fr-FR" smtClean="0"/>
              <a:t>12/07/2023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165721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BC748F3-47C1-4608-AE96-02F1633D32CC}" type="datetimeFigureOut">
              <a:rPr lang="fr-FR" smtClean="0"/>
              <a:t>12/07/2023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2409549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0BC748F3-47C1-4608-AE96-02F1633D32CC}" type="datetimeFigureOut">
              <a:rPr lang="fr-FR" smtClean="0"/>
              <a:t>12/07/2023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3017253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BC748F3-47C1-4608-AE96-02F1633D32CC}" type="datetimeFigureOut">
              <a:rPr lang="fr-FR" smtClean="0"/>
              <a:t>12/07/2023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4239374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BC748F3-47C1-4608-AE96-02F1633D32CC}" type="datetimeFigureOut">
              <a:rPr lang="fr-FR" smtClean="0"/>
              <a:t>12/07/2023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402170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0BC748F3-47C1-4608-AE96-02F1633D32CC}" type="datetimeFigureOut">
              <a:rPr lang="fr-FR" smtClean="0"/>
              <a:t>12/07/2023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241080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130788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22467B-D2AE-4C51-84D9-D780481145DF}" type="slidenum">
              <a:rPr lang="fr-FR" smtClean="0"/>
              <a:t>‹N°›</a:t>
            </a:fld>
            <a:endParaRPr lang="fr-FR"/>
          </a:p>
        </p:txBody>
      </p:sp>
    </p:spTree>
    <p:extLst>
      <p:ext uri="{BB962C8B-B14F-4D97-AF65-F5344CB8AC3E}">
        <p14:creationId xmlns:p14="http://schemas.microsoft.com/office/powerpoint/2010/main" val="428925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748F3-47C1-4608-AE96-02F1633D32CC}" type="datetimeFigureOut">
              <a:rPr lang="fr-FR" smtClean="0"/>
              <a:t>12/07/2023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22467B-D2AE-4C51-84D9-D780481145DF}" type="slidenum">
              <a:rPr lang="fr-FR" smtClean="0"/>
              <a:t>‹N°›</a:t>
            </a:fld>
            <a:endParaRPr lang="fr-FR"/>
          </a:p>
        </p:txBody>
      </p:sp>
      <p:sp>
        <p:nvSpPr>
          <p:cNvPr id="8" name="ZoneTexte 7">
            <a:extLst>
              <a:ext uri="{FF2B5EF4-FFF2-40B4-BE49-F238E27FC236}">
                <a16:creationId xmlns:a16="http://schemas.microsoft.com/office/drawing/2014/main" id="{85367021-B2ED-0E4B-595E-856705B416D5}"/>
              </a:ext>
            </a:extLst>
          </p:cNvPr>
          <p:cNvSpPr txBox="1"/>
          <p:nvPr userDrawn="1">
            <p:extLst>
              <p:ext uri="{1162E1C5-73C7-4A58-AE30-91384D911F3F}">
                <p184:classification xmlns:p184="http://schemas.microsoft.com/office/powerpoint/2018/4/main" val="ftr"/>
              </p:ext>
            </p:extLst>
          </p:nvPr>
        </p:nvSpPr>
        <p:spPr>
          <a:xfrm>
            <a:off x="4302887" y="6705600"/>
            <a:ext cx="566738" cy="152400"/>
          </a:xfrm>
          <a:prstGeom prst="rect">
            <a:avLst/>
          </a:prstGeom>
        </p:spPr>
        <p:txBody>
          <a:bodyPr horzOverflow="overflow" lIns="0" tIns="0" rIns="0" bIns="0">
            <a:spAutoFit/>
          </a:bodyPr>
          <a:lstStyle/>
          <a:p>
            <a:pPr algn="l"/>
            <a:r>
              <a:rPr lang="fr-FR" sz="1000">
                <a:solidFill>
                  <a:srgbClr val="000000"/>
                </a:solidFill>
                <a:latin typeface="Calibri" panose="020F0502020204030204" pitchFamily="34" charset="0"/>
                <a:cs typeface="Calibri" panose="020F0502020204030204" pitchFamily="34" charset="0"/>
              </a:rPr>
              <a:t>C1 - Public</a:t>
            </a:r>
          </a:p>
        </p:txBody>
      </p:sp>
    </p:spTree>
    <p:extLst>
      <p:ext uri="{BB962C8B-B14F-4D97-AF65-F5344CB8AC3E}">
        <p14:creationId xmlns:p14="http://schemas.microsoft.com/office/powerpoint/2010/main" val="816107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7.png"/><Relationship Id="rId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3.png"/><Relationship Id="rId3" Type="http://schemas.openxmlformats.org/officeDocument/2006/relationships/image" Target="../media/image20.emf"/><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2.png"/><Relationship Id="rId2" Type="http://schemas.openxmlformats.org/officeDocument/2006/relationships/image" Target="../media/image19.emf"/><Relationship Id="rId16"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5.png"/><Relationship Id="rId10" Type="http://schemas.openxmlformats.org/officeDocument/2006/relationships/image" Target="../media/image27.png"/><Relationship Id="rId19" Type="http://schemas.openxmlformats.org/officeDocument/2006/relationships/image" Target="../media/image11.png"/><Relationship Id="rId4" Type="http://schemas.openxmlformats.org/officeDocument/2006/relationships/image" Target="../media/image21.emf"/><Relationship Id="rId9" Type="http://schemas.openxmlformats.org/officeDocument/2006/relationships/image" Target="../media/image26.png"/><Relationship Id="rId1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llipse 11"/>
          <p:cNvSpPr/>
          <p:nvPr/>
        </p:nvSpPr>
        <p:spPr>
          <a:xfrm>
            <a:off x="1127325" y="788355"/>
            <a:ext cx="1995221" cy="1970442"/>
          </a:xfrm>
          <a:prstGeom prst="ellips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lumMod val="95000"/>
                  <a:lumOff val="5000"/>
                </a:schemeClr>
              </a:solidFill>
            </a:endParaRPr>
          </a:p>
        </p:txBody>
      </p:sp>
      <p:sp>
        <p:nvSpPr>
          <p:cNvPr id="40" name="Ellipse 39"/>
          <p:cNvSpPr/>
          <p:nvPr/>
        </p:nvSpPr>
        <p:spPr>
          <a:xfrm>
            <a:off x="1824479" y="1445391"/>
            <a:ext cx="577987" cy="594690"/>
          </a:xfrm>
          <a:prstGeom prst="ellipse">
            <a:avLst/>
          </a:prstGeom>
          <a:solidFill>
            <a:schemeClr val="accent5">
              <a:lumMod val="40000"/>
              <a:lumOff val="60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tx1">
                    <a:lumMod val="95000"/>
                    <a:lumOff val="5000"/>
                  </a:schemeClr>
                </a:solidFill>
              </a:rPr>
              <a:t>APP</a:t>
            </a:r>
          </a:p>
        </p:txBody>
      </p:sp>
      <p:pic>
        <p:nvPicPr>
          <p:cNvPr id="4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148" y="866947"/>
            <a:ext cx="2952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873" y="1330712"/>
            <a:ext cx="342900"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1866" y="1868475"/>
            <a:ext cx="323850"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529" y="2270179"/>
            <a:ext cx="2952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007" y="2530411"/>
            <a:ext cx="2952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4754" y="1378336"/>
            <a:ext cx="30480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9954" y="929762"/>
            <a:ext cx="304800"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4754" y="1891866"/>
            <a:ext cx="30480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6550" y="2336854"/>
            <a:ext cx="304800"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Connecteur droit avec flèche 13"/>
          <p:cNvCxnSpPr>
            <a:endCxn id="40" idx="1"/>
          </p:cNvCxnSpPr>
          <p:nvPr/>
        </p:nvCxnSpPr>
        <p:spPr>
          <a:xfrm>
            <a:off x="1613423" y="1200322"/>
            <a:ext cx="295700" cy="3321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Connecteur droit avec flèche 62"/>
          <p:cNvCxnSpPr/>
          <p:nvPr/>
        </p:nvCxnSpPr>
        <p:spPr>
          <a:xfrm>
            <a:off x="1440166" y="1618151"/>
            <a:ext cx="373667" cy="1033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5" name="Connecteur droit avec flèche 64"/>
          <p:cNvCxnSpPr>
            <a:endCxn id="40" idx="3"/>
          </p:cNvCxnSpPr>
          <p:nvPr/>
        </p:nvCxnSpPr>
        <p:spPr>
          <a:xfrm flipV="1">
            <a:off x="1626999" y="1952991"/>
            <a:ext cx="282124" cy="3505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Connecteur droit avec flèche 67"/>
          <p:cNvCxnSpPr>
            <a:endCxn id="40" idx="4"/>
          </p:cNvCxnSpPr>
          <p:nvPr/>
        </p:nvCxnSpPr>
        <p:spPr>
          <a:xfrm flipV="1">
            <a:off x="1909123" y="2040081"/>
            <a:ext cx="204350" cy="415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Connecteur droit avec flèche 72"/>
          <p:cNvCxnSpPr>
            <a:endCxn id="40" idx="7"/>
          </p:cNvCxnSpPr>
          <p:nvPr/>
        </p:nvCxnSpPr>
        <p:spPr>
          <a:xfrm flipH="1">
            <a:off x="2317822" y="1196462"/>
            <a:ext cx="372133" cy="3360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avec flèche 75"/>
          <p:cNvCxnSpPr>
            <a:stCxn id="40" idx="5"/>
          </p:cNvCxnSpPr>
          <p:nvPr/>
        </p:nvCxnSpPr>
        <p:spPr>
          <a:xfrm>
            <a:off x="2317822" y="1952991"/>
            <a:ext cx="288728" cy="383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Connecteur droit avec flèche 78"/>
          <p:cNvCxnSpPr>
            <a:stCxn id="40" idx="6"/>
            <a:endCxn id="57" idx="1"/>
          </p:cNvCxnSpPr>
          <p:nvPr/>
        </p:nvCxnSpPr>
        <p:spPr>
          <a:xfrm flipV="1">
            <a:off x="2402466" y="1516449"/>
            <a:ext cx="592288" cy="2262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Connecteur droit avec flèche 81"/>
          <p:cNvCxnSpPr/>
          <p:nvPr/>
        </p:nvCxnSpPr>
        <p:spPr>
          <a:xfrm flipH="1" flipV="1">
            <a:off x="2355642" y="1804981"/>
            <a:ext cx="639112" cy="2249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243" name="ZoneTexte 9242"/>
          <p:cNvSpPr txBox="1"/>
          <p:nvPr/>
        </p:nvSpPr>
        <p:spPr>
          <a:xfrm>
            <a:off x="866675" y="787413"/>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89" name="ZoneTexte 88"/>
          <p:cNvSpPr txBox="1"/>
          <p:nvPr/>
        </p:nvSpPr>
        <p:spPr>
          <a:xfrm>
            <a:off x="542531" y="1361183"/>
            <a:ext cx="521298" cy="400110"/>
          </a:xfrm>
          <a:prstGeom prst="rect">
            <a:avLst/>
          </a:prstGeom>
          <a:noFill/>
        </p:spPr>
        <p:txBody>
          <a:bodyPr wrap="none" rtlCol="0">
            <a:spAutoFit/>
          </a:bodyPr>
          <a:lstStyle/>
          <a:p>
            <a:pPr algn="ctr"/>
            <a:r>
              <a:rPr lang="fr-FR" sz="1000" dirty="0">
                <a:solidFill>
                  <a:schemeClr val="tx1">
                    <a:lumMod val="95000"/>
                    <a:lumOff val="5000"/>
                  </a:schemeClr>
                </a:solidFill>
              </a:rPr>
              <a:t>XXXXX</a:t>
            </a:r>
          </a:p>
          <a:p>
            <a:pPr algn="ctr"/>
            <a:endParaRPr lang="fr-FR" sz="1000" dirty="0">
              <a:solidFill>
                <a:schemeClr val="tx1">
                  <a:lumMod val="95000"/>
                  <a:lumOff val="5000"/>
                </a:schemeClr>
              </a:solidFill>
            </a:endParaRPr>
          </a:p>
        </p:txBody>
      </p:sp>
      <p:sp>
        <p:nvSpPr>
          <p:cNvPr id="90" name="ZoneTexte 89"/>
          <p:cNvSpPr txBox="1"/>
          <p:nvPr/>
        </p:nvSpPr>
        <p:spPr>
          <a:xfrm>
            <a:off x="515180" y="1942687"/>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1" name="ZoneTexte 90"/>
          <p:cNvSpPr txBox="1"/>
          <p:nvPr/>
        </p:nvSpPr>
        <p:spPr>
          <a:xfrm>
            <a:off x="822040" y="2518555"/>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2" name="ZoneTexte 91"/>
          <p:cNvSpPr txBox="1"/>
          <p:nvPr/>
        </p:nvSpPr>
        <p:spPr>
          <a:xfrm>
            <a:off x="1605657" y="2893497"/>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4" name="ZoneTexte 93"/>
          <p:cNvSpPr txBox="1"/>
          <p:nvPr/>
        </p:nvSpPr>
        <p:spPr>
          <a:xfrm>
            <a:off x="3294145" y="1408726"/>
            <a:ext cx="521297"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5" name="ZoneTexte 94"/>
          <p:cNvSpPr txBox="1"/>
          <p:nvPr/>
        </p:nvSpPr>
        <p:spPr>
          <a:xfrm>
            <a:off x="3292341" y="1906867"/>
            <a:ext cx="521297"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6" name="ZoneTexte 95"/>
          <p:cNvSpPr txBox="1"/>
          <p:nvPr/>
        </p:nvSpPr>
        <p:spPr>
          <a:xfrm>
            <a:off x="2928720" y="2480443"/>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7" name="ZoneTexte 96"/>
          <p:cNvSpPr txBox="1"/>
          <p:nvPr/>
        </p:nvSpPr>
        <p:spPr>
          <a:xfrm>
            <a:off x="2987540" y="925846"/>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9245" name="ZoneTexte 9244"/>
          <p:cNvSpPr txBox="1"/>
          <p:nvPr/>
        </p:nvSpPr>
        <p:spPr>
          <a:xfrm>
            <a:off x="0" y="1"/>
            <a:ext cx="4389359" cy="276999"/>
          </a:xfrm>
          <a:prstGeom prst="rect">
            <a:avLst/>
          </a:prstGeom>
          <a:noFill/>
        </p:spPr>
        <p:txBody>
          <a:bodyPr wrap="square" rtlCol="0">
            <a:spAutoFit/>
          </a:bodyPr>
          <a:lstStyle/>
          <a:p>
            <a:pPr algn="ctr"/>
            <a:r>
              <a:rPr lang="fr-FR" sz="1200" b="1" dirty="0">
                <a:solidFill>
                  <a:srgbClr val="002060"/>
                </a:solidFill>
              </a:rPr>
              <a:t>Architecture Acteurs</a:t>
            </a:r>
          </a:p>
        </p:txBody>
      </p:sp>
      <p:pic>
        <p:nvPicPr>
          <p:cNvPr id="10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97" y="2014900"/>
            <a:ext cx="2952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9360" y="573803"/>
            <a:ext cx="342900"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8885" y="1284256"/>
            <a:ext cx="323850"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1" name="Rectangle 110"/>
          <p:cNvSpPr/>
          <p:nvPr/>
        </p:nvSpPr>
        <p:spPr>
          <a:xfrm>
            <a:off x="5220143" y="1303483"/>
            <a:ext cx="1329956" cy="616040"/>
          </a:xfrm>
          <a:prstGeom prst="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112" name="Rectangle 111"/>
          <p:cNvSpPr/>
          <p:nvPr/>
        </p:nvSpPr>
        <p:spPr>
          <a:xfrm>
            <a:off x="5238690" y="788355"/>
            <a:ext cx="1329956" cy="411259"/>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114" name="Rectangle 113"/>
          <p:cNvSpPr/>
          <p:nvPr/>
        </p:nvSpPr>
        <p:spPr>
          <a:xfrm>
            <a:off x="5238690" y="2024740"/>
            <a:ext cx="1329956" cy="66227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115" name="Rectangle 114"/>
          <p:cNvSpPr/>
          <p:nvPr/>
        </p:nvSpPr>
        <p:spPr>
          <a:xfrm>
            <a:off x="5238690" y="2777862"/>
            <a:ext cx="1329956" cy="39707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pic>
        <p:nvPicPr>
          <p:cNvPr id="11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6985" y="2777862"/>
            <a:ext cx="2952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3" name="Connecteur droit avec flèche 122"/>
          <p:cNvCxnSpPr>
            <a:stCxn id="153" idx="1"/>
          </p:cNvCxnSpPr>
          <p:nvPr/>
        </p:nvCxnSpPr>
        <p:spPr>
          <a:xfrm flipH="1">
            <a:off x="8676000" y="2162853"/>
            <a:ext cx="323196" cy="1531"/>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6945181" y="1294642"/>
            <a:ext cx="1239468" cy="624630"/>
          </a:xfrm>
          <a:prstGeom prst="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127" name="Rectangle 126"/>
          <p:cNvSpPr/>
          <p:nvPr/>
        </p:nvSpPr>
        <p:spPr>
          <a:xfrm>
            <a:off x="6945181" y="782201"/>
            <a:ext cx="1239468" cy="411259"/>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128" name="Rectangle 127"/>
          <p:cNvSpPr/>
          <p:nvPr/>
        </p:nvSpPr>
        <p:spPr>
          <a:xfrm>
            <a:off x="6931103" y="2030739"/>
            <a:ext cx="1239468" cy="66227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cxnSp>
        <p:nvCxnSpPr>
          <p:cNvPr id="146" name="Connecteur droit avec flèche 145"/>
          <p:cNvCxnSpPr>
            <a:stCxn id="152" idx="1"/>
          </p:cNvCxnSpPr>
          <p:nvPr/>
        </p:nvCxnSpPr>
        <p:spPr>
          <a:xfrm flipH="1">
            <a:off x="8676000" y="1547032"/>
            <a:ext cx="310844"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51"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76000" y="774319"/>
            <a:ext cx="304800"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2"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76000" y="1413682"/>
            <a:ext cx="304800"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6000" y="2024740"/>
            <a:ext cx="30480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0" name="ZoneTexte 69"/>
          <p:cNvSpPr txBox="1"/>
          <p:nvPr/>
        </p:nvSpPr>
        <p:spPr>
          <a:xfrm>
            <a:off x="5474526" y="857704"/>
            <a:ext cx="993312" cy="246221"/>
          </a:xfrm>
          <a:prstGeom prst="rect">
            <a:avLst/>
          </a:prstGeom>
          <a:noFill/>
          <a:ln>
            <a:solidFill>
              <a:srgbClr val="00B050"/>
            </a:solidFill>
          </a:ln>
        </p:spPr>
        <p:txBody>
          <a:bodyPr wrap="square" rtlCol="0">
            <a:spAutoFit/>
          </a:bodyPr>
          <a:lstStyle/>
          <a:p>
            <a:pPr algn="ctr"/>
            <a:r>
              <a:rPr lang="fr-FR" sz="1000" dirty="0">
                <a:solidFill>
                  <a:schemeClr val="tx1">
                    <a:lumMod val="95000"/>
                    <a:lumOff val="5000"/>
                  </a:schemeClr>
                </a:solidFill>
              </a:rPr>
              <a:t>XXXXX</a:t>
            </a:r>
          </a:p>
        </p:txBody>
      </p:sp>
      <p:sp>
        <p:nvSpPr>
          <p:cNvPr id="157" name="ZoneTexte 156"/>
          <p:cNvSpPr txBox="1"/>
          <p:nvPr/>
        </p:nvSpPr>
        <p:spPr>
          <a:xfrm>
            <a:off x="5474526" y="1369603"/>
            <a:ext cx="993312" cy="246221"/>
          </a:xfrm>
          <a:prstGeom prst="rect">
            <a:avLst/>
          </a:prstGeom>
          <a:noFill/>
          <a:ln>
            <a:solidFill>
              <a:srgbClr val="FFC000"/>
            </a:solidFill>
          </a:ln>
        </p:spPr>
        <p:txBody>
          <a:bodyPr wrap="square" rtlCol="0">
            <a:spAutoFit/>
          </a:bodyPr>
          <a:lstStyle/>
          <a:p>
            <a:pPr algn="ctr"/>
            <a:r>
              <a:rPr lang="fr-FR" sz="1000" dirty="0">
                <a:solidFill>
                  <a:schemeClr val="tx1">
                    <a:lumMod val="95000"/>
                    <a:lumOff val="5000"/>
                  </a:schemeClr>
                </a:solidFill>
              </a:rPr>
              <a:t>XXXXX</a:t>
            </a:r>
          </a:p>
        </p:txBody>
      </p:sp>
      <p:sp>
        <p:nvSpPr>
          <p:cNvPr id="158" name="ZoneTexte 157"/>
          <p:cNvSpPr txBox="1"/>
          <p:nvPr/>
        </p:nvSpPr>
        <p:spPr>
          <a:xfrm>
            <a:off x="5463679" y="1618686"/>
            <a:ext cx="997248" cy="246221"/>
          </a:xfrm>
          <a:prstGeom prst="rect">
            <a:avLst/>
          </a:prstGeom>
          <a:noFill/>
          <a:ln>
            <a:solidFill>
              <a:srgbClr val="FFC000"/>
            </a:solidFill>
          </a:ln>
        </p:spPr>
        <p:txBody>
          <a:bodyPr wrap="square" rtlCol="0">
            <a:spAutoFit/>
          </a:bodyPr>
          <a:lstStyle/>
          <a:p>
            <a:pPr algn="ctr"/>
            <a:r>
              <a:rPr lang="fr-FR" sz="1000" dirty="0">
                <a:solidFill>
                  <a:schemeClr val="tx1">
                    <a:lumMod val="95000"/>
                    <a:lumOff val="5000"/>
                  </a:schemeClr>
                </a:solidFill>
              </a:rPr>
              <a:t>XXXXX</a:t>
            </a:r>
          </a:p>
        </p:txBody>
      </p:sp>
      <p:sp>
        <p:nvSpPr>
          <p:cNvPr id="159" name="ZoneTexte 158"/>
          <p:cNvSpPr txBox="1"/>
          <p:nvPr/>
        </p:nvSpPr>
        <p:spPr>
          <a:xfrm>
            <a:off x="5455789" y="2106796"/>
            <a:ext cx="1004159"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sp>
        <p:nvSpPr>
          <p:cNvPr id="160" name="ZoneTexte 159"/>
          <p:cNvSpPr txBox="1"/>
          <p:nvPr/>
        </p:nvSpPr>
        <p:spPr>
          <a:xfrm>
            <a:off x="5455789" y="2355879"/>
            <a:ext cx="997248"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sp>
        <p:nvSpPr>
          <p:cNvPr id="171" name="ZoneTexte 170"/>
          <p:cNvSpPr txBox="1"/>
          <p:nvPr/>
        </p:nvSpPr>
        <p:spPr>
          <a:xfrm>
            <a:off x="5428286" y="2865016"/>
            <a:ext cx="1039552"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sp>
        <p:nvSpPr>
          <p:cNvPr id="174" name="ZoneTexte 173"/>
          <p:cNvSpPr txBox="1"/>
          <p:nvPr/>
        </p:nvSpPr>
        <p:spPr>
          <a:xfrm>
            <a:off x="7043012" y="2114106"/>
            <a:ext cx="997248"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sp>
        <p:nvSpPr>
          <p:cNvPr id="175" name="ZoneTexte 174"/>
          <p:cNvSpPr txBox="1"/>
          <p:nvPr/>
        </p:nvSpPr>
        <p:spPr>
          <a:xfrm>
            <a:off x="7066291" y="1441522"/>
            <a:ext cx="997248" cy="246221"/>
          </a:xfrm>
          <a:prstGeom prst="rect">
            <a:avLst/>
          </a:prstGeom>
          <a:noFill/>
          <a:ln>
            <a:solidFill>
              <a:srgbClr val="FFC000"/>
            </a:solidFill>
          </a:ln>
        </p:spPr>
        <p:txBody>
          <a:bodyPr wrap="square" rtlCol="0">
            <a:spAutoFit/>
          </a:bodyPr>
          <a:lstStyle/>
          <a:p>
            <a:pPr algn="ctr"/>
            <a:r>
              <a:rPr lang="fr-FR" sz="1000" dirty="0">
                <a:solidFill>
                  <a:schemeClr val="tx1">
                    <a:lumMod val="95000"/>
                    <a:lumOff val="5000"/>
                  </a:schemeClr>
                </a:solidFill>
              </a:rPr>
              <a:t>XXXXX</a:t>
            </a:r>
          </a:p>
        </p:txBody>
      </p:sp>
      <p:sp>
        <p:nvSpPr>
          <p:cNvPr id="180" name="ZoneTexte 179"/>
          <p:cNvSpPr txBox="1"/>
          <p:nvPr/>
        </p:nvSpPr>
        <p:spPr>
          <a:xfrm>
            <a:off x="7039557" y="894464"/>
            <a:ext cx="997248" cy="246221"/>
          </a:xfrm>
          <a:prstGeom prst="rect">
            <a:avLst/>
          </a:prstGeom>
          <a:noFill/>
          <a:ln>
            <a:solidFill>
              <a:srgbClr val="00B050"/>
            </a:solidFill>
          </a:ln>
        </p:spPr>
        <p:txBody>
          <a:bodyPr wrap="square" rtlCol="0">
            <a:spAutoFit/>
          </a:bodyPr>
          <a:lstStyle/>
          <a:p>
            <a:pPr algn="ctr"/>
            <a:r>
              <a:rPr lang="fr-FR" sz="1000" dirty="0">
                <a:solidFill>
                  <a:schemeClr val="tx1">
                    <a:lumMod val="95000"/>
                    <a:lumOff val="5000"/>
                  </a:schemeClr>
                </a:solidFill>
              </a:rPr>
              <a:t>XXXXX</a:t>
            </a:r>
          </a:p>
        </p:txBody>
      </p:sp>
      <p:sp>
        <p:nvSpPr>
          <p:cNvPr id="181" name="ZoneTexte 180"/>
          <p:cNvSpPr txBox="1"/>
          <p:nvPr/>
        </p:nvSpPr>
        <p:spPr>
          <a:xfrm>
            <a:off x="4189068" y="-11927"/>
            <a:ext cx="4918662" cy="276999"/>
          </a:xfrm>
          <a:prstGeom prst="rect">
            <a:avLst/>
          </a:prstGeom>
          <a:noFill/>
        </p:spPr>
        <p:txBody>
          <a:bodyPr wrap="square" rtlCol="0">
            <a:spAutoFit/>
          </a:bodyPr>
          <a:lstStyle/>
          <a:p>
            <a:pPr algn="ctr"/>
            <a:r>
              <a:rPr lang="fr-FR" sz="1200" b="1" dirty="0">
                <a:solidFill>
                  <a:srgbClr val="002060"/>
                </a:solidFill>
              </a:rPr>
              <a:t>Architecture Fonctionnelle</a:t>
            </a:r>
          </a:p>
        </p:txBody>
      </p:sp>
      <p:sp>
        <p:nvSpPr>
          <p:cNvPr id="183" name="ZoneTexte 182"/>
          <p:cNvSpPr txBox="1"/>
          <p:nvPr/>
        </p:nvSpPr>
        <p:spPr>
          <a:xfrm>
            <a:off x="8560919" y="1017575"/>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184" name="ZoneTexte 183"/>
          <p:cNvSpPr txBox="1"/>
          <p:nvPr/>
        </p:nvSpPr>
        <p:spPr>
          <a:xfrm>
            <a:off x="8553458" y="1648861"/>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185" name="ZoneTexte 184"/>
          <p:cNvSpPr txBox="1"/>
          <p:nvPr/>
        </p:nvSpPr>
        <p:spPr>
          <a:xfrm>
            <a:off x="8576949" y="2260486"/>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208" name="ZoneTexte 207"/>
          <p:cNvSpPr txBox="1"/>
          <p:nvPr/>
        </p:nvSpPr>
        <p:spPr>
          <a:xfrm>
            <a:off x="7039557" y="2361878"/>
            <a:ext cx="997248"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cxnSp>
        <p:nvCxnSpPr>
          <p:cNvPr id="213" name="Connecteur droit avec flèche 212"/>
          <p:cNvCxnSpPr/>
          <p:nvPr/>
        </p:nvCxnSpPr>
        <p:spPr>
          <a:xfrm>
            <a:off x="4717972" y="822756"/>
            <a:ext cx="415654" cy="176804"/>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41"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59221" y="913835"/>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6" name="Picture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0169" y="2253660"/>
            <a:ext cx="2190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 name="Picture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33626" y="2902401"/>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48"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9220" y="1527310"/>
            <a:ext cx="180975" cy="16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30" name="Connecteur droit avec flèche 229"/>
          <p:cNvCxnSpPr/>
          <p:nvPr/>
        </p:nvCxnSpPr>
        <p:spPr>
          <a:xfrm flipH="1" flipV="1">
            <a:off x="8287912" y="902030"/>
            <a:ext cx="346719" cy="2677"/>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7" name="Connecteur droit avec flèche 246"/>
          <p:cNvCxnSpPr>
            <a:stCxn id="110" idx="3"/>
            <a:endCxn id="141" idx="1"/>
          </p:cNvCxnSpPr>
          <p:nvPr/>
        </p:nvCxnSpPr>
        <p:spPr>
          <a:xfrm flipV="1">
            <a:off x="4722735" y="999560"/>
            <a:ext cx="436486" cy="465671"/>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Connecteur droit avec flèche 249"/>
          <p:cNvCxnSpPr>
            <a:stCxn id="110" idx="3"/>
            <a:endCxn id="9248" idx="1"/>
          </p:cNvCxnSpPr>
          <p:nvPr/>
        </p:nvCxnSpPr>
        <p:spPr>
          <a:xfrm>
            <a:off x="4722735" y="1465231"/>
            <a:ext cx="436485" cy="143042"/>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3" name="Connecteur droit avec flèche 252"/>
          <p:cNvCxnSpPr>
            <a:stCxn id="107" idx="3"/>
            <a:endCxn id="9248" idx="1"/>
          </p:cNvCxnSpPr>
          <p:nvPr/>
        </p:nvCxnSpPr>
        <p:spPr>
          <a:xfrm flipV="1">
            <a:off x="4717972" y="1608273"/>
            <a:ext cx="441248" cy="573315"/>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6" name="Connecteur droit avec flèche 255"/>
          <p:cNvCxnSpPr/>
          <p:nvPr/>
        </p:nvCxnSpPr>
        <p:spPr>
          <a:xfrm flipV="1">
            <a:off x="4720353" y="1720889"/>
            <a:ext cx="438868" cy="1136672"/>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8" name="Connecteur droit avec flèche 257"/>
          <p:cNvCxnSpPr>
            <a:stCxn id="107" idx="3"/>
            <a:endCxn id="156" idx="1"/>
          </p:cNvCxnSpPr>
          <p:nvPr/>
        </p:nvCxnSpPr>
        <p:spPr>
          <a:xfrm>
            <a:off x="4717972" y="2181588"/>
            <a:ext cx="422197" cy="157797"/>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4" name="Connecteur droit avec flèche 263"/>
          <p:cNvCxnSpPr>
            <a:stCxn id="117" idx="3"/>
            <a:endCxn id="156" idx="1"/>
          </p:cNvCxnSpPr>
          <p:nvPr/>
        </p:nvCxnSpPr>
        <p:spPr>
          <a:xfrm flipV="1">
            <a:off x="4732260" y="2339385"/>
            <a:ext cx="407909" cy="605165"/>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7" name="Connecteur droit avec flèche 266"/>
          <p:cNvCxnSpPr>
            <a:stCxn id="117" idx="3"/>
            <a:endCxn id="163" idx="1"/>
          </p:cNvCxnSpPr>
          <p:nvPr/>
        </p:nvCxnSpPr>
        <p:spPr>
          <a:xfrm>
            <a:off x="4732260" y="2944550"/>
            <a:ext cx="401366" cy="43576"/>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0" name="Rectangle 269"/>
          <p:cNvSpPr/>
          <p:nvPr/>
        </p:nvSpPr>
        <p:spPr>
          <a:xfrm>
            <a:off x="6941857" y="2759321"/>
            <a:ext cx="1239468" cy="40388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tx1">
                  <a:lumMod val="95000"/>
                  <a:lumOff val="5000"/>
                </a:schemeClr>
              </a:solidFill>
            </a:endParaRPr>
          </a:p>
        </p:txBody>
      </p:sp>
      <p:sp>
        <p:nvSpPr>
          <p:cNvPr id="271" name="ZoneTexte 270"/>
          <p:cNvSpPr txBox="1"/>
          <p:nvPr/>
        </p:nvSpPr>
        <p:spPr>
          <a:xfrm>
            <a:off x="7050033" y="2845832"/>
            <a:ext cx="1039552" cy="246221"/>
          </a:xfrm>
          <a:prstGeom prst="rect">
            <a:avLst/>
          </a:prstGeom>
          <a:noFill/>
          <a:ln>
            <a:solidFill>
              <a:srgbClr val="FF0000"/>
            </a:solidFill>
          </a:ln>
        </p:spPr>
        <p:txBody>
          <a:bodyPr wrap="square" rtlCol="0">
            <a:spAutoFit/>
          </a:bodyPr>
          <a:lstStyle/>
          <a:p>
            <a:pPr algn="ctr"/>
            <a:r>
              <a:rPr lang="fr-FR" sz="1000" dirty="0">
                <a:solidFill>
                  <a:schemeClr val="tx1">
                    <a:lumMod val="95000"/>
                    <a:lumOff val="5000"/>
                  </a:schemeClr>
                </a:solidFill>
              </a:rPr>
              <a:t>XXXXX</a:t>
            </a:r>
          </a:p>
        </p:txBody>
      </p:sp>
      <p:cxnSp>
        <p:nvCxnSpPr>
          <p:cNvPr id="118" name="Connecteur droit avec flèche 117"/>
          <p:cNvCxnSpPr/>
          <p:nvPr/>
        </p:nvCxnSpPr>
        <p:spPr>
          <a:xfrm>
            <a:off x="6568646" y="2414597"/>
            <a:ext cx="272221" cy="509137"/>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4" name="Connecteur droit avec flèche 123"/>
          <p:cNvCxnSpPr>
            <a:stCxn id="115" idx="3"/>
          </p:cNvCxnSpPr>
          <p:nvPr/>
        </p:nvCxnSpPr>
        <p:spPr>
          <a:xfrm>
            <a:off x="6568646" y="2976397"/>
            <a:ext cx="272221" cy="4233"/>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2"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6000" y="2484988"/>
            <a:ext cx="30480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3" name="ZoneTexte 132"/>
          <p:cNvSpPr txBox="1"/>
          <p:nvPr/>
        </p:nvSpPr>
        <p:spPr>
          <a:xfrm>
            <a:off x="8553458" y="2711786"/>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cxnSp>
        <p:nvCxnSpPr>
          <p:cNvPr id="134" name="Connecteur droit avec flèche 133"/>
          <p:cNvCxnSpPr/>
          <p:nvPr/>
        </p:nvCxnSpPr>
        <p:spPr>
          <a:xfrm>
            <a:off x="8311435" y="2563442"/>
            <a:ext cx="348250"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p:cNvCxnSpPr/>
          <p:nvPr/>
        </p:nvCxnSpPr>
        <p:spPr>
          <a:xfrm>
            <a:off x="6541435" y="1646640"/>
            <a:ext cx="381004" cy="1234329"/>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1" name="ZoneTexte 220"/>
          <p:cNvSpPr txBox="1"/>
          <p:nvPr/>
        </p:nvSpPr>
        <p:spPr>
          <a:xfrm>
            <a:off x="0" y="3469428"/>
            <a:ext cx="4398885" cy="276999"/>
          </a:xfrm>
          <a:prstGeom prst="rect">
            <a:avLst/>
          </a:prstGeom>
          <a:noFill/>
        </p:spPr>
        <p:txBody>
          <a:bodyPr wrap="square" rtlCol="0">
            <a:spAutoFit/>
          </a:bodyPr>
          <a:lstStyle/>
          <a:p>
            <a:pPr algn="ctr"/>
            <a:r>
              <a:rPr lang="fr-FR" sz="1200" b="1" dirty="0">
                <a:solidFill>
                  <a:srgbClr val="002060"/>
                </a:solidFill>
              </a:rPr>
              <a:t>Architecture Applicative</a:t>
            </a:r>
          </a:p>
        </p:txBody>
      </p:sp>
      <p:pic>
        <p:nvPicPr>
          <p:cNvPr id="222"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02467" y="276999"/>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ZoneTexte 8"/>
          <p:cNvSpPr txBox="1"/>
          <p:nvPr/>
        </p:nvSpPr>
        <p:spPr>
          <a:xfrm>
            <a:off x="671268" y="253145"/>
            <a:ext cx="2648482" cy="261610"/>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100" dirty="0"/>
              <a:t>Acteurs entrants/sortants dans SI Applicatif</a:t>
            </a:r>
          </a:p>
        </p:txBody>
      </p:sp>
      <p:pic>
        <p:nvPicPr>
          <p:cNvPr id="223"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920704" y="253145"/>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4" name="ZoneTexte 223"/>
          <p:cNvSpPr txBox="1"/>
          <p:nvPr/>
        </p:nvSpPr>
        <p:spPr>
          <a:xfrm>
            <a:off x="5155951" y="229655"/>
            <a:ext cx="2638864" cy="307777"/>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400" dirty="0"/>
              <a:t>F</a:t>
            </a:r>
            <a:r>
              <a:rPr lang="fr-FR" sz="1100" dirty="0"/>
              <a:t>onctionnalités par acteurs et périmètres</a:t>
            </a:r>
          </a:p>
        </p:txBody>
      </p:sp>
      <p:pic>
        <p:nvPicPr>
          <p:cNvPr id="225"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30520" y="3770281"/>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6" name="ZoneTexte 225"/>
          <p:cNvSpPr txBox="1"/>
          <p:nvPr/>
        </p:nvSpPr>
        <p:spPr>
          <a:xfrm>
            <a:off x="699321" y="3746427"/>
            <a:ext cx="3316934" cy="261610"/>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100" dirty="0"/>
              <a:t>Piles des composants par fonctionnalités et périmètres</a:t>
            </a:r>
          </a:p>
        </p:txBody>
      </p:sp>
      <p:sp>
        <p:nvSpPr>
          <p:cNvPr id="227" name="ZoneTexte 226"/>
          <p:cNvSpPr txBox="1"/>
          <p:nvPr/>
        </p:nvSpPr>
        <p:spPr>
          <a:xfrm>
            <a:off x="4397189" y="3436328"/>
            <a:ext cx="4754640" cy="276999"/>
          </a:xfrm>
          <a:prstGeom prst="rect">
            <a:avLst/>
          </a:prstGeom>
          <a:noFill/>
        </p:spPr>
        <p:txBody>
          <a:bodyPr wrap="square" rtlCol="0">
            <a:spAutoFit/>
          </a:bodyPr>
          <a:lstStyle/>
          <a:p>
            <a:pPr algn="ctr"/>
            <a:r>
              <a:rPr lang="fr-FR" sz="1200" b="1" dirty="0">
                <a:solidFill>
                  <a:srgbClr val="002060"/>
                </a:solidFill>
              </a:rPr>
              <a:t>Architecture technique</a:t>
            </a:r>
          </a:p>
        </p:txBody>
      </p:sp>
      <p:pic>
        <p:nvPicPr>
          <p:cNvPr id="228"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907610" y="3737181"/>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2" name="ZoneTexte 251"/>
          <p:cNvSpPr txBox="1"/>
          <p:nvPr/>
        </p:nvSpPr>
        <p:spPr>
          <a:xfrm>
            <a:off x="4323973" y="883778"/>
            <a:ext cx="521298"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254" name="ZoneTexte 253"/>
          <p:cNvSpPr txBox="1"/>
          <p:nvPr/>
        </p:nvSpPr>
        <p:spPr>
          <a:xfrm>
            <a:off x="4323973" y="1579076"/>
            <a:ext cx="521297"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255" name="ZoneTexte 254"/>
          <p:cNvSpPr txBox="1"/>
          <p:nvPr/>
        </p:nvSpPr>
        <p:spPr>
          <a:xfrm>
            <a:off x="4323973" y="2299577"/>
            <a:ext cx="521297" cy="400110"/>
          </a:xfrm>
          <a:prstGeom prst="rect">
            <a:avLst/>
          </a:prstGeom>
          <a:noFill/>
        </p:spPr>
        <p:txBody>
          <a:bodyPr wrap="none" rtlCol="0">
            <a:spAutoFit/>
          </a:bodyPr>
          <a:lstStyle/>
          <a:p>
            <a:pPr algn="ctr"/>
            <a:r>
              <a:rPr lang="fr-FR" sz="1000" dirty="0">
                <a:solidFill>
                  <a:schemeClr val="tx1">
                    <a:lumMod val="95000"/>
                    <a:lumOff val="5000"/>
                  </a:schemeClr>
                </a:solidFill>
              </a:rPr>
              <a:t>XXXXX</a:t>
            </a:r>
          </a:p>
          <a:p>
            <a:pPr algn="ctr"/>
            <a:r>
              <a:rPr lang="fr-FR" sz="1000" dirty="0">
                <a:solidFill>
                  <a:schemeClr val="tx1">
                    <a:lumMod val="95000"/>
                    <a:lumOff val="5000"/>
                  </a:schemeClr>
                </a:solidFill>
              </a:rPr>
              <a:t>XXXXX</a:t>
            </a:r>
          </a:p>
        </p:txBody>
      </p:sp>
      <p:sp>
        <p:nvSpPr>
          <p:cNvPr id="257" name="ZoneTexte 256"/>
          <p:cNvSpPr txBox="1"/>
          <p:nvPr/>
        </p:nvSpPr>
        <p:spPr>
          <a:xfrm>
            <a:off x="4323974" y="3110959"/>
            <a:ext cx="521297" cy="246221"/>
          </a:xfrm>
          <a:prstGeom prst="rect">
            <a:avLst/>
          </a:prstGeom>
          <a:noFill/>
        </p:spPr>
        <p:txBody>
          <a:bodyPr wrap="none" rtlCol="0">
            <a:spAutoFit/>
          </a:bodyPr>
          <a:lstStyle/>
          <a:p>
            <a:pPr algn="ctr"/>
            <a:r>
              <a:rPr lang="fr-FR" sz="1000" dirty="0">
                <a:solidFill>
                  <a:schemeClr val="tx1">
                    <a:lumMod val="95000"/>
                    <a:lumOff val="5000"/>
                  </a:schemeClr>
                </a:solidFill>
              </a:rPr>
              <a:t>XXXXX</a:t>
            </a:r>
          </a:p>
        </p:txBody>
      </p:sp>
      <p:sp>
        <p:nvSpPr>
          <p:cNvPr id="259" name="ZoneTexte 258"/>
          <p:cNvSpPr txBox="1"/>
          <p:nvPr/>
        </p:nvSpPr>
        <p:spPr>
          <a:xfrm>
            <a:off x="5176411" y="3713327"/>
            <a:ext cx="3296095" cy="261610"/>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100" dirty="0"/>
              <a:t>Environnement applicatif décrivant les serveurs et flux</a:t>
            </a:r>
          </a:p>
        </p:txBody>
      </p:sp>
      <p:cxnSp>
        <p:nvCxnSpPr>
          <p:cNvPr id="167" name="Connecteur droit avec flèche 166"/>
          <p:cNvCxnSpPr/>
          <p:nvPr/>
        </p:nvCxnSpPr>
        <p:spPr>
          <a:xfrm flipH="1">
            <a:off x="8285235" y="2147677"/>
            <a:ext cx="425323"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8" name="Connecteur droit avec flèche 167"/>
          <p:cNvCxnSpPr/>
          <p:nvPr/>
        </p:nvCxnSpPr>
        <p:spPr>
          <a:xfrm>
            <a:off x="8323771" y="1561238"/>
            <a:ext cx="348250" cy="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69" name="Picture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04260" y="2477717"/>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0" name="Picture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11928" y="2087682"/>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2"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38402" y="1466069"/>
            <a:ext cx="180975" cy="16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3"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07767" y="817643"/>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6" name="Picture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35473" y="2902401"/>
            <a:ext cx="180975"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2" name="ZoneTexte 161"/>
          <p:cNvSpPr txBox="1"/>
          <p:nvPr/>
        </p:nvSpPr>
        <p:spPr>
          <a:xfrm>
            <a:off x="729168" y="6623431"/>
            <a:ext cx="3252948" cy="246221"/>
          </a:xfrm>
          <a:prstGeom prst="rect">
            <a:avLst/>
          </a:prstGeom>
          <a:noFill/>
        </p:spPr>
        <p:txBody>
          <a:bodyPr wrap="square" rtlCol="0">
            <a:spAutoFit/>
          </a:bodyPr>
          <a:lstStyle/>
          <a:p>
            <a:pPr algn="ctr"/>
            <a:r>
              <a:rPr lang="fr-FR" sz="1000" i="1" dirty="0">
                <a:solidFill>
                  <a:srgbClr val="002060"/>
                </a:solidFill>
              </a:rPr>
              <a:t>Prendre le modèle en page 9  pour faire votre schéma</a:t>
            </a:r>
          </a:p>
        </p:txBody>
      </p:sp>
      <p:sp>
        <p:nvSpPr>
          <p:cNvPr id="164" name="Rectangle 163"/>
          <p:cNvSpPr/>
          <p:nvPr/>
        </p:nvSpPr>
        <p:spPr>
          <a:xfrm>
            <a:off x="8604448" y="4310"/>
            <a:ext cx="539552" cy="22464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t>7 / 9</a:t>
            </a:r>
            <a:endParaRPr lang="fr-FR" sz="1000" b="1" dirty="0"/>
          </a:p>
        </p:txBody>
      </p:sp>
      <p:pic>
        <p:nvPicPr>
          <p:cNvPr id="102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7480" y="4076012"/>
            <a:ext cx="3258775" cy="2547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863356" y="4076013"/>
            <a:ext cx="4027566" cy="2781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9" name="ZoneTexte 108"/>
          <p:cNvSpPr txBox="1"/>
          <p:nvPr/>
        </p:nvSpPr>
        <p:spPr>
          <a:xfrm>
            <a:off x="5001091" y="6586268"/>
            <a:ext cx="4028954" cy="246221"/>
          </a:xfrm>
          <a:prstGeom prst="rect">
            <a:avLst/>
          </a:prstGeom>
          <a:noFill/>
        </p:spPr>
        <p:txBody>
          <a:bodyPr wrap="square" rtlCol="0">
            <a:spAutoFit/>
          </a:bodyPr>
          <a:lstStyle/>
          <a:p>
            <a:pPr algn="ctr"/>
            <a:r>
              <a:rPr lang="fr-FR" sz="1000" i="1" dirty="0">
                <a:solidFill>
                  <a:srgbClr val="002060"/>
                </a:solidFill>
              </a:rPr>
              <a:t>Prendre le modèle en page 10 pour faire votre schéma</a:t>
            </a:r>
          </a:p>
        </p:txBody>
      </p:sp>
    </p:spTree>
    <p:extLst>
      <p:ext uri="{BB962C8B-B14F-4D97-AF65-F5344CB8AC3E}">
        <p14:creationId xmlns:p14="http://schemas.microsoft.com/office/powerpoint/2010/main" val="2738771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159" y="117583"/>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ZoneTexte 4"/>
          <p:cNvSpPr txBox="1"/>
          <p:nvPr/>
        </p:nvSpPr>
        <p:spPr>
          <a:xfrm>
            <a:off x="429048" y="94431"/>
            <a:ext cx="2974982" cy="307777"/>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400" dirty="0"/>
              <a:t>FOCUS : schéma architecture logicielle</a:t>
            </a:r>
          </a:p>
        </p:txBody>
      </p:sp>
      <p:sp>
        <p:nvSpPr>
          <p:cNvPr id="6" name="ZoneTexte 5"/>
          <p:cNvSpPr txBox="1"/>
          <p:nvPr/>
        </p:nvSpPr>
        <p:spPr>
          <a:xfrm>
            <a:off x="377777" y="1169967"/>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8" name="ZoneTexte 7"/>
          <p:cNvSpPr txBox="1"/>
          <p:nvPr/>
        </p:nvSpPr>
        <p:spPr>
          <a:xfrm>
            <a:off x="379390" y="142670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cxnSp>
        <p:nvCxnSpPr>
          <p:cNvPr id="22" name="Connecteur droit avec flèche 21"/>
          <p:cNvCxnSpPr/>
          <p:nvPr/>
        </p:nvCxnSpPr>
        <p:spPr>
          <a:xfrm flipH="1">
            <a:off x="917777" y="2788486"/>
            <a:ext cx="0" cy="2621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ZoneTexte 25"/>
          <p:cNvSpPr txBox="1"/>
          <p:nvPr/>
        </p:nvSpPr>
        <p:spPr>
          <a:xfrm>
            <a:off x="359662" y="305058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30" name="ZoneTexte 29"/>
          <p:cNvSpPr txBox="1"/>
          <p:nvPr/>
        </p:nvSpPr>
        <p:spPr>
          <a:xfrm>
            <a:off x="359662" y="334243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34" name="ZoneTexte 33"/>
          <p:cNvSpPr txBox="1"/>
          <p:nvPr/>
        </p:nvSpPr>
        <p:spPr>
          <a:xfrm>
            <a:off x="359662" y="363043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47" name="ZoneTexte 46"/>
          <p:cNvSpPr txBox="1"/>
          <p:nvPr/>
        </p:nvSpPr>
        <p:spPr>
          <a:xfrm>
            <a:off x="359662" y="391280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52" name="ZoneTexte 51"/>
          <p:cNvSpPr txBox="1"/>
          <p:nvPr/>
        </p:nvSpPr>
        <p:spPr>
          <a:xfrm>
            <a:off x="359662" y="4174770"/>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57" name="ZoneTexte 56"/>
          <p:cNvSpPr txBox="1"/>
          <p:nvPr/>
        </p:nvSpPr>
        <p:spPr>
          <a:xfrm>
            <a:off x="359662" y="445106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62" name="ZoneTexte 61"/>
          <p:cNvSpPr txBox="1"/>
          <p:nvPr/>
        </p:nvSpPr>
        <p:spPr>
          <a:xfrm>
            <a:off x="359662" y="471582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67" name="ZoneTexte 66"/>
          <p:cNvSpPr txBox="1"/>
          <p:nvPr/>
        </p:nvSpPr>
        <p:spPr>
          <a:xfrm>
            <a:off x="359662" y="498058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72" name="ZoneTexte 71"/>
          <p:cNvSpPr txBox="1"/>
          <p:nvPr/>
        </p:nvSpPr>
        <p:spPr>
          <a:xfrm>
            <a:off x="359662" y="527504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82" name="ZoneTexte 81"/>
          <p:cNvSpPr txBox="1"/>
          <p:nvPr/>
        </p:nvSpPr>
        <p:spPr>
          <a:xfrm>
            <a:off x="359662" y="555055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cxnSp>
        <p:nvCxnSpPr>
          <p:cNvPr id="99" name="Connecteur droit 98"/>
          <p:cNvCxnSpPr/>
          <p:nvPr/>
        </p:nvCxnSpPr>
        <p:spPr>
          <a:xfrm>
            <a:off x="6660232" y="508263"/>
            <a:ext cx="0" cy="640569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4" name="Connecteur droit avec flèche 123"/>
          <p:cNvCxnSpPr/>
          <p:nvPr/>
        </p:nvCxnSpPr>
        <p:spPr>
          <a:xfrm flipH="1">
            <a:off x="2058614" y="2788486"/>
            <a:ext cx="0" cy="2621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5" name="ZoneTexte 124"/>
          <p:cNvSpPr txBox="1"/>
          <p:nvPr/>
        </p:nvSpPr>
        <p:spPr>
          <a:xfrm>
            <a:off x="1500499" y="305058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26" name="ZoneTexte 125"/>
          <p:cNvSpPr txBox="1"/>
          <p:nvPr/>
        </p:nvSpPr>
        <p:spPr>
          <a:xfrm>
            <a:off x="1500499" y="334243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27" name="ZoneTexte 126"/>
          <p:cNvSpPr txBox="1"/>
          <p:nvPr/>
        </p:nvSpPr>
        <p:spPr>
          <a:xfrm>
            <a:off x="1500499" y="363043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29" name="ZoneTexte 128"/>
          <p:cNvSpPr txBox="1"/>
          <p:nvPr/>
        </p:nvSpPr>
        <p:spPr>
          <a:xfrm>
            <a:off x="1500499" y="391280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0" name="ZoneTexte 129"/>
          <p:cNvSpPr txBox="1"/>
          <p:nvPr/>
        </p:nvSpPr>
        <p:spPr>
          <a:xfrm>
            <a:off x="1500499" y="4174770"/>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1" name="ZoneTexte 130"/>
          <p:cNvSpPr txBox="1"/>
          <p:nvPr/>
        </p:nvSpPr>
        <p:spPr>
          <a:xfrm>
            <a:off x="1500499" y="445106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2" name="ZoneTexte 131"/>
          <p:cNvSpPr txBox="1"/>
          <p:nvPr/>
        </p:nvSpPr>
        <p:spPr>
          <a:xfrm>
            <a:off x="1500499" y="471582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3" name="ZoneTexte 132"/>
          <p:cNvSpPr txBox="1"/>
          <p:nvPr/>
        </p:nvSpPr>
        <p:spPr>
          <a:xfrm>
            <a:off x="1500499" y="498058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4" name="ZoneTexte 133"/>
          <p:cNvSpPr txBox="1"/>
          <p:nvPr/>
        </p:nvSpPr>
        <p:spPr>
          <a:xfrm>
            <a:off x="1500499" y="527504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5" name="ZoneTexte 134"/>
          <p:cNvSpPr txBox="1"/>
          <p:nvPr/>
        </p:nvSpPr>
        <p:spPr>
          <a:xfrm>
            <a:off x="1500499" y="555055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cxnSp>
        <p:nvCxnSpPr>
          <p:cNvPr id="162" name="Connecteur droit avec flèche 161"/>
          <p:cNvCxnSpPr/>
          <p:nvPr/>
        </p:nvCxnSpPr>
        <p:spPr>
          <a:xfrm flipH="1">
            <a:off x="3191259" y="2801716"/>
            <a:ext cx="0" cy="2621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3" name="ZoneTexte 162"/>
          <p:cNvSpPr txBox="1"/>
          <p:nvPr/>
        </p:nvSpPr>
        <p:spPr>
          <a:xfrm>
            <a:off x="2633144" y="306381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64" name="ZoneTexte 163"/>
          <p:cNvSpPr txBox="1"/>
          <p:nvPr/>
        </p:nvSpPr>
        <p:spPr>
          <a:xfrm>
            <a:off x="2633144" y="335566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65" name="ZoneTexte 164"/>
          <p:cNvSpPr txBox="1"/>
          <p:nvPr/>
        </p:nvSpPr>
        <p:spPr>
          <a:xfrm>
            <a:off x="2633144" y="364366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67" name="ZoneTexte 166"/>
          <p:cNvSpPr txBox="1"/>
          <p:nvPr/>
        </p:nvSpPr>
        <p:spPr>
          <a:xfrm>
            <a:off x="2633144" y="392603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68" name="ZoneTexte 167"/>
          <p:cNvSpPr txBox="1"/>
          <p:nvPr/>
        </p:nvSpPr>
        <p:spPr>
          <a:xfrm>
            <a:off x="2633144" y="4188000"/>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69" name="ZoneTexte 168"/>
          <p:cNvSpPr txBox="1"/>
          <p:nvPr/>
        </p:nvSpPr>
        <p:spPr>
          <a:xfrm>
            <a:off x="2633144" y="446429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70" name="ZoneTexte 169"/>
          <p:cNvSpPr txBox="1"/>
          <p:nvPr/>
        </p:nvSpPr>
        <p:spPr>
          <a:xfrm>
            <a:off x="2633144" y="472905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71" name="ZoneTexte 170"/>
          <p:cNvSpPr txBox="1"/>
          <p:nvPr/>
        </p:nvSpPr>
        <p:spPr>
          <a:xfrm>
            <a:off x="2633144" y="499381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72" name="ZoneTexte 171"/>
          <p:cNvSpPr txBox="1"/>
          <p:nvPr/>
        </p:nvSpPr>
        <p:spPr>
          <a:xfrm>
            <a:off x="2633144" y="528827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73" name="ZoneTexte 172"/>
          <p:cNvSpPr txBox="1"/>
          <p:nvPr/>
        </p:nvSpPr>
        <p:spPr>
          <a:xfrm>
            <a:off x="2633144" y="556378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cxnSp>
        <p:nvCxnSpPr>
          <p:cNvPr id="236" name="Connecteur droit 235"/>
          <p:cNvCxnSpPr/>
          <p:nvPr/>
        </p:nvCxnSpPr>
        <p:spPr>
          <a:xfrm>
            <a:off x="0" y="753671"/>
            <a:ext cx="9144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43" name="ZoneTexte 242"/>
          <p:cNvSpPr txBox="1"/>
          <p:nvPr/>
        </p:nvSpPr>
        <p:spPr>
          <a:xfrm>
            <a:off x="6660232" y="887600"/>
            <a:ext cx="2483768" cy="4093428"/>
          </a:xfrm>
          <a:prstGeom prst="rect">
            <a:avLst/>
          </a:prstGeom>
          <a:noFill/>
        </p:spPr>
        <p:txBody>
          <a:bodyPr wrap="square" rtlCol="0">
            <a:spAutoFit/>
          </a:bodyPr>
          <a:lstStyle/>
          <a:p>
            <a:pPr algn="ctr"/>
            <a:r>
              <a:rPr lang="fr-FR" sz="1000" b="1" u="sng" dirty="0">
                <a:solidFill>
                  <a:schemeClr val="accent5">
                    <a:lumMod val="75000"/>
                  </a:schemeClr>
                </a:solidFill>
              </a:rPr>
              <a:t>Objectif architecture logicielle</a:t>
            </a:r>
          </a:p>
          <a:p>
            <a:pPr algn="ctr"/>
            <a:endParaRPr lang="fr-FR" sz="1000" b="1" u="sng" dirty="0">
              <a:solidFill>
                <a:schemeClr val="accent5">
                  <a:lumMod val="75000"/>
                </a:schemeClr>
              </a:solidFill>
            </a:endParaRPr>
          </a:p>
          <a:p>
            <a:pPr algn="ctr"/>
            <a:r>
              <a:rPr lang="fr-FR" sz="1000" dirty="0">
                <a:solidFill>
                  <a:schemeClr val="accent5">
                    <a:lumMod val="75000"/>
                  </a:schemeClr>
                </a:solidFill>
              </a:rPr>
              <a:t>Vision des composants logiciels utilisés pour chaque fonctionnalité métier</a:t>
            </a:r>
          </a:p>
          <a:p>
            <a:pPr algn="ctr"/>
            <a:r>
              <a:rPr lang="fr-FR" sz="1000" dirty="0">
                <a:solidFill>
                  <a:schemeClr val="accent5">
                    <a:lumMod val="75000"/>
                  </a:schemeClr>
                </a:solidFill>
              </a:rPr>
              <a:t>+</a:t>
            </a:r>
          </a:p>
          <a:p>
            <a:pPr algn="ctr"/>
            <a:r>
              <a:rPr lang="fr-FR" sz="1000" dirty="0">
                <a:solidFill>
                  <a:schemeClr val="accent5">
                    <a:lumMod val="75000"/>
                  </a:schemeClr>
                </a:solidFill>
              </a:rPr>
              <a:t>Vision des API consommées par les fonctionnalités métier</a:t>
            </a:r>
          </a:p>
          <a:p>
            <a:pPr algn="ctr"/>
            <a:endParaRPr lang="fr-FR" sz="1000" b="1" u="sng" dirty="0">
              <a:solidFill>
                <a:schemeClr val="accent5">
                  <a:lumMod val="75000"/>
                </a:schemeClr>
              </a:solidFill>
            </a:endParaRPr>
          </a:p>
          <a:p>
            <a:pPr algn="ctr"/>
            <a:r>
              <a:rPr lang="fr-FR" sz="1000" b="1" u="sng" dirty="0">
                <a:solidFill>
                  <a:schemeClr val="accent5">
                    <a:lumMod val="75000"/>
                  </a:schemeClr>
                </a:solidFill>
              </a:rPr>
              <a:t>Informations structure</a:t>
            </a:r>
          </a:p>
          <a:p>
            <a:pPr algn="ctr"/>
            <a:endParaRPr lang="fr-FR" sz="1000" b="1" u="sng" dirty="0">
              <a:solidFill>
                <a:schemeClr val="accent5">
                  <a:lumMod val="75000"/>
                </a:schemeClr>
              </a:solidFill>
            </a:endParaRPr>
          </a:p>
          <a:p>
            <a:pPr algn="ctr"/>
            <a:r>
              <a:rPr lang="fr-FR" sz="1000" dirty="0">
                <a:solidFill>
                  <a:schemeClr val="accent5">
                    <a:lumMod val="75000"/>
                  </a:schemeClr>
                </a:solidFill>
              </a:rPr>
              <a:t>Les composants logiciels sont de type </a:t>
            </a:r>
            <a:r>
              <a:rPr lang="fr-FR" sz="1000" dirty="0" err="1">
                <a:solidFill>
                  <a:schemeClr val="accent5">
                    <a:lumMod val="75000"/>
                  </a:schemeClr>
                </a:solidFill>
              </a:rPr>
              <a:t>framework</a:t>
            </a:r>
            <a:r>
              <a:rPr lang="fr-FR" sz="1000" dirty="0">
                <a:solidFill>
                  <a:schemeClr val="accent5">
                    <a:lumMod val="75000"/>
                  </a:schemeClr>
                </a:solidFill>
              </a:rPr>
              <a:t>, librairie, API….</a:t>
            </a:r>
          </a:p>
          <a:p>
            <a:pPr algn="ctr"/>
            <a:endParaRPr lang="fr-FR" sz="1000" dirty="0">
              <a:solidFill>
                <a:schemeClr val="accent5">
                  <a:lumMod val="75000"/>
                </a:schemeClr>
              </a:solidFill>
            </a:endParaRPr>
          </a:p>
          <a:p>
            <a:pPr algn="ctr"/>
            <a:r>
              <a:rPr lang="fr-FR" sz="1000" dirty="0">
                <a:solidFill>
                  <a:schemeClr val="accent5">
                    <a:lumMod val="75000"/>
                  </a:schemeClr>
                </a:solidFill>
              </a:rPr>
              <a:t>En plus des composants pour servir le métier, d’autres peuvent servir aux exigences de qualité sur : </a:t>
            </a:r>
          </a:p>
          <a:p>
            <a:pPr marL="171450" indent="-171450" algn="ctr">
              <a:buFontTx/>
              <a:buChar char="-"/>
            </a:pPr>
            <a:r>
              <a:rPr lang="fr-FR" sz="1000" dirty="0">
                <a:solidFill>
                  <a:schemeClr val="accent5">
                    <a:lumMod val="75000"/>
                  </a:schemeClr>
                </a:solidFill>
              </a:rPr>
              <a:t>Les performances </a:t>
            </a:r>
            <a:r>
              <a:rPr lang="fr-FR" sz="1000" i="1" dirty="0">
                <a:solidFill>
                  <a:schemeClr val="accent5">
                    <a:lumMod val="75000"/>
                  </a:schemeClr>
                </a:solidFill>
              </a:rPr>
              <a:t>(Cache=&gt;</a:t>
            </a:r>
            <a:r>
              <a:rPr lang="fr-FR" sz="1000" i="1" dirty="0" err="1">
                <a:solidFill>
                  <a:schemeClr val="accent5">
                    <a:lumMod val="75000"/>
                  </a:schemeClr>
                </a:solidFill>
              </a:rPr>
              <a:t>Varnish</a:t>
            </a:r>
            <a:r>
              <a:rPr lang="fr-FR" sz="1000" i="1" dirty="0">
                <a:solidFill>
                  <a:schemeClr val="accent5">
                    <a:lumMod val="75000"/>
                  </a:schemeClr>
                </a:solidFill>
              </a:rPr>
              <a:t>)</a:t>
            </a:r>
          </a:p>
          <a:p>
            <a:pPr marL="171450" indent="-171450" algn="ctr">
              <a:buFontTx/>
              <a:buChar char="-"/>
            </a:pPr>
            <a:r>
              <a:rPr lang="fr-FR" sz="1000" dirty="0">
                <a:solidFill>
                  <a:schemeClr val="accent5">
                    <a:lumMod val="75000"/>
                  </a:schemeClr>
                </a:solidFill>
              </a:rPr>
              <a:t>la sécurité (signature =&gt; </a:t>
            </a:r>
            <a:r>
              <a:rPr lang="fr-FR" sz="1000" i="1" dirty="0">
                <a:solidFill>
                  <a:schemeClr val="accent5">
                    <a:lumMod val="75000"/>
                  </a:schemeClr>
                </a:solidFill>
              </a:rPr>
              <a:t>API </a:t>
            </a:r>
            <a:r>
              <a:rPr lang="fr-FR" sz="1000" i="1" dirty="0" err="1">
                <a:solidFill>
                  <a:schemeClr val="accent5">
                    <a:lumMod val="75000"/>
                  </a:schemeClr>
                </a:solidFill>
              </a:rPr>
              <a:t>OODrive</a:t>
            </a:r>
            <a:r>
              <a:rPr lang="fr-FR" sz="1000" dirty="0">
                <a:solidFill>
                  <a:schemeClr val="accent5">
                    <a:lumMod val="75000"/>
                  </a:schemeClr>
                </a:solidFill>
              </a:rPr>
              <a:t>)</a:t>
            </a:r>
          </a:p>
          <a:p>
            <a:pPr marL="171450" indent="-171450" algn="ctr">
              <a:buFontTx/>
              <a:buChar char="-"/>
            </a:pPr>
            <a:r>
              <a:rPr lang="fr-FR" sz="1000" dirty="0">
                <a:solidFill>
                  <a:schemeClr val="accent5">
                    <a:lumMod val="75000"/>
                  </a:schemeClr>
                </a:solidFill>
              </a:rPr>
              <a:t>la mobilité </a:t>
            </a:r>
            <a:r>
              <a:rPr lang="fr-FR" sz="1000" i="1" dirty="0">
                <a:solidFill>
                  <a:schemeClr val="accent5">
                    <a:lumMod val="75000"/>
                  </a:schemeClr>
                </a:solidFill>
              </a:rPr>
              <a:t>(hors connexion =&gt; </a:t>
            </a:r>
            <a:r>
              <a:rPr lang="fr-FR" sz="1000" i="1" dirty="0" err="1">
                <a:solidFill>
                  <a:schemeClr val="accent5">
                    <a:lumMod val="75000"/>
                  </a:schemeClr>
                </a:solidFill>
              </a:rPr>
              <a:t>indexdb</a:t>
            </a:r>
            <a:r>
              <a:rPr lang="fr-FR" sz="1000" i="1" dirty="0">
                <a:solidFill>
                  <a:schemeClr val="accent5">
                    <a:lumMod val="75000"/>
                  </a:schemeClr>
                </a:solidFill>
              </a:rPr>
              <a:t>)</a:t>
            </a:r>
          </a:p>
          <a:p>
            <a:pPr algn="ctr"/>
            <a:r>
              <a:rPr lang="fr-FR" sz="1000" dirty="0" err="1">
                <a:solidFill>
                  <a:schemeClr val="accent5">
                    <a:lumMod val="75000"/>
                  </a:schemeClr>
                </a:solidFill>
              </a:rPr>
              <a:t>Ect</a:t>
            </a:r>
            <a:r>
              <a:rPr lang="fr-FR" sz="1000" dirty="0">
                <a:solidFill>
                  <a:schemeClr val="accent5">
                    <a:lumMod val="75000"/>
                  </a:schemeClr>
                </a:solidFill>
              </a:rPr>
              <a:t> …..</a:t>
            </a:r>
          </a:p>
          <a:p>
            <a:pPr algn="ctr"/>
            <a:endParaRPr lang="fr-FR" sz="1000" dirty="0">
              <a:solidFill>
                <a:schemeClr val="accent5">
                  <a:lumMod val="75000"/>
                </a:schemeClr>
              </a:solidFill>
            </a:endParaRPr>
          </a:p>
          <a:p>
            <a:pPr algn="ctr"/>
            <a:r>
              <a:rPr lang="fr-FR" sz="1000" dirty="0">
                <a:solidFill>
                  <a:schemeClr val="accent5">
                    <a:lumMod val="75000"/>
                  </a:schemeClr>
                </a:solidFill>
              </a:rPr>
              <a:t>Tous les composants sont développés avec des langages (Exemple : </a:t>
            </a:r>
            <a:r>
              <a:rPr lang="fr-FR" sz="1000" dirty="0" err="1">
                <a:solidFill>
                  <a:schemeClr val="accent5">
                    <a:lumMod val="75000"/>
                  </a:schemeClr>
                </a:solidFill>
              </a:rPr>
              <a:t>Drupal</a:t>
            </a:r>
            <a:r>
              <a:rPr lang="fr-FR" sz="1000" dirty="0">
                <a:solidFill>
                  <a:schemeClr val="accent5">
                    <a:lumMod val="75000"/>
                  </a:schemeClr>
                </a:solidFill>
              </a:rPr>
              <a:t> en PHP) ; les citer si nécessaire (impact/adhérence infra)</a:t>
            </a:r>
          </a:p>
          <a:p>
            <a:pPr algn="ctr"/>
            <a:endParaRPr lang="fr-FR" sz="1000" dirty="0">
              <a:solidFill>
                <a:schemeClr val="accent5">
                  <a:lumMod val="75000"/>
                </a:schemeClr>
              </a:solidFill>
            </a:endParaRPr>
          </a:p>
          <a:p>
            <a:pPr algn="ctr"/>
            <a:r>
              <a:rPr lang="fr-FR" sz="1000" b="1" u="sng" dirty="0">
                <a:solidFill>
                  <a:schemeClr val="accent5">
                    <a:lumMod val="75000"/>
                  </a:schemeClr>
                </a:solidFill>
              </a:rPr>
              <a:t>Exemple schéma</a:t>
            </a:r>
          </a:p>
        </p:txBody>
      </p:sp>
      <p:cxnSp>
        <p:nvCxnSpPr>
          <p:cNvPr id="263" name="Connecteur droit avec flèche 262"/>
          <p:cNvCxnSpPr/>
          <p:nvPr/>
        </p:nvCxnSpPr>
        <p:spPr>
          <a:xfrm flipH="1">
            <a:off x="4359164" y="2801716"/>
            <a:ext cx="0" cy="2621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4" name="ZoneTexte 263"/>
          <p:cNvSpPr txBox="1"/>
          <p:nvPr/>
        </p:nvSpPr>
        <p:spPr>
          <a:xfrm>
            <a:off x="3801049" y="306381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65" name="ZoneTexte 264"/>
          <p:cNvSpPr txBox="1"/>
          <p:nvPr/>
        </p:nvSpPr>
        <p:spPr>
          <a:xfrm>
            <a:off x="3801049" y="335566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66" name="ZoneTexte 265"/>
          <p:cNvSpPr txBox="1"/>
          <p:nvPr/>
        </p:nvSpPr>
        <p:spPr>
          <a:xfrm>
            <a:off x="3801049" y="3643663"/>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67" name="ZoneTexte 266"/>
          <p:cNvSpPr txBox="1"/>
          <p:nvPr/>
        </p:nvSpPr>
        <p:spPr>
          <a:xfrm>
            <a:off x="3801049" y="392603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68" name="ZoneTexte 267"/>
          <p:cNvSpPr txBox="1"/>
          <p:nvPr/>
        </p:nvSpPr>
        <p:spPr>
          <a:xfrm>
            <a:off x="3801049" y="4188000"/>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69" name="ZoneTexte 268"/>
          <p:cNvSpPr txBox="1"/>
          <p:nvPr/>
        </p:nvSpPr>
        <p:spPr>
          <a:xfrm>
            <a:off x="3801049" y="446429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70" name="ZoneTexte 269"/>
          <p:cNvSpPr txBox="1"/>
          <p:nvPr/>
        </p:nvSpPr>
        <p:spPr>
          <a:xfrm>
            <a:off x="3801049" y="472905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71" name="ZoneTexte 270"/>
          <p:cNvSpPr txBox="1"/>
          <p:nvPr/>
        </p:nvSpPr>
        <p:spPr>
          <a:xfrm>
            <a:off x="3801049" y="499381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72" name="ZoneTexte 271"/>
          <p:cNvSpPr txBox="1"/>
          <p:nvPr/>
        </p:nvSpPr>
        <p:spPr>
          <a:xfrm>
            <a:off x="3801049" y="528827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273" name="ZoneTexte 272"/>
          <p:cNvSpPr txBox="1"/>
          <p:nvPr/>
        </p:nvSpPr>
        <p:spPr>
          <a:xfrm>
            <a:off x="3801049" y="5563786"/>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950" y="5071002"/>
            <a:ext cx="2330805" cy="1598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99" name="Connecteur droit 298"/>
          <p:cNvCxnSpPr/>
          <p:nvPr/>
        </p:nvCxnSpPr>
        <p:spPr>
          <a:xfrm>
            <a:off x="-1632" y="476672"/>
            <a:ext cx="914400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049" name="ZoneTexte 2048"/>
          <p:cNvSpPr txBox="1"/>
          <p:nvPr/>
        </p:nvSpPr>
        <p:spPr>
          <a:xfrm>
            <a:off x="0" y="475923"/>
            <a:ext cx="6563098" cy="276999"/>
          </a:xfrm>
          <a:prstGeom prst="rect">
            <a:avLst/>
          </a:prstGeom>
          <a:noFill/>
        </p:spPr>
        <p:txBody>
          <a:bodyPr wrap="square" rtlCol="0">
            <a:spAutoFit/>
          </a:bodyPr>
          <a:lstStyle/>
          <a:p>
            <a:pPr algn="ctr"/>
            <a:r>
              <a:rPr lang="fr-FR" sz="1200" b="1" dirty="0">
                <a:solidFill>
                  <a:srgbClr val="00B0F0"/>
                </a:solidFill>
              </a:rPr>
              <a:t>Schéma modèle </a:t>
            </a:r>
            <a:r>
              <a:rPr lang="fr-FR" sz="1200" dirty="0">
                <a:solidFill>
                  <a:srgbClr val="00B0F0"/>
                </a:solidFill>
              </a:rPr>
              <a:t>(à compléter)</a:t>
            </a:r>
          </a:p>
        </p:txBody>
      </p:sp>
      <p:sp>
        <p:nvSpPr>
          <p:cNvPr id="302" name="ZoneTexte 301"/>
          <p:cNvSpPr txBox="1"/>
          <p:nvPr/>
        </p:nvSpPr>
        <p:spPr>
          <a:xfrm>
            <a:off x="6756950" y="476672"/>
            <a:ext cx="2330805" cy="276999"/>
          </a:xfrm>
          <a:prstGeom prst="rect">
            <a:avLst/>
          </a:prstGeom>
          <a:noFill/>
        </p:spPr>
        <p:txBody>
          <a:bodyPr wrap="square" rtlCol="0">
            <a:spAutoFit/>
          </a:bodyPr>
          <a:lstStyle/>
          <a:p>
            <a:pPr algn="ctr"/>
            <a:r>
              <a:rPr lang="fr-FR" sz="1200" b="1" dirty="0">
                <a:solidFill>
                  <a:srgbClr val="00B0F0"/>
                </a:solidFill>
              </a:rPr>
              <a:t>Commentaire</a:t>
            </a:r>
          </a:p>
        </p:txBody>
      </p:sp>
      <p:sp>
        <p:nvSpPr>
          <p:cNvPr id="11" name="ZoneTexte 10"/>
          <p:cNvSpPr txBox="1"/>
          <p:nvPr/>
        </p:nvSpPr>
        <p:spPr>
          <a:xfrm rot="5400000">
            <a:off x="-859355" y="1769239"/>
            <a:ext cx="2224139" cy="338554"/>
          </a:xfrm>
          <a:prstGeom prst="rect">
            <a:avLst/>
          </a:prstGeom>
          <a:noFill/>
        </p:spPr>
        <p:txBody>
          <a:bodyPr wrap="square" rtlCol="0">
            <a:spAutoFit/>
          </a:bodyPr>
          <a:lstStyle/>
          <a:p>
            <a:pPr algn="ctr"/>
            <a:r>
              <a:rPr lang="fr-FR" sz="800" b="1" dirty="0">
                <a:solidFill>
                  <a:srgbClr val="002060"/>
                </a:solidFill>
                <a:latin typeface="Arial" panose="020B0604020202020204" pitchFamily="34" charset="0"/>
                <a:cs typeface="Arial" panose="020B0604020202020204" pitchFamily="34" charset="0"/>
              </a:rPr>
              <a:t>Fonctionnalités  Métier</a:t>
            </a:r>
          </a:p>
          <a:p>
            <a:pPr algn="ctr"/>
            <a:r>
              <a:rPr lang="fr-FR" sz="800" i="1" dirty="0">
                <a:solidFill>
                  <a:srgbClr val="002060"/>
                </a:solidFill>
                <a:latin typeface="Arial" panose="020B0604020202020204" pitchFamily="34" charset="0"/>
                <a:cs typeface="Arial" panose="020B0604020202020204" pitchFamily="34" charset="0"/>
              </a:rPr>
              <a:t> (infos dans architecture fonctionnelle)</a:t>
            </a:r>
          </a:p>
        </p:txBody>
      </p:sp>
      <p:sp>
        <p:nvSpPr>
          <p:cNvPr id="107" name="ZoneTexte 106"/>
          <p:cNvSpPr txBox="1"/>
          <p:nvPr/>
        </p:nvSpPr>
        <p:spPr>
          <a:xfrm rot="5400000">
            <a:off x="-1255974" y="4330459"/>
            <a:ext cx="3000436" cy="353943"/>
          </a:xfrm>
          <a:prstGeom prst="rect">
            <a:avLst/>
          </a:prstGeom>
          <a:noFill/>
        </p:spPr>
        <p:txBody>
          <a:bodyPr wrap="square" rtlCol="0">
            <a:spAutoFit/>
          </a:bodyPr>
          <a:lstStyle/>
          <a:p>
            <a:pPr algn="ctr"/>
            <a:r>
              <a:rPr lang="fr-FR" sz="800" b="1" dirty="0">
                <a:solidFill>
                  <a:srgbClr val="002060"/>
                </a:solidFill>
                <a:latin typeface="Arial" panose="020B0604020202020204" pitchFamily="34" charset="0"/>
                <a:cs typeface="Arial" panose="020B0604020202020204" pitchFamily="34" charset="0"/>
              </a:rPr>
              <a:t>Composants et langages </a:t>
            </a:r>
          </a:p>
          <a:p>
            <a:pPr algn="ctr"/>
            <a:r>
              <a:rPr lang="fr-FR" sz="800" i="1" dirty="0">
                <a:solidFill>
                  <a:srgbClr val="002060"/>
                </a:solidFill>
                <a:latin typeface="Arial" panose="020B0604020202020204" pitchFamily="34" charset="0"/>
                <a:cs typeface="Arial" panose="020B0604020202020204" pitchFamily="34" charset="0"/>
              </a:rPr>
              <a:t>(du plus haut au plus bas  dans couches architecture</a:t>
            </a:r>
            <a:r>
              <a:rPr lang="fr-FR" sz="900" i="1" dirty="0">
                <a:solidFill>
                  <a:srgbClr val="002060"/>
                </a:solidFill>
                <a:latin typeface="Arial" panose="020B0604020202020204" pitchFamily="34" charset="0"/>
                <a:cs typeface="Arial" panose="020B0604020202020204" pitchFamily="34" charset="0"/>
              </a:rPr>
              <a:t>)</a:t>
            </a:r>
          </a:p>
        </p:txBody>
      </p:sp>
      <p:sp>
        <p:nvSpPr>
          <p:cNvPr id="110" name="ZoneTexte 109"/>
          <p:cNvSpPr txBox="1"/>
          <p:nvPr/>
        </p:nvSpPr>
        <p:spPr>
          <a:xfrm>
            <a:off x="5021837" y="5885638"/>
            <a:ext cx="1440160" cy="646331"/>
          </a:xfrm>
          <a:prstGeom prst="rect">
            <a:avLst/>
          </a:prstGeom>
          <a:noFill/>
        </p:spPr>
        <p:txBody>
          <a:bodyPr wrap="square" rtlCol="0">
            <a:spAutoFit/>
          </a:bodyPr>
          <a:lstStyle/>
          <a:p>
            <a:pPr algn="ctr"/>
            <a:r>
              <a:rPr lang="fr-FR" sz="900" i="1" dirty="0">
                <a:solidFill>
                  <a:schemeClr val="tx2">
                    <a:lumMod val="75000"/>
                  </a:schemeClr>
                </a:solidFill>
              </a:rPr>
              <a:t>1 API a une couleur de niveau de sécurité correspondant à sa DMZ d’emplacement</a:t>
            </a:r>
          </a:p>
        </p:txBody>
      </p:sp>
      <p:cxnSp>
        <p:nvCxnSpPr>
          <p:cNvPr id="90" name="Connecteur droit avec flèche 89"/>
          <p:cNvCxnSpPr/>
          <p:nvPr/>
        </p:nvCxnSpPr>
        <p:spPr>
          <a:xfrm flipH="1">
            <a:off x="5808963" y="2814168"/>
            <a:ext cx="0" cy="2621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1" name="ZoneTexte 90"/>
          <p:cNvSpPr txBox="1"/>
          <p:nvPr/>
        </p:nvSpPr>
        <p:spPr>
          <a:xfrm>
            <a:off x="5250848" y="3076268"/>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2" name="ZoneTexte 91"/>
          <p:cNvSpPr txBox="1"/>
          <p:nvPr/>
        </p:nvSpPr>
        <p:spPr>
          <a:xfrm>
            <a:off x="5250848" y="336811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3" name="ZoneTexte 92"/>
          <p:cNvSpPr txBox="1"/>
          <p:nvPr/>
        </p:nvSpPr>
        <p:spPr>
          <a:xfrm>
            <a:off x="5250848" y="3656115"/>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4" name="ZoneTexte 93"/>
          <p:cNvSpPr txBox="1"/>
          <p:nvPr/>
        </p:nvSpPr>
        <p:spPr>
          <a:xfrm>
            <a:off x="5250848" y="393848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5" name="ZoneTexte 94"/>
          <p:cNvSpPr txBox="1"/>
          <p:nvPr/>
        </p:nvSpPr>
        <p:spPr>
          <a:xfrm>
            <a:off x="5250848" y="4200452"/>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6" name="ZoneTexte 95"/>
          <p:cNvSpPr txBox="1"/>
          <p:nvPr/>
        </p:nvSpPr>
        <p:spPr>
          <a:xfrm>
            <a:off x="5250848" y="4476747"/>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7" name="ZoneTexte 96"/>
          <p:cNvSpPr txBox="1"/>
          <p:nvPr/>
        </p:nvSpPr>
        <p:spPr>
          <a:xfrm>
            <a:off x="5250848" y="4741509"/>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98" name="ZoneTexte 97"/>
          <p:cNvSpPr txBox="1"/>
          <p:nvPr/>
        </p:nvSpPr>
        <p:spPr>
          <a:xfrm>
            <a:off x="5250848" y="5006271"/>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00" name="ZoneTexte 99"/>
          <p:cNvSpPr txBox="1"/>
          <p:nvPr/>
        </p:nvSpPr>
        <p:spPr>
          <a:xfrm>
            <a:off x="5250848" y="5300728"/>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01" name="ZoneTexte 100"/>
          <p:cNvSpPr txBox="1"/>
          <p:nvPr/>
        </p:nvSpPr>
        <p:spPr>
          <a:xfrm>
            <a:off x="5250848" y="5576238"/>
            <a:ext cx="1080000" cy="230832"/>
          </a:xfrm>
          <a:prstGeom prst="rect">
            <a:avLst/>
          </a:prstGeom>
          <a:noFill/>
          <a:ln>
            <a:solidFill>
              <a:schemeClr val="bg1">
                <a:lumMod val="50000"/>
              </a:schemeClr>
            </a:solidFill>
          </a:ln>
        </p:spPr>
        <p:txBody>
          <a:bodyPr wrap="square" rtlCol="0">
            <a:spAutoFit/>
          </a:bodyPr>
          <a:lstStyle/>
          <a:p>
            <a:pPr algn="ctr"/>
            <a:r>
              <a:rPr lang="fr-FR" sz="900" dirty="0">
                <a:solidFill>
                  <a:schemeClr val="tx1">
                    <a:lumMod val="95000"/>
                    <a:lumOff val="5000"/>
                  </a:schemeClr>
                </a:solidFill>
              </a:rPr>
              <a:t>--</a:t>
            </a:r>
          </a:p>
        </p:txBody>
      </p:sp>
      <p:pic>
        <p:nvPicPr>
          <p:cNvPr id="102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11808" y="6528180"/>
            <a:ext cx="216024" cy="214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80881" y="6531969"/>
            <a:ext cx="208377" cy="206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36096" y="6528180"/>
            <a:ext cx="198852" cy="204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696139" y="887600"/>
            <a:ext cx="262654" cy="262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2" name="ZoneTexte 111"/>
          <p:cNvSpPr txBox="1"/>
          <p:nvPr/>
        </p:nvSpPr>
        <p:spPr>
          <a:xfrm>
            <a:off x="312493" y="5867671"/>
            <a:ext cx="4568276" cy="907941"/>
          </a:xfrm>
          <a:prstGeom prst="rect">
            <a:avLst/>
          </a:prstGeom>
          <a:noFill/>
        </p:spPr>
        <p:txBody>
          <a:bodyPr wrap="square" rtlCol="0">
            <a:spAutoFit/>
          </a:bodyPr>
          <a:lstStyle/>
          <a:p>
            <a:pPr algn="ctr"/>
            <a:r>
              <a:rPr lang="fr-FR" sz="900" i="1" dirty="0">
                <a:solidFill>
                  <a:schemeClr val="tx2">
                    <a:lumMod val="75000"/>
                  </a:schemeClr>
                </a:solidFill>
              </a:rPr>
              <a:t>Composant logiciel brute ou affiné : </a:t>
            </a:r>
            <a:r>
              <a:rPr lang="fr-FR" sz="900" i="1" dirty="0" err="1">
                <a:solidFill>
                  <a:schemeClr val="tx2">
                    <a:lumMod val="75000"/>
                  </a:schemeClr>
                </a:solidFill>
              </a:rPr>
              <a:t>framework</a:t>
            </a:r>
            <a:r>
              <a:rPr lang="fr-FR" sz="900" i="1" dirty="0">
                <a:solidFill>
                  <a:schemeClr val="tx2">
                    <a:lumMod val="75000"/>
                  </a:schemeClr>
                </a:solidFill>
              </a:rPr>
              <a:t>, langage, librairie, API ….</a:t>
            </a:r>
          </a:p>
          <a:p>
            <a:pPr algn="ctr"/>
            <a:r>
              <a:rPr lang="fr-FR" sz="900" i="1" dirty="0">
                <a:solidFill>
                  <a:schemeClr val="tx2">
                    <a:lumMod val="75000"/>
                  </a:schemeClr>
                </a:solidFill>
              </a:rPr>
              <a:t>Dans la page 3 du DA, il sera demande de préciser chaque composant logiciel</a:t>
            </a:r>
          </a:p>
          <a:p>
            <a:pPr algn="ctr"/>
            <a:r>
              <a:rPr lang="fr-FR" sz="900" i="1" dirty="0">
                <a:solidFill>
                  <a:schemeClr val="tx2">
                    <a:lumMod val="75000"/>
                  </a:schemeClr>
                </a:solidFill>
              </a:rPr>
              <a:t>(version, release, rôle, origine, emplacement serveur, </a:t>
            </a:r>
            <a:r>
              <a:rPr lang="fr-FR" sz="900" i="1" dirty="0" err="1">
                <a:solidFill>
                  <a:schemeClr val="tx2">
                    <a:lumMod val="75000"/>
                  </a:schemeClr>
                </a:solidFill>
              </a:rPr>
              <a:t>ect</a:t>
            </a:r>
            <a:r>
              <a:rPr lang="fr-FR" sz="900" i="1" dirty="0">
                <a:solidFill>
                  <a:schemeClr val="tx2">
                    <a:lumMod val="75000"/>
                  </a:schemeClr>
                </a:solidFill>
              </a:rPr>
              <a:t> ……….</a:t>
            </a:r>
          </a:p>
          <a:p>
            <a:pPr algn="ctr"/>
            <a:endParaRPr lang="fr-FR" sz="800" i="1" dirty="0">
              <a:solidFill>
                <a:schemeClr val="tx2">
                  <a:lumMod val="75000"/>
                </a:schemeClr>
              </a:solidFill>
            </a:endParaRPr>
          </a:p>
          <a:p>
            <a:pPr algn="ctr"/>
            <a:r>
              <a:rPr lang="fr-FR" sz="900" i="1" dirty="0">
                <a:solidFill>
                  <a:srgbClr val="002060"/>
                </a:solidFill>
              </a:rPr>
              <a:t>1 API est un  service intermédiaire, pas un acteur au sens parties prenantes</a:t>
            </a:r>
          </a:p>
          <a:p>
            <a:pPr algn="ctr"/>
            <a:r>
              <a:rPr lang="fr-FR" sz="900" i="1" dirty="0">
                <a:solidFill>
                  <a:srgbClr val="002060"/>
                </a:solidFill>
              </a:rPr>
              <a:t>Si API servi par un SI externe, on ne précise pas les composants logiciels</a:t>
            </a:r>
          </a:p>
        </p:txBody>
      </p:sp>
      <p:sp>
        <p:nvSpPr>
          <p:cNvPr id="113" name="ZoneTexte 112"/>
          <p:cNvSpPr txBox="1"/>
          <p:nvPr/>
        </p:nvSpPr>
        <p:spPr>
          <a:xfrm rot="5400000">
            <a:off x="5420075" y="1871883"/>
            <a:ext cx="2055213" cy="215444"/>
          </a:xfrm>
          <a:prstGeom prst="rect">
            <a:avLst/>
          </a:prstGeom>
          <a:noFill/>
        </p:spPr>
        <p:txBody>
          <a:bodyPr wrap="square" rtlCol="0">
            <a:spAutoFit/>
          </a:bodyPr>
          <a:lstStyle/>
          <a:p>
            <a:pPr algn="ctr"/>
            <a:r>
              <a:rPr lang="fr-FR" sz="800" b="1" dirty="0">
                <a:solidFill>
                  <a:srgbClr val="002060"/>
                </a:solidFill>
              </a:rPr>
              <a:t>Fonctionnalités  consommant l’API</a:t>
            </a:r>
          </a:p>
        </p:txBody>
      </p:sp>
      <p:sp>
        <p:nvSpPr>
          <p:cNvPr id="114" name="ZoneTexte 113"/>
          <p:cNvSpPr txBox="1"/>
          <p:nvPr/>
        </p:nvSpPr>
        <p:spPr>
          <a:xfrm>
            <a:off x="379390" y="169455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15" name="ZoneTexte 114"/>
          <p:cNvSpPr txBox="1"/>
          <p:nvPr/>
        </p:nvSpPr>
        <p:spPr>
          <a:xfrm>
            <a:off x="379390" y="197030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16" name="ZoneTexte 115"/>
          <p:cNvSpPr txBox="1"/>
          <p:nvPr/>
        </p:nvSpPr>
        <p:spPr>
          <a:xfrm>
            <a:off x="379390" y="2230423"/>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17" name="ZoneTexte 116"/>
          <p:cNvSpPr txBox="1"/>
          <p:nvPr/>
        </p:nvSpPr>
        <p:spPr>
          <a:xfrm>
            <a:off x="379390" y="2504547"/>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18" name="ZoneTexte 117"/>
          <p:cNvSpPr txBox="1"/>
          <p:nvPr/>
        </p:nvSpPr>
        <p:spPr>
          <a:xfrm>
            <a:off x="1516631" y="1163527"/>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19" name="ZoneTexte 118"/>
          <p:cNvSpPr txBox="1"/>
          <p:nvPr/>
        </p:nvSpPr>
        <p:spPr>
          <a:xfrm>
            <a:off x="1518244" y="142026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20" name="ZoneTexte 119"/>
          <p:cNvSpPr txBox="1"/>
          <p:nvPr/>
        </p:nvSpPr>
        <p:spPr>
          <a:xfrm>
            <a:off x="1518244" y="168811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22" name="ZoneTexte 121"/>
          <p:cNvSpPr txBox="1"/>
          <p:nvPr/>
        </p:nvSpPr>
        <p:spPr>
          <a:xfrm>
            <a:off x="1518244" y="1963861"/>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23" name="ZoneTexte 122"/>
          <p:cNvSpPr txBox="1"/>
          <p:nvPr/>
        </p:nvSpPr>
        <p:spPr>
          <a:xfrm>
            <a:off x="1518244" y="2223983"/>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28" name="ZoneTexte 127"/>
          <p:cNvSpPr txBox="1"/>
          <p:nvPr/>
        </p:nvSpPr>
        <p:spPr>
          <a:xfrm>
            <a:off x="1518244" y="2498107"/>
            <a:ext cx="1080000" cy="230832"/>
          </a:xfrm>
          <a:prstGeom prst="rect">
            <a:avLst/>
          </a:prstGeom>
          <a:noFill/>
          <a:ln>
            <a:solidFill>
              <a:srgbClr val="FF0000"/>
            </a:solidFill>
          </a:ln>
        </p:spPr>
        <p:txBody>
          <a:bodyPr wrap="square" rtlCol="0">
            <a:spAutoFit/>
          </a:bodyPr>
          <a:lstStyle/>
          <a:p>
            <a:pPr algn="ctr"/>
            <a:r>
              <a:rPr lang="fr-FR" sz="900" dirty="0">
                <a:solidFill>
                  <a:schemeClr val="tx1">
                    <a:lumMod val="95000"/>
                    <a:lumOff val="5000"/>
                  </a:schemeClr>
                </a:solidFill>
              </a:rPr>
              <a:t>--</a:t>
            </a:r>
          </a:p>
        </p:txBody>
      </p:sp>
      <p:sp>
        <p:nvSpPr>
          <p:cNvPr id="136" name="ZoneTexte 135"/>
          <p:cNvSpPr txBox="1"/>
          <p:nvPr/>
        </p:nvSpPr>
        <p:spPr>
          <a:xfrm>
            <a:off x="2667928" y="1163527"/>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7" name="ZoneTexte 136"/>
          <p:cNvSpPr txBox="1"/>
          <p:nvPr/>
        </p:nvSpPr>
        <p:spPr>
          <a:xfrm>
            <a:off x="2669541" y="1420261"/>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8" name="ZoneTexte 137"/>
          <p:cNvSpPr txBox="1"/>
          <p:nvPr/>
        </p:nvSpPr>
        <p:spPr>
          <a:xfrm>
            <a:off x="2669541" y="1688111"/>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39" name="ZoneTexte 138"/>
          <p:cNvSpPr txBox="1"/>
          <p:nvPr/>
        </p:nvSpPr>
        <p:spPr>
          <a:xfrm>
            <a:off x="2669541" y="1963861"/>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40" name="ZoneTexte 139"/>
          <p:cNvSpPr txBox="1"/>
          <p:nvPr/>
        </p:nvSpPr>
        <p:spPr>
          <a:xfrm>
            <a:off x="2669541" y="2223983"/>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41" name="ZoneTexte 140"/>
          <p:cNvSpPr txBox="1"/>
          <p:nvPr/>
        </p:nvSpPr>
        <p:spPr>
          <a:xfrm>
            <a:off x="2669541" y="2498107"/>
            <a:ext cx="1080000" cy="230832"/>
          </a:xfrm>
          <a:prstGeom prst="rect">
            <a:avLst/>
          </a:prstGeom>
          <a:noFill/>
          <a:ln>
            <a:solidFill>
              <a:schemeClr val="accent6">
                <a:lumMod val="75000"/>
              </a:schemeClr>
            </a:solidFill>
          </a:ln>
        </p:spPr>
        <p:txBody>
          <a:bodyPr wrap="square" rtlCol="0">
            <a:spAutoFit/>
          </a:bodyPr>
          <a:lstStyle/>
          <a:p>
            <a:pPr algn="ctr"/>
            <a:r>
              <a:rPr lang="fr-FR" sz="900" dirty="0">
                <a:solidFill>
                  <a:schemeClr val="tx1">
                    <a:lumMod val="95000"/>
                    <a:lumOff val="5000"/>
                  </a:schemeClr>
                </a:solidFill>
              </a:rPr>
              <a:t>--</a:t>
            </a:r>
          </a:p>
        </p:txBody>
      </p:sp>
      <p:sp>
        <p:nvSpPr>
          <p:cNvPr id="142" name="ZoneTexte 141"/>
          <p:cNvSpPr txBox="1"/>
          <p:nvPr/>
        </p:nvSpPr>
        <p:spPr>
          <a:xfrm>
            <a:off x="3819164" y="1180432"/>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3" name="ZoneTexte 142"/>
          <p:cNvSpPr txBox="1"/>
          <p:nvPr/>
        </p:nvSpPr>
        <p:spPr>
          <a:xfrm>
            <a:off x="3820777" y="1437166"/>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4" name="ZoneTexte 143"/>
          <p:cNvSpPr txBox="1"/>
          <p:nvPr/>
        </p:nvSpPr>
        <p:spPr>
          <a:xfrm>
            <a:off x="3820777" y="1705016"/>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5" name="ZoneTexte 144"/>
          <p:cNvSpPr txBox="1"/>
          <p:nvPr/>
        </p:nvSpPr>
        <p:spPr>
          <a:xfrm>
            <a:off x="3820777" y="1980766"/>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6" name="ZoneTexte 145"/>
          <p:cNvSpPr txBox="1"/>
          <p:nvPr/>
        </p:nvSpPr>
        <p:spPr>
          <a:xfrm>
            <a:off x="3820777" y="2240888"/>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7" name="ZoneTexte 146"/>
          <p:cNvSpPr txBox="1"/>
          <p:nvPr/>
        </p:nvSpPr>
        <p:spPr>
          <a:xfrm>
            <a:off x="3820777" y="2515012"/>
            <a:ext cx="1080000" cy="230832"/>
          </a:xfrm>
          <a:prstGeom prst="rect">
            <a:avLst/>
          </a:prstGeom>
          <a:noFill/>
          <a:ln>
            <a:solidFill>
              <a:srgbClr val="00B050"/>
            </a:solidFill>
          </a:ln>
        </p:spPr>
        <p:txBody>
          <a:bodyPr wrap="square" rtlCol="0">
            <a:spAutoFit/>
          </a:bodyPr>
          <a:lstStyle/>
          <a:p>
            <a:pPr algn="ctr"/>
            <a:r>
              <a:rPr lang="fr-FR" sz="900" dirty="0">
                <a:solidFill>
                  <a:schemeClr val="tx1">
                    <a:lumMod val="95000"/>
                    <a:lumOff val="5000"/>
                  </a:schemeClr>
                </a:solidFill>
              </a:rPr>
              <a:t>--</a:t>
            </a:r>
          </a:p>
        </p:txBody>
      </p:sp>
      <p:sp>
        <p:nvSpPr>
          <p:cNvPr id="148" name="ZoneTexte 147"/>
          <p:cNvSpPr txBox="1"/>
          <p:nvPr/>
        </p:nvSpPr>
        <p:spPr>
          <a:xfrm>
            <a:off x="5233283" y="1169967"/>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sp>
        <p:nvSpPr>
          <p:cNvPr id="149" name="ZoneTexte 148"/>
          <p:cNvSpPr txBox="1"/>
          <p:nvPr/>
        </p:nvSpPr>
        <p:spPr>
          <a:xfrm>
            <a:off x="5234896" y="1426701"/>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sp>
        <p:nvSpPr>
          <p:cNvPr id="150" name="ZoneTexte 149"/>
          <p:cNvSpPr txBox="1"/>
          <p:nvPr/>
        </p:nvSpPr>
        <p:spPr>
          <a:xfrm>
            <a:off x="5234896" y="1694551"/>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sp>
        <p:nvSpPr>
          <p:cNvPr id="151" name="ZoneTexte 150"/>
          <p:cNvSpPr txBox="1"/>
          <p:nvPr/>
        </p:nvSpPr>
        <p:spPr>
          <a:xfrm>
            <a:off x="5234896" y="1970301"/>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sp>
        <p:nvSpPr>
          <p:cNvPr id="152" name="ZoneTexte 151"/>
          <p:cNvSpPr txBox="1"/>
          <p:nvPr/>
        </p:nvSpPr>
        <p:spPr>
          <a:xfrm>
            <a:off x="5234896" y="2230423"/>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sp>
        <p:nvSpPr>
          <p:cNvPr id="153" name="ZoneTexte 152"/>
          <p:cNvSpPr txBox="1"/>
          <p:nvPr/>
        </p:nvSpPr>
        <p:spPr>
          <a:xfrm>
            <a:off x="5234896" y="2504547"/>
            <a:ext cx="1080000" cy="230832"/>
          </a:xfrm>
          <a:prstGeom prst="rect">
            <a:avLst/>
          </a:prstGeom>
          <a:noFill/>
          <a:ln>
            <a:solidFill>
              <a:srgbClr val="00B0F0"/>
            </a:solidFill>
          </a:ln>
        </p:spPr>
        <p:txBody>
          <a:bodyPr wrap="square" rtlCol="0">
            <a:spAutoFit/>
          </a:bodyPr>
          <a:lstStyle/>
          <a:p>
            <a:pPr algn="ctr"/>
            <a:r>
              <a:rPr lang="fr-FR" sz="900" dirty="0">
                <a:solidFill>
                  <a:schemeClr val="tx1">
                    <a:lumMod val="95000"/>
                    <a:lumOff val="5000"/>
                  </a:schemeClr>
                </a:solidFill>
              </a:rPr>
              <a:t>--</a:t>
            </a:r>
          </a:p>
        </p:txBody>
      </p:sp>
      <p:pic>
        <p:nvPicPr>
          <p:cNvPr id="154"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7403" y="980353"/>
            <a:ext cx="152000" cy="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6" name="Picture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3944" y="977764"/>
            <a:ext cx="160940" cy="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7" name="Picture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0137" y="977764"/>
            <a:ext cx="152000" cy="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8" name="Picture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4537" y="989880"/>
            <a:ext cx="152000" cy="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1" name="ZoneTexte 110"/>
          <p:cNvSpPr txBox="1"/>
          <p:nvPr/>
        </p:nvSpPr>
        <p:spPr>
          <a:xfrm rot="5400000">
            <a:off x="4947464" y="4389448"/>
            <a:ext cx="3000436" cy="215444"/>
          </a:xfrm>
          <a:prstGeom prst="rect">
            <a:avLst/>
          </a:prstGeom>
          <a:noFill/>
        </p:spPr>
        <p:txBody>
          <a:bodyPr wrap="square" rtlCol="0">
            <a:spAutoFit/>
          </a:bodyPr>
          <a:lstStyle/>
          <a:p>
            <a:pPr algn="ctr"/>
            <a:r>
              <a:rPr lang="fr-FR" sz="800" b="1" dirty="0">
                <a:solidFill>
                  <a:srgbClr val="002060"/>
                </a:solidFill>
                <a:latin typeface="Arial" panose="020B0604020202020204" pitchFamily="34" charset="0"/>
                <a:cs typeface="Arial" panose="020B0604020202020204" pitchFamily="34" charset="0"/>
              </a:rPr>
              <a:t>Composants et langages </a:t>
            </a:r>
          </a:p>
        </p:txBody>
      </p:sp>
      <p:sp>
        <p:nvSpPr>
          <p:cNvPr id="121" name="Rectangle 120"/>
          <p:cNvSpPr/>
          <p:nvPr/>
        </p:nvSpPr>
        <p:spPr>
          <a:xfrm>
            <a:off x="8604448" y="4310"/>
            <a:ext cx="539552" cy="22464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t>8 / 9</a:t>
            </a:r>
            <a:endParaRPr lang="fr-FR" sz="1000" b="1" dirty="0"/>
          </a:p>
        </p:txBody>
      </p:sp>
    </p:spTree>
    <p:extLst>
      <p:ext uri="{BB962C8B-B14F-4D97-AF65-F5344CB8AC3E}">
        <p14:creationId xmlns:p14="http://schemas.microsoft.com/office/powerpoint/2010/main" val="1881226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Rectangle 23"/>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102" name="Rectangle 101"/>
          <p:cNvSpPr/>
          <p:nvPr/>
        </p:nvSpPr>
        <p:spPr>
          <a:xfrm>
            <a:off x="5339594" y="2089753"/>
            <a:ext cx="1271688" cy="1533452"/>
          </a:xfrm>
          <a:prstGeom prst="rect">
            <a:avLst/>
          </a:prstGeom>
          <a:noFill/>
          <a:ln w="28575">
            <a:solidFill>
              <a:schemeClr val="accent6">
                <a:lumMod val="7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3" name="Rectangle 102"/>
          <p:cNvSpPr/>
          <p:nvPr/>
        </p:nvSpPr>
        <p:spPr>
          <a:xfrm>
            <a:off x="3796560" y="2089752"/>
            <a:ext cx="1211516" cy="1533452"/>
          </a:xfrm>
          <a:prstGeom prst="rect">
            <a:avLst/>
          </a:prstGeom>
          <a:noFill/>
          <a:ln w="28575">
            <a:solidFill>
              <a:srgbClr val="00B05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5" name="Rectangle 104"/>
          <p:cNvSpPr/>
          <p:nvPr/>
        </p:nvSpPr>
        <p:spPr>
          <a:xfrm>
            <a:off x="386309" y="3447364"/>
            <a:ext cx="1110107" cy="1417879"/>
          </a:xfrm>
          <a:prstGeom prst="rect">
            <a:avLst/>
          </a:prstGeom>
          <a:noFill/>
          <a:ln w="28575">
            <a:solidFill>
              <a:srgbClr val="C0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107" name="Image 106"/>
          <p:cNvPicPr>
            <a:picLocks noChangeAspect="1"/>
          </p:cNvPicPr>
          <p:nvPr/>
        </p:nvPicPr>
        <p:blipFill>
          <a:blip r:embed="rId2"/>
          <a:stretch>
            <a:fillRect/>
          </a:stretch>
        </p:blipFill>
        <p:spPr>
          <a:xfrm>
            <a:off x="781820" y="2819573"/>
            <a:ext cx="264492" cy="324000"/>
          </a:xfrm>
          <a:prstGeom prst="rect">
            <a:avLst/>
          </a:prstGeom>
        </p:spPr>
      </p:pic>
      <p:pic>
        <p:nvPicPr>
          <p:cNvPr id="108" name="Image 107"/>
          <p:cNvPicPr>
            <a:picLocks noChangeAspect="1"/>
          </p:cNvPicPr>
          <p:nvPr/>
        </p:nvPicPr>
        <p:blipFill>
          <a:blip r:embed="rId3"/>
          <a:stretch>
            <a:fillRect/>
          </a:stretch>
        </p:blipFill>
        <p:spPr>
          <a:xfrm>
            <a:off x="781820" y="881076"/>
            <a:ext cx="264492" cy="324000"/>
          </a:xfrm>
          <a:prstGeom prst="rect">
            <a:avLst/>
          </a:prstGeom>
        </p:spPr>
      </p:pic>
      <p:pic>
        <p:nvPicPr>
          <p:cNvPr id="111" name="Image 110"/>
          <p:cNvPicPr>
            <a:picLocks noChangeAspect="1"/>
          </p:cNvPicPr>
          <p:nvPr/>
        </p:nvPicPr>
        <p:blipFill>
          <a:blip r:embed="rId4"/>
          <a:stretch>
            <a:fillRect/>
          </a:stretch>
        </p:blipFill>
        <p:spPr>
          <a:xfrm>
            <a:off x="781820" y="3547467"/>
            <a:ext cx="264492" cy="324000"/>
          </a:xfrm>
          <a:prstGeom prst="rect">
            <a:avLst/>
          </a:prstGeom>
        </p:spPr>
      </p:pic>
      <p:pic>
        <p:nvPicPr>
          <p:cNvPr id="112" name="Image 111"/>
          <p:cNvPicPr>
            <a:picLocks noChangeAspect="1"/>
          </p:cNvPicPr>
          <p:nvPr/>
        </p:nvPicPr>
        <p:blipFill>
          <a:blip r:embed="rId4"/>
          <a:stretch>
            <a:fillRect/>
          </a:stretch>
        </p:blipFill>
        <p:spPr>
          <a:xfrm>
            <a:off x="781820" y="5114503"/>
            <a:ext cx="264492" cy="324000"/>
          </a:xfrm>
          <a:prstGeom prst="rect">
            <a:avLst/>
          </a:prstGeom>
        </p:spPr>
      </p:pic>
      <p:sp>
        <p:nvSpPr>
          <p:cNvPr id="113" name="Rectangle 112"/>
          <p:cNvSpPr/>
          <p:nvPr/>
        </p:nvSpPr>
        <p:spPr>
          <a:xfrm>
            <a:off x="7439781" y="1834072"/>
            <a:ext cx="1419721" cy="3906189"/>
          </a:xfrm>
          <a:prstGeom prst="rect">
            <a:avLst/>
          </a:prstGeom>
          <a:noFill/>
          <a:ln w="28575">
            <a:solidFill>
              <a:srgbClr val="C0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14" name="Rectangle 113"/>
          <p:cNvSpPr/>
          <p:nvPr/>
        </p:nvSpPr>
        <p:spPr>
          <a:xfrm>
            <a:off x="2182556" y="4245600"/>
            <a:ext cx="4774729" cy="1494661"/>
          </a:xfrm>
          <a:prstGeom prst="rect">
            <a:avLst/>
          </a:prstGeom>
          <a:noFill/>
          <a:ln w="28575">
            <a:solidFill>
              <a:srgbClr val="C0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116" name="Connecteur droit avec flèche 115"/>
          <p:cNvCxnSpPr/>
          <p:nvPr/>
        </p:nvCxnSpPr>
        <p:spPr>
          <a:xfrm flipV="1">
            <a:off x="4546940" y="2756824"/>
            <a:ext cx="1145635" cy="2475"/>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Connecteur droit avec flèche 116"/>
          <p:cNvCxnSpPr/>
          <p:nvPr/>
        </p:nvCxnSpPr>
        <p:spPr>
          <a:xfrm>
            <a:off x="4801733" y="4381695"/>
            <a:ext cx="1012763" cy="545937"/>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Connecteur droit avec flèche 117"/>
          <p:cNvCxnSpPr>
            <a:stCxn id="151" idx="3"/>
          </p:cNvCxnSpPr>
          <p:nvPr/>
        </p:nvCxnSpPr>
        <p:spPr>
          <a:xfrm>
            <a:off x="7552455" y="2728052"/>
            <a:ext cx="469828" cy="1626319"/>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9" name="Rectangle 118"/>
          <p:cNvSpPr/>
          <p:nvPr/>
        </p:nvSpPr>
        <p:spPr>
          <a:xfrm>
            <a:off x="5358152" y="969238"/>
            <a:ext cx="1541266" cy="368563"/>
          </a:xfrm>
          <a:prstGeom prst="rect">
            <a:avLst/>
          </a:prstGeom>
          <a:noFill/>
          <a:ln w="28575">
            <a:solidFill>
              <a:schemeClr val="accent6">
                <a:lumMod val="7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accent6">
                    <a:lumMod val="75000"/>
                  </a:schemeClr>
                </a:solidFill>
              </a:rPr>
              <a:t>SI</a:t>
            </a:r>
          </a:p>
          <a:p>
            <a:pPr algn="ctr"/>
            <a:r>
              <a:rPr lang="fr-FR" sz="1000" dirty="0">
                <a:solidFill>
                  <a:schemeClr val="tx1"/>
                </a:solidFill>
              </a:rPr>
              <a:t>ZZZZZ</a:t>
            </a:r>
          </a:p>
        </p:txBody>
      </p:sp>
      <p:cxnSp>
        <p:nvCxnSpPr>
          <p:cNvPr id="120" name="Connecteur droit avec flèche 119"/>
          <p:cNvCxnSpPr>
            <a:stCxn id="224" idx="3"/>
          </p:cNvCxnSpPr>
          <p:nvPr/>
        </p:nvCxnSpPr>
        <p:spPr>
          <a:xfrm flipV="1">
            <a:off x="5162026" y="1432863"/>
            <a:ext cx="862104" cy="180292"/>
          </a:xfrm>
          <a:prstGeom prst="straightConnector1">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1" name="Connecteur droit avec flèche 120"/>
          <p:cNvCxnSpPr/>
          <p:nvPr/>
        </p:nvCxnSpPr>
        <p:spPr>
          <a:xfrm>
            <a:off x="2836894" y="5570433"/>
            <a:ext cx="5185389" cy="0"/>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2" name="Connecteur droit 121"/>
          <p:cNvCxnSpPr/>
          <p:nvPr/>
        </p:nvCxnSpPr>
        <p:spPr>
          <a:xfrm>
            <a:off x="1706504" y="3411637"/>
            <a:ext cx="0" cy="6300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Connecteur droit 122"/>
          <p:cNvCxnSpPr/>
          <p:nvPr/>
        </p:nvCxnSpPr>
        <p:spPr>
          <a:xfrm flipH="1">
            <a:off x="1230325" y="5596262"/>
            <a:ext cx="4761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Rectangle 123"/>
          <p:cNvSpPr/>
          <p:nvPr/>
        </p:nvSpPr>
        <p:spPr>
          <a:xfrm>
            <a:off x="372403" y="5003364"/>
            <a:ext cx="1124014" cy="1343671"/>
          </a:xfrm>
          <a:prstGeom prst="rect">
            <a:avLst/>
          </a:prstGeom>
          <a:noFill/>
          <a:ln w="28575">
            <a:solidFill>
              <a:srgbClr val="C0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125" name="Connecteur droit 124"/>
          <p:cNvCxnSpPr/>
          <p:nvPr/>
        </p:nvCxnSpPr>
        <p:spPr>
          <a:xfrm flipH="1">
            <a:off x="1163646" y="4153259"/>
            <a:ext cx="5436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Connecteur droit 125"/>
          <p:cNvCxnSpPr/>
          <p:nvPr/>
        </p:nvCxnSpPr>
        <p:spPr>
          <a:xfrm>
            <a:off x="1681775" y="2101511"/>
            <a:ext cx="0" cy="8718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Connecteur droit 126"/>
          <p:cNvCxnSpPr/>
          <p:nvPr/>
        </p:nvCxnSpPr>
        <p:spPr>
          <a:xfrm flipH="1">
            <a:off x="1189214" y="2982148"/>
            <a:ext cx="49256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Connecteur droit 127"/>
          <p:cNvCxnSpPr/>
          <p:nvPr/>
        </p:nvCxnSpPr>
        <p:spPr>
          <a:xfrm flipH="1">
            <a:off x="1230324" y="1502209"/>
            <a:ext cx="4611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Connecteur droit 128"/>
          <p:cNvCxnSpPr/>
          <p:nvPr/>
        </p:nvCxnSpPr>
        <p:spPr>
          <a:xfrm flipH="1">
            <a:off x="1691496" y="2200170"/>
            <a:ext cx="908472"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Connecteur droit 130"/>
          <p:cNvCxnSpPr/>
          <p:nvPr/>
        </p:nvCxnSpPr>
        <p:spPr>
          <a:xfrm flipV="1">
            <a:off x="2821509" y="5279597"/>
            <a:ext cx="0" cy="290836"/>
          </a:xfrm>
          <a:prstGeom prst="line">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5" name="Rectangle 134"/>
          <p:cNvSpPr/>
          <p:nvPr/>
        </p:nvSpPr>
        <p:spPr>
          <a:xfrm>
            <a:off x="2065569" y="1834072"/>
            <a:ext cx="4957578" cy="19849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ZoneTexte 135"/>
          <p:cNvSpPr txBox="1"/>
          <p:nvPr/>
        </p:nvSpPr>
        <p:spPr>
          <a:xfrm>
            <a:off x="2052864" y="1587851"/>
            <a:ext cx="4968173" cy="246221"/>
          </a:xfrm>
          <a:prstGeom prst="rect">
            <a:avLst/>
          </a:prstGeom>
          <a:noFill/>
        </p:spPr>
        <p:txBody>
          <a:bodyPr wrap="square" rtlCol="0">
            <a:spAutoFit/>
          </a:bodyPr>
          <a:lstStyle/>
          <a:p>
            <a:r>
              <a:rPr lang="fr-FR" sz="1000" dirty="0"/>
              <a:t>MASS - DMZ Publique</a:t>
            </a:r>
          </a:p>
        </p:txBody>
      </p:sp>
      <p:sp>
        <p:nvSpPr>
          <p:cNvPr id="137" name="ZoneTexte 136"/>
          <p:cNvSpPr txBox="1"/>
          <p:nvPr/>
        </p:nvSpPr>
        <p:spPr>
          <a:xfrm>
            <a:off x="2090644" y="3960954"/>
            <a:ext cx="1948503" cy="246221"/>
          </a:xfrm>
          <a:prstGeom prst="rect">
            <a:avLst/>
          </a:prstGeom>
          <a:noFill/>
        </p:spPr>
        <p:txBody>
          <a:bodyPr wrap="square" rtlCol="0">
            <a:spAutoFit/>
          </a:bodyPr>
          <a:lstStyle/>
          <a:p>
            <a:r>
              <a:rPr lang="fr-FR" sz="1000" dirty="0"/>
              <a:t>MASS - DMZ Privée Intranet</a:t>
            </a:r>
          </a:p>
        </p:txBody>
      </p:sp>
      <p:sp>
        <p:nvSpPr>
          <p:cNvPr id="138" name="ZoneTexte 137"/>
          <p:cNvSpPr txBox="1"/>
          <p:nvPr/>
        </p:nvSpPr>
        <p:spPr>
          <a:xfrm>
            <a:off x="7439780" y="1607134"/>
            <a:ext cx="1601001" cy="246221"/>
          </a:xfrm>
          <a:prstGeom prst="rect">
            <a:avLst/>
          </a:prstGeom>
          <a:noFill/>
        </p:spPr>
        <p:txBody>
          <a:bodyPr wrap="square" rtlCol="0">
            <a:spAutoFit/>
          </a:bodyPr>
          <a:lstStyle/>
          <a:p>
            <a:pPr algn="ctr"/>
            <a:r>
              <a:rPr lang="fr-FR" sz="1000" dirty="0"/>
              <a:t>MASS - DMZ Privée Infra</a:t>
            </a:r>
          </a:p>
        </p:txBody>
      </p:sp>
      <p:cxnSp>
        <p:nvCxnSpPr>
          <p:cNvPr id="143" name="Connecteur droit 142"/>
          <p:cNvCxnSpPr/>
          <p:nvPr/>
        </p:nvCxnSpPr>
        <p:spPr>
          <a:xfrm flipH="1">
            <a:off x="1707342" y="3411637"/>
            <a:ext cx="90173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5" name="Rectangle 144"/>
          <p:cNvSpPr/>
          <p:nvPr/>
        </p:nvSpPr>
        <p:spPr>
          <a:xfrm>
            <a:off x="2090644" y="4174935"/>
            <a:ext cx="4957578" cy="16568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6"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2494" y="2630732"/>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8" name="Connecteur droit avec flèche 147"/>
          <p:cNvCxnSpPr/>
          <p:nvPr/>
        </p:nvCxnSpPr>
        <p:spPr>
          <a:xfrm flipV="1">
            <a:off x="6121773" y="2756824"/>
            <a:ext cx="1887201" cy="1238"/>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Connecteur droit avec flèche 148"/>
          <p:cNvCxnSpPr>
            <a:endCxn id="193" idx="3"/>
          </p:cNvCxnSpPr>
          <p:nvPr/>
        </p:nvCxnSpPr>
        <p:spPr>
          <a:xfrm flipH="1">
            <a:off x="2942061" y="4317030"/>
            <a:ext cx="1648883" cy="640706"/>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Connecteur droit 149"/>
          <p:cNvCxnSpPr/>
          <p:nvPr/>
        </p:nvCxnSpPr>
        <p:spPr>
          <a:xfrm flipH="1">
            <a:off x="4779872" y="2943114"/>
            <a:ext cx="944723" cy="1145915"/>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1"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9346" y="2571861"/>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2"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3226" y="5402503"/>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9860" y="4000299"/>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4"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9861" y="5440071"/>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9" name="ZoneTexte 158"/>
          <p:cNvSpPr txBox="1"/>
          <p:nvPr/>
        </p:nvSpPr>
        <p:spPr>
          <a:xfrm>
            <a:off x="691892" y="3817664"/>
            <a:ext cx="421910" cy="369332"/>
          </a:xfrm>
          <a:prstGeom prst="rect">
            <a:avLst/>
          </a:prstGeom>
          <a:noFill/>
        </p:spPr>
        <p:txBody>
          <a:bodyPr wrap="square" rtlCol="0">
            <a:spAutoFit/>
          </a:bodyPr>
          <a:lstStyle/>
          <a:p>
            <a:r>
              <a:rPr lang="fr-FR" sz="900" dirty="0"/>
              <a:t>XXXX</a:t>
            </a:r>
          </a:p>
          <a:p>
            <a:r>
              <a:rPr lang="fr-FR" sz="900" dirty="0"/>
              <a:t>XXXX</a:t>
            </a:r>
          </a:p>
        </p:txBody>
      </p:sp>
      <p:sp>
        <p:nvSpPr>
          <p:cNvPr id="160" name="ZoneTexte 159"/>
          <p:cNvSpPr txBox="1"/>
          <p:nvPr/>
        </p:nvSpPr>
        <p:spPr>
          <a:xfrm>
            <a:off x="722774" y="5353248"/>
            <a:ext cx="421910" cy="369332"/>
          </a:xfrm>
          <a:prstGeom prst="rect">
            <a:avLst/>
          </a:prstGeom>
          <a:noFill/>
        </p:spPr>
        <p:txBody>
          <a:bodyPr wrap="none" rtlCol="0">
            <a:spAutoFit/>
          </a:bodyPr>
          <a:lstStyle/>
          <a:p>
            <a:r>
              <a:rPr lang="fr-FR" sz="900" dirty="0"/>
              <a:t>XXXX</a:t>
            </a:r>
          </a:p>
          <a:p>
            <a:r>
              <a:rPr lang="fr-FR" sz="900" dirty="0"/>
              <a:t>XXXX</a:t>
            </a:r>
          </a:p>
        </p:txBody>
      </p:sp>
      <p:sp>
        <p:nvSpPr>
          <p:cNvPr id="161" name="ZoneTexte 160"/>
          <p:cNvSpPr txBox="1"/>
          <p:nvPr/>
        </p:nvSpPr>
        <p:spPr>
          <a:xfrm rot="16200000">
            <a:off x="-254842" y="2825283"/>
            <a:ext cx="1029057" cy="276999"/>
          </a:xfrm>
          <a:prstGeom prst="rect">
            <a:avLst/>
          </a:prstGeom>
          <a:noFill/>
        </p:spPr>
        <p:txBody>
          <a:bodyPr wrap="square" rtlCol="0">
            <a:spAutoFit/>
          </a:bodyPr>
          <a:lstStyle/>
          <a:p>
            <a:r>
              <a:rPr lang="fr-FR" sz="1200" dirty="0">
                <a:solidFill>
                  <a:srgbClr val="00B050"/>
                </a:solidFill>
              </a:rPr>
              <a:t>Grand Public</a:t>
            </a:r>
          </a:p>
        </p:txBody>
      </p:sp>
      <p:sp>
        <p:nvSpPr>
          <p:cNvPr id="162" name="ZoneTexte 161"/>
          <p:cNvSpPr txBox="1"/>
          <p:nvPr/>
        </p:nvSpPr>
        <p:spPr>
          <a:xfrm>
            <a:off x="720137" y="1147942"/>
            <a:ext cx="421910" cy="646331"/>
          </a:xfrm>
          <a:prstGeom prst="rect">
            <a:avLst/>
          </a:prstGeom>
          <a:noFill/>
        </p:spPr>
        <p:txBody>
          <a:bodyPr wrap="none" rtlCol="0">
            <a:spAutoFit/>
          </a:bodyPr>
          <a:lstStyle/>
          <a:p>
            <a:r>
              <a:rPr lang="fr-FR" sz="900" dirty="0"/>
              <a:t>XXXX</a:t>
            </a:r>
          </a:p>
          <a:p>
            <a:r>
              <a:rPr lang="fr-FR" sz="900" dirty="0"/>
              <a:t>XXXX</a:t>
            </a:r>
          </a:p>
          <a:p>
            <a:r>
              <a:rPr lang="fr-FR" sz="900" dirty="0"/>
              <a:t>XXXX</a:t>
            </a:r>
          </a:p>
          <a:p>
            <a:r>
              <a:rPr lang="fr-FR" sz="900" dirty="0"/>
              <a:t>XXXX</a:t>
            </a:r>
          </a:p>
        </p:txBody>
      </p:sp>
      <p:cxnSp>
        <p:nvCxnSpPr>
          <p:cNvPr id="163" name="Connecteur droit avec flèche 162"/>
          <p:cNvCxnSpPr/>
          <p:nvPr/>
        </p:nvCxnSpPr>
        <p:spPr>
          <a:xfrm flipV="1">
            <a:off x="3260270" y="2764081"/>
            <a:ext cx="884355" cy="1725"/>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64"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4726" y="2601870"/>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6" name="Rectangle 165"/>
          <p:cNvSpPr/>
          <p:nvPr/>
        </p:nvSpPr>
        <p:spPr>
          <a:xfrm>
            <a:off x="3527900" y="969239"/>
            <a:ext cx="1541266" cy="368563"/>
          </a:xfrm>
          <a:prstGeom prst="rect">
            <a:avLst/>
          </a:prstGeom>
          <a:noFill/>
          <a:ln w="28575">
            <a:solidFill>
              <a:srgbClr val="00B05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rgbClr val="00B050"/>
                </a:solidFill>
              </a:rPr>
              <a:t>SI</a:t>
            </a:r>
          </a:p>
          <a:p>
            <a:pPr algn="ctr"/>
            <a:r>
              <a:rPr lang="fr-FR" sz="1000" dirty="0">
                <a:solidFill>
                  <a:schemeClr val="tx1"/>
                </a:solidFill>
              </a:rPr>
              <a:t>ZZZZ</a:t>
            </a:r>
          </a:p>
        </p:txBody>
      </p:sp>
      <p:cxnSp>
        <p:nvCxnSpPr>
          <p:cNvPr id="167" name="Connecteur droit avec flèche 166"/>
          <p:cNvCxnSpPr/>
          <p:nvPr/>
        </p:nvCxnSpPr>
        <p:spPr>
          <a:xfrm flipH="1" flipV="1">
            <a:off x="4310728" y="1386793"/>
            <a:ext cx="1527279" cy="616287"/>
          </a:xfrm>
          <a:prstGeom prst="straightConnector1">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68"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6648" y="2609615"/>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9"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674" y="2622632"/>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2631" y="4046647"/>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1" name="ZoneTexte 170"/>
          <p:cNvSpPr txBox="1"/>
          <p:nvPr/>
        </p:nvSpPr>
        <p:spPr>
          <a:xfrm>
            <a:off x="3935466" y="2963243"/>
            <a:ext cx="750525" cy="338554"/>
          </a:xfrm>
          <a:prstGeom prst="rect">
            <a:avLst/>
          </a:prstGeom>
          <a:noFill/>
        </p:spPr>
        <p:txBody>
          <a:bodyPr wrap="none" rtlCol="0">
            <a:spAutoFit/>
          </a:bodyPr>
          <a:lstStyle/>
          <a:p>
            <a:pPr algn="ctr"/>
            <a:r>
              <a:rPr lang="fr-FR" sz="800" dirty="0"/>
              <a:t>VM</a:t>
            </a:r>
          </a:p>
          <a:p>
            <a:pPr algn="ctr"/>
            <a:r>
              <a:rPr lang="fr-FR" sz="800" dirty="0"/>
              <a:t> </a:t>
            </a:r>
            <a:r>
              <a:rPr lang="fr-FR" sz="800" b="1" dirty="0"/>
              <a:t>PROJET.WEB</a:t>
            </a:r>
          </a:p>
        </p:txBody>
      </p:sp>
      <p:sp>
        <p:nvSpPr>
          <p:cNvPr id="172" name="ZoneTexte 171"/>
          <p:cNvSpPr txBox="1"/>
          <p:nvPr/>
        </p:nvSpPr>
        <p:spPr>
          <a:xfrm>
            <a:off x="5586424" y="2973339"/>
            <a:ext cx="720069" cy="338554"/>
          </a:xfrm>
          <a:prstGeom prst="rect">
            <a:avLst/>
          </a:prstGeom>
          <a:noFill/>
        </p:spPr>
        <p:txBody>
          <a:bodyPr wrap="none" rtlCol="0">
            <a:spAutoFit/>
          </a:bodyPr>
          <a:lstStyle/>
          <a:p>
            <a:pPr algn="ctr"/>
            <a:r>
              <a:rPr lang="fr-FR" sz="800" dirty="0"/>
              <a:t>VM</a:t>
            </a:r>
          </a:p>
          <a:p>
            <a:pPr algn="ctr"/>
            <a:r>
              <a:rPr lang="fr-FR" sz="800" dirty="0"/>
              <a:t> </a:t>
            </a:r>
            <a:r>
              <a:rPr lang="fr-FR" sz="800" b="1" dirty="0"/>
              <a:t>PROJET.AP</a:t>
            </a:r>
            <a:r>
              <a:rPr lang="fr-FR" sz="800" dirty="0"/>
              <a:t>P</a:t>
            </a:r>
          </a:p>
        </p:txBody>
      </p:sp>
      <p:sp>
        <p:nvSpPr>
          <p:cNvPr id="173" name="ZoneTexte 172"/>
          <p:cNvSpPr txBox="1"/>
          <p:nvPr/>
        </p:nvSpPr>
        <p:spPr>
          <a:xfrm>
            <a:off x="2411685" y="4292796"/>
            <a:ext cx="742511" cy="369332"/>
          </a:xfrm>
          <a:prstGeom prst="rect">
            <a:avLst/>
          </a:prstGeom>
          <a:noFill/>
        </p:spPr>
        <p:txBody>
          <a:bodyPr wrap="none" rtlCol="0">
            <a:spAutoFit/>
          </a:bodyPr>
          <a:lstStyle/>
          <a:p>
            <a:pPr algn="ctr"/>
            <a:r>
              <a:rPr lang="fr-FR" sz="900" dirty="0"/>
              <a:t>VM</a:t>
            </a:r>
          </a:p>
          <a:p>
            <a:pPr algn="ctr"/>
            <a:r>
              <a:rPr lang="fr-FR" sz="900" dirty="0"/>
              <a:t> </a:t>
            </a:r>
            <a:r>
              <a:rPr lang="fr-FR" sz="900" b="1" dirty="0"/>
              <a:t>PROJET.FIC</a:t>
            </a:r>
          </a:p>
        </p:txBody>
      </p:sp>
      <p:sp>
        <p:nvSpPr>
          <p:cNvPr id="174" name="ZoneTexte 173"/>
          <p:cNvSpPr txBox="1"/>
          <p:nvPr/>
        </p:nvSpPr>
        <p:spPr>
          <a:xfrm>
            <a:off x="3954699" y="5199546"/>
            <a:ext cx="806631" cy="369332"/>
          </a:xfrm>
          <a:prstGeom prst="rect">
            <a:avLst/>
          </a:prstGeom>
          <a:noFill/>
        </p:spPr>
        <p:txBody>
          <a:bodyPr wrap="none" rtlCol="0">
            <a:spAutoFit/>
          </a:bodyPr>
          <a:lstStyle/>
          <a:p>
            <a:pPr algn="ctr"/>
            <a:r>
              <a:rPr lang="fr-FR" sz="900" dirty="0"/>
              <a:t>VM</a:t>
            </a:r>
          </a:p>
          <a:p>
            <a:pPr algn="ctr"/>
            <a:r>
              <a:rPr lang="fr-FR" sz="900" dirty="0"/>
              <a:t> </a:t>
            </a:r>
            <a:r>
              <a:rPr lang="fr-FR" sz="900" b="1" dirty="0"/>
              <a:t>PROJET.BDD</a:t>
            </a:r>
          </a:p>
        </p:txBody>
      </p:sp>
      <p:sp>
        <p:nvSpPr>
          <p:cNvPr id="175" name="ZoneTexte 174"/>
          <p:cNvSpPr txBox="1"/>
          <p:nvPr/>
        </p:nvSpPr>
        <p:spPr>
          <a:xfrm>
            <a:off x="5504437" y="4294228"/>
            <a:ext cx="978153" cy="369332"/>
          </a:xfrm>
          <a:prstGeom prst="rect">
            <a:avLst/>
          </a:prstGeom>
          <a:noFill/>
        </p:spPr>
        <p:txBody>
          <a:bodyPr wrap="none" rtlCol="0">
            <a:spAutoFit/>
          </a:bodyPr>
          <a:lstStyle/>
          <a:p>
            <a:pPr algn="ctr"/>
            <a:r>
              <a:rPr lang="fr-FR" sz="900" dirty="0"/>
              <a:t>VM</a:t>
            </a:r>
          </a:p>
          <a:p>
            <a:pPr algn="ctr"/>
            <a:r>
              <a:rPr lang="fr-FR" sz="900" dirty="0"/>
              <a:t> </a:t>
            </a:r>
            <a:r>
              <a:rPr lang="fr-FR" sz="900" b="1" dirty="0"/>
              <a:t>PROJET.SEARCH</a:t>
            </a:r>
          </a:p>
        </p:txBody>
      </p:sp>
      <p:sp>
        <p:nvSpPr>
          <p:cNvPr id="177" name="ZoneTexte 176"/>
          <p:cNvSpPr txBox="1"/>
          <p:nvPr/>
        </p:nvSpPr>
        <p:spPr>
          <a:xfrm>
            <a:off x="5354028" y="3585485"/>
            <a:ext cx="1278972" cy="215444"/>
          </a:xfrm>
          <a:prstGeom prst="rect">
            <a:avLst/>
          </a:prstGeom>
          <a:noFill/>
        </p:spPr>
        <p:txBody>
          <a:bodyPr wrap="square" rtlCol="0">
            <a:spAutoFit/>
          </a:bodyPr>
          <a:lstStyle/>
          <a:p>
            <a:pPr algn="ctr"/>
            <a:r>
              <a:rPr lang="fr-FR" sz="800" b="1" dirty="0"/>
              <a:t>DMZ PROJET.APP</a:t>
            </a:r>
          </a:p>
        </p:txBody>
      </p:sp>
      <p:cxnSp>
        <p:nvCxnSpPr>
          <p:cNvPr id="178" name="Connecteur droit avec flèche 177"/>
          <p:cNvCxnSpPr/>
          <p:nvPr/>
        </p:nvCxnSpPr>
        <p:spPr>
          <a:xfrm>
            <a:off x="8346104" y="5492026"/>
            <a:ext cx="773764" cy="0"/>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Connecteur droit avec flèche 178"/>
          <p:cNvCxnSpPr/>
          <p:nvPr/>
        </p:nvCxnSpPr>
        <p:spPr>
          <a:xfrm flipV="1">
            <a:off x="8346104" y="2764081"/>
            <a:ext cx="703684" cy="12773"/>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8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8462" y="1983210"/>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3700" y="2370148"/>
            <a:ext cx="314058"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1"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595" y="2361339"/>
            <a:ext cx="317917"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3" name="Picture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3821" y="4651736"/>
            <a:ext cx="31824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9294" y="4572607"/>
            <a:ext cx="31824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5"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14601" y="4009632"/>
            <a:ext cx="31008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6" name="Picture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92254" y="5036217"/>
            <a:ext cx="31365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8" name="Picture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92133" y="3030302"/>
            <a:ext cx="30600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9" name="Picture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88916" y="2148806"/>
            <a:ext cx="306000" cy="61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1"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0204" y="2056876"/>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5" name="ZoneTexte 204"/>
          <p:cNvSpPr txBox="1"/>
          <p:nvPr/>
        </p:nvSpPr>
        <p:spPr>
          <a:xfrm>
            <a:off x="715900" y="2084815"/>
            <a:ext cx="421910" cy="369332"/>
          </a:xfrm>
          <a:prstGeom prst="rect">
            <a:avLst/>
          </a:prstGeom>
          <a:noFill/>
        </p:spPr>
        <p:txBody>
          <a:bodyPr wrap="none" rtlCol="0">
            <a:spAutoFit/>
          </a:bodyPr>
          <a:lstStyle/>
          <a:p>
            <a:r>
              <a:rPr lang="fr-FR" sz="900" dirty="0"/>
              <a:t>XXXX</a:t>
            </a:r>
          </a:p>
          <a:p>
            <a:r>
              <a:rPr lang="fr-FR" sz="900" dirty="0"/>
              <a:t>XXXX</a:t>
            </a:r>
          </a:p>
        </p:txBody>
      </p:sp>
      <p:sp>
        <p:nvSpPr>
          <p:cNvPr id="206" name="Rectangle 205"/>
          <p:cNvSpPr/>
          <p:nvPr/>
        </p:nvSpPr>
        <p:spPr>
          <a:xfrm>
            <a:off x="398188" y="2700008"/>
            <a:ext cx="1110107" cy="569449"/>
          </a:xfrm>
          <a:prstGeom prst="rect">
            <a:avLst/>
          </a:prstGeom>
          <a:noFill/>
          <a:ln w="28575">
            <a:solidFill>
              <a:srgbClr val="00B05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0" name="ZoneTexte 209"/>
          <p:cNvSpPr txBox="1"/>
          <p:nvPr/>
        </p:nvSpPr>
        <p:spPr>
          <a:xfrm rot="16200000">
            <a:off x="-72132" y="1431901"/>
            <a:ext cx="663643" cy="276999"/>
          </a:xfrm>
          <a:prstGeom prst="rect">
            <a:avLst/>
          </a:prstGeom>
          <a:noFill/>
        </p:spPr>
        <p:txBody>
          <a:bodyPr wrap="none" rtlCol="0">
            <a:spAutoFit/>
          </a:bodyPr>
          <a:lstStyle/>
          <a:p>
            <a:r>
              <a:rPr lang="fr-FR" sz="1200" dirty="0">
                <a:solidFill>
                  <a:schemeClr val="accent6">
                    <a:lumMod val="75000"/>
                  </a:schemeClr>
                </a:solidFill>
              </a:rPr>
              <a:t>externe</a:t>
            </a:r>
          </a:p>
        </p:txBody>
      </p:sp>
      <p:sp>
        <p:nvSpPr>
          <p:cNvPr id="211" name="ZoneTexte 210"/>
          <p:cNvSpPr txBox="1"/>
          <p:nvPr/>
        </p:nvSpPr>
        <p:spPr>
          <a:xfrm rot="16200000">
            <a:off x="-477545" y="4015293"/>
            <a:ext cx="1423970" cy="275932"/>
          </a:xfrm>
          <a:prstGeom prst="rect">
            <a:avLst/>
          </a:prstGeom>
          <a:noFill/>
        </p:spPr>
        <p:txBody>
          <a:bodyPr wrap="square" rtlCol="0">
            <a:spAutoFit/>
          </a:bodyPr>
          <a:lstStyle/>
          <a:p>
            <a:pPr algn="ctr"/>
            <a:r>
              <a:rPr lang="fr-FR" sz="1200" dirty="0">
                <a:solidFill>
                  <a:srgbClr val="FF0000"/>
                </a:solidFill>
              </a:rPr>
              <a:t>Ministère </a:t>
            </a:r>
          </a:p>
        </p:txBody>
      </p:sp>
      <p:sp>
        <p:nvSpPr>
          <p:cNvPr id="212" name="ZoneTexte 211"/>
          <p:cNvSpPr txBox="1"/>
          <p:nvPr/>
        </p:nvSpPr>
        <p:spPr>
          <a:xfrm rot="16200000">
            <a:off x="-383537" y="5489791"/>
            <a:ext cx="1249851" cy="276999"/>
          </a:xfrm>
          <a:prstGeom prst="rect">
            <a:avLst/>
          </a:prstGeom>
          <a:noFill/>
        </p:spPr>
        <p:txBody>
          <a:bodyPr wrap="square" rtlCol="0">
            <a:spAutoFit/>
          </a:bodyPr>
          <a:lstStyle/>
          <a:p>
            <a:pPr algn="ctr"/>
            <a:r>
              <a:rPr lang="fr-FR" sz="1200" dirty="0">
                <a:solidFill>
                  <a:srgbClr val="FF0000"/>
                </a:solidFill>
              </a:rPr>
              <a:t>RIE</a:t>
            </a:r>
          </a:p>
        </p:txBody>
      </p:sp>
      <p:sp>
        <p:nvSpPr>
          <p:cNvPr id="101" name="ZoneTexte 100"/>
          <p:cNvSpPr txBox="1"/>
          <p:nvPr/>
        </p:nvSpPr>
        <p:spPr>
          <a:xfrm>
            <a:off x="687331" y="4449524"/>
            <a:ext cx="421910" cy="369332"/>
          </a:xfrm>
          <a:prstGeom prst="rect">
            <a:avLst/>
          </a:prstGeom>
          <a:noFill/>
        </p:spPr>
        <p:txBody>
          <a:bodyPr wrap="none" rtlCol="0">
            <a:spAutoFit/>
          </a:bodyPr>
          <a:lstStyle/>
          <a:p>
            <a:r>
              <a:rPr lang="fr-FR" sz="900" dirty="0"/>
              <a:t>XXXX</a:t>
            </a:r>
          </a:p>
          <a:p>
            <a:r>
              <a:rPr lang="fr-FR" sz="900" dirty="0"/>
              <a:t>XXXX</a:t>
            </a:r>
          </a:p>
        </p:txBody>
      </p:sp>
      <p:sp>
        <p:nvSpPr>
          <p:cNvPr id="109" name="Rectangle 108"/>
          <p:cNvSpPr/>
          <p:nvPr/>
        </p:nvSpPr>
        <p:spPr>
          <a:xfrm>
            <a:off x="7075738" y="969238"/>
            <a:ext cx="1541266" cy="368563"/>
          </a:xfrm>
          <a:prstGeom prst="rect">
            <a:avLst/>
          </a:prstGeom>
          <a:noFill/>
          <a:ln w="28575">
            <a:solidFill>
              <a:srgbClr val="FF0000"/>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rgbClr val="C00000"/>
                </a:solidFill>
              </a:rPr>
              <a:t>SI</a:t>
            </a:r>
          </a:p>
          <a:p>
            <a:pPr algn="ctr"/>
            <a:r>
              <a:rPr lang="fr-FR" sz="1000" dirty="0">
                <a:solidFill>
                  <a:schemeClr val="tx1"/>
                </a:solidFill>
              </a:rPr>
              <a:t>ZZZZ</a:t>
            </a:r>
          </a:p>
        </p:txBody>
      </p:sp>
      <p:cxnSp>
        <p:nvCxnSpPr>
          <p:cNvPr id="110" name="Connecteur droit avec flèche 109"/>
          <p:cNvCxnSpPr/>
          <p:nvPr/>
        </p:nvCxnSpPr>
        <p:spPr>
          <a:xfrm flipV="1">
            <a:off x="6084071" y="1457046"/>
            <a:ext cx="1468384" cy="604132"/>
          </a:xfrm>
          <a:prstGeom prst="straightConnector1">
            <a:avLst/>
          </a:prstGeom>
          <a:ln>
            <a:solidFill>
              <a:schemeClr val="tx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4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6257" y="1693911"/>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5"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4482" y="2640807"/>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2" name="Connecteur droit avec flèche 181"/>
          <p:cNvCxnSpPr>
            <a:stCxn id="151" idx="3"/>
            <a:endCxn id="198" idx="1"/>
          </p:cNvCxnSpPr>
          <p:nvPr/>
        </p:nvCxnSpPr>
        <p:spPr>
          <a:xfrm>
            <a:off x="7552455" y="2728052"/>
            <a:ext cx="439678" cy="608250"/>
          </a:xfrm>
          <a:prstGeom prst="straightConnector1">
            <a:avLst/>
          </a:prstGeom>
          <a:ln>
            <a:solidFill>
              <a:schemeClr val="tx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ZoneTexte 20"/>
          <p:cNvSpPr txBox="1"/>
          <p:nvPr/>
        </p:nvSpPr>
        <p:spPr>
          <a:xfrm>
            <a:off x="4038251" y="737578"/>
            <a:ext cx="619080" cy="246221"/>
          </a:xfrm>
          <a:prstGeom prst="rect">
            <a:avLst/>
          </a:prstGeom>
          <a:noFill/>
        </p:spPr>
        <p:txBody>
          <a:bodyPr wrap="none" rtlCol="0">
            <a:spAutoFit/>
          </a:bodyPr>
          <a:lstStyle/>
          <a:p>
            <a:r>
              <a:rPr lang="fr-FR" sz="1000" b="1" dirty="0">
                <a:solidFill>
                  <a:srgbClr val="00B050"/>
                </a:solidFill>
              </a:rPr>
              <a:t>Internet</a:t>
            </a:r>
          </a:p>
        </p:txBody>
      </p:sp>
      <p:sp>
        <p:nvSpPr>
          <p:cNvPr id="190" name="ZoneTexte 189"/>
          <p:cNvSpPr txBox="1"/>
          <p:nvPr/>
        </p:nvSpPr>
        <p:spPr>
          <a:xfrm>
            <a:off x="5773411" y="761652"/>
            <a:ext cx="636713" cy="246221"/>
          </a:xfrm>
          <a:prstGeom prst="rect">
            <a:avLst/>
          </a:prstGeom>
          <a:noFill/>
        </p:spPr>
        <p:txBody>
          <a:bodyPr wrap="none" rtlCol="0">
            <a:spAutoFit/>
          </a:bodyPr>
          <a:lstStyle/>
          <a:p>
            <a:r>
              <a:rPr lang="fr-FR" sz="1000" b="1" dirty="0">
                <a:solidFill>
                  <a:schemeClr val="accent6">
                    <a:lumMod val="75000"/>
                  </a:schemeClr>
                </a:solidFill>
              </a:rPr>
              <a:t>Extranet</a:t>
            </a:r>
          </a:p>
        </p:txBody>
      </p:sp>
      <p:sp>
        <p:nvSpPr>
          <p:cNvPr id="192" name="ZoneTexte 191"/>
          <p:cNvSpPr txBox="1"/>
          <p:nvPr/>
        </p:nvSpPr>
        <p:spPr>
          <a:xfrm>
            <a:off x="7379268" y="775608"/>
            <a:ext cx="933269" cy="246221"/>
          </a:xfrm>
          <a:prstGeom prst="rect">
            <a:avLst/>
          </a:prstGeom>
          <a:noFill/>
        </p:spPr>
        <p:txBody>
          <a:bodyPr wrap="none" rtlCol="0">
            <a:spAutoFit/>
          </a:bodyPr>
          <a:lstStyle/>
          <a:p>
            <a:r>
              <a:rPr lang="fr-FR" sz="1000" b="1" dirty="0">
                <a:solidFill>
                  <a:schemeClr val="accent6">
                    <a:lumMod val="75000"/>
                  </a:schemeClr>
                </a:solidFill>
              </a:rPr>
              <a:t>Intranet &amp; RIE</a:t>
            </a:r>
          </a:p>
        </p:txBody>
      </p:sp>
      <p:cxnSp>
        <p:nvCxnSpPr>
          <p:cNvPr id="197" name="Connecteur droit 196"/>
          <p:cNvCxnSpPr>
            <a:endCxn id="194" idx="0"/>
          </p:cNvCxnSpPr>
          <p:nvPr/>
        </p:nvCxnSpPr>
        <p:spPr>
          <a:xfrm flipH="1">
            <a:off x="4368414" y="4342735"/>
            <a:ext cx="258600" cy="229872"/>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ZoneTexte 27"/>
          <p:cNvSpPr txBox="1"/>
          <p:nvPr/>
        </p:nvSpPr>
        <p:spPr>
          <a:xfrm rot="5400000">
            <a:off x="8120720" y="2206136"/>
            <a:ext cx="780983" cy="400110"/>
          </a:xfrm>
          <a:prstGeom prst="rect">
            <a:avLst/>
          </a:prstGeom>
          <a:noFill/>
        </p:spPr>
        <p:txBody>
          <a:bodyPr wrap="none" rtlCol="0">
            <a:spAutoFit/>
          </a:bodyPr>
          <a:lstStyle/>
          <a:p>
            <a:pPr algn="ctr"/>
            <a:r>
              <a:rPr lang="fr-FR" sz="1000" dirty="0"/>
              <a:t>Messagerie</a:t>
            </a:r>
          </a:p>
          <a:p>
            <a:pPr algn="ctr"/>
            <a:r>
              <a:rPr lang="fr-FR" sz="1000" dirty="0"/>
              <a:t>Exchange</a:t>
            </a:r>
          </a:p>
        </p:txBody>
      </p:sp>
      <p:sp>
        <p:nvSpPr>
          <p:cNvPr id="200" name="ZoneTexte 199"/>
          <p:cNvSpPr txBox="1"/>
          <p:nvPr/>
        </p:nvSpPr>
        <p:spPr>
          <a:xfrm rot="5400000">
            <a:off x="8176381" y="3136247"/>
            <a:ext cx="659155" cy="400110"/>
          </a:xfrm>
          <a:prstGeom prst="rect">
            <a:avLst/>
          </a:prstGeom>
          <a:noFill/>
        </p:spPr>
        <p:txBody>
          <a:bodyPr wrap="none" rtlCol="0">
            <a:spAutoFit/>
          </a:bodyPr>
          <a:lstStyle/>
          <a:p>
            <a:pPr algn="ctr"/>
            <a:r>
              <a:rPr lang="fr-FR" sz="1000" dirty="0"/>
              <a:t>Annuaire</a:t>
            </a:r>
          </a:p>
          <a:p>
            <a:pPr algn="ctr"/>
            <a:r>
              <a:rPr lang="fr-FR" sz="1000" dirty="0"/>
              <a:t>réseau</a:t>
            </a:r>
          </a:p>
        </p:txBody>
      </p:sp>
      <p:sp>
        <p:nvSpPr>
          <p:cNvPr id="207" name="ZoneTexte 206"/>
          <p:cNvSpPr txBox="1"/>
          <p:nvPr/>
        </p:nvSpPr>
        <p:spPr>
          <a:xfrm rot="5400000">
            <a:off x="8179587" y="4115577"/>
            <a:ext cx="652743" cy="400110"/>
          </a:xfrm>
          <a:prstGeom prst="rect">
            <a:avLst/>
          </a:prstGeom>
          <a:noFill/>
        </p:spPr>
        <p:txBody>
          <a:bodyPr wrap="none" rtlCol="0">
            <a:spAutoFit/>
          </a:bodyPr>
          <a:lstStyle/>
          <a:p>
            <a:pPr algn="ctr"/>
            <a:r>
              <a:rPr lang="fr-FR" sz="1000" dirty="0"/>
              <a:t>Stockage</a:t>
            </a:r>
          </a:p>
          <a:p>
            <a:pPr algn="ctr"/>
            <a:r>
              <a:rPr lang="fr-FR" sz="1000" dirty="0"/>
              <a:t>Fichiers</a:t>
            </a:r>
          </a:p>
        </p:txBody>
      </p:sp>
      <p:sp>
        <p:nvSpPr>
          <p:cNvPr id="209" name="ZoneTexte 208"/>
          <p:cNvSpPr txBox="1"/>
          <p:nvPr/>
        </p:nvSpPr>
        <p:spPr>
          <a:xfrm rot="5400000">
            <a:off x="8214776" y="5068824"/>
            <a:ext cx="622286" cy="400110"/>
          </a:xfrm>
          <a:prstGeom prst="rect">
            <a:avLst/>
          </a:prstGeom>
          <a:noFill/>
        </p:spPr>
        <p:txBody>
          <a:bodyPr wrap="none" rtlCol="0">
            <a:spAutoFit/>
          </a:bodyPr>
          <a:lstStyle/>
          <a:p>
            <a:pPr algn="ctr"/>
            <a:r>
              <a:rPr lang="fr-FR" sz="1000" dirty="0"/>
              <a:t>Echange</a:t>
            </a:r>
          </a:p>
          <a:p>
            <a:pPr algn="ctr"/>
            <a:r>
              <a:rPr lang="fr-FR" sz="1000" dirty="0"/>
              <a:t>fichiers</a:t>
            </a:r>
          </a:p>
        </p:txBody>
      </p:sp>
      <p:pic>
        <p:nvPicPr>
          <p:cNvPr id="213"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2947" y="5335835"/>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4"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9871" y="2615330"/>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0" name="Connecteur droit 129"/>
          <p:cNvCxnSpPr/>
          <p:nvPr/>
        </p:nvCxnSpPr>
        <p:spPr>
          <a:xfrm flipH="1">
            <a:off x="1706504" y="4041734"/>
            <a:ext cx="0" cy="15496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ZoneTexte 133"/>
          <p:cNvSpPr txBox="1"/>
          <p:nvPr/>
        </p:nvSpPr>
        <p:spPr>
          <a:xfrm>
            <a:off x="3796560" y="3585485"/>
            <a:ext cx="1211516" cy="215444"/>
          </a:xfrm>
          <a:prstGeom prst="rect">
            <a:avLst/>
          </a:prstGeom>
          <a:noFill/>
        </p:spPr>
        <p:txBody>
          <a:bodyPr wrap="square" rtlCol="0">
            <a:spAutoFit/>
          </a:bodyPr>
          <a:lstStyle/>
          <a:p>
            <a:pPr algn="ctr"/>
            <a:r>
              <a:rPr lang="fr-FR" sz="800" b="1" dirty="0"/>
              <a:t>DMZ PROJET.WEB</a:t>
            </a:r>
          </a:p>
        </p:txBody>
      </p:sp>
      <p:pic>
        <p:nvPicPr>
          <p:cNvPr id="139"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3821" y="2023343"/>
            <a:ext cx="236695" cy="458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7"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3820" y="3195062"/>
            <a:ext cx="236695" cy="458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5" name="Connecteur droit 164"/>
          <p:cNvCxnSpPr/>
          <p:nvPr/>
        </p:nvCxnSpPr>
        <p:spPr>
          <a:xfrm flipH="1">
            <a:off x="2934158" y="2247465"/>
            <a:ext cx="3261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1"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0390" y="1710961"/>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3"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5681" y="3269458"/>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84" name="Connecteur droit 183"/>
          <p:cNvCxnSpPr/>
          <p:nvPr/>
        </p:nvCxnSpPr>
        <p:spPr>
          <a:xfrm flipV="1">
            <a:off x="3260270" y="2265465"/>
            <a:ext cx="0" cy="5113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Connecteur droit 184"/>
          <p:cNvCxnSpPr/>
          <p:nvPr/>
        </p:nvCxnSpPr>
        <p:spPr>
          <a:xfrm flipH="1">
            <a:off x="2949326" y="3425649"/>
            <a:ext cx="31094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6"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9448" y="3267931"/>
            <a:ext cx="193109" cy="3123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5" name="Connecteur droit 214"/>
          <p:cNvCxnSpPr/>
          <p:nvPr/>
        </p:nvCxnSpPr>
        <p:spPr>
          <a:xfrm flipV="1">
            <a:off x="3260270" y="2778824"/>
            <a:ext cx="0" cy="64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6" name="ZoneTexte 215"/>
          <p:cNvSpPr txBox="1"/>
          <p:nvPr/>
        </p:nvSpPr>
        <p:spPr>
          <a:xfrm>
            <a:off x="2518867" y="2484565"/>
            <a:ext cx="468398" cy="215444"/>
          </a:xfrm>
          <a:prstGeom prst="rect">
            <a:avLst/>
          </a:prstGeom>
          <a:noFill/>
        </p:spPr>
        <p:txBody>
          <a:bodyPr wrap="none" rtlCol="0">
            <a:spAutoFit/>
          </a:bodyPr>
          <a:lstStyle/>
          <a:p>
            <a:r>
              <a:rPr lang="fr-FR" sz="800" dirty="0"/>
              <a:t>RP EXT</a:t>
            </a:r>
          </a:p>
        </p:txBody>
      </p:sp>
      <p:sp>
        <p:nvSpPr>
          <p:cNvPr id="217" name="ZoneTexte 216"/>
          <p:cNvSpPr txBox="1"/>
          <p:nvPr/>
        </p:nvSpPr>
        <p:spPr>
          <a:xfrm>
            <a:off x="2530089" y="2984678"/>
            <a:ext cx="457176" cy="215444"/>
          </a:xfrm>
          <a:prstGeom prst="rect">
            <a:avLst/>
          </a:prstGeom>
          <a:noFill/>
        </p:spPr>
        <p:txBody>
          <a:bodyPr wrap="none" rtlCol="0">
            <a:spAutoFit/>
          </a:bodyPr>
          <a:lstStyle/>
          <a:p>
            <a:r>
              <a:rPr lang="fr-FR" sz="800" dirty="0"/>
              <a:t>RP INT</a:t>
            </a:r>
          </a:p>
        </p:txBody>
      </p:sp>
      <p:pic>
        <p:nvPicPr>
          <p:cNvPr id="218" name="Picture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2855" y="1829190"/>
            <a:ext cx="288001" cy="25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9"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4107" y="4240836"/>
            <a:ext cx="244190" cy="2212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0" name="Picture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3761" y="5727949"/>
            <a:ext cx="244190" cy="2212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1" name="ZoneTexte 220"/>
          <p:cNvSpPr txBox="1"/>
          <p:nvPr/>
        </p:nvSpPr>
        <p:spPr>
          <a:xfrm>
            <a:off x="449745" y="5949246"/>
            <a:ext cx="906204" cy="369332"/>
          </a:xfrm>
          <a:prstGeom prst="rect">
            <a:avLst/>
          </a:prstGeom>
          <a:noFill/>
        </p:spPr>
        <p:txBody>
          <a:bodyPr wrap="square" rtlCol="0">
            <a:spAutoFit/>
          </a:bodyPr>
          <a:lstStyle/>
          <a:p>
            <a:pPr algn="ctr"/>
            <a:r>
              <a:rPr lang="fr-FR" sz="900" dirty="0"/>
              <a:t>XXXX</a:t>
            </a:r>
          </a:p>
          <a:p>
            <a:pPr algn="ctr"/>
            <a:r>
              <a:rPr lang="fr-FR" sz="900" dirty="0"/>
              <a:t>XXXX</a:t>
            </a:r>
          </a:p>
        </p:txBody>
      </p:sp>
      <p:cxnSp>
        <p:nvCxnSpPr>
          <p:cNvPr id="222" name="Connecteur droit 221"/>
          <p:cNvCxnSpPr/>
          <p:nvPr/>
        </p:nvCxnSpPr>
        <p:spPr>
          <a:xfrm flipH="1">
            <a:off x="1681775" y="1502209"/>
            <a:ext cx="0" cy="5899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3" name="Rectangle 222"/>
          <p:cNvSpPr/>
          <p:nvPr/>
        </p:nvSpPr>
        <p:spPr>
          <a:xfrm>
            <a:off x="398186" y="775607"/>
            <a:ext cx="1110107" cy="1745551"/>
          </a:xfrm>
          <a:prstGeom prst="rect">
            <a:avLst/>
          </a:prstGeom>
          <a:noFill/>
          <a:ln w="28575">
            <a:solidFill>
              <a:schemeClr val="accent6">
                <a:lumMod val="7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3" name="AutoShape 4" descr="RÃ©sultat de recherche d'images pour &quot;nuage internet logo&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94" name="AutoShape 6" descr="RÃ©sultat de recherche d'images pour &quot;nuage internet logo&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32" name="Picture 8"/>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535351" y="2058206"/>
            <a:ext cx="380533" cy="252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4" name="Picture 8"/>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4779872" y="1486197"/>
            <a:ext cx="382154" cy="253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26826" y="4618069"/>
            <a:ext cx="333375" cy="619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 name="Picture 3"/>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482927" y="118070"/>
            <a:ext cx="186963" cy="228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1" name="ZoneTexte 140"/>
          <p:cNvSpPr txBox="1"/>
          <p:nvPr/>
        </p:nvSpPr>
        <p:spPr>
          <a:xfrm>
            <a:off x="2752816" y="94918"/>
            <a:ext cx="3991798" cy="307777"/>
          </a:xfrm>
          <a:prstGeom prst="rect">
            <a:avLst/>
          </a:prstGeom>
          <a:solidFill>
            <a:schemeClr val="accent5">
              <a:lumMod val="20000"/>
              <a:lumOff val="80000"/>
            </a:schemeClr>
          </a:solidFill>
          <a:ln>
            <a:solidFill>
              <a:schemeClr val="tx1">
                <a:lumMod val="95000"/>
                <a:lumOff val="5000"/>
              </a:schemeClr>
            </a:solidFill>
          </a:ln>
        </p:spPr>
        <p:txBody>
          <a:bodyPr wrap="none" rtlCol="0">
            <a:spAutoFit/>
          </a:bodyPr>
          <a:lstStyle/>
          <a:p>
            <a:r>
              <a:rPr lang="fr-FR" sz="1400" dirty="0"/>
              <a:t>Modèle réutilisable : schéma architecture technique</a:t>
            </a:r>
          </a:p>
        </p:txBody>
      </p:sp>
      <p:sp>
        <p:nvSpPr>
          <p:cNvPr id="4" name="Rectangle 3"/>
          <p:cNvSpPr/>
          <p:nvPr/>
        </p:nvSpPr>
        <p:spPr>
          <a:xfrm>
            <a:off x="1754017" y="6033884"/>
            <a:ext cx="6751941" cy="723275"/>
          </a:xfrm>
          <a:prstGeom prst="rect">
            <a:avLst/>
          </a:prstGeom>
        </p:spPr>
        <p:txBody>
          <a:bodyPr wrap="square">
            <a:spAutoFit/>
          </a:bodyPr>
          <a:lstStyle/>
          <a:p>
            <a:pPr algn="ctr"/>
            <a:r>
              <a:rPr lang="fr-FR" sz="1100" b="1" dirty="0"/>
              <a:t>Principe d’utilisation du modèle de schéma </a:t>
            </a:r>
          </a:p>
          <a:p>
            <a:pPr algn="ctr"/>
            <a:r>
              <a:rPr lang="fr-FR" sz="1000" dirty="0"/>
              <a:t>Copier/coller dans un Powerpoint vierge, retirer ce qui est en trop, ajouter ce qui manque, numéroter les flux, renommer xxx par les profils d’acteur, zzz par les SI dépendants, projet par votre nom d’appli puis ensuite, faire une image et coller dans le DA</a:t>
            </a:r>
          </a:p>
          <a:p>
            <a:pPr algn="ctr"/>
            <a:r>
              <a:rPr lang="fr-FR" sz="1000" dirty="0"/>
              <a:t>Et ensuite, dans celui-ci, remplir la matrice de flux avec une numérotation en cohérence avec ce schéma</a:t>
            </a:r>
          </a:p>
        </p:txBody>
      </p:sp>
      <p:sp>
        <p:nvSpPr>
          <p:cNvPr id="132" name="Rectangle 131"/>
          <p:cNvSpPr/>
          <p:nvPr/>
        </p:nvSpPr>
        <p:spPr>
          <a:xfrm>
            <a:off x="8525919" y="4310"/>
            <a:ext cx="618081" cy="2444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t>9/ </a:t>
            </a:r>
            <a:r>
              <a:rPr lang="fr-FR" sz="1000" b="1" dirty="0"/>
              <a:t>9</a:t>
            </a:r>
          </a:p>
        </p:txBody>
      </p:sp>
    </p:spTree>
    <p:extLst>
      <p:ext uri="{BB962C8B-B14F-4D97-AF65-F5344CB8AC3E}">
        <p14:creationId xmlns:p14="http://schemas.microsoft.com/office/powerpoint/2010/main" val="136516895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hamps_x0020_d_x0027_application xmlns="70210388-a7ec-4017-b6c8-e835636fac33">Aide sur le DA réactualisé début janvier 2019 - le PPT contient des modèles pour faire les schémas d'architecture</Champs_x0020_d_x0027_application>
    <Origine_x0020_mod_x00e8_le xmlns="70210388-a7ec-4017-b6c8-e835636fac33">4</Origine_x0020_mod_x00e8_l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F5372B8D107348977488743273B162" ma:contentTypeVersion="3" ma:contentTypeDescription="Crée un document." ma:contentTypeScope="" ma:versionID="41917ec4487166b0ebf22c76c299addb">
  <xsd:schema xmlns:xsd="http://www.w3.org/2001/XMLSchema" xmlns:xs="http://www.w3.org/2001/XMLSchema" xmlns:p="http://schemas.microsoft.com/office/2006/metadata/properties" xmlns:ns2="70210388-a7ec-4017-b6c8-e835636fac33" targetNamespace="http://schemas.microsoft.com/office/2006/metadata/properties" ma:root="true" ma:fieldsID="d89612dcb02e0cb13619f53514edf83c" ns2:_="">
    <xsd:import namespace="70210388-a7ec-4017-b6c8-e835636fac33"/>
    <xsd:element name="properties">
      <xsd:complexType>
        <xsd:sequence>
          <xsd:element name="documentManagement">
            <xsd:complexType>
              <xsd:all>
                <xsd:element ref="ns2:Origine_x0020_mod_x00e8_le" minOccurs="0"/>
                <xsd:element ref="ns2:Champs_x0020_d_x0027_appli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210388-a7ec-4017-b6c8-e835636fac33" elementFormDefault="qualified">
    <xsd:import namespace="http://schemas.microsoft.com/office/2006/documentManagement/types"/>
    <xsd:import namespace="http://schemas.microsoft.com/office/infopath/2007/PartnerControls"/>
    <xsd:element name="Origine_x0020_mod_x00e8_le" ma:index="4" nillable="true" ma:displayName="Origine modèle" ma:list="{f98bcdc7-0296-4c52-a7c6-53b854e64142}" ma:internalName="Origine_x0020_mod_x00e8_le" ma:readOnly="false" ma:showField="Title">
      <xsd:simpleType>
        <xsd:restriction base="dms:Lookup"/>
      </xsd:simpleType>
    </xsd:element>
    <xsd:element name="Champs_x0020_d_x0027_application" ma:index="5" nillable="true" ma:displayName="Commentaire" ma:internalName="Champs_x0020_d_x0027_application" ma:readOnly="fals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Type de contenu"/>
        <xsd:element ref="dc:title" minOccurs="0" maxOccurs="1" ma:index="3" ma:displayName="Contenu modè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AC526C-AAF9-4555-9D22-16D0DB78C4BE}">
  <ds:schemaRefs>
    <ds:schemaRef ds:uri="http://schemas.microsoft.com/sharepoint/v3/contenttype/forms"/>
  </ds:schemaRefs>
</ds:datastoreItem>
</file>

<file path=customXml/itemProps2.xml><?xml version="1.0" encoding="utf-8"?>
<ds:datastoreItem xmlns:ds="http://schemas.openxmlformats.org/officeDocument/2006/customXml" ds:itemID="{C2C89858-F09B-48DA-8888-9FBFB878F91B}">
  <ds:schemaRefs>
    <ds:schemaRef ds:uri="70210388-a7ec-4017-b6c8-e835636fac33"/>
    <ds:schemaRef ds:uri="http://schemas.microsoft.com/office/infopath/2007/PartnerControls"/>
    <ds:schemaRef ds:uri="http://purl.org/dc/dcmitype/"/>
    <ds:schemaRef ds:uri="http://schemas.microsoft.com/office/2006/documentManagement/types"/>
    <ds:schemaRef ds:uri="http://purl.org/dc/elements/1.1/"/>
    <ds:schemaRef ds:uri="http://www.w3.org/XML/1998/namespace"/>
    <ds:schemaRef ds:uri="http://schemas.openxmlformats.org/package/2006/metadata/core-properties"/>
    <ds:schemaRef ds:uri="http://purl.org/dc/terms/"/>
    <ds:schemaRef ds:uri="http://schemas.microsoft.com/office/2006/metadata/properties"/>
  </ds:schemaRefs>
</ds:datastoreItem>
</file>

<file path=customXml/itemProps3.xml><?xml version="1.0" encoding="utf-8"?>
<ds:datastoreItem xmlns:ds="http://schemas.openxmlformats.org/officeDocument/2006/customXml" ds:itemID="{D7BF0452-7589-4B9C-9B0A-C67774D1DD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210388-a7ec-4017-b6c8-e835636fac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627</TotalTime>
  <Words>581</Words>
  <Application>Microsoft Office PowerPoint</Application>
  <PresentationFormat>Affichage à l'écran (4:3)</PresentationFormat>
  <Paragraphs>216</Paragraphs>
  <Slides>3</Slides>
  <Notes>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vt:i4>
      </vt:variant>
    </vt:vector>
  </HeadingPairs>
  <TitlesOfParts>
    <vt:vector size="6" baseType="lpstr">
      <vt:lpstr>Arial</vt:lpstr>
      <vt:lpstr>Calibri</vt:lpstr>
      <vt:lpstr>Thème Office</vt:lpstr>
      <vt:lpstr>Présentation PowerPoint</vt:lpstr>
      <vt:lpstr>Présentation PowerPoint</vt:lpstr>
      <vt:lpstr>Présentation PowerPoint</vt:lpstr>
    </vt:vector>
  </TitlesOfParts>
  <Company>Ministères Chargés des Affaires Sociales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LECOQ, Patrice (DSI/MITECH)</dc:creator>
  <cp:lastModifiedBy>LECOQ, Patrice (DNUM/MCNum)</cp:lastModifiedBy>
  <cp:revision>54</cp:revision>
  <cp:lastPrinted>2019-01-10T13:18:28Z</cp:lastPrinted>
  <dcterms:created xsi:type="dcterms:W3CDTF">2017-10-16T09:26:54Z</dcterms:created>
  <dcterms:modified xsi:type="dcterms:W3CDTF">2023-07-12T07:41:27Z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0x0101006FF5372B8D107348977488743273B162</vt:lpwstr>
  </property>
  <property fmtid="{D5CDD505-2E9C-101B-9397-08002B2CF9AE}" pid="3" name="_dlc_DocIdItemGuid">
    <vt:lpwstr>dd36aff4-2938-4c00-a7fb-4d6872fc9fac</vt:lpwstr>
  </property>
  <property fmtid="{D5CDD505-2E9C-101B-9397-08002B2CF9AE}" pid="4" name="MSIP_Label_91db7355-aeca-4109-a800-15480e35f6d9_Enabled">
    <vt:lpwstr>true</vt:lpwstr>
  </property>
  <property fmtid="{D5CDD505-2E9C-101B-9397-08002B2CF9AE}" pid="5" name="MSIP_Label_91db7355-aeca-4109-a800-15480e35f6d9_SetDate">
    <vt:lpwstr>2023-07-12T07:41:27Z</vt:lpwstr>
  </property>
  <property fmtid="{D5CDD505-2E9C-101B-9397-08002B2CF9AE}" pid="6" name="MSIP_Label_91db7355-aeca-4109-a800-15480e35f6d9_Method">
    <vt:lpwstr>Privileged</vt:lpwstr>
  </property>
  <property fmtid="{D5CDD505-2E9C-101B-9397-08002B2CF9AE}" pid="7" name="MSIP_Label_91db7355-aeca-4109-a800-15480e35f6d9_Name">
    <vt:lpwstr>[Prod v4] C1 - Public</vt:lpwstr>
  </property>
  <property fmtid="{D5CDD505-2E9C-101B-9397-08002B2CF9AE}" pid="8" name="MSIP_Label_91db7355-aeca-4109-a800-15480e35f6d9_SiteId">
    <vt:lpwstr>035e5292-5a25-4509-bb08-a555f7d31a8b</vt:lpwstr>
  </property>
  <property fmtid="{D5CDD505-2E9C-101B-9397-08002B2CF9AE}" pid="9" name="MSIP_Label_91db7355-aeca-4109-a800-15480e35f6d9_ActionId">
    <vt:lpwstr>9199c761-bc36-4af8-9dbb-e45ffc2ad36b</vt:lpwstr>
  </property>
  <property fmtid="{D5CDD505-2E9C-101B-9397-08002B2CF9AE}" pid="10" name="MSIP_Label_91db7355-aeca-4109-a800-15480e35f6d9_ContentBits">
    <vt:lpwstr>2</vt:lpwstr>
  </property>
  <property fmtid="{D5CDD505-2E9C-101B-9397-08002B2CF9AE}" pid="11" name="ClassificationContentMarkingFooterLocations">
    <vt:lpwstr>Thème Office:8</vt:lpwstr>
  </property>
  <property fmtid="{D5CDD505-2E9C-101B-9397-08002B2CF9AE}" pid="12" name="ClassificationContentMarkingFooterText">
    <vt:lpwstr>C1 - Public</vt:lpwstr>
  </property>
</Properties>
</file>