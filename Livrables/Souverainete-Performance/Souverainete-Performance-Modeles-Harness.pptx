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Ippon - accompagnement transfo IA des ministères sociaux. Chiffres du bench vérifiés le 02/09/2026 (sources détaillées dans Livrables/benchHarness/build/deck.py, notes du slide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Souveraineté au sens CNIL : ce qui compte est la juridiction de l'opérateur (et de ses maisons mères), pas la région d'hébergement. AWS reste soumis au CLOUD Act (2018) quelle que soit la région : Bedrock n'est donc jamais souverain, même à Paris. Conformité RGPD : axe distinct ; Bedrock région UE + DPA AWS est conforme ; OpenRouter insuffisant.</a:t>
            </a:r>
          </a:p>
          <a:p>
            <a:r>
              <a:t>CLOUD Act : loi US de 2018 ; les fournisseurs soumis au droit US doivent remettre les données sur demande des autorités US, quelle que soit la localisation. FISA 702 : surveillance des non-Américains. Sources : LexisNexis 'Cloud Act et RGPD' ; LeMagIT 'CLOUD Act : quels risques pour les clients européens'.</a:t>
            </a:r>
          </a:p>
          <a:p>
            <a:r>
              <a:t>DPF (Data Privacy Framework, décision d'adéquation de juillet 2023) : recours Latombe rejeté par le Tribunal de l'UE le 03/09/2025 (T-553/23) ; pourvoi devant la CJUE déposé le 31/10/2025 (C-703/25 P), pas de date d'audience connue (IAPP ; EDPL 2026/1).</a:t>
            </a:r>
          </a:p>
          <a:p>
            <a:r>
              <a:t>SecNumCloud 3.2 (ANSSI, 2022) : exigences techniques + critères d'immunité aux lois extraterritoriales : prestataire et maisons mères établis dans l'UE, contrôle du capital, données/métadonnées/journaux/clés en UE, administration depuis l'UE, administrateurs habilités. Nuance : protection documentée et contractualisée, pas une neutralisation du droit US (CIO-Online 'SecNumCloud, une protection contre le droit extraterritorial, pas une garantie absolue'). Doctrine 'cloud au centre' (circulaires 2021/2023) : données sensibles sur offre qualifiée SecNumCloud. Albert (DINUM) : hébergé sur Outscale (Dassault Systèmes), qualifié SecNumCloud 3.2.</a:t>
            </a:r>
          </a:p>
          <a:p>
            <a:r>
              <a:t>VÉRIFICATIONS DU 03/09/2026 (demande Selim) : OUTSCALE : LLMaaS = modèles Mistral (Small 3.1, Codestral, Ministral 8B, Medium, Embed) servis sur la région SecNumCloud 3.2 (blog.outscale.com ; Le Monde Informatique) : souverain, tient. OVHCLOUD : entreprise française, AI Endpoints hébergé en France (Gravelines) ; SecNumCloud obtenu sur Bare Metal Pod, VMware on OVHcloud et 'SNC Cloud Platform' (calcul, stockage, réseau ; annonce du 01/09/2026, LeMagIT) mais AI Endpoints n'est PAS dans le périmètre qualifié (intégration des services IA à la stack SecNumCloud annoncée pour fin 2026). Statut = même niveau que Scaleway : cloud FR hébergé UE, pas SecNumCloud. MISTRAL : éditeur français (siège Paris), mais La Plateforme a fonctionné 'exclusivement' sur des clouds tiers, Microsoft Azure, Google Cloud et CoreWeave, jusqu'à la mise en service du datacenter de Bruyères-le-Châtel (fin août 2026, 2 048 GPU ; Calipia 30/03/2026, Usine Digitale 07/2026) ; la liste des sous-traitants (trust.mistral.ai/subprocessors) n'a pas pu être lue (page dynamique) : la part encore servie depuis Azure/GCP est inconnue à ce jour. Accord Microsoft de juillet 2026 : plusieurs milliards, Mistral dans Azure AI Foundry et Azure Local, sans nouvelle prise de participation (SFEIR). Verdict : Mistral n'est pas listé comme voie souveraine EN TANT QUE SERVICE ; il le devient via Outscale LLMaaS (SecNumCloud) ou en auto-hébergement des poids ouverts (Scaleway/OVH le servent aussi). VERCEL / UGAP : aucune trace d'un référencement Vercel à l'UGAP (recherches du 03/09/2026) ; Vercel AI Gateway est un routeur US comparable à OpenRouter, donc non souverain de toute façon. Probable confusion avec VERTEX AI (Google) : accessible via le marché UGAP cloud IaaS/PaaS porté par Capgemini, qui référence AWS, Google Cloud, Microsoft Azure, Oracle, IBM (cloud 'générique') aux côtés d'Outscale, OVHcloud, Scaleway, Cloud Temple (cloud 'de confiance') ; AWS y est acheté via Capgemini (pages.awscloud.com/france-ugap-portail). L'UGAP est un canal d'achat : être référencé ne dit rien de la souveraineté. Vertex AI en direct chez Google = même statut que Bedrock (US, CLOUD Act, conforme RGPD en région UE). Voie souveraine annoncée : S3NS (Thales majoritaire + Google), qualifié SecNumCloud 3.2 le 17/12/2025, 'Vertex AI Foundations' sur la feuille de route du second semestre 2026 (Futurum Group) : à surveiller, pas disponible.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Reprise à l'identique de la matrice du bench (SVG 06-bench et Livrables/benchHarness, fact-check du 02/09/2026). DeepSWE v1.1 : leaderboard officiel Datacurve, harness fixé mini-swe-agent (Opus 5 74,0 ±4 ; Fable 5 70,0 ±4 ; Kimi K3 ≈69 ; Sonnet 5 54 ±4 ; DeepSeek 0731 53 (54,4 auto-rapporté) ; GLM 5.2 44,0 ; preview 7,3 auto-rapporté, absente du leaderboard). Terminal-Bench 2.1 : Opus 5 89,1 = mesure Artificial Analysis (Terminus 2), pas officiel ; Fable 5 83,8 ±1,2 officiel (Claude Code xhigh ; 80,4 avec Terminus 2) ; Kimi 88,3 auto-rapporté (vals.ai 80,9) ; Sonnet 5 80,4 annonce (74,6 officiel) ; 0731 82,7 ; GLM 81,0 ; preview 61,8 (auto-rapportés). SWE-bench Verified (baseline grisée) : Opus 5 96,0 annonce + 97,0 vals.ai ; Fable 95,0 annonce ; Kimi 93,4 vals.ai ; Sonnet 85,2 agrégat llm-stats ; preview 73,7 rapport technique ; GLM et 0731 non publié. Prix : tarifs publics du 02/09/2026 ; Scaleway en euros (tarifs communiqués par le client) ; Albert gratuit pour les agents de l'État (quotas). Souveraineté (CNIL) : Bedrock non souverain (CLOUD Act, quelle que soit la région) ; Albert (SecNumCloud) et Scaleway (cloud FR, hébergé UE) souverains ; OpenRouter : éditeur chinois + routeur US. Conformité RGPD : Bedrock région UE + DPA AWS bonne ; Scaleway et Albert bonnes ; OpenRouter insuffisante. Piège DeepSeek : Scaleway sert le checkpoint 0731, Albert a priori la preview d'avril (à confirmer auprès de la DINUM) ; même nom, performances agentiques sans rapport.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Doctrine performance fixée le 02/09/2026 : DeepSWE v1.1 en principal (leaderboard officiel Datacurve, harness fixé mini-swe-agent, donc score du modèle seul, indépendant du harness) ; Terminal-Bench 2.1 en agentique (tâches terminal en conteneur, harness libre : Terminus 2 de référence, ou harness éditeur type Claude Code) ; SWE-bench Verified conservé en baseline grisée (500 issues GitHub Python validées par des annotateurs humains, OpenAI 2024 ; saturé en tête, harness hétérogènes, chiffres surtout éditeurs). Règle absolue : ne jamais estimer ni extrapoler un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harness : ensemble outils + gestion du contexte + boucle agentique + permissions qui entoure le modèle (Claude Code, OpenCode, Vibe...). Doctrine fournisseurs du 14/08/2026 : Claude Code est très gourmand en contexte, taillé pour les modèles frontier ; risque de moins bien marcher avec les modèles moins onéreux (open-weight chinois). Cible : une observabilité indépendante du harness pour choisir librement le couple harness × modèle.</a:t>
            </a:r>
          </a:p>
          <a:p>
            <a:r>
              <a:t>Preuve chiffrée (Terminal-Bench 2.1, valeurs fiabilisées le 02/09/2026) : Fable 5 83,8 ±1,2 avec Claude Code xhigh vs 80,4 avec Terminus 2 (leaderboard officiel) ; Sonnet 5 : 80,4 annoncé par Anthropic vs 74,6 au leaderboard officiel (Claude Code high) ; Kimi K3 : 88,3 auto-rapporté vs 80,9 mesuré par vals.ai. Les deux derniers écarts mêlent effet harness et effet de mesure (auto-rapporté vs indépendant) : à présenter comme tels.</a:t>
            </a:r>
          </a:p>
          <a:p>
            <a:r>
              <a:t>Bonnes pratiques et orchestration : leviers observés dans l'accompagnement (coaching DACCORD, VAO, skills partagés) ; pas de chiffrage publié comparable, d'où l'absence de pourcentage sur cette slide. Le bench élargi en conditions réelles (Albert / DeepSeek via OpenCode face à Claude) mesurera l'effet réel sur le backlog du ministère.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868680"/>
            <a:ext cx="5486400" cy="5486400"/>
          </a:xfrm>
          <a:prstGeom prst="ellipse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19" y="1874520"/>
            <a:ext cx="3474720" cy="3474720"/>
          </a:xfrm>
          <a:prstGeom prst="ellipse">
            <a:avLst/>
          </a:prstGeom>
          <a:solidFill>
            <a:srgbClr val="DC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2240280"/>
            <a:ext cx="2743200" cy="2743200"/>
          </a:xfrm>
          <a:prstGeom prst="ellipse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2834640"/>
            <a:ext cx="1554480" cy="1554480"/>
          </a:xfrm>
          <a:prstGeom prst="ellipse">
            <a:avLst/>
          </a:prstGeom>
          <a:solidFill>
            <a:srgbClr val="E8B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66928"/>
            <a:ext cx="2657836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196596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5862A"/>
                </a:solidFill>
                <a:latin typeface="Montserrat"/>
              </a:rPr>
              <a:t>CLIENT  ·  SECRÉTARIAT GÉNÉRAL DES MINISTÈRES SOCIAUX — DNUM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42316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2FA7"/>
                </a:solidFill>
                <a:latin typeface="Montserrat"/>
              </a:rPr>
              <a:t>Souveraineté et performance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2FA7"/>
                </a:solidFill>
                <a:latin typeface="Montserrat"/>
              </a:rPr>
              <a:t>des modèles et des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160520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A5162"/>
                </a:solidFill>
                <a:latin typeface="Montserrat"/>
              </a:rPr>
              <a:t>Ce que « souverain » et « conforme » veulent dire, ce que mesure le bench, et ce qui fait réellement la performance d'un agent de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5257800"/>
            <a:ext cx="2926080" cy="27432"/>
          </a:xfrm>
          <a:prstGeom prst="rect">
            <a:avLst/>
          </a:prstGeom>
          <a:solidFill>
            <a:srgbClr val="E8B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" y="53949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62"/>
                </a:solidFill>
                <a:latin typeface="Montserrat"/>
              </a:rPr>
              <a:t>Coding agentique  ·  </a:t>
            </a:r>
            <a:r>
              <a:rPr sz="1250" b="1" i="0">
                <a:solidFill>
                  <a:srgbClr val="4A5162"/>
                </a:solidFill>
                <a:latin typeface="Montserrat"/>
              </a:rPr>
              <a:t>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7223" y="384048"/>
            <a:ext cx="1932972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5720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5862A"/>
                </a:solidFill>
                <a:latin typeface="Montserrat"/>
              </a:rPr>
              <a:t>CADRE  ·  DEUX QUESTIONS DISTINCTES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212" y="7315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2FA7"/>
                </a:solidFill>
                <a:latin typeface="Montserrat"/>
              </a:rPr>
              <a:t>Souverain n'est pas synonyme de conforme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48132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162"/>
                </a:solidFill>
                <a:latin typeface="Montserrat"/>
              </a:rPr>
              <a:t>La conformité protège les données personnelles ; la souveraineté protège de l'accès d'un État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847088"/>
            <a:ext cx="5414619" cy="2322576"/>
          </a:xfrm>
          <a:prstGeom prst="roundRect">
            <a:avLst>
              <a:gd name="adj" fmla="val 8500"/>
            </a:avLst>
          </a:prstGeom>
          <a:solidFill>
            <a:srgbClr val="F8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956816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gen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2084832"/>
            <a:ext cx="512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4188" y="2093976"/>
            <a:ext cx="42624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SOUVERAINETÉ  ·  QUI PEUT EXIGER L'ACCÈS ?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Une question de juridiction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" y="2743200"/>
            <a:ext cx="4865979" cy="1362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Critère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le droit applicable à l'opérateur et à ses maisons mères, pas l'adresse des serveurs. Un acteur US en région UE reste soumis au droit US (lecture CNIL) : Bedrock, Vertex AI ou Azure, même à Paris.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Tiennent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Albert et Outscale LLMaaS (SecNumCloud 3.2) ; Scaleway et OVHcloud AI Endpoints (cloud FR, hors périmètre SecNumCloud).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Mistral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éditeur français, mais La Plateforme a tourné sur Azure et Google Cloud. Souverain via Outscale ou en poids ouverts auto-hébergés.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847088"/>
            <a:ext cx="5414619" cy="2322576"/>
          </a:xfrm>
          <a:prstGeom prst="roundRect">
            <a:avLst>
              <a:gd name="adj" fmla="val 85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05575" y="1956816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d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208483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8263" y="2093976"/>
            <a:ext cx="42624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CONFORMITÉ  ·  LES DONNÉES SONT-ELLES TRAITÉES LÉGALEMENT ?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Une question de RGPD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6471" y="2743200"/>
            <a:ext cx="4865979" cy="1362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Critère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base légale, contrat de sous-traitance (DPA), sécurité, transferts hors UE encadrés.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Atteignable avec un acteur US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Bedrock en région UE avec le DPA AWS est conforme RGPD ; même logique pour Vertex AI en région UE.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Insuffisante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OpenRouter, routage par un intermédiaire US sans garanties 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4242816"/>
            <a:ext cx="5414619" cy="1344168"/>
          </a:xfrm>
          <a:prstGeom prst="roundRect">
            <a:avLst>
              <a:gd name="adj" fmla="val 7000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" y="4425696"/>
            <a:ext cx="4865979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CLOUD ACT (ÉTATS-UNIS, 2018)  </a:t>
            </a:r>
            <a:r>
              <a:rPr sz="1000" b="1" i="0">
                <a:solidFill>
                  <a:srgbClr val="9AA0B0"/>
                </a:solidFill>
                <a:latin typeface="Montserrat"/>
              </a:rPr>
              <a:t>+ FISA 702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A5162"/>
                </a:solidFill>
                <a:latin typeface="Montserrat"/>
              </a:rPr>
              <a:t>Les fournisseurs soumis au droit US doivent remettre les données aux autorités américaines, où qu'elles soient stockées. </a:t>
            </a:r>
            <a:r>
              <a:rPr sz="1100" b="1" i="0">
                <a:solidFill>
                  <a:srgbClr val="1B2233"/>
                </a:solidFill>
                <a:latin typeface="Montserrat"/>
              </a:rPr>
              <a:t>La localisation ne protège pas.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9AA0B0"/>
                </a:solidFill>
                <a:latin typeface="Montserrat"/>
              </a:rPr>
              <a:t>Transferts UE-US (DPF, 2023) : validé en première instance le 03/09/2025, pourvoi pendant devant la CJUE (C-703/25 P).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4242816"/>
            <a:ext cx="5414619" cy="1344168"/>
          </a:xfrm>
          <a:prstGeom prst="roundRect">
            <a:avLst>
              <a:gd name="adj" fmla="val 7000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9895" y="4425696"/>
            <a:ext cx="4865979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SECNUMCLOUD 3.2 (ANSSI)  </a:t>
            </a:r>
            <a:r>
              <a:rPr sz="1000" b="1" i="0">
                <a:solidFill>
                  <a:srgbClr val="9AA0B0"/>
                </a:solidFill>
                <a:latin typeface="Montserrat"/>
              </a:rPr>
              <a:t>référentiel du « cloud de confiance »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A5162"/>
                </a:solidFill>
                <a:latin typeface="Montserrat"/>
              </a:rPr>
              <a:t>Qualification de sécurité + critères d'immunité aux lois extraterritoriales : </a:t>
            </a:r>
            <a:r>
              <a:rPr sz="1100" b="1" i="0">
                <a:solidFill>
                  <a:srgbClr val="1B2233"/>
                </a:solidFill>
                <a:latin typeface="Montserrat"/>
              </a:rPr>
              <a:t>siège et capital dans l'UE, données, clés et administration en UE, personnel habilité.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9AA0B0"/>
                </a:solidFill>
                <a:latin typeface="Montserrat"/>
              </a:rPr>
              <a:t>Doctrine « cloud au centre » : données sensibles sur cloud qualifié. Qualifiés : Outscale (héberge Albert), OVHcloud (IaaS), S3NS (Thales-Google) depuis 12/2025.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5641848"/>
            <a:ext cx="11048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2FA7"/>
                </a:solidFill>
                <a:latin typeface="Montserrat"/>
              </a:rPr>
              <a:t>À retenir  </a:t>
            </a:r>
            <a:r>
              <a:rPr sz="1200" b="0" i="0">
                <a:solidFill>
                  <a:srgbClr val="1B2233"/>
                </a:solidFill>
                <a:latin typeface="Montserrat"/>
              </a:rPr>
              <a:t>Bedrock, Vertex AI ou Azure : conformes, non souverains. Albert, Outscale, Scaleway, OVHcloud : les deux. OpenRouter : ni l'un ni l'autre. Le référencement UGAP (AWS et Google Cloud y figurent comme Outscale ou OVHcloud) est un canal d'achat, pas un label de souveraineté.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6254496"/>
            <a:ext cx="11048695" cy="13990"/>
          </a:xfrm>
          <a:prstGeom prst="rect">
            <a:avLst/>
          </a:prstGeom>
          <a:solidFill>
            <a:srgbClr val="E6E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63093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5162"/>
                </a:solidFill>
                <a:latin typeface="Montserrat"/>
              </a:rPr>
              <a:t>ippon</a:t>
            </a:r>
            <a:r>
              <a:rPr sz="1050" b="0" i="0">
                <a:solidFill>
                  <a:srgbClr val="9AA0B0"/>
                </a:solidFill>
                <a:latin typeface="Montserrat"/>
              </a:rPr>
              <a:t>   ·   Souveraineté et performance des modèles et harness — Secrétariat général des Ministères sociaux (DNUM)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309360"/>
            <a:ext cx="11045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A0B0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7223" y="384048"/>
            <a:ext cx="1932972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5720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5862A"/>
                </a:solidFill>
                <a:latin typeface="Montserrat"/>
              </a:rPr>
              <a:t>BENCH  ·  7 STACKS DE CODING AGENTIQUE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212" y="7315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2FA7"/>
                </a:solidFill>
                <a:latin typeface="Montserrat"/>
              </a:rPr>
              <a:t>Performance, prix, souveraineté, conformité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48132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162"/>
                </a:solidFill>
                <a:latin typeface="Montserrat"/>
              </a:rPr>
              <a:t>Trois mesures de performance, prix / 1M tokens, souveraineté (CNIL), conformité RGPD · vérifié le 02/09/2026.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828800"/>
            <a:ext cx="11048695" cy="438912"/>
          </a:xfrm>
          <a:prstGeom prst="roundRect">
            <a:avLst>
              <a:gd name="adj" fmla="val 12000"/>
            </a:avLst>
          </a:prstGeom>
          <a:solidFill>
            <a:srgbClr val="0B1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" y="1828800"/>
            <a:ext cx="2606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Harness · modèle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B8C0DA"/>
                </a:solidFill>
                <a:latin typeface="Montserrat"/>
              </a:rPr>
              <a:t>fournisseur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436" y="1828800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DeepSWE v1.1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B8C0DA"/>
                </a:solidFill>
                <a:latin typeface="Montserrat"/>
              </a:rPr>
              <a:t>modèle seul ·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8595" y="1828800"/>
            <a:ext cx="1234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Terminal-Bench 2.1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B8C0DA"/>
                </a:solidFill>
                <a:latin typeface="Montserrat"/>
              </a:rPr>
              <a:t>agentique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5915" y="1828800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SWE-bench Verified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B8C0DA"/>
                </a:solidFill>
                <a:latin typeface="Montserrat"/>
              </a:rPr>
              <a:t>baseline · saturé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7516" y="1828800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Prix / 1M tokens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B8C0DA"/>
                </a:solidFill>
                <a:latin typeface="Montserrat"/>
              </a:rPr>
              <a:t>entrée · sortie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6" y="1828800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Souveraineté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B8C0DA"/>
                </a:solidFill>
                <a:latin typeface="Montserrat"/>
              </a:rPr>
              <a:t>au sens CNIL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0716" y="1828800"/>
            <a:ext cx="126461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Conformité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B8C0DA"/>
                </a:solidFill>
                <a:latin typeface="Montserrat"/>
              </a:rPr>
              <a:t>RGPD / données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" y="2340864"/>
            <a:ext cx="11048695" cy="457200"/>
          </a:xfrm>
          <a:prstGeom prst="roundRect">
            <a:avLst>
              <a:gd name="adj" fmla="val 1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" y="234086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Claude Code  ·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Opus 5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AWS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8436" y="234086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233"/>
                </a:solidFill>
                <a:latin typeface="Montserrat"/>
              </a:rPr>
              <a:t>74,0 %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±4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8595" y="234086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233"/>
                </a:solidFill>
                <a:latin typeface="Montserrat"/>
              </a:rPr>
              <a:t>89,1 % 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5" y="234086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0B0"/>
                </a:solidFill>
                <a:latin typeface="Montserrat"/>
              </a:rPr>
              <a:t>96,0 %ᵛ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97,0 % 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7516" y="234086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5 $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  ·  25 $</a:t>
            </a:r>
          </a:p>
        </p:txBody>
      </p:sp>
      <p:sp>
        <p:nvSpPr>
          <p:cNvPr id="20" name="Oval 19"/>
          <p:cNvSpPr/>
          <p:nvPr/>
        </p:nvSpPr>
        <p:spPr>
          <a:xfrm>
            <a:off x="8837676" y="2459736"/>
            <a:ext cx="118872" cy="118872"/>
          </a:xfrm>
          <a:prstGeom prst="ellipse">
            <a:avLst/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0556" y="2340864"/>
            <a:ext cx="1078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Non souveraine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CLOUD Act</a:t>
            </a:r>
          </a:p>
        </p:txBody>
      </p:sp>
      <p:sp>
        <p:nvSpPr>
          <p:cNvPr id="22" name="Oval 21"/>
          <p:cNvSpPr/>
          <p:nvPr/>
        </p:nvSpPr>
        <p:spPr>
          <a:xfrm>
            <a:off x="10300716" y="245973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83596" y="2340864"/>
            <a:ext cx="10634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Bonne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région UE · DPA AWS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500" y="2843784"/>
            <a:ext cx="11048695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8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" y="28437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Claude Code  ·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Fable 5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AWS Bedrock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8436" y="284378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233"/>
                </a:solidFill>
                <a:latin typeface="Montserrat"/>
              </a:rPr>
              <a:t>70,0 %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±4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8595" y="28437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233"/>
                </a:solidFill>
                <a:latin typeface="Montserrat"/>
              </a:rPr>
              <a:t>83,8 %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±1,2 · officiel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5915" y="284378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0B0"/>
                </a:solidFill>
                <a:latin typeface="Montserrat"/>
              </a:rPr>
              <a:t>95,0 %ᵛ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7516" y="284378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10 $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  ·  50 $</a:t>
            </a:r>
          </a:p>
        </p:txBody>
      </p:sp>
      <p:sp>
        <p:nvSpPr>
          <p:cNvPr id="30" name="Oval 29"/>
          <p:cNvSpPr/>
          <p:nvPr/>
        </p:nvSpPr>
        <p:spPr>
          <a:xfrm>
            <a:off x="8837676" y="2962656"/>
            <a:ext cx="118872" cy="118872"/>
          </a:xfrm>
          <a:prstGeom prst="ellipse">
            <a:avLst/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0556" y="2843784"/>
            <a:ext cx="1078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Non souveraine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CLOUD Act</a:t>
            </a:r>
          </a:p>
        </p:txBody>
      </p:sp>
      <p:sp>
        <p:nvSpPr>
          <p:cNvPr id="32" name="Oval 31"/>
          <p:cNvSpPr/>
          <p:nvPr/>
        </p:nvSpPr>
        <p:spPr>
          <a:xfrm>
            <a:off x="10300716" y="296265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83596" y="2843784"/>
            <a:ext cx="10634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Bonne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région UE · DPA AWS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1500" y="3346704"/>
            <a:ext cx="11048695" cy="457200"/>
          </a:xfrm>
          <a:prstGeom prst="roundRect">
            <a:avLst>
              <a:gd name="adj" fmla="val 1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" y="3346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OpenCode  ·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Kimi K3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OpenRouter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8436" y="33467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233"/>
                </a:solidFill>
                <a:latin typeface="Montserrat"/>
              </a:rPr>
              <a:t>≈69 %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68595" y="334670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233"/>
                </a:solidFill>
                <a:latin typeface="Montserrat"/>
              </a:rPr>
              <a:t>88,3 %ᵛ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80,9 % 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5915" y="334670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0B0"/>
                </a:solidFill>
                <a:latin typeface="Montserrat"/>
              </a:rPr>
              <a:t>93,4 % 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57516" y="33467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2,55 $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  ·  12,75 $</a:t>
            </a:r>
          </a:p>
        </p:txBody>
      </p:sp>
      <p:sp>
        <p:nvSpPr>
          <p:cNvPr id="40" name="Oval 39"/>
          <p:cNvSpPr/>
          <p:nvPr/>
        </p:nvSpPr>
        <p:spPr>
          <a:xfrm>
            <a:off x="8837676" y="3465576"/>
            <a:ext cx="118872" cy="118872"/>
          </a:xfrm>
          <a:prstGeom prst="ellipse">
            <a:avLst/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0556" y="3346704"/>
            <a:ext cx="1078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Non souveraine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CN + routeur US</a:t>
            </a:r>
          </a:p>
        </p:txBody>
      </p:sp>
      <p:sp>
        <p:nvSpPr>
          <p:cNvPr id="42" name="Oval 41"/>
          <p:cNvSpPr/>
          <p:nvPr/>
        </p:nvSpPr>
        <p:spPr>
          <a:xfrm>
            <a:off x="10300716" y="3465576"/>
            <a:ext cx="118872" cy="118872"/>
          </a:xfrm>
          <a:prstGeom prst="ellipse">
            <a:avLst/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3596" y="3346704"/>
            <a:ext cx="10634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Insuffisante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sans garanties UE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1500" y="3849624"/>
            <a:ext cx="11048695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8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6" y="384962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Claude Code  ·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Sonnet 5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AWS Bedrock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88436" y="38496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233"/>
                </a:solidFill>
                <a:latin typeface="Montserrat"/>
              </a:rPr>
              <a:t>54 %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±4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68595" y="384962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233"/>
                </a:solidFill>
                <a:latin typeface="Montserrat"/>
              </a:rPr>
              <a:t>80,4 %ᵛ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74,6 % officiel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85915" y="384962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0B0"/>
                </a:solidFill>
                <a:latin typeface="Montserrat"/>
              </a:rPr>
              <a:t>85,2 %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llm-stats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7516" y="38496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2 $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  ·  10 $</a:t>
            </a:r>
          </a:p>
        </p:txBody>
      </p:sp>
      <p:sp>
        <p:nvSpPr>
          <p:cNvPr id="50" name="Oval 49"/>
          <p:cNvSpPr/>
          <p:nvPr/>
        </p:nvSpPr>
        <p:spPr>
          <a:xfrm>
            <a:off x="8837676" y="3968496"/>
            <a:ext cx="118872" cy="118872"/>
          </a:xfrm>
          <a:prstGeom prst="ellipse">
            <a:avLst/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0556" y="3849624"/>
            <a:ext cx="1078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Non souveraine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CLOUD Act</a:t>
            </a:r>
          </a:p>
        </p:txBody>
      </p:sp>
      <p:sp>
        <p:nvSpPr>
          <p:cNvPr id="52" name="Oval 51"/>
          <p:cNvSpPr/>
          <p:nvPr/>
        </p:nvSpPr>
        <p:spPr>
          <a:xfrm>
            <a:off x="10300716" y="396849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83596" y="3849624"/>
            <a:ext cx="10634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Bonne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région UE · DPA AWS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1500" y="4352544"/>
            <a:ext cx="11048695" cy="457200"/>
          </a:xfrm>
          <a:prstGeom prst="roundRect">
            <a:avLst>
              <a:gd name="adj" fmla="val 1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9516" y="435254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OpenCode  ·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DeepSeek V4 Flash 0731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Scaleway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8436" y="435254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233"/>
                </a:solidFill>
                <a:latin typeface="Montserrat"/>
              </a:rPr>
              <a:t>53 %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54,4 %ᵛ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8595" y="435254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233"/>
                </a:solidFill>
                <a:latin typeface="Montserrat"/>
              </a:rPr>
              <a:t>82,7 %ᵛ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85915" y="435254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AA0B0"/>
                </a:solidFill>
                <a:latin typeface="Montserrat"/>
              </a:rPr>
              <a:t>non publié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57516" y="435254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0,40 €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  ·  0,80 €</a:t>
            </a:r>
          </a:p>
        </p:txBody>
      </p:sp>
      <p:sp>
        <p:nvSpPr>
          <p:cNvPr id="60" name="Oval 59"/>
          <p:cNvSpPr/>
          <p:nvPr/>
        </p:nvSpPr>
        <p:spPr>
          <a:xfrm>
            <a:off x="8837676" y="447141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20556" y="4352544"/>
            <a:ext cx="1078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Souveraine (UE)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cloud FR · hébergé UE</a:t>
            </a:r>
          </a:p>
        </p:txBody>
      </p:sp>
      <p:sp>
        <p:nvSpPr>
          <p:cNvPr id="62" name="Oval 61"/>
          <p:cNvSpPr/>
          <p:nvPr/>
        </p:nvSpPr>
        <p:spPr>
          <a:xfrm>
            <a:off x="10300716" y="447141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83596" y="4352544"/>
            <a:ext cx="10634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Bonne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RGPD · cloud FR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1500" y="4855464"/>
            <a:ext cx="11048695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8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9516" y="485546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OpenCode  ·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GLM 5.2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Scaleway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8436" y="485546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233"/>
                </a:solidFill>
                <a:latin typeface="Montserrat"/>
              </a:rPr>
              <a:t>44,0 %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68595" y="485546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233"/>
                </a:solidFill>
                <a:latin typeface="Montserrat"/>
              </a:rPr>
              <a:t>81,0 %ᵛ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85915" y="485546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AA0B0"/>
                </a:solidFill>
                <a:latin typeface="Montserrat"/>
              </a:rPr>
              <a:t>non publié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7516" y="485546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1,80 €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  ·  5,50 €</a:t>
            </a:r>
          </a:p>
        </p:txBody>
      </p:sp>
      <p:sp>
        <p:nvSpPr>
          <p:cNvPr id="70" name="Oval 69"/>
          <p:cNvSpPr/>
          <p:nvPr/>
        </p:nvSpPr>
        <p:spPr>
          <a:xfrm>
            <a:off x="8837676" y="497433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20556" y="4855464"/>
            <a:ext cx="1078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Souveraine (UE)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cloud FR · hébergé UE</a:t>
            </a:r>
          </a:p>
        </p:txBody>
      </p:sp>
      <p:sp>
        <p:nvSpPr>
          <p:cNvPr id="72" name="Oval 71"/>
          <p:cNvSpPr/>
          <p:nvPr/>
        </p:nvSpPr>
        <p:spPr>
          <a:xfrm>
            <a:off x="10300716" y="497433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83596" y="4855464"/>
            <a:ext cx="10634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Bonne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RGPD · cloud FR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71500" y="5358384"/>
            <a:ext cx="11048695" cy="457200"/>
          </a:xfrm>
          <a:prstGeom prst="roundRect">
            <a:avLst>
              <a:gd name="adj" fmla="val 1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99516" y="53583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OpenCode  ·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DeepSeek V4 Flash preview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Albert (DINUM) · checkpoint à confirmer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88436" y="535838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233"/>
                </a:solidFill>
                <a:latin typeface="Montserrat"/>
              </a:rPr>
              <a:t>7,3 %ᵛ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6859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233"/>
                </a:solidFill>
                <a:latin typeface="Montserrat"/>
              </a:rPr>
              <a:t>61,8 %ᵛ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85915" y="535838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0B0"/>
                </a:solidFill>
                <a:latin typeface="Montserrat"/>
              </a:rPr>
              <a:t>73,7 %ᵛ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57516" y="535838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gratuit</a:t>
            </a:r>
            <a:r>
              <a:rPr sz="800" b="0" i="0">
                <a:solidFill>
                  <a:srgbClr val="1B2233"/>
                </a:solidFill>
                <a:latin typeface="Montserrat"/>
              </a:rPr>
              <a:t/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 i="0">
                <a:solidFill>
                  <a:srgbClr val="9AA0B0"/>
                </a:solidFill>
                <a:latin typeface="Montserrat"/>
              </a:rPr>
              <a:t>agents État</a:t>
            </a:r>
          </a:p>
        </p:txBody>
      </p:sp>
      <p:sp>
        <p:nvSpPr>
          <p:cNvPr id="80" name="Oval 79"/>
          <p:cNvSpPr/>
          <p:nvPr/>
        </p:nvSpPr>
        <p:spPr>
          <a:xfrm>
            <a:off x="8837676" y="547725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20556" y="5358384"/>
            <a:ext cx="1078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Souveraine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SecNumCloud · État FR</a:t>
            </a:r>
          </a:p>
        </p:txBody>
      </p:sp>
      <p:sp>
        <p:nvSpPr>
          <p:cNvPr id="82" name="Oval 81"/>
          <p:cNvSpPr/>
          <p:nvPr/>
        </p:nvSpPr>
        <p:spPr>
          <a:xfrm>
            <a:off x="10300716" y="5477256"/>
            <a:ext cx="118872" cy="118872"/>
          </a:xfrm>
          <a:prstGeom prst="ellipse">
            <a:avLst/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3596" y="5358384"/>
            <a:ext cx="10634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Bonne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9AA0B0"/>
                </a:solidFill>
                <a:latin typeface="Montserrat"/>
              </a:rPr>
              <a:t>cadre État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1500" y="5879592"/>
            <a:ext cx="11048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0B0"/>
                </a:solidFill>
                <a:latin typeface="Montserrat"/>
              </a:rPr>
              <a:t>Sans marque = officiel  ·  ᵛ auto-rapporté par l'éditeur  ·  * mesure indépendante (vals.ai, Artificial Analysis)  ·  llm-stats = agrégat non re-mesuré  ·  aucun chiffre estimé : sans donnée, « non publié »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71500" y="6254496"/>
            <a:ext cx="11048695" cy="13990"/>
          </a:xfrm>
          <a:prstGeom prst="rect">
            <a:avLst/>
          </a:prstGeom>
          <a:solidFill>
            <a:srgbClr val="E6E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1500" y="63093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5162"/>
                </a:solidFill>
                <a:latin typeface="Montserrat"/>
              </a:rPr>
              <a:t>ippon</a:t>
            </a:r>
            <a:r>
              <a:rPr sz="1050" b="0" i="0">
                <a:solidFill>
                  <a:srgbClr val="9AA0B0"/>
                </a:solidFill>
                <a:latin typeface="Montserrat"/>
              </a:rPr>
              <a:t>   ·   Souveraineté et performance des modèles et harness — Secrétariat général des Ministères sociaux (DNUM)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309360"/>
            <a:ext cx="11045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A0B0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7223" y="384048"/>
            <a:ext cx="1932972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5720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5862A"/>
                </a:solidFill>
                <a:latin typeface="Montserrat"/>
              </a:rPr>
              <a:t>LECTURE  ·  TROIS MESURES, TROIS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212" y="7315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2FA7"/>
                </a:solidFill>
                <a:latin typeface="Montserrat"/>
              </a:rPr>
              <a:t>Ce que mesurent les trois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48132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162"/>
                </a:solidFill>
                <a:latin typeface="Montserrat"/>
              </a:rPr>
              <a:t>Un score n'a de sens qu'avec sa question : le modèle seul, le couple modèle × harness, ou un repère historique.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847088"/>
            <a:ext cx="3548786" cy="3291840"/>
          </a:xfrm>
          <a:prstGeom prst="roundRect">
            <a:avLst>
              <a:gd name="adj" fmla="val 85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956816"/>
            <a:ext cx="50292" cy="3072384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2084832"/>
            <a:ext cx="512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4188" y="2093976"/>
            <a:ext cx="239664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PRINCIPAL  ·  LE MODÈLE SEUL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DeepSWE v1.1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" y="2761488"/>
            <a:ext cx="3036722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Quoi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des tâches d'ingénierie logicielle réelles, résolues de bout en bout par l'agent.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Comment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harness fixé pour tous (mini-swe-agent), leaderboard officiel Datacurve, incertitude publiée.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Ce que dit le score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la capacité agentique intrinsèque du modèle, indépendante du harness.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Limite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certains modèles absents du leaderboard (chiffre éditeur en repli).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1454" y="1847088"/>
            <a:ext cx="3548786" cy="3291840"/>
          </a:xfrm>
          <a:prstGeom prst="roundRect">
            <a:avLst>
              <a:gd name="adj" fmla="val 8500"/>
            </a:avLst>
          </a:prstGeom>
          <a:solidFill>
            <a:srgbClr val="F8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1454" y="1956816"/>
            <a:ext cx="50292" cy="3072384"/>
          </a:xfrm>
          <a:prstGeom prst="roundRect">
            <a:avLst>
              <a:gd name="adj" fmla="val 50000"/>
            </a:avLst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v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486" y="208483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4142" y="2093976"/>
            <a:ext cx="239664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AGENTIQUE  ·  MODÈLE × HARNESS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Terminal-Bench 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4062" y="2761488"/>
            <a:ext cx="3036722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Quoi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des tâches à mener dans un terminal (build, debug, data, admin), dans un conteneur isolé.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Comment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harness libre, Terminus 2 en référence ou harness éditeur (ex. Claude Code) ; vérifié par tests.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Ce que dit le score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la performance du couple modèle × harness en conditions d'usage.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Limite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beaucoup de scores auto-rapportés, écarts avec les mesures indépendantes.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408" y="1847088"/>
            <a:ext cx="3548786" cy="3291840"/>
          </a:xfrm>
          <a:prstGeom prst="roundRect">
            <a:avLst>
              <a:gd name="adj" fmla="val 8500"/>
            </a:avLst>
          </a:prstGeom>
          <a:solidFill>
            <a:srgbClr val="F6E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71408" y="1956816"/>
            <a:ext cx="50292" cy="3072384"/>
          </a:xfrm>
          <a:prstGeom prst="roundRect">
            <a:avLst>
              <a:gd name="adj" fmla="val 50000"/>
            </a:avLst>
          </a:prstGeom>
          <a:solidFill>
            <a:srgbClr val="B5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rch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7440" y="2084832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4096" y="2093976"/>
            <a:ext cx="239664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5862A"/>
                </a:solidFill>
                <a:latin typeface="Montserrat"/>
              </a:rPr>
              <a:t>BASELINE  ·  REPÈRE HISTORIQUE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SWE-bench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4016" y="2761488"/>
            <a:ext cx="3036722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Quoi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500 issues GitHub Python validées par des humains ; le patch est accepté s'il passe les tests.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Comment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chaque éditeur choisit son harness et ses réglages ; peu de reproductions indépendantes.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Ce que dit le score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un repère de continuité, saturé au-dessus de 90 % en tête de tableau.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50" b="1" i="0">
                <a:solidFill>
                  <a:srgbClr val="1B2233"/>
                </a:solidFill>
                <a:latin typeface="Montserrat"/>
              </a:rPr>
              <a:t>Limite : </a:t>
            </a:r>
            <a:r>
              <a:rPr sz="1050" b="0" i="0">
                <a:solidFill>
                  <a:srgbClr val="4A5162"/>
                </a:solidFill>
                <a:latin typeface="Montserrat"/>
              </a:rPr>
              <a:t>harness hétérogènes, chiffres surtout éditeurs : conservé grisé, jamais discriminant.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" y="5285232"/>
            <a:ext cx="11048695" cy="777240"/>
          </a:xfrm>
          <a:prstGeom prst="roundRect">
            <a:avLst>
              <a:gd name="adj" fmla="val 7000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" y="5413248"/>
            <a:ext cx="10500055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2FA7"/>
                </a:solidFill>
                <a:latin typeface="Montserrat"/>
              </a:rPr>
              <a:t>Règle de lecture  </a:t>
            </a:r>
            <a:r>
              <a:rPr sz="1200" b="0" i="0">
                <a:solidFill>
                  <a:srgbClr val="1B2233"/>
                </a:solidFill>
                <a:latin typeface="Montserrat"/>
              </a:rPr>
              <a:t>DeepSWE classe les modèles ; Terminal-Bench montre ce que le harness ajoute ; SWE-bench Verified ne sert qu'à situer. Sans marque = officiel · ᵛ éditeur · * indépendant. Aucune case estimée : sans donnée, « non publié ».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6254496"/>
            <a:ext cx="11048695" cy="13990"/>
          </a:xfrm>
          <a:prstGeom prst="rect">
            <a:avLst/>
          </a:prstGeom>
          <a:solidFill>
            <a:srgbClr val="E6E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500" y="63093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5162"/>
                </a:solidFill>
                <a:latin typeface="Montserrat"/>
              </a:rPr>
              <a:t>ippon</a:t>
            </a:r>
            <a:r>
              <a:rPr sz="1050" b="0" i="0">
                <a:solidFill>
                  <a:srgbClr val="9AA0B0"/>
                </a:solidFill>
                <a:latin typeface="Montserrat"/>
              </a:rPr>
              <a:t>   ·   Souveraineté et performance des modèles et harness — Secrétariat général des Ministères sociaux (DNUM)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309360"/>
            <a:ext cx="11045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A0B0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7223" y="384048"/>
            <a:ext cx="1932972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5720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5862A"/>
                </a:solidFill>
                <a:latin typeface="Montserrat"/>
              </a:rPr>
              <a:t>PERFORMANCE  ·  AU-DELÀ DU MODÈLE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212" y="7315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2FA7"/>
                </a:solidFill>
                <a:latin typeface="Montserrat"/>
              </a:rPr>
              <a:t>Ce qui booste un modèle : harness, pratiques,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48132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162"/>
                </a:solidFill>
                <a:latin typeface="Montserrat"/>
              </a:rPr>
              <a:t>Le score du modèle seul est un plancher : le même modèle change de niveau selon son outillage et son pilotage.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847088"/>
            <a:ext cx="3548786" cy="2834640"/>
          </a:xfrm>
          <a:prstGeom prst="roundRect">
            <a:avLst>
              <a:gd name="adj" fmla="val 8500"/>
            </a:avLst>
          </a:prstGeom>
          <a:solidFill>
            <a:srgbClr val="F8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956816"/>
            <a:ext cx="50292" cy="2615184"/>
          </a:xfrm>
          <a:prstGeom prst="roundRect">
            <a:avLst>
              <a:gd name="adj" fmla="val 50000"/>
            </a:avLst>
          </a:prstGeom>
          <a:solidFill>
            <a:srgbClr val="BF4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v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2084832"/>
            <a:ext cx="512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4188" y="2093976"/>
            <a:ext cx="239664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F482D"/>
                </a:solidFill>
                <a:latin typeface="Montserrat"/>
              </a:rPr>
              <a:t>1  ·  LE HARNESS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L'outillage du modèle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" y="2761488"/>
            <a:ext cx="303672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Outils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édition de fichiers, shell, recherche dans le dépôt, connecteurs MCP.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Contexte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compaction, fichiers de mémoire, sous-agents pour isoler les recherches.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Boucle agentique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planifier, agir, vérifier, corriger ; permissions et garde-fous.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Taillé pour un modèle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Claude Code, gourmand en contexte, vise le frontier ; OpenCode reste neutre.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1454" y="1847088"/>
            <a:ext cx="3548786" cy="2834640"/>
          </a:xfrm>
          <a:prstGeom prst="roundRect">
            <a:avLst>
              <a:gd name="adj" fmla="val 85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1454" y="1956816"/>
            <a:ext cx="50292" cy="2615184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d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486" y="208483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4142" y="2093976"/>
            <a:ext cx="239664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2FA7"/>
                </a:solidFill>
                <a:latin typeface="Montserrat"/>
              </a:rPr>
              <a:t>2  ·  LES BONNES PRATIQUES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L'apport de l'équipe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4062" y="2761488"/>
            <a:ext cx="303672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Contexte projet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un fichier d'instructions (CLAUDE.md, AGENTS.md) : conventions, commandes, architecture.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Spécifier avant de coder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mode plan, tâches petites et vérifiables, critères d'acceptation.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Les tests comme oracle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l'agent boucle sur les tests ; la revue humaine reste le dernier filtre.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Skills réutilisables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procédures capitalisées, partagées entre équipes.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408" y="1847088"/>
            <a:ext cx="3548786" cy="2834640"/>
          </a:xfrm>
          <a:prstGeom prst="roundRect">
            <a:avLst>
              <a:gd name="adj" fmla="val 8500"/>
            </a:avLst>
          </a:prstGeom>
          <a:solidFill>
            <a:srgbClr val="E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71408" y="1956816"/>
            <a:ext cx="50292" cy="2615184"/>
          </a:xfrm>
          <a:prstGeom prst="roundRect">
            <a:avLst>
              <a:gd name="adj" fmla="val 50000"/>
            </a:avLst>
          </a:prstGeom>
          <a:solidFill>
            <a:srgbClr val="217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lt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7440" y="2084832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4096" y="2093976"/>
            <a:ext cx="239664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7C64"/>
                </a:solidFill>
                <a:latin typeface="Montserrat"/>
              </a:rPr>
              <a:t>3  ·  L'ORCHESTRATION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1650" b="1" i="0">
                <a:solidFill>
                  <a:srgbClr val="1B2233"/>
                </a:solidFill>
                <a:latin typeface="Montserrat"/>
              </a:rPr>
              <a:t>Des agents en équipe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4016" y="2761488"/>
            <a:ext cx="303672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Découper les rôles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planificateur, exécutant, vérificateur ; sous-agents en parallèle.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Router les modèles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le frontier pour le difficile, l'économique et souverain pour le volume.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Workflows déterministes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hooks, CI/CD, revues automatiques dans le pipeline.</a:t>
            </a:r>
          </a:p>
          <a:p>
            <a:pPr algn="l" marL="182880" indent="-18288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A5162"/>
                </a:solidFill>
                <a:latin typeface="Montserrat"/>
              </a:rPr>
              <a:t>▪  </a:t>
            </a:r>
            <a:r>
              <a:rPr sz="1000" b="1" i="0">
                <a:solidFill>
                  <a:srgbClr val="1B2233"/>
                </a:solidFill>
                <a:latin typeface="Montserrat"/>
              </a:rPr>
              <a:t>Observabilité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traces, coûts, taux de réussite par tâche pour arbitrer sur des faits.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" y="4828032"/>
            <a:ext cx="11048695" cy="1371600"/>
          </a:xfrm>
          <a:prstGeom prst="roundRect">
            <a:avLst>
              <a:gd name="adj" fmla="val 7000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" y="495604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5862A"/>
                </a:solidFill>
                <a:latin typeface="Montserrat"/>
              </a:rPr>
              <a:t>CE QUE MONTRE LE BENCH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1" i="0">
                <a:solidFill>
                  <a:srgbClr val="1B2233"/>
                </a:solidFill>
                <a:latin typeface="Montserrat"/>
              </a:rPr>
              <a:t>Même modèle : le score bouge selon le harness et la mesure.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9AA0B0"/>
                </a:solidFill>
                <a:latin typeface="Montserrat"/>
              </a:rPr>
              <a:t>Terminal-Bench 2.1, leaderboard officiel.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6300" y="49560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2FA7"/>
                </a:solidFill>
                <a:latin typeface="Montserrat"/>
              </a:rPr>
              <a:t>Fable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0700" y="495604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62"/>
                </a:solidFill>
                <a:latin typeface="Montserrat"/>
              </a:rPr>
              <a:t>Claude Code (xhigh)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900" y="49560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83,8 %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8140" y="4956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62"/>
                </a:solidFill>
                <a:latin typeface="Montserrat"/>
              </a:rPr>
              <a:t>Terminus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5460" y="49560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80,4 %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72700" y="4956048"/>
            <a:ext cx="11731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7C64"/>
                </a:solidFill>
                <a:latin typeface="Montserrat"/>
              </a:rPr>
              <a:t>+3,4 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6300" y="52303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2FA7"/>
                </a:solidFill>
                <a:latin typeface="Montserrat"/>
              </a:rPr>
              <a:t>Sonnet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0700" y="523036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62"/>
                </a:solidFill>
                <a:latin typeface="Montserrat"/>
              </a:rPr>
              <a:t>Claude Code (high)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0900" y="523036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74,6 %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8140" y="5230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62"/>
                </a:solidFill>
                <a:latin typeface="Montserrat"/>
              </a:rPr>
              <a:t>annonce éditeur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95460" y="523036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80,4 %ᵛ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72700" y="5230368"/>
            <a:ext cx="11731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482D"/>
                </a:solidFill>
                <a:latin typeface="Montserrat"/>
              </a:rPr>
              <a:t>écart 5,8 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55046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2FA7"/>
                </a:solidFill>
                <a:latin typeface="Montserrat"/>
              </a:rPr>
              <a:t>Kimi K3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00700" y="55046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62"/>
                </a:solidFill>
                <a:latin typeface="Montserrat"/>
              </a:rPr>
              <a:t>annonce éditeur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900" y="55046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88,3 %ᵛ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8140" y="55046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62"/>
                </a:solidFill>
                <a:latin typeface="Montserrat"/>
              </a:rPr>
              <a:t>mesure vals.ai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95460" y="55046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3"/>
                </a:solidFill>
                <a:latin typeface="Montserrat"/>
              </a:rPr>
              <a:t>80,9 %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2700" y="5504688"/>
            <a:ext cx="11731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482D"/>
                </a:solidFill>
                <a:latin typeface="Montserrat"/>
              </a:rPr>
              <a:t>écart 7,4 pts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" y="5769864"/>
            <a:ext cx="10500055" cy="7315"/>
          </a:xfrm>
          <a:prstGeom prst="rect">
            <a:avLst/>
          </a:prstGeom>
          <a:solidFill>
            <a:srgbClr val="E6E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" y="5833872"/>
            <a:ext cx="1050005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233"/>
                </a:solidFill>
                <a:latin typeface="Montserrat"/>
              </a:rPr>
              <a:t>Conséquence pour le choix souverain : </a:t>
            </a:r>
            <a:r>
              <a:rPr sz="1000" b="0" i="0">
                <a:solidFill>
                  <a:srgbClr val="4A5162"/>
                </a:solidFill>
                <a:latin typeface="Montserrat"/>
              </a:rPr>
              <a:t>un modèle moins bien classé, bien harnaché et orchestré, peut couvrir une large part du quotidien ; le bench élargi tranchera.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" y="6254496"/>
            <a:ext cx="11048695" cy="13990"/>
          </a:xfrm>
          <a:prstGeom prst="rect">
            <a:avLst/>
          </a:prstGeom>
          <a:solidFill>
            <a:srgbClr val="E6E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" y="63093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5162"/>
                </a:solidFill>
                <a:latin typeface="Montserrat"/>
              </a:rPr>
              <a:t>ippon</a:t>
            </a:r>
            <a:r>
              <a:rPr sz="1050" b="0" i="0">
                <a:solidFill>
                  <a:srgbClr val="9AA0B0"/>
                </a:solidFill>
                <a:latin typeface="Montserrat"/>
              </a:rPr>
              <a:t>   ·   Souveraineté et performance des modèles et harness — Secrétariat général des Ministères sociaux (DNUM)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309360"/>
            <a:ext cx="11045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A0B0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