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en Système de design de l'État (DSFR 1.15.3 : police Marianne, bleu France #000091, rouge Marianne #E1000F, gris #161616/#666666/#DDDDDD, badges succès/erreur/avertissement, bloc-marque et pictogrammes officiels). Refonte du 23/09/2026 du deck Ippon du 03/09/2026 : modèles mis à jour (Opus 5.5 sorti le 22/09/2026, Fable 5.1), ajout des stacks OpenAI via Bedrock (GPT-6 Sol, GPT-5.6 Terra ; GPT-6 Astra exclu à la demande du client), prix revérifiés. Sources détaillées dans les notes des slides 2 à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Souveraineté au sens CNIL : ce qui compte est la juridiction de l'opérateur (et de ses maisons mères), pas la région d'hébergement. AWS reste soumis au CLOUD Act (2018) quelle que soit la région : Bedrock n'est donc jamais souverain, même à Paris ; cela vaut pour les modèles Anthropic comme pour les modèles OpenAI servis par Bedrock. Conformité RGPD : axe distinct ; Bedrock région UE + DPA AWS est conforme ; OpenRouter insuffisant.</a:t>
            </a:r>
          </a:p>
          <a:p>
            <a:r>
              <a:t>CLOUD Act : loi US de 2018 ; les fournisseurs soumis au droit US doivent remettre les données sur demande des autorités US, quelle que soit la localisation. FISA 702 : surveillance des non-Américains. Sources : LexisNexis 'Cloud Act et RGPD' ; LeMagIT 'CLOUD Act : quels risques pour les clients européens'.</a:t>
            </a:r>
          </a:p>
          <a:p>
            <a:r>
              <a:t>DPF (Data Privacy Framework, décision d'adéquation de juillet 2023) : recours Latombe rejeté par le Tribunal de l'UE le 03/09/2025 (T-553/23) ; pourvoi devant la CJUE déposé le 31/10/2025 (C-703/25 P), pas de date d'audience connue (IAPP ; EDPL 2026/1).</a:t>
            </a:r>
          </a:p>
          <a:p>
            <a:r>
              <a:t>SecNumCloud 3.2 (ANSSI, 2022) : exigences techniques + critères d'immunité aux lois extraterritoriales : prestataire et maisons mères établis dans l'UE, contrôle du capital, données/métadonnées/journaux/clés en UE, administration depuis l'UE, administrateurs habilités. Nuance : protection documentée et contractualisée, pas une neutralisation du droit US (CIO-Online). Doctrine 'cloud au centre' (circulaires 2021/2023) : données sensibles sur offre qualifiée SecNumCloud. Albert (DINUM) : hébergé sur Outscale (Dassault Systèmes), qualifié SecNumCloud 3.2.</a:t>
            </a:r>
          </a:p>
          <a:p>
            <a:r>
              <a:t>VÉRIFICATIONS DU 03/09/2026 (inchangées au 23/09) : OUTSCALE LLMaaS = modèles Mistral servis sur la région SecNumCloud 3.2 : souverain. OVHCLOUD AI Endpoints : hébergé en France (Gravelines) mais hors périmètre SecNumCloud (services IA visés fin 2026) : même statut que Scaleway. MISTRAL : La Plateforme a fonctionné sur Azure, Google Cloud et CoreWeave jusqu'au datacenter de Bruyères-le-Châtel (fin août 2026) ; part encore servie depuis des clouds tiers inconnue : Mistral n'est pas listé comme voie souveraine en tant que service. UGAP : canal d'achat (marché cloud IaaS/PaaS porté par Capgemini : AWS, Google Cloud, Azure, Oracle, IBM aux côtés d'Outscale, OVHcloud, Scaleway, Cloud Temple), pas un label. S3NS (Thales + Google) SecNumCloud 3.2 le 17/12/2025, Vertex AI prévu S2 2026 : à surveiller, pas disponible.</a:t>
            </a:r>
          </a:p>
          <a:p>
            <a:r>
              <a:t>VÉRIFICATION DU 23/09/2026 (résidence UE sur Bedrock) : Opus 5.5 et Sonnet 5 : profil Geo EU disponible (eu.anthropic.claude-opus-5-5, eu.anthropic.claude-sonnet-5 ; Paris, Francfort, Irlande, Stockholm en Geo et Global, pas d'in-region sur bedrock-runtime), ZDR par défaut. Fable 5.1 : pas de profil Geo EU, Global uniquement depuis l'UE, endpoint régional us-east-1 seul, rétention 30 jours obligatoire (Covered Model, revue humaine AWS possible), ZDR réservé aux clients Enterprise Frontier Safeguards jusqu'au 31/12/2026. GPT-6 Sol et GPT-5.6 Terra : aucun profil eu.openai.*, in-region us-east-1 / us-east-2 / us-west-2 (mantle), Geo US et Inde ; les huit régions UE listées ne sont accessibles qu'en Global CRIS ; AWS (blog du 20/08/2026) : « If your workload has data residency requirements that restrict processing to specific geographies, use the geographic profile for that geography » ; fiche GPT-6 Sol non publiée au 23/09. Sources : fiches modèle docs.aws.amazon.com (model-card-anthropic-claude-opus-5-5, -fable-5-1, -sonnet-5, model-card-openai-gpt-56-terra), data-retention.html, abuse-detection.html, platform.claude.com/docs/en/build-with-claude/claude-in-amazon-bedrock#regions.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Matrice mise à jour le 23/09/2026 (refonte DSFR). Règle absolue : aucun score estimé ; sans donnée = « non publié ». Ordre : DeepSWE décroissant.</a:t>
            </a:r>
          </a:p>
          <a:p>
            <a:r>
              <a:t>DEEPSWE v1.1 (leaderboard officiel Datacurve https://deepswe.datacurve.ai/, harness fixé mini-swe-agent, 113 tâches, IC 95 % run-to-run sur 4 runs, page mise à jour le 22/09/2026) : GPT-5.6 Terra [max] 69,6 ±2,6 (ligne présente dans les données, hors tableau par défaut) ; Kimi K3 [max] 69 ±5 ; Sonnet 5 [max] 53,8 ±4,2 (26,40 $/tâche) ; DeepSeek V4 Flash 0731 [max] 53 ±4 (54,4 auto-rapporté) ; GLM 5.2 [max] 44 ±2. Absents du leaderboard : Opus 5.5 (74,2 auto-rapporté, system card, 5 essais, harness non précisé), Fable 5.1 (67,4 auto-rapporté, system card), GPT-6 Sol (68,8 auto-rapporté, annonce OpenAI du 22/09). Repères : Opus 5 [max] 73,6 ±3,9 ; Fable 5 [xhigh] 69,9 ±3,2 ; GPT-6 Astra [xhigh] 74 ±3 (rang 1).</a:t>
            </a:r>
          </a:p>
          <a:p>
            <a:r>
              <a:t>TERMINAL-BENCH 2.1 : le leaderboard officiel tbench.ai n'est plus affiché depuis le passage à Terminal-Bench 4.0 (28/08/2026 ; soumissions 2.1 closes) ; données 2.1 lues le 23/09 via l'endpoint de données du site (mise à jour 03/09/2026, 22 lignes, 89 tâches × 5 essais) : GPT-5.6 Terra Codex [max] 78,4 ±2,5 ; Sonnet 5 Claude Code [high] 74,6 ±3,2 ; Fable 5 Claude Code [xhigh] 83,8 ±2,3 et Terminus 2 [high] 80,4 ±2,3 ; GPT-6 Astra Codex [high] 87,4 ±1,8 (rang 1). Aucune entrée Kimi K3, Opus 5.5, Fable 5.1, GPT-6 Sol, DeepSeek, GLM 5.2. Auto-rapportés : Terra 87,4 (annonce OpenAI, harness non nommé) ; Kimi K3 88,3 (Moonshot, harness Kimi Code) ; Sonnet 5 80,4 (system card, mini-SWE-agent) ; DeepSeek 0731 82,7 ; GLM 5.2 81,0. Indépendants : Fable 5.1 91,4 (Artificial Analysis, Terminus 2, effort max, https://artificialanalysis.ai/evaluations/terminalbench-2-1) ; GPT-6 Sol 83,2 (vals.ai, 22/09/2026, harness non documenté) ; Kimi K3 80,9 (vals.ai). Opus 5.5 : aucune mesure 2.1 ; TB 4.0 auto-rapporté 66,4 (Claude Code xhigh). TB 4.0 officiel : Fable 5.1 57,9 ±3,8, Terra 21,5, GPT-6 Astra 58,2 : TB 4.0 (66 tâches) est un autre benchmark, non comparable au 2.1 ; à envisager comme colonne agentique à la prochaine mise à jour du bench.</a:t>
            </a:r>
          </a:p>
          <a:p>
            <a:r>
              <a:t>SWE-BENCH VERIFIED (baseline grisée) : Anthropic et OpenAI ne le publient plus (SWE-bench Pro à la place : Opus 5.5 89,9, Fable 5.1 81,2, Terra 63,4). Sonnet 5 : 85,2 auto-rapporté (system card, 5 essais) et 79,6 ±1,8 vals.ai (harness bash minimal, page du 01/09/2026) ; Kimi K3 93,4 vals.ai ; DeepSeek 0731 et GLM 5.2 non publiés. vals.ai semble afficher 95,4 ±0,9 pour Terra (valeur lue dans le balisage, non confirmée à l'écran : non reprise).</a:t>
            </a:r>
          </a:p>
          <a:p>
            <a:r>
              <a:t>PRIX (publics, hors remises, relevés le 23/09/2026). Anthropic (https://platform.claude.com/docs/en/about-claude/pricing) : Opus 5.5 4/20 $ (cache lecture 0,20 $ ; fast mode 8/40 $ sur l'API Anthropic uniquement, pas sur Bedrock), Fable 5.1 10/50 $, Sonnet 5 2/10 $ (prix introductif devenu standard, hausse du 01/09 annulée). Bedrock (https://aws.amazon.com/bedrock/pricing/ et fiches modèle docs.aws.amazon.com) : profil Global = prix éditeur ; profil Geo (résidence UE ou US) et in-region = +10 % : Opus 5.5 4,40/22 $, Sonnet 5 2,20/11 $, Fable 5.1 11/55 $ (us-east-1 seulement), Terra 2,20/13,20 $. OpenAI (https://developers.openai.com/api/docs/pricing) : GPT-6 Sol 2/10 $ (cache 0,20), GPT-5.6 Terra 2/12 $ (baisse du 30/07/2026) ; fiche Bedrock GPT-6 Sol non publiée au 23/09 (GA du 22/09). Kimi K3 : 3/15 $ (prix Moonshot et prix de référence OpenRouter ; le 2,55/12,75 $ relevé le 02/09 était l'endpoint tiers Makora). Scaleway (HT, https://www.scaleway.com/en/pricing/model-as-a-service/) : deepseek-v4-flash-0731 0,40/0,80 €, glm-5.2 1,80/5,50 €. Albert API : gratuit pour les agents de la fonction publique de l'État, quotas (DeepSeek : 50 RPM, 246k TPM), modèle deepseek-ai/DeepSeek-V4-Flash-0731 en expérimentation jusqu'au 01/10/2026, contexte 131k (https://ia.numerique.gouv.fr/outils-ia/albert-api/tarifs-et-limites/ ; https://guides.ia.numerique.gouv.fr/albert-api/modeles/available-models) : le checkpoint servi par Albert est bien le 0731 (l'hypothèse « preview d'avril » du 02/09 est levée ; Albert et Scaleway servent le même modèle, seuls le contexte, le prix et le niveau de souveraineté diffèrent). Taux BCE du 22/09 : 1 € = 1,1463 $.</a:t>
            </a:r>
          </a:p>
          <a:p>
            <a:r>
              <a:t>SOUVERAINETÉ (CNIL) : Bedrock non souverain (CLOUD Act, quelle que soit la région), Claude comme GPT ; OpenRouter : éditeur chinois + routeur US ; Albert (SecNumCloud, État) et Scaleway (cloud FR, hébergé UE) souverains.</a:t>
            </a:r>
          </a:p>
          <a:p>
            <a:r>
              <a:t>CONFORMITÉ RGPD : Opus 5.5 et Sonnet 5 disponibles en profil Geo EU (eu.anthropic.*, données maintenues en UE), ZDR par défaut : bonne. Fable 5.1 : aucun profil UE sur Bedrock (Global uniquement, endpoint régional us-east-1 seul), opt-in data_retention_mode aws_review obligatoire, rétention 30 jours de tout le trafic avec revue humaine AWS possible : sous conditions. GPT-6 Sol et GPT-5.6 Terra : aucun profil eu.openai.*, in-region États-Unis (Inde en Geo pour Terra), UE accessible seulement en Global (routage mondial sans contrainte de résidence) : traitement hors UE, conformité sous conditions (transfert encadré : DPF, clauses types, DPA AWS). OpenRouter insuffisante. Scaleway et Albert bonnes.</a:t>
            </a:r>
          </a:p>
          <a:p>
            <a:r>
              <a:t>HARNESS : Codex CLI documenté officiellement avec Bedrock (provider amazon-bedrock, API Responses ; https://aws.amazon.com/blogs/machine-learning/get-started-with-openai-gpt-5-6-sol-terra-and-luna-on-amazon-bedrock/) ; OpenCode possible via bedrock-runtime (Converse) mais non vérifié pour les modèles OpenAI.</a:t>
            </a:r>
          </a:p>
          <a:p>
            <a:r>
              <a:t>EXCLUSION GPT-6 ASTRA (demande client) : 10/50 $ (Bedrock Geo 11/55 $), DeepSWE 74 ±3 officiel, TB 2.1 87,4 ±1,8 officiel (Codex high) : cinq fois le prix de GPT-6 Sol pour quelques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Doctrine performance fixée le 02/09/2026 : DeepSWE v1.1 en principal (leaderboard officiel Datacurve, harness fixé mini-swe-agent, donc score du modèle seul, indépendant du harness) ; Terminal-Bench 2.1 en agentique (tâches terminal en conteneur, harness libre : Terminus 2 de référence, ou harness éditeur type Claude Code ou Codex CLI) ; SWE-bench Verified conservé en baseline grisée (500 issues GitHub Python validées par des annotateurs humains, OpenAI 2024 ; saturé en tête, harness hétérogènes, chiffres surtout éditeurs). Règle absolue : ne jamais estimer ni extrapoler un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harness : ensemble outils + gestion du contexte + boucle agentique + permissions qui entoure le modèle (Claude Code, Codex CLI, OpenCode...). Doctrine fournisseurs du 14/08/2026 : Claude Code est très gourmand en contexte, taillé pour les modèles frontier ; risque de moins bien marcher avec les modèles moins onéreux (open-weight). Codex CLI sur Bedrock : environ 9 400 tokens de surcharge par requête (billet AWS). Cible : une observabilité indépendante du harness pour choisir librement le couple harness × modèle.</a:t>
            </a:r>
          </a:p>
          <a:p>
            <a:r>
              <a:t>Preuve chiffrée (Terminal-Bench 2.1, leaderboard officiel lu le 23/09/2026 via l'endpoint de données tbench.ai, mise à jour du 03/09/2026) : GPT-5.5 à réglage identique xhigh : Codex 83,2 ±2,2 vs Terminus 2 78,0 ±2,4 (+5,2 pts, effet harness seul) ; Fable 5 : Claude Code xhigh 83,8 ±2,3 vs Terminus 2 high 80,4 ±2,3 (+3,4 pts, réglages différents) ; Opus 4.7 max : Claude Code 68,9 vs Terminus 2 66,1 (+2,8 pts). Sonnet 5 : 74,6 ±3,2 officiel (Claude Code high) vs 80,4 annoncé (system card, mini-SWE-agent) ; Kimi K3 : 88,3 auto-rapporté (Kimi Code) vs 80,9 vals.ai : ces deux écarts mêlent effet harness et effet de mesure (auto-rapporté vs indépendant), à présenter comme tels. Fable 5.1, Opus 5.5, GPT-6 Sol : aucune paire officielle disponible (leaderboard 2.1 clos), d'où le recours à GPT-5.5 et Fable 5 comme exemples documentés.</a:t>
            </a:r>
          </a:p>
          <a:p>
            <a:r>
              <a:t>Bonnes pratiques et orchestration : leviers observés dans l'accompagnement ; pas de chiffrage publié comparable, d'où l'absence de pourcentage sur cette slide. Le bench élargi en conditions réelles (Albert / DeepSeek 0731 via OpenCode face à Claude et GPT via Bedrock) mesurera l'effet réel sur le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-marque-g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46469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15149" y="53035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Marianne"/>
              </a:rPr>
              <a:t>Secrétariat général des ministères sociaux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Marianne"/>
              </a:rPr>
              <a:t>Direction du numérique (DNUM)  ·  Transformation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11094415" cy="114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2194560"/>
            <a:ext cx="79552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0091"/>
                </a:solidFill>
                <a:latin typeface="Marianne"/>
              </a:rPr>
              <a:t>Souveraineté et performance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0091"/>
                </a:solidFill>
                <a:latin typeface="Marianne"/>
              </a:rPr>
              <a:t>des modèles et des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5020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3A3A"/>
                </a:solidFill>
                <a:latin typeface="Marianne"/>
              </a:rPr>
              <a:t>Ce que « souverain » et « conforme » veulent dire, ce que mesure le bench, et ce qui fait réellement la performance d'un agent de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331595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3315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Coding agentique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8251" y="5074920"/>
            <a:ext cx="1457071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8251" y="5074920"/>
            <a:ext cx="14570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9 stacks comparées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338" y="5074920"/>
            <a:ext cx="2407793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338" y="5074920"/>
            <a:ext cx="24077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Chiffres vérifiés le 23/09/2026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9147" y="5074920"/>
            <a:ext cx="1273683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9147" y="5074920"/>
            <a:ext cx="12736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Septembre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2194560"/>
            <a:ext cx="2910535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icto-pad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2377440"/>
            <a:ext cx="621792" cy="621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92640" y="2359152"/>
            <a:ext cx="17675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Marianne"/>
              </a:rPr>
              <a:t>Souveraineté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une question de juridiction, pas d'adresse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3310128"/>
            <a:ext cx="2910535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icto-data-visua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3493008"/>
            <a:ext cx="621792" cy="6217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92640" y="3474720"/>
            <a:ext cx="17675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Marianne"/>
              </a:rPr>
              <a:t>Bench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trois mesures, neuf stacks, aucun chiffre estimé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425696"/>
            <a:ext cx="2910535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icto-flow-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4608576"/>
            <a:ext cx="621792" cy="6217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92640" y="4590288"/>
            <a:ext cx="17675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Marianne"/>
              </a:rPr>
              <a:t>Harness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l'outillage et le pilotage font le niveau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54496"/>
            <a:ext cx="11094415" cy="25603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3A3A"/>
                </a:solidFill>
                <a:latin typeface="Marianne"/>
              </a:rPr>
              <a:t>Ippon Technologies</a:t>
            </a:r>
            <a:r>
              <a:rPr sz="900" b="0" i="0">
                <a:solidFill>
                  <a:srgbClr val="666666"/>
                </a:solidFill>
                <a:latin typeface="Marianne"/>
              </a:rPr>
              <a:t>  ·  document de travail préparé pour la Direction du numérique des ministères sociaux  ·  mission d'accompagnement à la transformation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-ma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"/>
            <a:ext cx="748642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8450" y="2834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Secrétariat général des ministères sociaux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Direction du numérique (DNUM)  ·  Transformation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9438" y="320040"/>
            <a:ext cx="2523617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9438" y="320040"/>
            <a:ext cx="252361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Cadre  ·  deux questions distinctes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86968"/>
            <a:ext cx="11094415" cy="114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91"/>
                </a:solidFill>
                <a:latin typeface="Marianne"/>
              </a:rPr>
              <a:t>Souverain n'est pas synonyme de conforme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rianne"/>
              </a:rPr>
              <a:t>La conformité protège les données personnelles ; la souveraineté protège de l'accès d'un État tiers. Deux questions, deux réponses.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5437479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to-pad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48256"/>
            <a:ext cx="603504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6192" y="2066543"/>
            <a:ext cx="42487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SOUVERAINETÉ  ·  QUI PEUT EXIGER L'ACCÈS ?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Une question de juridiction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79776"/>
            <a:ext cx="4934559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Critère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le droit applicable à l'opérateur et à ses maisons mères, pas l'adresse des serveurs. Un acteur US en région UE reste soumis au droit US (lecture CNIL) : Bedrock, Vertex AI ou Azure, même à Paris.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Tiennent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Albert et Outscale LLMaaS (SecNumCloud 3.2) ; Scaleway et OVHcloud AI Endpoints (cloud FR, hors périmètre SecNumCloud).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Mistral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éditeur français, mais La Plateforme a tourné sur Azure et Google Cloud. Souverain via Outscale ou en poids ouverts auto-hébergés.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5575" y="1847088"/>
            <a:ext cx="5437479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cto-con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319" y="2048256"/>
            <a:ext cx="603504" cy="603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93127" y="2066543"/>
            <a:ext cx="42487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CONFORMITÉ  ·  LES DONNÉES SONT-ELLES TRAITÉES LÉGALEMENT ?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Une question de RGPD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2779776"/>
            <a:ext cx="4934559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Critère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base légale, contrat de sous-traitance (DPA), sécurité, transferts hors UE encadrés.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Avec un acteur US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Bedrock en profil UE avec le DPA AWS est conforme RGPD (Opus 5.5, Sonnet 5). Les modèles OpenAI et Fable 5.1 n'ont pas de profil UE sur Bedrock : traitement aux États-Unis, conformité sous conditions (transfert encadré : DPF, clauses types).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Insuffisante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OpenRouter, routage par un intermédiaire US sans garanties 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24528"/>
            <a:ext cx="5437479" cy="126187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89120"/>
            <a:ext cx="4925415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E0500"/>
                </a:solidFill>
                <a:latin typeface="Marianne"/>
              </a:rPr>
              <a:t>CLOUD ACT (ÉTATS-UNIS, 2018)  </a:t>
            </a:r>
            <a:r>
              <a:rPr sz="950" b="1" i="0">
                <a:solidFill>
                  <a:srgbClr val="666666"/>
                </a:solidFill>
                <a:latin typeface="Marianne"/>
              </a:rPr>
              <a:t>+ FISA 702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Marianne"/>
              </a:rPr>
              <a:t>Les fournisseurs soumis au droit US doivent remettre les données aux autorités américaines, où qu'elles soient stockées. </a:t>
            </a:r>
            <a:r>
              <a:rPr sz="1050" b="1" i="0">
                <a:solidFill>
                  <a:srgbClr val="161616"/>
                </a:solidFill>
                <a:latin typeface="Marianne"/>
              </a:rPr>
              <a:t>La localisation ne protège pas.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Transferts UE-US (DPF, 2023) : validé en première instance le 03/09/2025, pourvoi pendant devant la CJUE (C-703/25 P).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575" y="4224528"/>
            <a:ext cx="5437479" cy="126187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389120"/>
            <a:ext cx="4925415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753C"/>
                </a:solidFill>
                <a:latin typeface="Marianne"/>
              </a:rPr>
              <a:t>SECNUMCLOUD 3.2 (ANSSI)  </a:t>
            </a:r>
            <a:r>
              <a:rPr sz="950" b="1" i="0">
                <a:solidFill>
                  <a:srgbClr val="666666"/>
                </a:solidFill>
                <a:latin typeface="Marianne"/>
              </a:rPr>
              <a:t>référentiel du « cloud de confiance »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Marianne"/>
              </a:rPr>
              <a:t>Qualification de sécurité + critères d'immunité aux lois extraterritoriales : </a:t>
            </a:r>
            <a:r>
              <a:rPr sz="1050" b="1" i="0">
                <a:solidFill>
                  <a:srgbClr val="161616"/>
                </a:solidFill>
                <a:latin typeface="Marianne"/>
              </a:rPr>
              <a:t>siège et capital dans l'UE, données, clés et administration en UE, personnel habilité.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Doctrine « cloud au centre » : données sensibles sur cloud qualifié. Qualifiés : Outscale (héberge Albert), OVHcloud (IaaS), S3NS (Thales-Google) depuis 12/2025.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14416"/>
            <a:ext cx="11094415" cy="530352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614416"/>
            <a:ext cx="50292" cy="5303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72414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616"/>
                </a:solidFill>
                <a:latin typeface="Marianne"/>
              </a:rPr>
              <a:t>À retenir  </a:t>
            </a:r>
            <a:r>
              <a:rPr sz="1100" b="0" i="0">
                <a:solidFill>
                  <a:srgbClr val="3A3A3A"/>
                </a:solidFill>
                <a:latin typeface="Marianne"/>
              </a:rPr>
              <a:t>Bedrock (Claude comme GPT), Vertex AI ou Azure : conformes quand le modèle est servi en résidence UE, jamais souverains. Albert, Outscale, Scaleway, OVHcloud : les deux. OpenRouter : ni l'un ni l'autre. Le référencement UGAP est un canal d'achat, pas un label de souveraineté.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54496"/>
            <a:ext cx="11094415" cy="25603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3A3A"/>
                </a:solidFill>
                <a:latin typeface="Marianne"/>
              </a:rPr>
              <a:t>Ippon Technologies pour la DNUM</a:t>
            </a:r>
            <a:r>
              <a:rPr sz="850" b="0" i="0">
                <a:solidFill>
                  <a:srgbClr val="666666"/>
                </a:solidFill>
                <a:latin typeface="Marianne"/>
              </a:rPr>
              <a:t>  ·  Souveraineté et performance des modèles et des harness  ·  document de travail, Septembre 2026  ·  chiffres vérifiés le 23/09/2026, sources en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-ma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"/>
            <a:ext cx="748642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8450" y="2834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Secrétariat général des ministères sociaux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Direction du numérique (DNUM)  ·  Transformation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4333" y="320040"/>
            <a:ext cx="2728722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4333" y="320040"/>
            <a:ext cx="27287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Bench  ·  9 stacks de coding agentique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86968"/>
            <a:ext cx="11094415" cy="114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91"/>
                </a:solidFill>
                <a:latin typeface="Marianne"/>
              </a:rPr>
              <a:t>Performance, prix, souveraineté, conformité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rianne"/>
              </a:rPr>
              <a:t>Trois mesures de performance, prix par million de tokens (entrée · sortie), souveraineté au sens CNIL, conformité RGPD  ·  vérifié le 23/09/2026.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094415" cy="1828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2532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Harness · modèle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fournisseur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828800"/>
            <a:ext cx="10698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DeepSWE v1.1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modèle seul ·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28800"/>
            <a:ext cx="12070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Terminal-Bench 2.1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agentique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828800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SWE-bench Verified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baseline · saturé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1828800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Prix / 1M tokens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entrée · sortie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1828800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Souveraineté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au sens CNIL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1828800"/>
            <a:ext cx="1420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Conformité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RGPD / données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9424"/>
            <a:ext cx="11094415" cy="4023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44444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249424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Claude 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Opus 5.5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AWS Bedrock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249424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74,2 %ᵛ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hors leaderboard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249424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TB 4.0 : 66,4 %ᵛ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249424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SWE-bench Pro 89,9ᵛ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2249424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4 $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20 $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3648" y="2295144"/>
            <a:ext cx="1119949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2295144"/>
            <a:ext cx="111994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NON SOUVERAINE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6" y="248716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68128" y="2295144"/>
            <a:ext cx="534352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8128" y="2295144"/>
            <a:ext cx="534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BONNE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6416" y="2487168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profil UE · DPA AWS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651760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046780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51760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Codex CLI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GPT-5.6 Terra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AWS Bedrock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2651760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69,6 %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±2,6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2651760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78,4 %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±2,5 · 87,4 %ᵛ annonce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2651760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2651760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2 $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12 $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2697480"/>
            <a:ext cx="1119949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2697480"/>
            <a:ext cx="111994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NON SOUVERAINE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1936" y="288950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68128" y="2697480"/>
            <a:ext cx="1186586" cy="18288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68128" y="2697480"/>
            <a:ext cx="118658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4000"/>
                </a:solidFill>
                <a:latin typeface="Marianne"/>
              </a:rPr>
              <a:t>SOUS CONDITIONS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6416" y="2889504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traitement hors UE (États-Unis)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054096"/>
            <a:ext cx="11094415" cy="4023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3449116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54096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OpenCode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Kimi K3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OpenRouter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5848" y="3054096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69 %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±5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0288" y="3054096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88,3 %ᵛ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80,9 % 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3054096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29292"/>
                </a:solidFill>
                <a:latin typeface="Marianne"/>
              </a:rPr>
              <a:t>93,4 % 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4927" y="3054096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3 $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15 $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13648" y="3099816"/>
            <a:ext cx="1119949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13648" y="3099816"/>
            <a:ext cx="111994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NON SOUVERAINE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31936" y="329184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CN + routeur 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68128" y="3099816"/>
            <a:ext cx="1000810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68128" y="3099816"/>
            <a:ext cx="100081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INSUFFISANTE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6416" y="3291840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sans garanties UE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3456432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3851452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3456432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Codex CLI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GPT-6 Sol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AWS Bedrock · GA du 22/09, fiche AWS à venir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55848" y="3456432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68,8 %ᵛ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hors leaderboard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288" y="3456432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83,2 % *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vals.ai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61888" y="3456432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24927" y="3456432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2 $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10 $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Bedrock : non publié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13648" y="3502152"/>
            <a:ext cx="1119949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13648" y="3502152"/>
            <a:ext cx="111994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NON SOUVERAINE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31936" y="36941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Act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68128" y="3502152"/>
            <a:ext cx="1186586" cy="18288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68128" y="3502152"/>
            <a:ext cx="118658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4000"/>
                </a:solidFill>
                <a:latin typeface="Marianne"/>
              </a:rPr>
              <a:t>SOUS CONDITIONS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6416" y="3694176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hors UE · régions non publiées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3858768"/>
            <a:ext cx="11094415" cy="4023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0" y="4253788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3858768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Claude 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Fable 5.1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AWS Bedrock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5848" y="3858768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67,4 %ᵛ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hors leaderboard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90288" y="3858768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91,4 % *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Terminus 2 · AA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61888" y="3858768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SWE-bench Pro 81,2ᵛ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4927" y="3858768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10 $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50 $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13648" y="3904487"/>
            <a:ext cx="1119949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13648" y="3904487"/>
            <a:ext cx="111994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NON SOUVERAINE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31936" y="4096511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Act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168128" y="3904487"/>
            <a:ext cx="1186586" cy="18288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68128" y="3904487"/>
            <a:ext cx="118658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34000"/>
                </a:solidFill>
                <a:latin typeface="Marianne"/>
              </a:rPr>
              <a:t>SOUS CONDITIONS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86416" y="4096511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hors UE · rétention 30 j AWS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4261104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48640" y="4656124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8368" y="4261104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Claude 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Sonnet 5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AWS Bedrock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55848" y="4261104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53,8 %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±4,2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90288" y="4261104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80,4 %ᵛ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74,6 % officiel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61888" y="4261104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29292"/>
                </a:solidFill>
                <a:latin typeface="Marianne"/>
              </a:rPr>
              <a:t>85,2 %ᵛ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79,6 % *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24927" y="4261104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2 $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10 $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13648" y="4306824"/>
            <a:ext cx="1119949" cy="18288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13648" y="4306824"/>
            <a:ext cx="111994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E0500"/>
                </a:solidFill>
                <a:latin typeface="Marianne"/>
              </a:rPr>
              <a:t>NON SOUVERAINE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31936" y="449884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Act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68128" y="4306824"/>
            <a:ext cx="534352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68128" y="4306824"/>
            <a:ext cx="534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BONNE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86416" y="4498848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profil UE · DPA AWS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4663440"/>
            <a:ext cx="11094415" cy="4023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8640" y="5058460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8368" y="4663440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OpenCode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DeepSeek V4 Flash 0731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Scaleway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55848" y="4663440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53 %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54,4 %ᵛ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90288" y="4663440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82,7 %ᵛ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61888" y="4663440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24927" y="4663440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0,40 €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0,80 €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613648" y="4709159"/>
            <a:ext cx="1158316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13648" y="4709159"/>
            <a:ext cx="11583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SOUVERAINE (UE)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31936" y="4901183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FR · hébergé UE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168128" y="4709159"/>
            <a:ext cx="534352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68128" y="4709159"/>
            <a:ext cx="534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BONNE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86416" y="4901183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RGPD · cloud FR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5065776"/>
            <a:ext cx="1109441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48640" y="5460796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8368" y="5065776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OpenCode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DeepSeek V4 Flash 0731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Albert (DINUM) · expérimentation, contexte 131k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55848" y="5065776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53 %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±4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90288" y="5065776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82,7 %ᵛ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61888" y="5065776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24927" y="5065776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gratuit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agents de l'État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613648" y="5111496"/>
            <a:ext cx="867537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13648" y="5111496"/>
            <a:ext cx="8675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SOUVERAINE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31936" y="53035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SecNumCloud · État FR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168128" y="5111496"/>
            <a:ext cx="534352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68128" y="5111496"/>
            <a:ext cx="534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BONNE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186416" y="5303520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cadre État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5468112"/>
            <a:ext cx="11094415" cy="4023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48640" y="5863132"/>
            <a:ext cx="11094415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8368" y="5468112"/>
            <a:ext cx="2532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91"/>
                </a:solidFill>
                <a:latin typeface="Marianne"/>
              </a:rPr>
              <a:t>OpenCode  ·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GLM 5.2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Marianne"/>
              </a:rPr>
              <a:t>Scaleway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55848" y="5468112"/>
            <a:ext cx="1069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44,0 %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90288" y="5468112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Marianne"/>
              </a:rPr>
              <a:t>81,0 %ᵛ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961888" y="5468112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29292"/>
                </a:solidFill>
                <a:latin typeface="Marianne"/>
              </a:rPr>
              <a:t>non publié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24927" y="5468112"/>
            <a:ext cx="1024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1,80 €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  ·  5,50 €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613648" y="5513832"/>
            <a:ext cx="1158316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13648" y="5513832"/>
            <a:ext cx="11583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SOUVERAINE (UE)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31936" y="570585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cloud FR · hébergé UE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0168128" y="5513832"/>
            <a:ext cx="534352" cy="182880"/>
          </a:xfrm>
          <a:prstGeom prst="roundRect">
            <a:avLst>
              <a:gd name="adj" fmla="val 50000"/>
            </a:avLst>
          </a:prstGeom>
          <a:solidFill>
            <a:srgbClr val="B8F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168128" y="5513832"/>
            <a:ext cx="534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8753C"/>
                </a:solidFill>
                <a:latin typeface="Marianne"/>
              </a:rPr>
              <a:t>BONNE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86416" y="5705856"/>
            <a:ext cx="140177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6666"/>
                </a:solidFill>
                <a:latin typeface="Marianne"/>
              </a:rPr>
              <a:t>RGPD · cloud FR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591616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66666"/>
                </a:solidFill>
                <a:latin typeface="Marianne"/>
              </a:rPr>
              <a:t>Sans marque = officiel  ·  ᵛ auto-rapporté par l'éditeur  ·  * mesure indépendante (vals.ai, Artificial Analysis)  ·  aucun chiffre estimé : sans donnée, « non publié »  ·  prix publics hors remises (Bedrock : profil Global ; résidence UE en profil Geo : +10 %), Scaleway en euros HT  ·  TB 4.0 = nouveau Terminal-Bench, non comparable au 2.1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8640" y="6254496"/>
            <a:ext cx="11094415" cy="25603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3A3A"/>
                </a:solidFill>
                <a:latin typeface="Marianne"/>
              </a:rPr>
              <a:t>Ippon Technologies pour la DNUM</a:t>
            </a:r>
            <a:r>
              <a:rPr sz="850" b="0" i="0">
                <a:solidFill>
                  <a:srgbClr val="666666"/>
                </a:solidFill>
                <a:latin typeface="Marianne"/>
              </a:rPr>
              <a:t>  ·  Souveraineté et performance des modèles et des harness  ·  document de travail, Septembre 2026  ·  chiffres vérifiés le 23/09/2026, sources en notes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1153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-ma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"/>
            <a:ext cx="748642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8450" y="2834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Secrétariat général des ministères sociaux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Direction du numérique (DNUM)  ·  Transformation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0272" y="320040"/>
            <a:ext cx="2962783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0272" y="320040"/>
            <a:ext cx="2962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Lecture  ·  trois mesures, trois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86968"/>
            <a:ext cx="11094415" cy="114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91"/>
                </a:solidFill>
                <a:latin typeface="Marianne"/>
              </a:rPr>
              <a:t>Ce que mesurent les trois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rianne"/>
              </a:rPr>
              <a:t>Un score n'a de sens qu'avec sa question : le modèle seul, le couple modèle × harness, ou un repère historique.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356402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to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48256"/>
            <a:ext cx="603504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6192" y="2066543"/>
            <a:ext cx="237530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PRINCIPAL  ·  LE MODÈLE SEUL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DeepSWE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34640"/>
            <a:ext cx="310682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Quoi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des tâches d'ingénierie logicielle réelles, résolues de bout en bout par l'agent.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Comment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harness fixé pour tous (mini-swe-agent), leaderboard officiel Datacurve, incertitude publiée.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Ce que dit le score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la capacité agentique intrinsèque du modèle, indépendante du harness.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Limite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certains modèles absents du leaderboard (chiffre éditeur en repli, ou « non publié »).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3834" y="1847088"/>
            <a:ext cx="356402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cto-co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578" y="2048256"/>
            <a:ext cx="603504" cy="603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1386" y="2066543"/>
            <a:ext cx="237530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AGENTIQUE  ·  MODÈLE × HARNESS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Terminal-Bench 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834640"/>
            <a:ext cx="310682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Quoi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des tâches à mener dans un terminal (build, debug, data, admin), dans un conteneur isolé.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Comment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harness libre, Terminus 2 en référence ou harness éditeur (Claude Code, Codex CLI) ; vérifié par tests.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Ce que dit le score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la performance du couple modèle × harness en conditions d'usage.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Limite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beaucoup de scores auto-rapportés, écarts avec les mesures indépendantes.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9028" y="1847088"/>
            <a:ext cx="356402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icto-docu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772" y="2048256"/>
            <a:ext cx="603504" cy="603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6580" y="2066543"/>
            <a:ext cx="237530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BASELINE  ·  REPÈRE HISTORIQUE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SWE-bench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2834640"/>
            <a:ext cx="310682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Quoi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500 issues GitHub Python validées par des humains ; le patch est accepté s'il passe les tests.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Comment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chaque éditeur choisit son harness et ses réglages ; peu de reproductions indépendantes.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Ce que dit le score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un repère de continuité, saturé au-dessus de 90 % en tête de tableau.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1000" b="1" i="0">
                <a:solidFill>
                  <a:srgbClr val="161616"/>
                </a:solidFill>
                <a:latin typeface="Marianne"/>
              </a:rPr>
              <a:t>Limite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harness hétérogènes, chiffres surtout éditeurs : conservé grisé, jamais discriminant.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94415" cy="886967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50292" cy="886967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367528"/>
            <a:ext cx="10637215" cy="667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616"/>
                </a:solidFill>
                <a:latin typeface="Marianne"/>
              </a:rPr>
              <a:t>Règle de lecture  </a:t>
            </a:r>
            <a:r>
              <a:rPr sz="1100" b="0" i="0">
                <a:solidFill>
                  <a:srgbClr val="3A3A3A"/>
                </a:solidFill>
                <a:latin typeface="Marianne"/>
              </a:rPr>
              <a:t>DeepSWE classe les modèles ; Terminal-Bench montre ce que le harness ajoute ; SWE-bench Verified ne sert qu'à situer. Sans marque = officiel · ᵛ éditeur · * indépendant. Aucune case estimée : sans donnée, « non publié ».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54496"/>
            <a:ext cx="11094415" cy="25603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3A3A"/>
                </a:solidFill>
                <a:latin typeface="Marianne"/>
              </a:rPr>
              <a:t>Ippon Technologies pour la DNUM</a:t>
            </a:r>
            <a:r>
              <a:rPr sz="850" b="0" i="0">
                <a:solidFill>
                  <a:srgbClr val="666666"/>
                </a:solidFill>
                <a:latin typeface="Marianne"/>
              </a:rPr>
              <a:t>  ·  Souveraineté et performance des modèles et des harness  ·  document de travail, Septembre 2026  ·  chiffres vérifiés le 23/09/2026, sources en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-ma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"/>
            <a:ext cx="748642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8450" y="2834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616"/>
                </a:solidFill>
                <a:latin typeface="Marianne"/>
              </a:rPr>
              <a:t>Secrétariat général des ministères sociaux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Direction du numérique (DNUM)  ·  Transformation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44914" y="320040"/>
            <a:ext cx="2398140" cy="27432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44914" y="320040"/>
            <a:ext cx="23981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616"/>
                </a:solidFill>
                <a:latin typeface="Marianne"/>
              </a:rPr>
              <a:t>Performance  ·  au-delà du modèle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86968"/>
            <a:ext cx="11094415" cy="114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91"/>
                </a:solidFill>
                <a:latin typeface="Marianne"/>
              </a:rPr>
              <a:t>Ce qui booste un modèle : harness, pratiques,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rianne"/>
              </a:rPr>
              <a:t>Le score du modèle seul est un plancher : le même modèle change de niveau selon son outillage et son pilotage.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356402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to-flow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48256"/>
            <a:ext cx="603504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6192" y="2066543"/>
            <a:ext cx="237530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1  ·  LE HARNESS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L'outillage du modèle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34640"/>
            <a:ext cx="310682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Outils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édition de fichiers, shell, recherche dans le dépôt, connecteurs MCP.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Contexte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compaction, fichiers de mémoire, sous-agents pour isoler les recherches.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Boucle agentique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planifier, agir, vérifier, corriger ; permissions et garde-fous.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Taillé pour un modèle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Claude Code et Codex CLI, gourmands en contexte, visent le frontier ; OpenCode reste neutre.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3834" y="1847088"/>
            <a:ext cx="356402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cto-human-coope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578" y="2048256"/>
            <a:ext cx="603504" cy="603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1386" y="2066543"/>
            <a:ext cx="237530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2  ·  LES BONNES PRATIQUES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L'apport de l'équipe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834640"/>
            <a:ext cx="310682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Contexte projet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un fichier d'instructions (CLAUDE.md, AGENTS.md) : conventions, commandes, architecture.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Spécifier avant de coder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mode plan, tâches petites et vérifiables, critères d'acceptation.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Les tests comme oracle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l'agent boucle sur les tests ; la revue humaine reste le dernier filtre.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Skills réutilisables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procédures capitalisées, partagées entre équipes.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9028" y="1847088"/>
            <a:ext cx="356402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icto-eco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772" y="2048256"/>
            <a:ext cx="603504" cy="603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6580" y="2066543"/>
            <a:ext cx="237530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3  ·  L'ORCHESTRATION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Marianne"/>
              </a:rPr>
              <a:t>Des agents en équipe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2834640"/>
            <a:ext cx="310682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Découper les rôles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planificateur, exécutant, vérificateur ; sous-agents en parallèle.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Router les modèles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le frontier pour le difficile, l'économique et souverain pour le volume.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Workflows déterministes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hooks, CI/CD, revues automatiques dans le pipeline.</a:t>
            </a:r>
          </a:p>
          <a:p>
            <a:pPr algn="l" marL="164592" indent="-164592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66666"/>
                </a:solidFill>
                <a:latin typeface="Marianne"/>
              </a:rPr>
              <a:t>•  </a:t>
            </a:r>
            <a:r>
              <a:rPr sz="950" b="1" i="0">
                <a:solidFill>
                  <a:srgbClr val="161616"/>
                </a:solidFill>
                <a:latin typeface="Marianne"/>
              </a:rPr>
              <a:t>Observabilité : </a:t>
            </a:r>
            <a:r>
              <a:rPr sz="950" b="0" i="0">
                <a:solidFill>
                  <a:srgbClr val="3A3A3A"/>
                </a:solidFill>
                <a:latin typeface="Marianne"/>
              </a:rPr>
              <a:t>traces, coûts, taux de réussite par tâche pour arbitrer sur des faits.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79"/>
            <a:ext cx="11094415" cy="138988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82895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91"/>
                </a:solidFill>
                <a:latin typeface="Marianne"/>
              </a:rPr>
              <a:t>CE QUE MONTRE LE BENCH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61616"/>
                </a:solidFill>
                <a:latin typeface="Marianne"/>
              </a:rPr>
              <a:t>Même modèle : le score bouge selon le harness et la mesure.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rianne"/>
              </a:rPr>
              <a:t>Terminal-Bench 2.1 · officiel (03/09/2026) et indépendant.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46319"/>
            <a:ext cx="9601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91"/>
                </a:solidFill>
                <a:latin typeface="Marianne"/>
              </a:rPr>
              <a:t>GPT-5.5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4846319"/>
            <a:ext cx="160020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Codex (xhigh)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4846319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83,2 %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846319"/>
            <a:ext cx="14173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Terminus 2 (xhigh)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846319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78,0 %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846319"/>
            <a:ext cx="1191463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753C"/>
                </a:solidFill>
                <a:latin typeface="Marianne"/>
              </a:rPr>
              <a:t>+5,2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70347"/>
            <a:ext cx="9601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91"/>
                </a:solidFill>
                <a:latin typeface="Marianne"/>
              </a:rPr>
              <a:t>Fable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59" y="5070347"/>
            <a:ext cx="160020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Claude Code (xhigh)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59" y="5070347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83,8 %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070347"/>
            <a:ext cx="14173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Terminus 2 (high)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070347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80,4 %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5070347"/>
            <a:ext cx="1191463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753C"/>
                </a:solidFill>
                <a:latin typeface="Marianne"/>
              </a:rPr>
              <a:t>+3,4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294375"/>
            <a:ext cx="9601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91"/>
                </a:solidFill>
                <a:latin typeface="Marianne"/>
              </a:rPr>
              <a:t>Sonnet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5294375"/>
            <a:ext cx="160020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Claude Code (high)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5294375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74,6 %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294375"/>
            <a:ext cx="14173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annonce éditeur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294375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80,4 %ᵛ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5294375"/>
            <a:ext cx="1191463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4000"/>
                </a:solidFill>
                <a:latin typeface="Marianne"/>
              </a:rPr>
              <a:t>écart 5,8 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518403"/>
            <a:ext cx="9601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91"/>
                </a:solidFill>
                <a:latin typeface="Marianne"/>
              </a:rPr>
              <a:t>Kimi K3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59" y="5518403"/>
            <a:ext cx="160020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annonce éditeur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59" y="5518403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88,3 %ᵛ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518403"/>
            <a:ext cx="141732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Marianne"/>
              </a:rPr>
              <a:t>mesure vals.ai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518403"/>
            <a:ext cx="777240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80,9 %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5518403"/>
            <a:ext cx="1191463" cy="224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4000"/>
                </a:solidFill>
                <a:latin typeface="Marianne"/>
              </a:rPr>
              <a:t>écart 7,4 pts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" y="5806440"/>
            <a:ext cx="10582351" cy="731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5861303"/>
            <a:ext cx="10582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616"/>
                </a:solidFill>
                <a:latin typeface="Marianne"/>
              </a:rPr>
              <a:t>Conséquence pour le choix souverain : </a:t>
            </a:r>
            <a:r>
              <a:rPr sz="1000" b="0" i="0">
                <a:solidFill>
                  <a:srgbClr val="3A3A3A"/>
                </a:solidFill>
                <a:latin typeface="Marianne"/>
              </a:rPr>
              <a:t>un modèle moins bien classé, bien harnaché et orchestré, peut couvrir une large part du quotidien ; le bench élargi tranchera.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254496"/>
            <a:ext cx="11094415" cy="25603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3A3A"/>
                </a:solidFill>
                <a:latin typeface="Marianne"/>
              </a:rPr>
              <a:t>Ippon Technologies pour la DNUM</a:t>
            </a:r>
            <a:r>
              <a:rPr sz="850" b="0" i="0">
                <a:solidFill>
                  <a:srgbClr val="666666"/>
                </a:solidFill>
                <a:latin typeface="Marianne"/>
              </a:rPr>
              <a:t>  ·  Souveraineté et performance des modèles et des harness  ·  document de travail, Septembre 2026  ·  chiffres vérifiés le 23/09/2026, sources en notes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1153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Marianne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