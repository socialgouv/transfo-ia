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de restitution : fonctionnement de la veille JO automatisee, garde-fous, decisions en attente. Base : spec + contrat revise du 22/07/2026 (une ligne par presentation, PFHT, fusions), runs reels des 28/05 et 22/07/2026.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pipeline en 7 temps. Chiffres du run reel du 28/05/2026 rejoue le 21/07 : 107 textes, 21 retenus, 39 lignes (8 produits), zero timeout IA. Contrat revise le 22/07 : une ligne par presentation, PFHT, indications lues par section des arretes (deterministe). L'IA est debrayable : IA_ACTIVE=False.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Principe d'architecture : deterministe d'abord, IA en enrichissement. La machine fait foi sur les faits (produits, labos, taux, liens, classement). L'IA n'apporte que les indications et la levee d'ambiguites. L'utilisatrice garde l'envoi.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Gauche : l'entonnoir du 28/05 (107 -&gt; 21 -&gt; 8). Droite : les regles de rejet. Rien n'est ecarte en silence : journal pour le filtrage, recapitulatif d'anomalies dans le mail pour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familles de garde-fous, toutes constatees sur le run reel du 21/07 : entrees IA sans produit ecartees, conjecture d'orientation rejetee, repli HTML faute d'Outlook, anomalies recapitulees dans le 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familles de decisions : metier (utilisatrice) et service/DSI. Les deux points surlignes en lavande sont structurants : la convention d'orientation (bloque la recette stricte) et le fournisseur IA de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"/>
            <a:ext cx="987918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3975" y="2743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rial"/>
              </a:rPr>
              <a:t>CEPS</a:t>
            </a:r>
          </a:p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Arial"/>
              </a:rPr>
              <a:t>Comité économique des produits de santé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0927080" cy="525780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stri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081451"/>
            <a:ext cx="2377440" cy="1410788"/>
          </a:xfrm>
          <a:prstGeom prst="rect">
            <a:avLst/>
          </a:prstGeom>
        </p:spPr>
      </p:pic>
      <p:pic>
        <p:nvPicPr>
          <p:cNvPr id="7" name="Picture 6" descr="spark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148840"/>
            <a:ext cx="960120" cy="960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3429000"/>
            <a:ext cx="9875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La veille JO automatisée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Comment l'outil fonctionne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516636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Ce que fait la machine, ce que fait l'IA, ce qui reste entre vos mains 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garde-fous mis en place et choix à trancher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"/>
            <a:ext cx="987918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3975" y="2743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rial"/>
              </a:rPr>
              <a:t>CEPS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Arial"/>
              </a:rPr>
              <a:t>Veille du Journal officiel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Veille JO, spécialités pharmaceutiques – 22/07/2026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07008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1616"/>
                </a:solidFill>
                <a:latin typeface="Arial"/>
              </a:rPr>
              <a:t>Du JO publié au mail prêt à envoyer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1357884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0536" y="131673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3A3A"/>
                </a:solidFill>
                <a:latin typeface="Arial"/>
              </a:rPr>
              <a:t>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59" y="1357884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6A6A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57815" y="1316736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3A3A"/>
                </a:solidFill>
                <a:latin typeface="Arial"/>
              </a:rPr>
              <a:t>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06455" y="1357884"/>
            <a:ext cx="155448" cy="155448"/>
          </a:xfrm>
          <a:prstGeom prst="roundRect">
            <a:avLst>
              <a:gd name="adj" fmla="val 50000"/>
            </a:avLst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25911" y="1316736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3A3A"/>
                </a:solidFill>
                <a:latin typeface="Arial"/>
              </a:rPr>
              <a:t>vous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0704" y="2331720"/>
            <a:ext cx="0" cy="178308"/>
          </a:xfrm>
          <a:prstGeom prst="line">
            <a:avLst/>
          </a:prstGeom>
          <a:ln w="17780">
            <a:solidFill>
              <a:srgbClr val="DDDDDD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1463040" y="1810512"/>
            <a:ext cx="7635240" cy="566928"/>
          </a:xfrm>
          <a:prstGeom prst="roundRect">
            <a:avLst>
              <a:gd name="adj" fmla="val 12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59" y="1856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ownload-cloud-2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22" y="1965594"/>
            <a:ext cx="256763" cy="2567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1810512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1616"/>
                </a:solidFill>
                <a:latin typeface="Arial"/>
              </a:rPr>
              <a:t>1. Extraction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L'outil interroge l'API PISTE (Légifrance) : JO du jour, ou d'une date choisie via le fichier date.txt.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92807"/>
            <a:ext cx="269748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00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892807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107 textes le 28/05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0704" y="2985515"/>
            <a:ext cx="0" cy="178309"/>
          </a:xfrm>
          <a:prstGeom prst="line">
            <a:avLst/>
          </a:prstGeom>
          <a:ln w="17780">
            <a:solidFill>
              <a:srgbClr val="DDDDDD"/>
            </a:solidFill>
          </a:ln>
        </p:spPr>
      </p:cxnSp>
      <p:sp>
        <p:nvSpPr>
          <p:cNvPr id="23" name="Rounded Rectangle 22"/>
          <p:cNvSpPr/>
          <p:nvPr/>
        </p:nvSpPr>
        <p:spPr>
          <a:xfrm>
            <a:off x="1463040" y="2464308"/>
            <a:ext cx="7635240" cy="566928"/>
          </a:xfrm>
          <a:prstGeom prst="roundRect">
            <a:avLst>
              <a:gd name="adj" fmla="val 12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59" y="251002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filter-3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22" y="2619390"/>
            <a:ext cx="256763" cy="2567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91640" y="2464308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1616"/>
                </a:solidFill>
                <a:latin typeface="Arial"/>
              </a:rPr>
              <a:t>2. Filtrage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Seuls les titres à mots-clés pharma sont retenus ; chaque texte écarté reste tracé au journal.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2546603"/>
            <a:ext cx="269748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00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2546603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21 retenus, 86 écartés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60704" y="3639311"/>
            <a:ext cx="0" cy="178309"/>
          </a:xfrm>
          <a:prstGeom prst="line">
            <a:avLst/>
          </a:prstGeom>
          <a:ln w="17780">
            <a:solidFill>
              <a:srgbClr val="DDDDDD"/>
            </a:solidFill>
          </a:ln>
        </p:spPr>
      </p:cxnSp>
      <p:sp>
        <p:nvSpPr>
          <p:cNvPr id="30" name="Rounded Rectangle 29"/>
          <p:cNvSpPr/>
          <p:nvPr/>
        </p:nvSpPr>
        <p:spPr>
          <a:xfrm>
            <a:off x="1463040" y="3118103"/>
            <a:ext cx="7635240" cy="566928"/>
          </a:xfrm>
          <a:prstGeom prst="roundRect">
            <a:avLst>
              <a:gd name="adj" fmla="val 12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59" y="316382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cpu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322" y="3273186"/>
            <a:ext cx="256763" cy="25676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91640" y="3118103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1616"/>
                </a:solidFill>
                <a:latin typeface="Arial"/>
              </a:rPr>
              <a:t>3. Analyse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Type de texte, présentations (CIP), laboratoires, PFHT, taux et indications par section : cette lecture fait foi.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3200399"/>
            <a:ext cx="269748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00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3200399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sans IA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60704" y="4293107"/>
            <a:ext cx="0" cy="178309"/>
          </a:xfrm>
          <a:prstGeom prst="line">
            <a:avLst/>
          </a:prstGeom>
          <a:ln w="17780">
            <a:solidFill>
              <a:srgbClr val="DDDDDD"/>
            </a:solidFill>
          </a:ln>
        </p:spPr>
      </p:cxnSp>
      <p:sp>
        <p:nvSpPr>
          <p:cNvPr id="37" name="Rounded Rectangle 36"/>
          <p:cNvSpPr/>
          <p:nvPr/>
        </p:nvSpPr>
        <p:spPr>
          <a:xfrm>
            <a:off x="1463040" y="3771900"/>
            <a:ext cx="7635240" cy="566928"/>
          </a:xfrm>
          <a:prstGeom prst="roundRect">
            <a:avLst>
              <a:gd name="adj" fmla="val 12000"/>
            </a:avLst>
          </a:prstGeom>
          <a:solidFill>
            <a:srgbClr val="E3E3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59" y="38176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6A6A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sparkling-2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322" y="3926982"/>
            <a:ext cx="256763" cy="25676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691640" y="3771900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1616"/>
                </a:solidFill>
                <a:latin typeface="Arial"/>
              </a:rPr>
              <a:t>4. Enrichissement 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L'IA recopie les indications des textes en prose libre ; les arrêtés structurés sont lus sans elle.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1080" y="3854196"/>
            <a:ext cx="269748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A6AF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3854196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F4"/>
                </a:solidFill>
                <a:latin typeface="Arial"/>
              </a:rPr>
              <a:t>débrayable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60704" y="4946903"/>
            <a:ext cx="0" cy="178309"/>
          </a:xfrm>
          <a:prstGeom prst="line">
            <a:avLst/>
          </a:prstGeom>
          <a:ln w="17780">
            <a:solidFill>
              <a:srgbClr val="DDDDDD"/>
            </a:solidFill>
          </a:ln>
        </p:spPr>
      </p:cxnSp>
      <p:sp>
        <p:nvSpPr>
          <p:cNvPr id="44" name="Rounded Rectangle 43"/>
          <p:cNvSpPr/>
          <p:nvPr/>
        </p:nvSpPr>
        <p:spPr>
          <a:xfrm>
            <a:off x="1463040" y="4425696"/>
            <a:ext cx="7635240" cy="566928"/>
          </a:xfrm>
          <a:prstGeom prst="roundRect">
            <a:avLst>
              <a:gd name="adj" fmla="val 12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59" y="44714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git-merg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322" y="4580778"/>
            <a:ext cx="256763" cy="25676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691640" y="4425696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1616"/>
                </a:solidFill>
                <a:latin typeface="Arial"/>
              </a:rPr>
              <a:t>5. Rapprochement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Une ligne par présentation (clé CIP) : Liste ← arrêtés, Prix (PFHT) ← avis, Taux ← décision UNCAM.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4507992"/>
            <a:ext cx="269748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00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32520" y="4507992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39 lignes le 28/05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60704" y="5600699"/>
            <a:ext cx="0" cy="178308"/>
          </a:xfrm>
          <a:prstGeom prst="line">
            <a:avLst/>
          </a:prstGeom>
          <a:ln w="17780">
            <a:solidFill>
              <a:srgbClr val="DDDDDD"/>
            </a:solidFill>
          </a:ln>
        </p:spPr>
      </p:cxnSp>
      <p:sp>
        <p:nvSpPr>
          <p:cNvPr id="51" name="Rounded Rectangle 50"/>
          <p:cNvSpPr/>
          <p:nvPr/>
        </p:nvSpPr>
        <p:spPr>
          <a:xfrm>
            <a:off x="1463040" y="5079492"/>
            <a:ext cx="7635240" cy="566928"/>
          </a:xfrm>
          <a:prstGeom prst="roundRect">
            <a:avLst>
              <a:gd name="adj" fmla="val 12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59" y="512521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file-excel-2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322" y="5234574"/>
            <a:ext cx="256763" cy="25676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691640" y="5079492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1616"/>
                </a:solidFill>
                <a:latin typeface="Arial"/>
              </a:rPr>
              <a:t>6. Livrables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Excel + mail au gabarit : produit en nom + dosage, labo/indication/liste fusionnés par produit.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41080" y="5161788"/>
            <a:ext cx="269748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00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32520" y="5161788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Excel + mail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63040" y="5733288"/>
            <a:ext cx="7635240" cy="566928"/>
          </a:xfrm>
          <a:prstGeom prst="roundRect">
            <a:avLst>
              <a:gd name="adj" fmla="val 12000"/>
            </a:avLst>
          </a:prstGeom>
          <a:solidFill>
            <a:srgbClr val="FF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22959" y="5779007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user-3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322" y="5888370"/>
            <a:ext cx="256763" cy="256763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691640" y="5733288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61616"/>
                </a:solidFill>
                <a:latin typeface="Arial"/>
              </a:rPr>
              <a:t>7. Vous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Relecture du brouillon, compléments sur les lignes « (à vérifier) », clic sur Envoyer.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41080" y="5815583"/>
            <a:ext cx="2697480" cy="40233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1000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32520" y="5815583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1000F"/>
                </a:solidFill>
                <a:latin typeface="Arial"/>
              </a:rPr>
              <a:t>rien ne part sans vous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"/>
            <a:ext cx="987918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3975" y="2743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rial"/>
              </a:rPr>
              <a:t>CEPS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Arial"/>
              </a:rPr>
              <a:t>Veille du Journal officiel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Veille JO, spécialités pharmaceutiques – 22/07/2026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07008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1616"/>
                </a:solidFill>
                <a:latin typeface="Arial"/>
              </a:rPr>
              <a:t>Qui fait quoi : trois rôles bien séparés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10512"/>
            <a:ext cx="3362858" cy="4434840"/>
          </a:xfrm>
          <a:prstGeom prst="roundRect">
            <a:avLst>
              <a:gd name="adj" fmla="val 5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10512"/>
            <a:ext cx="3362858" cy="841248"/>
          </a:xfrm>
          <a:prstGeom prst="roundRect">
            <a:avLst>
              <a:gd name="adj" fmla="val 5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331720"/>
            <a:ext cx="3362858" cy="3200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pu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975104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27048" y="1883664"/>
            <a:ext cx="244845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La machine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Arial"/>
              </a:rPr>
              <a:t>établit les faits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2871216"/>
            <a:ext cx="28873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00009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Présentations (CIP), laboratoires, PFHT et taux lus dans les tableaux du JO</a:t>
            </a:r>
          </a:p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00009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Indications des arrêtés recopiées par section ; listes et liens Légifrance</a:t>
            </a:r>
          </a:p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000091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Classement en sections, fusions par produit, Excel et 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5440680"/>
            <a:ext cx="288737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91"/>
                </a:solidFill>
                <a:latin typeface="Arial"/>
              </a:rPr>
              <a:t>Ne devine jamais : donnée absente = « N/A » ou « à compléter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4418" y="1810512"/>
            <a:ext cx="3362858" cy="4434840"/>
          </a:xfrm>
          <a:prstGeom prst="roundRect">
            <a:avLst>
              <a:gd name="adj" fmla="val 5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14418" y="1810512"/>
            <a:ext cx="3362858" cy="841248"/>
          </a:xfrm>
          <a:prstGeom prst="roundRect">
            <a:avLst>
              <a:gd name="adj" fmla="val 5000"/>
            </a:avLst>
          </a:prstGeom>
          <a:solidFill>
            <a:srgbClr val="6A6A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4418" y="2331720"/>
            <a:ext cx="3362858" cy="320040"/>
          </a:xfrm>
          <a:prstGeom prst="rect">
            <a:avLst/>
          </a:prstGeom>
          <a:solidFill>
            <a:srgbClr val="6A6A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sparkling-2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586" y="1975104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64226" y="1883664"/>
            <a:ext cx="244845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L'IA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Arial"/>
              </a:rPr>
              <a:t>enrichit, sans décider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2162" y="2871216"/>
            <a:ext cx="28873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Recopie les indications des textes en prose libre : reformuler est interdit</a:t>
            </a:r>
          </a:p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Confirme le type de texte ; n'oriente un avis de prix que si le texte le dit</a:t>
            </a:r>
          </a:p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Chaque réponse est contrôlée (format strict, une seule relance)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2162" y="5440680"/>
            <a:ext cx="288737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AF4"/>
                </a:solidFill>
                <a:latin typeface="Arial"/>
              </a:rPr>
              <a:t>En désaccord avec la machine, la machine gagne.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1596" y="1810512"/>
            <a:ext cx="3362858" cy="4434840"/>
          </a:xfrm>
          <a:prstGeom prst="roundRect">
            <a:avLst>
              <a:gd name="adj" fmla="val 5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51596" y="1810512"/>
            <a:ext cx="3362858" cy="841248"/>
          </a:xfrm>
          <a:prstGeom prst="roundRect">
            <a:avLst>
              <a:gd name="adj" fmla="val 5000"/>
            </a:avLst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1596" y="2331720"/>
            <a:ext cx="3362858" cy="32004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-3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764" y="1975104"/>
            <a:ext cx="402336" cy="40233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01404" y="1883664"/>
            <a:ext cx="244845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L'utilisatrice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FFFFF"/>
                </a:solidFill>
                <a:latin typeface="Arial"/>
              </a:rPr>
              <a:t>garde la décision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340" y="2871216"/>
            <a:ext cx="288737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E1000F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Relit le brouillon : aucun envoi automatique par défaut</a:t>
            </a:r>
          </a:p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E1000F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Complète les « (à vérifier) » grâce aux liens fournis sur chaque ligne</a:t>
            </a:r>
          </a:p>
          <a:p>
            <a:pPr algn="l" marL="201168" indent="-201168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E1000F"/>
                </a:solidFill>
                <a:latin typeface="Arial"/>
              </a:rPr>
              <a:t>▪  </a:t>
            </a:r>
            <a:r>
              <a:rPr sz="1250" b="0" i="0">
                <a:solidFill>
                  <a:srgbClr val="161616"/>
                </a:solidFill>
                <a:latin typeface="Arial"/>
              </a:rPr>
              <a:t>Tranche les conventions métier (ex. avis de prix sans orientation)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9340" y="5440680"/>
            <a:ext cx="288737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1000F"/>
                </a:solidFill>
                <a:latin typeface="Arial"/>
              </a:rPr>
              <a:t>L'outil prépare ; l'humain valide et envoie.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"/>
            <a:ext cx="987918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3975" y="2743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rial"/>
              </a:rPr>
              <a:t>CEPS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Arial"/>
              </a:rPr>
              <a:t>Veille du Journal officiel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Veille JO, spécialités pharmaceutiques – 22/07/2026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07008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1616"/>
                </a:solidFill>
                <a:latin typeface="Arial"/>
              </a:rPr>
              <a:t>Comment l'outil intègre, comment il écarte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4160520" cy="868680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4160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000091"/>
                </a:solidFill>
                <a:latin typeface="Arial"/>
              </a:rPr>
              <a:t>107 textes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3A3A"/>
                </a:solidFill>
                <a:latin typeface="Arial"/>
              </a:rPr>
              <a:t>le JO complet du 28/05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57500" y="2834639"/>
            <a:ext cx="0" cy="292609"/>
          </a:xfrm>
          <a:prstGeom prst="line">
            <a:avLst/>
          </a:prstGeom>
          <a:ln w="25400">
            <a:solidFill>
              <a:srgbClr val="6A6AF4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1280160" y="3172968"/>
            <a:ext cx="3154680" cy="868680"/>
          </a:xfrm>
          <a:prstGeom prst="roundRect">
            <a:avLst>
              <a:gd name="adj" fmla="val 10000"/>
            </a:avLst>
          </a:prstGeom>
          <a:solidFill>
            <a:srgbClr val="ECEC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64408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000091"/>
                </a:solidFill>
                <a:latin typeface="Arial"/>
              </a:rPr>
              <a:t>21 textes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A3A3A"/>
                </a:solidFill>
                <a:latin typeface="Arial"/>
              </a:rPr>
              <a:t>spécialités pharmaceutiques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57500" y="4041648"/>
            <a:ext cx="0" cy="292608"/>
          </a:xfrm>
          <a:prstGeom prst="line">
            <a:avLst/>
          </a:prstGeom>
          <a:ln w="25400">
            <a:solidFill>
              <a:srgbClr val="6A6AF4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1691640" y="4379976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471416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100" b="1" i="0">
                <a:solidFill>
                  <a:srgbClr val="FFFFFF"/>
                </a:solidFill>
                <a:latin typeface="Arial"/>
              </a:rPr>
              <a:t>39 lignes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8 produits, une ligne par présentation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96712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6A"/>
                </a:solidFill>
                <a:latin typeface="Arial"/>
              </a:rPr>
              <a:t>Autant de lignes qu'au JO ; le « nom racine » relie les textes entre eux et regroupe visuellement les présentations d'un produit.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1810512"/>
            <a:ext cx="5790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1616"/>
                </a:solidFill>
                <a:latin typeface="Arial"/>
              </a:rPr>
              <a:t>Ce qui est écarté, et pourquoi c'est sans risque</a:t>
            </a:r>
          </a:p>
        </p:txBody>
      </p:sp>
      <p:pic>
        <p:nvPicPr>
          <p:cNvPr id="19" name="Picture 18" descr="close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30428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89320" y="2286000"/>
            <a:ext cx="5425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Titre sans mot-clé pharma : </a:t>
            </a:r>
            <a:r>
              <a:rPr sz="1250" b="0" i="0">
                <a:solidFill>
                  <a:srgbClr val="3A3A3A"/>
                </a:solidFill>
                <a:latin typeface="Arial"/>
              </a:rPr>
              <a:t>écarté, mais listé au journal : le tri reste auditable</a:t>
            </a:r>
          </a:p>
        </p:txBody>
      </p:sp>
      <p:pic>
        <p:nvPicPr>
          <p:cNvPr id="21" name="Picture 20" descr="close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971800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9320" y="2953512"/>
            <a:ext cx="5425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Donnée introuvable dans le texte : </a:t>
            </a:r>
            <a:r>
              <a:rPr sz="1250" b="0" i="0">
                <a:solidFill>
                  <a:srgbClr val="3A3A3A"/>
                </a:solidFill>
                <a:latin typeface="Arial"/>
              </a:rPr>
              <a:t>« N/A » ou « à compléter », jamais de valeur devinée</a:t>
            </a:r>
          </a:p>
        </p:txBody>
      </p:sp>
      <p:pic>
        <p:nvPicPr>
          <p:cNvPr id="23" name="Picture 22" descr="close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6393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9320" y="3621024"/>
            <a:ext cx="5425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Réponse IA mal formée : </a:t>
            </a:r>
            <a:r>
              <a:rPr sz="1250" b="0" i="0">
                <a:solidFill>
                  <a:srgbClr val="3A3A3A"/>
                </a:solidFill>
                <a:latin typeface="Arial"/>
              </a:rPr>
              <a:t>une seule relance, sinon on conserve la lecture machine</a:t>
            </a:r>
          </a:p>
        </p:txBody>
      </p:sp>
      <p:pic>
        <p:nvPicPr>
          <p:cNvPr id="25" name="Picture 24" descr="close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4306823"/>
            <a:ext cx="237744" cy="23774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89320" y="4288536"/>
            <a:ext cx="5425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Produit cité par l'IA, absent des tableaux du JO : </a:t>
            </a:r>
            <a:r>
              <a:rPr sz="1250" b="0" i="0">
                <a:solidFill>
                  <a:srgbClr val="3A3A3A"/>
                </a:solidFill>
                <a:latin typeface="Arial"/>
              </a:rPr>
              <a:t>ignoré (constaté le 28/05 : EYLEA, VERZENIOS…)</a:t>
            </a:r>
          </a:p>
        </p:txBody>
      </p:sp>
      <p:pic>
        <p:nvPicPr>
          <p:cNvPr id="27" name="Picture 26" descr="close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4974336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89320" y="4956048"/>
            <a:ext cx="5425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Hausse ou baisse supposée par l'IA sans appui textuel : </a:t>
            </a:r>
            <a:r>
              <a:rPr sz="1250" b="0" i="0">
                <a:solidFill>
                  <a:srgbClr val="3A3A3A"/>
                </a:solidFill>
                <a:latin typeface="Arial"/>
              </a:rPr>
              <a:t>conjecture rejetée, l'avis reste « à orienter »</a:t>
            </a:r>
          </a:p>
        </p:txBody>
      </p:sp>
      <p:pic>
        <p:nvPicPr>
          <p:cNvPr id="29" name="Picture 28" descr="close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5641848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89320" y="5623560"/>
            <a:ext cx="5425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Présentations multiples d'un même produit : </a:t>
            </a:r>
            <a:r>
              <a:rPr sz="1250" b="0" i="0">
                <a:solidFill>
                  <a:srgbClr val="3A3A3A"/>
                </a:solidFill>
                <a:latin typeface="Arial"/>
              </a:rPr>
              <a:t>une ligne chacune, avec son PFHT ; laboratoire, indication et liste fusionnés visuellement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"/>
            <a:ext cx="987918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3975" y="2743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rial"/>
              </a:rPr>
              <a:t>CEPS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Arial"/>
              </a:rPr>
              <a:t>Veille du Journal officiel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Veille JO, spécialités pharmaceutiques – 22/07/2026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07008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1616"/>
                </a:solidFill>
                <a:latin typeface="Arial"/>
              </a:rPr>
              <a:t>Les garde-fous en place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10512"/>
            <a:ext cx="5158587" cy="2139696"/>
          </a:xfrm>
          <a:prstGeom prst="roundRect">
            <a:avLst>
              <a:gd name="adj" fmla="val 6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8408" y="19751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shield-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70" y="2084466"/>
            <a:ext cx="256763" cy="2567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18488" y="1993392"/>
            <a:ext cx="410702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91"/>
                </a:solidFill>
                <a:latin typeface="Arial"/>
              </a:rPr>
              <a:t>Jamais d'invention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60320"/>
            <a:ext cx="4609947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Donnée absente = « N/A », jamais devinée (ni taux, ni prix, ni classement)</a:t>
            </a:r>
          </a:p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Indications recopiées du JO, pas réécrites</a:t>
            </a:r>
          </a:p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La lecture machine fait foi ; l'IA ne peut rien y ajouter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1810512"/>
            <a:ext cx="5158587" cy="2139696"/>
          </a:xfrm>
          <a:prstGeom prst="roundRect">
            <a:avLst>
              <a:gd name="adj" fmla="val 6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57035" y="19751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ile-list-3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397" y="2084466"/>
            <a:ext cx="256763" cy="2567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97115" y="1993392"/>
            <a:ext cx="410702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91"/>
                </a:solidFill>
                <a:latin typeface="Arial"/>
              </a:rPr>
              <a:t>Tout est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2560320"/>
            <a:ext cx="4609947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Suffixe « (à vérifier) » sur toute donnée douteuse</a:t>
            </a:r>
          </a:p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Récapitulatif des anomalies dans le mail lui-même</a:t>
            </a:r>
          </a:p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Journal de chaque exécution : retenus, écartés, rapprochements, appels 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87952"/>
            <a:ext cx="5158587" cy="2139696"/>
          </a:xfrm>
          <a:prstGeom prst="roundRect">
            <a:avLst>
              <a:gd name="adj" fmla="val 6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" y="435254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alarm-warnin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770" y="4461906"/>
            <a:ext cx="256763" cy="25676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18488" y="4370832"/>
            <a:ext cx="410702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91"/>
                </a:solidFill>
                <a:latin typeface="Arial"/>
              </a:rPr>
              <a:t>La veille ne s'arrête jamais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937760"/>
            <a:ext cx="4609947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IA en panne → la veille sort ; les indications des arrêtés restent remplies (lues sans IA)</a:t>
            </a:r>
          </a:p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Outlook absent → fichier HTML ; jour sans texte → mail « RAS »</a:t>
            </a:r>
          </a:p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JO introuvable → alerte et relances (pas de mail = panne)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5867" y="4187952"/>
            <a:ext cx="5158587" cy="2139696"/>
          </a:xfrm>
          <a:prstGeom prst="roundRect">
            <a:avLst>
              <a:gd name="adj" fmla="val 6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57035" y="435254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box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7" y="4461906"/>
            <a:ext cx="256763" cy="2567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97115" y="4370832"/>
            <a:ext cx="410702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91"/>
                </a:solidFill>
                <a:latin typeface="Arial"/>
              </a:rPr>
              <a:t>L'envoi et les accès maîtrisés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0187" y="4937760"/>
            <a:ext cx="4609947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Brouillon relu avant envoi : rien ne part automatiquement par défaut</a:t>
            </a:r>
          </a:p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Clés d'accès dans un fichier local (.env), jamais dans le code</a:t>
            </a:r>
          </a:p>
          <a:p>
            <a:pPr algn="l" marL="201168" indent="-201168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6A6AF4"/>
                </a:solidFill>
                <a:latin typeface="Arial"/>
              </a:rPr>
              <a:t>▪  </a:t>
            </a:r>
            <a:r>
              <a:rPr sz="1200" b="0" i="0">
                <a:solidFill>
                  <a:srgbClr val="161616"/>
                </a:solidFill>
                <a:latin typeface="Arial"/>
              </a:rPr>
              <a:t>API officielle PISTE, jamais d'aspiration du site Légifrance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4320"/>
            <a:ext cx="987918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3975" y="2743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616"/>
                </a:solidFill>
                <a:latin typeface="Arial"/>
              </a:rPr>
              <a:t>CEPS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A3A3A"/>
                </a:solidFill>
                <a:latin typeface="Arial"/>
              </a:rPr>
              <a:t>Veille du Journal officiel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77240" y="64373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Veille JO, spécialités pharmaceutiques – 22/07/2026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82935" y="64373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07008"/>
            <a:ext cx="106372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1616"/>
                </a:solidFill>
                <a:latin typeface="Arial"/>
              </a:rPr>
              <a:t>Les choix à trancher pour la mise en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1000F"/>
                </a:solidFill>
                <a:latin typeface="Arial"/>
              </a:rPr>
              <a:t>Côté métier (vous)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94560"/>
            <a:ext cx="5135727" cy="914400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" y="23225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3225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2263140"/>
            <a:ext cx="43859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Avis de prix sans orientation dans le texte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Le JO ne dit ni hausse ni baisse (cas MORPHINE, FYCOMPA). Garder « Hausses (à vérifier) » ou créer une section « à orienter » ? Seul point qui bloque la conformité stricte à l'Excel cible.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36976"/>
            <a:ext cx="5135727" cy="914400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" y="33649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33649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3305556"/>
            <a:ext cx="43859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Valider le format révisé du 22/07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Une ligne par présentation, PFHT affiché, fusions par produit, indications recopiées mot pour mot : à confirmer sur les fichiers générés des 28/05 et 22/07.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79392"/>
            <a:ext cx="5135727" cy="914400"/>
          </a:xfrm>
          <a:prstGeom prst="roundRect">
            <a:avLst>
              <a:gd name="adj" fmla="val 10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" y="440740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40740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4347972"/>
            <a:ext cx="43859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LESSMR / LESMCO : fournir un exemple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Ces catégories de liste ne correspondent à aucun arrêté connu de l'outil : un JO d'exemple suffit pour les brancher.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321808"/>
            <a:ext cx="5135727" cy="603504"/>
          </a:xfrm>
          <a:prstGeom prst="roundRect">
            <a:avLst>
              <a:gd name="adj" fmla="val 10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" y="54498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54498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5390388"/>
            <a:ext cx="438591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Forme du mail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Brouillon Outlook prérempli, ou fichier HTML à copier-coller 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6053328"/>
            <a:ext cx="5135727" cy="603504"/>
          </a:xfrm>
          <a:prstGeom prst="roundRect">
            <a:avLst>
              <a:gd name="adj" fmla="val 10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" y="6181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1000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618134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456" y="6121908"/>
            <a:ext cx="438591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Lancement quotidien et envoi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Double-clic ou fichier date.txt, puis tâche 7 h 00 ; envoi auto après période de confiance.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8727" y="1783080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0091"/>
                </a:solidFill>
                <a:latin typeface="Arial"/>
              </a:rPr>
              <a:t>Côté service et DSI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2194560"/>
            <a:ext cx="5135727" cy="914400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25031" y="232257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5031" y="232257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3943" y="2263140"/>
            <a:ext cx="4385919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Quelle IA en production ?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Albert (API de l'État : souveraine, gratuite) ou Mistral (payant). L'essai actuel (OpenRouter) traite les données hors de France : développement uniquement.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8727" y="3236976"/>
            <a:ext cx="5135727" cy="603504"/>
          </a:xfrm>
          <a:prstGeom prst="roundRect">
            <a:avLst>
              <a:gd name="adj" fmla="val 10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25031" y="336499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5031" y="33649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3943" y="3305556"/>
            <a:ext cx="438591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Flux réseau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Ouverture DSI vers le fournisseur retenu (albert.api.etalab.gouv.fr ou api.mistral.ai).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8727" y="3968496"/>
            <a:ext cx="5135727" cy="603504"/>
          </a:xfrm>
          <a:prstGeom prst="roundRect">
            <a:avLst>
              <a:gd name="adj" fmla="val 10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25031" y="409651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5031" y="409651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3943" y="4037076"/>
            <a:ext cx="438591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Droits d'envoi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Vérifier l'autorisation de poster sur la liste de diffusion SG_CEPS.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78727" y="4700016"/>
            <a:ext cx="5135727" cy="603504"/>
          </a:xfrm>
          <a:prstGeom prst="roundRect">
            <a:avLst>
              <a:gd name="adj" fmla="val 10000"/>
            </a:avLst>
          </a:prstGeom>
          <a:solidFill>
            <a:srgbClr val="F5F5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25031" y="4828031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00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5031" y="4828031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63943" y="4768596"/>
            <a:ext cx="438591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Sauvegarde du code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3A3A"/>
                </a:solidFill>
                <a:latin typeface="Arial"/>
              </a:rPr>
              <a:t>GitLab interne, ou copie datée sur le partage réseau d'équipe.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8727" y="5477255"/>
            <a:ext cx="51357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A6A6A"/>
                </a:solidFill>
                <a:latin typeface="Arial"/>
              </a:rPr>
              <a:t>Le détail opérationnel (questions exactes, commandes, critères) est tenu à jour dans </a:t>
            </a:r>
            <a:r>
              <a:rPr sz="1050" b="1" i="1">
                <a:solidFill>
                  <a:srgbClr val="6A6A6A"/>
                </a:solidFill>
                <a:latin typeface="Arial"/>
              </a:rPr>
              <a:t>veille_jo/nextSteps.md</a:t>
            </a:r>
            <a:r>
              <a:rPr sz="1050" b="0" i="1">
                <a:solidFill>
                  <a:srgbClr val="6A6A6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