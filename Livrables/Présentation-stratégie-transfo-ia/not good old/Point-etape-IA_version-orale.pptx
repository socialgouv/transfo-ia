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Cliquez pour déplacer la diapo</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59C1423D-4F55-4CD7-A755-E3C6374E1287}"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43000" y="685800"/>
            <a:ext cx="4571640" cy="3428640"/>
          </a:xfrm>
          <a:prstGeom prst="rect">
            <a:avLst/>
          </a:prstGeom>
          <a:ln w="0">
            <a:noFill/>
          </a:ln>
        </p:spPr>
      </p:sp>
      <p:sp>
        <p:nvSpPr>
          <p:cNvPr id="2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Point d'etape de la mission IA a la Direction du numerique des Ministeres Sociaux. Objectif du jour : partager ou en est la mission - enjeux, exploration menee, plan d'action sur 3 horizons. 10 min de presentation puis echange.</a:t>
            </a:r>
            <a:endParaRPr b="0" lang="fr-FR" sz="2000" spc="-1" strike="noStrike">
              <a:solidFill>
                <a:srgbClr val="000000"/>
              </a:solidFill>
              <a:latin typeface="Arial"/>
            </a:endParaRPr>
          </a:p>
        </p:txBody>
      </p:sp>
      <p:sp>
        <p:nvSpPr>
          <p:cNvPr id="275"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D305505-F9F7-49E7-AB9D-1362970A20EC}"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43000" y="685800"/>
            <a:ext cx="4571640" cy="3428640"/>
          </a:xfrm>
          <a:prstGeom prst="rect">
            <a:avLst/>
          </a:prstGeom>
          <a:ln w="0">
            <a:noFill/>
          </a:ln>
        </p:spPr>
      </p:sp>
      <p:sp>
        <p:nvSpPr>
          <p:cNvPr id="2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Trois temps : les enjeux (mon mandat), l'exploration (ce que j'ai fait pour comprendre), puis le plan d'action structure en trois horizons.</a:t>
            </a:r>
            <a:endParaRPr b="0" lang="fr-FR" sz="2000" spc="-1" strike="noStrike">
              <a:solidFill>
                <a:srgbClr val="000000"/>
              </a:solidFill>
              <a:latin typeface="Arial"/>
            </a:endParaRPr>
          </a:p>
        </p:txBody>
      </p:sp>
      <p:sp>
        <p:nvSpPr>
          <p:cNvPr id="278"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AF5C64E-EF29-4C13-975D-3BB67422594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143000" y="685800"/>
            <a:ext cx="4571640" cy="3428640"/>
          </a:xfrm>
          <a:prstGeom prst="rect">
            <a:avLst/>
          </a:prstGeom>
          <a:ln w="0">
            <a:noFill/>
          </a:ln>
        </p:spPr>
      </p:sp>
      <p:sp>
        <p:nvSpPr>
          <p:cNvPr id="2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sur cette mission, en trois enjeux.</a:t>
            </a:r>
            <a:endParaRPr b="0" lang="fr-FR" sz="2000" spc="-1" strike="noStrike">
              <a:solidFill>
                <a:srgbClr val="000000"/>
              </a:solidFill>
              <a:latin typeface="Arial"/>
            </a:endParaRPr>
          </a:p>
        </p:txBody>
      </p:sp>
      <p:sp>
        <p:nvSpPr>
          <p:cNvPr id="281"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8CAD50D-9C9B-442C-A8C9-5D10EB54036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1143000" y="685800"/>
            <a:ext cx="4571640" cy="3428640"/>
          </a:xfrm>
          <a:prstGeom prst="rect">
            <a:avLst/>
          </a:prstGeom>
          <a:ln w="0">
            <a:noFill/>
          </a:ln>
        </p:spPr>
      </p:sp>
      <p:sp>
        <p:nvSpPr>
          <p:cNvPr id="2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tient en trois enjeux : identifier les usages pertinents par metier, accompagner la montee en maitrise sur des cas concrets, et evangeliser pour diffuser la culture IA. Au service de quatre metiers : architectes, chefs de projet, designers, developpeurs.</a:t>
            </a:r>
            <a:endParaRPr b="0" lang="fr-FR" sz="2000" spc="-1" strike="noStrike">
              <a:solidFill>
                <a:srgbClr val="000000"/>
              </a:solidFill>
              <a:latin typeface="Arial"/>
            </a:endParaRPr>
          </a:p>
        </p:txBody>
      </p:sp>
      <p:sp>
        <p:nvSpPr>
          <p:cNvPr id="284"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68A68BF-133F-4254-B3DE-D29FE16C3EA8}"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43000" y="685800"/>
            <a:ext cx="4571640" cy="3428640"/>
          </a:xfrm>
          <a:prstGeom prst="rect">
            <a:avLst/>
          </a:prstGeom>
          <a:ln w="0">
            <a:noFill/>
          </a:ln>
        </p:spPr>
      </p:sp>
      <p:sp>
        <p:nvSpPr>
          <p:cNvPr id="2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Comment j'ai pris la mesure du terrain et des usages en place.</a:t>
            </a:r>
            <a:endParaRPr b="0" lang="fr-FR" sz="2000" spc="-1" strike="noStrike">
              <a:solidFill>
                <a:srgbClr val="000000"/>
              </a:solidFill>
              <a:latin typeface="Arial"/>
            </a:endParaRPr>
          </a:p>
        </p:txBody>
      </p:sp>
      <p:sp>
        <p:nvSpPr>
          <p:cNvPr id="287"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823FF4A-DD5B-40A6-BD91-6D572914385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43000" y="685800"/>
            <a:ext cx="4571640" cy="3428640"/>
          </a:xfrm>
          <a:prstGeom prst="rect">
            <a:avLst/>
          </a:prstGeom>
          <a:ln w="0">
            <a:noFill/>
          </a:ln>
        </p:spPr>
      </p:sp>
      <p:sp>
        <p:nvSpPr>
          <p:cNvPr id="2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endParaRPr b="0" lang="fr-FR" sz="2000" spc="-1" strike="noStrike">
              <a:solidFill>
                <a:srgbClr val="000000"/>
              </a:solidFill>
              <a:latin typeface="Arial"/>
            </a:endParaRPr>
          </a:p>
        </p:txBody>
      </p:sp>
      <p:sp>
        <p:nvSpPr>
          <p:cNvPr id="290"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5AA0525-FCCD-4FEC-B16B-AEC32247B2B0}"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143000" y="685800"/>
            <a:ext cx="4571640" cy="3428640"/>
          </a:xfrm>
          <a:prstGeom prst="rect">
            <a:avLst/>
          </a:prstGeom>
          <a:ln w="0">
            <a:noFill/>
          </a:ln>
        </p:spPr>
      </p:sp>
      <p:sp>
        <p:nvSpPr>
          <p:cNvPr id="2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endParaRPr b="0" lang="fr-FR" sz="2000" spc="-1" strike="noStrike">
              <a:solidFill>
                <a:srgbClr val="000000"/>
              </a:solidFill>
              <a:latin typeface="Arial"/>
            </a:endParaRPr>
          </a:p>
        </p:txBody>
      </p:sp>
      <p:sp>
        <p:nvSpPr>
          <p:cNvPr id="293"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FA21CEE-FAF3-4599-AEA5-2C79143E1388}"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43000" y="685800"/>
            <a:ext cx="4571640" cy="3428640"/>
          </a:xfrm>
          <a:prstGeom prst="rect">
            <a:avLst/>
          </a:prstGeom>
          <a:ln w="0">
            <a:noFill/>
          </a:ln>
        </p:spPr>
      </p:sp>
      <p:sp>
        <p:nvSpPr>
          <p:cNvPr id="2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Ce que je propose, sequence du court au long terme.</a:t>
            </a:r>
            <a:endParaRPr b="0" lang="fr-FR" sz="2000" spc="-1" strike="noStrike">
              <a:solidFill>
                <a:srgbClr val="000000"/>
              </a:solidFill>
              <a:latin typeface="Arial"/>
            </a:endParaRPr>
          </a:p>
        </p:txBody>
      </p:sp>
      <p:sp>
        <p:nvSpPr>
          <p:cNvPr id="296"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73720C0-ADC6-4670-B082-415340CAB10C}"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1143000" y="685800"/>
            <a:ext cx="4571640" cy="3428640"/>
          </a:xfrm>
          <a:prstGeom prst="rect">
            <a:avLst/>
          </a:prstGeom>
          <a:ln w="0">
            <a:noFill/>
          </a:ln>
        </p:spPr>
      </p:sp>
      <p:sp>
        <p:nvSpPr>
          <p:cNvPr id="2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endParaRPr b="0" lang="fr-FR" sz="2000" spc="-1" strike="noStrike">
              <a:solidFill>
                <a:srgbClr val="000000"/>
              </a:solidFill>
              <a:latin typeface="Arial"/>
            </a:endParaRPr>
          </a:p>
        </p:txBody>
      </p:sp>
      <p:sp>
        <p:nvSpPr>
          <p:cNvPr id="299"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8E42995-1D83-4BA0-8455-D2EF6F96107F}"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43000" y="685800"/>
            <a:ext cx="4571640" cy="3428640"/>
          </a:xfrm>
          <a:prstGeom prst="rect">
            <a:avLst/>
          </a:prstGeom>
          <a:ln w="0">
            <a:noFill/>
          </a:ln>
        </p:spPr>
      </p:sp>
      <p:sp>
        <p:nvSpPr>
          <p:cNvPr id="3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endParaRPr b="0" lang="fr-FR" sz="2000" spc="-1" strike="noStrike">
              <a:solidFill>
                <a:srgbClr val="000000"/>
              </a:solidFill>
              <a:latin typeface="Arial"/>
            </a:endParaRPr>
          </a:p>
        </p:txBody>
      </p:sp>
      <p:sp>
        <p:nvSpPr>
          <p:cNvPr id="302"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7F64228-DA88-45C2-A25D-DD47CDCA31B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1143000" y="685800"/>
            <a:ext cx="4571640" cy="3428640"/>
          </a:xfrm>
          <a:prstGeom prst="rect">
            <a:avLst/>
          </a:prstGeom>
          <a:ln w="0">
            <a:noFill/>
          </a:ln>
        </p:spPr>
      </p:sp>
      <p:sp>
        <p:nvSpPr>
          <p:cNvPr id="3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endParaRPr b="0" lang="fr-FR" sz="2000" spc="-1" strike="noStrike">
              <a:solidFill>
                <a:srgbClr val="000000"/>
              </a:solidFill>
              <a:latin typeface="Arial"/>
            </a:endParaRPr>
          </a:p>
        </p:txBody>
      </p:sp>
      <p:sp>
        <p:nvSpPr>
          <p:cNvPr id="305"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C535862-C9C0-4238-AEB5-5CC44980C11C}"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1143000" y="685800"/>
            <a:ext cx="4571640" cy="3428640"/>
          </a:xfrm>
          <a:prstGeom prst="rect">
            <a:avLst/>
          </a:prstGeom>
          <a:ln w="0">
            <a:noFill/>
          </a:ln>
        </p:spPr>
      </p:sp>
      <p:sp>
        <p:nvSpPr>
          <p:cNvPr id="30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endParaRPr b="0" lang="fr-FR" sz="2000" spc="-1" strike="noStrike">
              <a:solidFill>
                <a:srgbClr val="000000"/>
              </a:solidFill>
              <a:latin typeface="Arial"/>
            </a:endParaRPr>
          </a:p>
        </p:txBody>
      </p:sp>
      <p:sp>
        <p:nvSpPr>
          <p:cNvPr id="308"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B75EFFC-A905-491A-BDF1-0142E956AFDF}"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1143000" y="685800"/>
            <a:ext cx="4571640" cy="3428640"/>
          </a:xfrm>
          <a:prstGeom prst="rect">
            <a:avLst/>
          </a:prstGeom>
          <a:ln w="0">
            <a:noFill/>
          </a:ln>
        </p:spPr>
      </p:sp>
      <p:sp>
        <p:nvSpPr>
          <p:cNvPr id="31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Synthese. Ce qui est acquis : les cinq equipes rencontrees (SRDT, DACCORD, Egapro, DomiFA, SIRENA), les metiers rencontres (architectes, products, designers, developpeurs), les echanges sur le RGAA avec Dominique et l'outillage interne avec Victor Degliame, l'usage avance de Claude observe sur Egapro avec de premieres pistes, et un plan structure sur 3 horizons. Prochaines etapes, surtout court terme : DA pour les architectes ; rencontrer plus de CDP et lancer le pre-audit d'homologation continu ; premiers skills UX/audit cote designers ; accompagner les developpeurs en difficulte. Puis preparer la communaute de champions et anticiper les licences Claude et le lien DINUM. Place a vos questions.</a:t>
            </a:r>
            <a:endParaRPr b="0" lang="fr-FR" sz="2000" spc="-1" strike="noStrike">
              <a:solidFill>
                <a:srgbClr val="000000"/>
              </a:solidFill>
              <a:latin typeface="Arial"/>
            </a:endParaRPr>
          </a:p>
        </p:txBody>
      </p:sp>
      <p:sp>
        <p:nvSpPr>
          <p:cNvPr id="311"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40636F8-2910-4DD4-9589-5C358D11CCF0}"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43000" y="685800"/>
            <a:ext cx="4571640" cy="3428640"/>
          </a:xfrm>
          <a:prstGeom prst="rect">
            <a:avLst/>
          </a:prstGeom>
          <a:ln w="0">
            <a:noFill/>
          </a:ln>
        </p:spPr>
      </p:sp>
      <p:sp>
        <p:nvSpPr>
          <p:cNvPr id="3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Transition vers les 35 min d'echange : questions, retours, arbitrages eventuels (licences, lien DINUM, priorisation des horizons).</a:t>
            </a:r>
            <a:endParaRPr b="0" lang="fr-FR" sz="2000" spc="-1" strike="noStrike">
              <a:solidFill>
                <a:srgbClr val="000000"/>
              </a:solidFill>
              <a:latin typeface="Arial"/>
            </a:endParaRPr>
          </a:p>
        </p:txBody>
      </p:sp>
      <p:sp>
        <p:nvSpPr>
          <p:cNvPr id="314"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5A5296E-B749-4041-90C6-445FD440E98B}"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87ACE72-8F83-4102-B4E3-7CEACE4EC3B1}"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64390D9-07F3-4E77-9F7A-BA9CAA7FF50F}"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A9E13A32-8565-4AD5-8DB2-03ABB685DCFB}"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7A5171B-CB15-4969-9F9A-7BC4125104D4}"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99D27E3-3F22-4422-8582-8E4814C05D1A}" type="slidenum">
              <a:t>&lt;#&gt;</a:t>
            </a:fld>
          </a:p>
        </p:txBody>
      </p:sp>
      <p:sp>
        <p:nvSpPr>
          <p:cNvPr id="4" name="PlaceHolder 3"/>
          <p:cNvSpPr>
            <a:spLocks noGrp="1"/>
          </p:cNvSpPr>
          <p:nvPr>
            <p:ph type="dt" idx="1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3041749D-F408-41DC-86AE-4F07692DD240}" type="slidenum">
              <a:t>&lt;#&gt;</a:t>
            </a:fld>
          </a:p>
        </p:txBody>
      </p:sp>
      <p:sp>
        <p:nvSpPr>
          <p:cNvPr id="7" name="PlaceHolder 6"/>
          <p:cNvSpPr>
            <a:spLocks noGrp="1"/>
          </p:cNvSpPr>
          <p:nvPr>
            <p:ph type="dt" idx="16"/>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DA8255C-71C6-4D39-B756-CE4E803A5D59}" type="slidenum">
              <a:t>&lt;#&gt;</a:t>
            </a:fld>
          </a:p>
        </p:txBody>
      </p:sp>
      <p:sp>
        <p:nvSpPr>
          <p:cNvPr id="4" name="PlaceHolder 3"/>
          <p:cNvSpPr>
            <a:spLocks noGrp="1"/>
          </p:cNvSpPr>
          <p:nvPr>
            <p:ph type="dt" idx="19"/>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1A362E2E-C718-4AAA-A3BA-1909637D4D57}"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392BA709-7722-4310-BECD-981B5DD7A219}"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98298C08-1E8F-4E1C-B566-EAA550F21F56}"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D3A5AA5A-A7C7-4F8D-AC74-41D006FEAB6C}" type="slidenum">
              <a:t>&lt;#&gt;</a:t>
            </a:fld>
          </a:p>
        </p:txBody>
      </p:sp>
      <p:sp>
        <p:nvSpPr>
          <p:cNvPr id="4" name="PlaceHolder 3"/>
          <p:cNvSpPr>
            <a:spLocks noGrp="1"/>
          </p:cNvSpPr>
          <p:nvPr>
            <p:ph type="dt" idx="3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 </a:t>
            </a:r>
            <a:endParaRPr b="0" lang="fr-FR"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 </a:t>
            </a:r>
            <a:endParaRPr b="0" lang="fr-FR"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145BC69-CC52-4E03-BB07-17C9C287A36C}" type="slidenum">
              <a:rPr b="0" lang="en-US" sz="1200" spc="-1" strike="noStrike">
                <a:solidFill>
                  <a:schemeClr val="dk1">
                    <a:tint val="75000"/>
                  </a:schemeClr>
                </a:solidFill>
                <a:latin typeface="Calibri"/>
              </a:rPr>
              <a:t>13</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74EDFC1-0B81-4CA1-8B94-ED81374CF9E6}"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F913C58-5770-4F55-BDBB-E38A9AD9723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7587DA4-A5D8-45EB-B3EC-994EE63ADF2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FAFF29C-BDF3-422C-A492-8DE04FBC2FBB}"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DDDB059-FB0F-4C41-8E4D-BC11E863E7C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581B2B-8183-4A27-991A-28B31266559F}"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6DCA4D9-67E4-4856-A82A-576F8ABF1254}"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7EC3C3C-2BD2-43E6-8151-48D1160DC8E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Cliquez pour éditer le format du texte-titre</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niveau de plan</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Troisième niveau de plan</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Quatrième niveau de plan</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Cinquième niveau de plan</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Sixième niveau de plan</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Septième niveau de plan</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9C780E4-8FAD-4332-909D-4974F734EFC6}"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niveau de plan</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Troisième niveau de plan</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Quatrième niveau de plan</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Cinquième niveau de plan</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Sixième niveau de plan</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Septième niveau de plan</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12A6DA2-2FA2-4A0B-82A6-474A079974C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9.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9.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9.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9.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9.xml"/><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4" name="Picture 2" descr="logo.png"/>
          <p:cNvPicPr/>
          <p:nvPr/>
        </p:nvPicPr>
        <p:blipFill>
          <a:blip r:embed="rId1"/>
          <a:stretch/>
        </p:blipFill>
        <p:spPr>
          <a:xfrm>
            <a:off x="777240" y="274320"/>
            <a:ext cx="987480" cy="676440"/>
          </a:xfrm>
          <a:prstGeom prst="rect">
            <a:avLst/>
          </a:prstGeom>
          <a:ln w="0">
            <a:noFill/>
          </a:ln>
        </p:spPr>
      </p:pic>
      <p:sp>
        <p:nvSpPr>
          <p:cNvPr id="75" name="TextBox 3"/>
          <p:cNvSpPr/>
          <p:nvPr/>
        </p:nvSpPr>
        <p:spPr>
          <a:xfrm>
            <a:off x="7574040" y="274320"/>
            <a:ext cx="3840120" cy="43596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6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sp>
        <p:nvSpPr>
          <p:cNvPr id="76" name="Rectangle 4"/>
          <p:cNvSpPr/>
          <p:nvPr/>
        </p:nvSpPr>
        <p:spPr>
          <a:xfrm>
            <a:off x="777240" y="1234440"/>
            <a:ext cx="10926720" cy="525744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7" name="Picture 5" descr="stripes.png"/>
          <p:cNvPicPr/>
          <p:nvPr/>
        </p:nvPicPr>
        <p:blipFill>
          <a:blip r:embed="rId2"/>
          <a:stretch/>
        </p:blipFill>
        <p:spPr>
          <a:xfrm>
            <a:off x="9326880" y="5081400"/>
            <a:ext cx="2377080" cy="1410480"/>
          </a:xfrm>
          <a:prstGeom prst="rect">
            <a:avLst/>
          </a:prstGeom>
          <a:ln w="0">
            <a:noFill/>
          </a:ln>
        </p:spPr>
      </p:pic>
      <p:pic>
        <p:nvPicPr>
          <p:cNvPr id="78" name="Picture 6" descr="sparkle.png"/>
          <p:cNvPicPr/>
          <p:nvPr/>
        </p:nvPicPr>
        <p:blipFill>
          <a:blip r:embed="rId3"/>
          <a:stretch/>
        </p:blipFill>
        <p:spPr>
          <a:xfrm>
            <a:off x="1417320" y="2468880"/>
            <a:ext cx="1051200" cy="1051200"/>
          </a:xfrm>
          <a:prstGeom prst="rect">
            <a:avLst/>
          </a:prstGeom>
          <a:ln w="0">
            <a:noFill/>
          </a:ln>
        </p:spPr>
      </p:pic>
      <p:sp>
        <p:nvSpPr>
          <p:cNvPr id="79" name="TextBox 7"/>
          <p:cNvSpPr/>
          <p:nvPr/>
        </p:nvSpPr>
        <p:spPr>
          <a:xfrm>
            <a:off x="1371600" y="3840480"/>
            <a:ext cx="9875160" cy="1341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400" spc="-1" strike="noStrike">
                <a:solidFill>
                  <a:srgbClr val="ffffff"/>
                </a:solidFill>
                <a:latin typeface="Marianne"/>
              </a:rPr>
              <a:t>Accompagner l’adoption</a:t>
            </a:r>
            <a:endParaRPr b="0" lang="fr-FR" sz="4400" spc="-1" strike="noStrike">
              <a:solidFill>
                <a:srgbClr val="000000"/>
              </a:solidFill>
              <a:latin typeface="Arial"/>
            </a:endParaRPr>
          </a:p>
          <a:p>
            <a:pPr defTabSz="457200">
              <a:lnSpc>
                <a:spcPct val="100000"/>
              </a:lnSpc>
            </a:pPr>
            <a:r>
              <a:rPr b="1" lang="en-US" sz="4400" spc="-1" strike="noStrike">
                <a:solidFill>
                  <a:srgbClr val="ffffff"/>
                </a:solidFill>
                <a:latin typeface="Marianne"/>
              </a:rPr>
              <a:t>de l’IA</a:t>
            </a:r>
            <a:endParaRPr b="0" lang="fr-FR" sz="4400" spc="-1" strike="noStrike">
              <a:solidFill>
                <a:srgbClr val="000000"/>
              </a:solidFill>
              <a:latin typeface="Arial"/>
            </a:endParaRPr>
          </a:p>
        </p:txBody>
      </p:sp>
      <p:sp>
        <p:nvSpPr>
          <p:cNvPr id="80" name="TextBox 8"/>
          <p:cNvSpPr/>
          <p:nvPr/>
        </p:nvSpPr>
        <p:spPr>
          <a:xfrm>
            <a:off x="1398960" y="5349240"/>
            <a:ext cx="9509400" cy="3232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000" spc="-1" strike="noStrike">
                <a:solidFill>
                  <a:srgbClr val="ffffff"/>
                </a:solidFill>
                <a:latin typeface="Marianne"/>
              </a:rPr>
              <a:t>Point d’étape — enjeux, exploration et plan d’action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82" name="Picture 2" descr="logo.png"/>
          <p:cNvPicPr/>
          <p:nvPr/>
        </p:nvPicPr>
        <p:blipFill>
          <a:blip r:embed="rId1"/>
          <a:stretch/>
        </p:blipFill>
        <p:spPr>
          <a:xfrm>
            <a:off x="777240" y="274320"/>
            <a:ext cx="987480" cy="676440"/>
          </a:xfrm>
          <a:prstGeom prst="rect">
            <a:avLst/>
          </a:prstGeom>
          <a:ln w="0">
            <a:noFill/>
          </a:ln>
        </p:spPr>
      </p:pic>
      <p:sp>
        <p:nvSpPr>
          <p:cNvPr id="8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84" name="Connector 4"/>
          <p:cNvCxnSpPr/>
          <p:nvPr/>
        </p:nvCxnSpPr>
        <p:spPr>
          <a:xfrm>
            <a:off x="0" y="1005840"/>
            <a:ext cx="12191760" cy="360"/>
          </a:xfrm>
          <a:prstGeom prst="straightConnector1">
            <a:avLst/>
          </a:prstGeom>
          <a:ln w="9525">
            <a:solidFill>
              <a:srgbClr val="dddddd"/>
            </a:solidFill>
            <a:round/>
          </a:ln>
        </p:spPr>
      </p:cxnSp>
      <p:sp>
        <p:nvSpPr>
          <p:cNvPr id="8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8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2</a:t>
            </a:r>
            <a:endParaRPr b="0" lang="fr-FR" sz="1100" spc="-1" strike="noStrike">
              <a:solidFill>
                <a:srgbClr val="000000"/>
              </a:solidFill>
              <a:latin typeface="Arial"/>
            </a:endParaRPr>
          </a:p>
        </p:txBody>
      </p:sp>
      <p:sp>
        <p:nvSpPr>
          <p:cNvPr id="8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Au programme</a:t>
            </a:r>
            <a:endParaRPr b="0" lang="fr-FR" sz="3300" spc="-1" strike="noStrike">
              <a:solidFill>
                <a:srgbClr val="000000"/>
              </a:solidFill>
              <a:latin typeface="Arial"/>
            </a:endParaRPr>
          </a:p>
        </p:txBody>
      </p:sp>
      <p:sp>
        <p:nvSpPr>
          <p:cNvPr id="88" name="Rounded Rectangle 8"/>
          <p:cNvSpPr/>
          <p:nvPr/>
        </p:nvSpPr>
        <p:spPr>
          <a:xfrm>
            <a:off x="777240" y="246888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9"/>
          <p:cNvSpPr/>
          <p:nvPr/>
        </p:nvSpPr>
        <p:spPr>
          <a:xfrm>
            <a:off x="777240" y="257436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1</a:t>
            </a:r>
            <a:endParaRPr b="0" lang="fr-FR" sz="2200" spc="-1" strike="noStrike">
              <a:solidFill>
                <a:srgbClr val="000000"/>
              </a:solidFill>
              <a:latin typeface="Arial"/>
            </a:endParaRPr>
          </a:p>
        </p:txBody>
      </p:sp>
      <p:sp>
        <p:nvSpPr>
          <p:cNvPr id="90" name="TextBox 10"/>
          <p:cNvSpPr/>
          <p:nvPr/>
        </p:nvSpPr>
        <p:spPr>
          <a:xfrm>
            <a:off x="1645920" y="260964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Les enjeux de la mission</a:t>
            </a:r>
            <a:endParaRPr b="0" lang="fr-FR" sz="2100" spc="-1" strike="noStrike">
              <a:solidFill>
                <a:srgbClr val="000000"/>
              </a:solidFill>
              <a:latin typeface="Arial"/>
            </a:endParaRPr>
          </a:p>
        </p:txBody>
      </p:sp>
      <p:sp>
        <p:nvSpPr>
          <p:cNvPr id="91" name="Rounded Rectangle 11"/>
          <p:cNvSpPr/>
          <p:nvPr/>
        </p:nvSpPr>
        <p:spPr>
          <a:xfrm>
            <a:off x="777240" y="354780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12"/>
          <p:cNvSpPr/>
          <p:nvPr/>
        </p:nvSpPr>
        <p:spPr>
          <a:xfrm>
            <a:off x="777240" y="365328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2</a:t>
            </a:r>
            <a:endParaRPr b="0" lang="fr-FR" sz="2200" spc="-1" strike="noStrike">
              <a:solidFill>
                <a:srgbClr val="000000"/>
              </a:solidFill>
              <a:latin typeface="Arial"/>
            </a:endParaRPr>
          </a:p>
        </p:txBody>
      </p:sp>
      <p:sp>
        <p:nvSpPr>
          <p:cNvPr id="93" name="TextBox 13"/>
          <p:cNvSpPr/>
          <p:nvPr/>
        </p:nvSpPr>
        <p:spPr>
          <a:xfrm>
            <a:off x="1645920" y="368856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La phase d’exploration</a:t>
            </a:r>
            <a:endParaRPr b="0" lang="fr-FR" sz="2100" spc="-1" strike="noStrike">
              <a:solidFill>
                <a:srgbClr val="000000"/>
              </a:solidFill>
              <a:latin typeface="Arial"/>
            </a:endParaRPr>
          </a:p>
        </p:txBody>
      </p:sp>
      <p:sp>
        <p:nvSpPr>
          <p:cNvPr id="94" name="Rounded Rectangle 14"/>
          <p:cNvSpPr/>
          <p:nvPr/>
        </p:nvSpPr>
        <p:spPr>
          <a:xfrm>
            <a:off x="777240" y="462672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 name="TextBox 15"/>
          <p:cNvSpPr/>
          <p:nvPr/>
        </p:nvSpPr>
        <p:spPr>
          <a:xfrm>
            <a:off x="777240" y="473220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3</a:t>
            </a:r>
            <a:endParaRPr b="0" lang="fr-FR" sz="2200" spc="-1" strike="noStrike">
              <a:solidFill>
                <a:srgbClr val="000000"/>
              </a:solidFill>
              <a:latin typeface="Arial"/>
            </a:endParaRPr>
          </a:p>
        </p:txBody>
      </p:sp>
      <p:sp>
        <p:nvSpPr>
          <p:cNvPr id="96" name="TextBox 16"/>
          <p:cNvSpPr/>
          <p:nvPr/>
        </p:nvSpPr>
        <p:spPr>
          <a:xfrm>
            <a:off x="1645920" y="476748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 plan d’action</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8" name="Picture 2" descr="logo.png"/>
          <p:cNvPicPr/>
          <p:nvPr/>
        </p:nvPicPr>
        <p:blipFill>
          <a:blip r:embed="rId1"/>
          <a:stretch/>
        </p:blipFill>
        <p:spPr>
          <a:xfrm>
            <a:off x="777240" y="274320"/>
            <a:ext cx="987480" cy="676440"/>
          </a:xfrm>
          <a:prstGeom prst="rect">
            <a:avLst/>
          </a:prstGeom>
          <a:ln w="0">
            <a:noFill/>
          </a:ln>
        </p:spPr>
      </p:pic>
      <p:sp>
        <p:nvSpPr>
          <p:cNvPr id="99"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0" name="Connector 4"/>
          <p:cNvCxnSpPr/>
          <p:nvPr/>
        </p:nvCxnSpPr>
        <p:spPr>
          <a:xfrm>
            <a:off x="0" y="1005840"/>
            <a:ext cx="12191760" cy="360"/>
          </a:xfrm>
          <a:prstGeom prst="straightConnector1">
            <a:avLst/>
          </a:prstGeom>
          <a:ln w="9525">
            <a:solidFill>
              <a:srgbClr val="dddddd"/>
            </a:solidFill>
            <a:round/>
          </a:ln>
        </p:spPr>
      </p:cxnSp>
      <p:sp>
        <p:nvSpPr>
          <p:cNvPr id="101"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2"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01</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Les enjeux</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04" name="Picture 2" descr="logo.png"/>
          <p:cNvPicPr/>
          <p:nvPr/>
        </p:nvPicPr>
        <p:blipFill>
          <a:blip r:embed="rId1"/>
          <a:stretch/>
        </p:blipFill>
        <p:spPr>
          <a:xfrm>
            <a:off x="777240" y="274320"/>
            <a:ext cx="987480" cy="676440"/>
          </a:xfrm>
          <a:prstGeom prst="rect">
            <a:avLst/>
          </a:prstGeom>
          <a:ln w="0">
            <a:noFill/>
          </a:ln>
        </p:spPr>
      </p:pic>
      <p:sp>
        <p:nvSpPr>
          <p:cNvPr id="105"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6" name="Connector 4"/>
          <p:cNvCxnSpPr/>
          <p:nvPr/>
        </p:nvCxnSpPr>
        <p:spPr>
          <a:xfrm>
            <a:off x="0" y="1005840"/>
            <a:ext cx="12191760" cy="360"/>
          </a:xfrm>
          <a:prstGeom prst="straightConnector1">
            <a:avLst/>
          </a:prstGeom>
          <a:ln w="9525">
            <a:solidFill>
              <a:srgbClr val="dddddd"/>
            </a:solidFill>
            <a:round/>
          </a:ln>
        </p:spPr>
      </p:cxnSp>
      <p:sp>
        <p:nvSpPr>
          <p:cNvPr id="107"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8"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4</a:t>
            </a:r>
            <a:endParaRPr b="0" lang="fr-FR" sz="1100" spc="-1" strike="noStrike">
              <a:solidFill>
                <a:srgbClr val="000000"/>
              </a:solidFill>
              <a:latin typeface="Arial"/>
            </a:endParaRPr>
          </a:p>
        </p:txBody>
      </p:sp>
      <p:sp>
        <p:nvSpPr>
          <p:cNvPr id="109"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Les enjeux</a:t>
            </a:r>
            <a:endParaRPr b="0" lang="fr-FR" sz="3300" spc="-1" strike="noStrike">
              <a:solidFill>
                <a:srgbClr val="000000"/>
              </a:solidFill>
              <a:latin typeface="Arial"/>
            </a:endParaRPr>
          </a:p>
        </p:txBody>
      </p:sp>
      <p:sp>
        <p:nvSpPr>
          <p:cNvPr id="110"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Faire de l’IA un levier concret pour les métiers du numérique.</a:t>
            </a:r>
            <a:endParaRPr b="0" lang="fr-FR" sz="1650" spc="-1" strike="noStrike">
              <a:solidFill>
                <a:srgbClr val="000000"/>
              </a:solidFill>
              <a:latin typeface="Arial"/>
            </a:endParaRPr>
          </a:p>
        </p:txBody>
      </p:sp>
      <p:sp>
        <p:nvSpPr>
          <p:cNvPr id="111" name="Rounded Rectangle 9"/>
          <p:cNvSpPr/>
          <p:nvPr/>
        </p:nvSpPr>
        <p:spPr>
          <a:xfrm>
            <a:off x="7772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2" name="Picture 10" descr="search-eye.png"/>
          <p:cNvPicPr/>
          <p:nvPr/>
        </p:nvPicPr>
        <p:blipFill>
          <a:blip r:embed="rId2"/>
          <a:stretch/>
        </p:blipFill>
        <p:spPr>
          <a:xfrm>
            <a:off x="1088280" y="2962800"/>
            <a:ext cx="548280" cy="548280"/>
          </a:xfrm>
          <a:prstGeom prst="rect">
            <a:avLst/>
          </a:prstGeom>
          <a:ln w="0">
            <a:noFill/>
          </a:ln>
        </p:spPr>
      </p:pic>
      <p:sp>
        <p:nvSpPr>
          <p:cNvPr id="113" name="TextBox 11"/>
          <p:cNvSpPr/>
          <p:nvPr/>
        </p:nvSpPr>
        <p:spPr>
          <a:xfrm>
            <a:off x="10882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Identifier les usages</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Repérer les cas d’usage IA pour chaque métier.</a:t>
            </a:r>
            <a:endParaRPr b="0" lang="fr-FR" sz="1450" spc="-1" strike="noStrike">
              <a:solidFill>
                <a:srgbClr val="000000"/>
              </a:solidFill>
              <a:latin typeface="Arial"/>
            </a:endParaRPr>
          </a:p>
        </p:txBody>
      </p:sp>
      <p:sp>
        <p:nvSpPr>
          <p:cNvPr id="114" name="Rounded Rectangle 12"/>
          <p:cNvSpPr/>
          <p:nvPr/>
        </p:nvSpPr>
        <p:spPr>
          <a:xfrm>
            <a:off x="44600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5" name="Picture 13" descr="user-follow.png"/>
          <p:cNvPicPr/>
          <p:nvPr/>
        </p:nvPicPr>
        <p:blipFill>
          <a:blip r:embed="rId3"/>
          <a:stretch/>
        </p:blipFill>
        <p:spPr>
          <a:xfrm>
            <a:off x="4771080" y="2962800"/>
            <a:ext cx="548280" cy="548280"/>
          </a:xfrm>
          <a:prstGeom prst="rect">
            <a:avLst/>
          </a:prstGeom>
          <a:ln w="0">
            <a:noFill/>
          </a:ln>
        </p:spPr>
      </p:pic>
      <p:sp>
        <p:nvSpPr>
          <p:cNvPr id="116" name="TextBox 14"/>
          <p:cNvSpPr/>
          <p:nvPr/>
        </p:nvSpPr>
        <p:spPr>
          <a:xfrm>
            <a:off x="4771080" y="3694320"/>
            <a:ext cx="2685960" cy="11379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Accompagner la maîtrise</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Aider les équipes à s’approprier des cas concrets.</a:t>
            </a:r>
            <a:endParaRPr b="0" lang="fr-FR" sz="1450" spc="-1" strike="noStrike">
              <a:solidFill>
                <a:srgbClr val="000000"/>
              </a:solidFill>
              <a:latin typeface="Arial"/>
            </a:endParaRPr>
          </a:p>
        </p:txBody>
      </p:sp>
      <p:sp>
        <p:nvSpPr>
          <p:cNvPr id="117" name="Rounded Rectangle 15"/>
          <p:cNvSpPr/>
          <p:nvPr/>
        </p:nvSpPr>
        <p:spPr>
          <a:xfrm>
            <a:off x="814320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8" name="Picture 16" descr="megaphone.png"/>
          <p:cNvPicPr/>
          <p:nvPr/>
        </p:nvPicPr>
        <p:blipFill>
          <a:blip r:embed="rId4"/>
          <a:stretch/>
        </p:blipFill>
        <p:spPr>
          <a:xfrm>
            <a:off x="8453880" y="2962800"/>
            <a:ext cx="548280" cy="548280"/>
          </a:xfrm>
          <a:prstGeom prst="rect">
            <a:avLst/>
          </a:prstGeom>
          <a:ln w="0">
            <a:noFill/>
          </a:ln>
        </p:spPr>
      </p:pic>
      <p:sp>
        <p:nvSpPr>
          <p:cNvPr id="119" name="TextBox 17"/>
          <p:cNvSpPr/>
          <p:nvPr/>
        </p:nvSpPr>
        <p:spPr>
          <a:xfrm>
            <a:off x="84538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Évangéliser</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Diffuser la culture et les bons réflexes de l’IA.</a:t>
            </a:r>
            <a:endParaRPr b="0" lang="fr-FR" sz="1450" spc="-1" strike="noStrike">
              <a:solidFill>
                <a:srgbClr val="000000"/>
              </a:solidFill>
              <a:latin typeface="Arial"/>
            </a:endParaRPr>
          </a:p>
        </p:txBody>
      </p:sp>
      <p:sp>
        <p:nvSpPr>
          <p:cNvPr id="120" name="TextBox 18"/>
          <p:cNvSpPr/>
          <p:nvPr/>
        </p:nvSpPr>
        <p:spPr>
          <a:xfrm>
            <a:off x="777240" y="5573880"/>
            <a:ext cx="2011320" cy="22680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400" spc="-1" strike="noStrike">
                <a:solidFill>
                  <a:srgbClr val="161616"/>
                </a:solidFill>
                <a:latin typeface="Marianne"/>
              </a:rPr>
              <a:t>Pour 4 métiers :</a:t>
            </a:r>
            <a:endParaRPr b="0" lang="fr-FR" sz="1400" spc="-1" strike="noStrike">
              <a:solidFill>
                <a:srgbClr val="000000"/>
              </a:solidFill>
              <a:latin typeface="Arial"/>
            </a:endParaRPr>
          </a:p>
        </p:txBody>
      </p:sp>
      <p:sp>
        <p:nvSpPr>
          <p:cNvPr id="121" name="Rounded Rectangle 19"/>
          <p:cNvSpPr/>
          <p:nvPr/>
        </p:nvSpPr>
        <p:spPr>
          <a:xfrm>
            <a:off x="2834640" y="5477400"/>
            <a:ext cx="133020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 name="TextBox 20"/>
          <p:cNvSpPr/>
          <p:nvPr/>
        </p:nvSpPr>
        <p:spPr>
          <a:xfrm>
            <a:off x="2834640" y="5581800"/>
            <a:ext cx="133020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Architectes</a:t>
            </a:r>
            <a:endParaRPr b="0" lang="fr-FR" sz="1300" spc="-1" strike="noStrike">
              <a:solidFill>
                <a:srgbClr val="000000"/>
              </a:solidFill>
              <a:latin typeface="Arial"/>
            </a:endParaRPr>
          </a:p>
        </p:txBody>
      </p:sp>
      <p:sp>
        <p:nvSpPr>
          <p:cNvPr id="123" name="Rounded Rectangle 21"/>
          <p:cNvSpPr/>
          <p:nvPr/>
        </p:nvSpPr>
        <p:spPr>
          <a:xfrm>
            <a:off x="4366440" y="5477400"/>
            <a:ext cx="171432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2"/>
          <p:cNvSpPr/>
          <p:nvPr/>
        </p:nvSpPr>
        <p:spPr>
          <a:xfrm>
            <a:off x="4366440" y="5581800"/>
            <a:ext cx="171432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Chefs de projet</a:t>
            </a:r>
            <a:endParaRPr b="0" lang="fr-FR" sz="1300" spc="-1" strike="noStrike">
              <a:solidFill>
                <a:srgbClr val="000000"/>
              </a:solidFill>
              <a:latin typeface="Arial"/>
            </a:endParaRPr>
          </a:p>
        </p:txBody>
      </p:sp>
      <p:sp>
        <p:nvSpPr>
          <p:cNvPr id="125" name="Rounded Rectangle 23"/>
          <p:cNvSpPr/>
          <p:nvPr/>
        </p:nvSpPr>
        <p:spPr>
          <a:xfrm>
            <a:off x="6282000" y="5477400"/>
            <a:ext cx="1137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TextBox 24"/>
          <p:cNvSpPr/>
          <p:nvPr/>
        </p:nvSpPr>
        <p:spPr>
          <a:xfrm>
            <a:off x="6282000" y="5581800"/>
            <a:ext cx="1137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Designers</a:t>
            </a:r>
            <a:endParaRPr b="0" lang="fr-FR" sz="1300" spc="-1" strike="noStrike">
              <a:solidFill>
                <a:srgbClr val="000000"/>
              </a:solidFill>
              <a:latin typeface="Arial"/>
            </a:endParaRPr>
          </a:p>
        </p:txBody>
      </p:sp>
      <p:sp>
        <p:nvSpPr>
          <p:cNvPr id="127" name="Rounded Rectangle 25"/>
          <p:cNvSpPr/>
          <p:nvPr/>
        </p:nvSpPr>
        <p:spPr>
          <a:xfrm>
            <a:off x="7621560" y="5477400"/>
            <a:ext cx="1425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TextBox 26"/>
          <p:cNvSpPr/>
          <p:nvPr/>
        </p:nvSpPr>
        <p:spPr>
          <a:xfrm>
            <a:off x="7621560" y="5581800"/>
            <a:ext cx="1425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Développeurs</a:t>
            </a:r>
            <a:endParaRPr b="0" lang="fr-FR"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0" name="Picture 2" descr="logo.png"/>
          <p:cNvPicPr/>
          <p:nvPr/>
        </p:nvPicPr>
        <p:blipFill>
          <a:blip r:embed="rId1"/>
          <a:stretch/>
        </p:blipFill>
        <p:spPr>
          <a:xfrm>
            <a:off x="777240" y="274320"/>
            <a:ext cx="987480" cy="676440"/>
          </a:xfrm>
          <a:prstGeom prst="rect">
            <a:avLst/>
          </a:prstGeom>
          <a:ln w="0">
            <a:noFill/>
          </a:ln>
        </p:spPr>
      </p:pic>
      <p:sp>
        <p:nvSpPr>
          <p:cNvPr id="131"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2" name="Connector 4"/>
          <p:cNvCxnSpPr/>
          <p:nvPr/>
        </p:nvCxnSpPr>
        <p:spPr>
          <a:xfrm>
            <a:off x="0" y="1005840"/>
            <a:ext cx="12191760" cy="360"/>
          </a:xfrm>
          <a:prstGeom prst="straightConnector1">
            <a:avLst/>
          </a:prstGeom>
          <a:ln w="9525">
            <a:solidFill>
              <a:srgbClr val="dddddd"/>
            </a:solidFill>
            <a:round/>
          </a:ln>
        </p:spPr>
      </p:cxnSp>
      <p:sp>
        <p:nvSpPr>
          <p:cNvPr id="133"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34"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02</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L’exploration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6" name="Picture 2" descr="logo.png"/>
          <p:cNvPicPr/>
          <p:nvPr/>
        </p:nvPicPr>
        <p:blipFill>
          <a:blip r:embed="rId1"/>
          <a:stretch/>
        </p:blipFill>
        <p:spPr>
          <a:xfrm>
            <a:off x="777240" y="274320"/>
            <a:ext cx="987480" cy="676440"/>
          </a:xfrm>
          <a:prstGeom prst="rect">
            <a:avLst/>
          </a:prstGeom>
          <a:ln w="0">
            <a:noFill/>
          </a:ln>
        </p:spPr>
      </p:pic>
      <p:sp>
        <p:nvSpPr>
          <p:cNvPr id="13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8" name="Connector 4"/>
          <p:cNvCxnSpPr/>
          <p:nvPr/>
        </p:nvCxnSpPr>
        <p:spPr>
          <a:xfrm>
            <a:off x="0" y="1005840"/>
            <a:ext cx="12191760" cy="360"/>
          </a:xfrm>
          <a:prstGeom prst="straightConnector1">
            <a:avLst/>
          </a:prstGeom>
          <a:ln w="9525">
            <a:solidFill>
              <a:srgbClr val="dddddd"/>
            </a:solidFill>
            <a:round/>
          </a:ln>
        </p:spPr>
      </p:cxnSp>
      <p:sp>
        <p:nvSpPr>
          <p:cNvPr id="13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4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6</a:t>
            </a:r>
            <a:endParaRPr b="0" lang="fr-FR" sz="1100" spc="-1" strike="noStrike">
              <a:solidFill>
                <a:srgbClr val="000000"/>
              </a:solidFill>
              <a:latin typeface="Arial"/>
            </a:endParaRPr>
          </a:p>
        </p:txBody>
      </p:sp>
      <p:sp>
        <p:nvSpPr>
          <p:cNvPr id="141"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Aller à la rencontre du terrain</a:t>
            </a:r>
            <a:endParaRPr b="0" lang="fr-FR" sz="3300" spc="-1" strike="noStrike">
              <a:solidFill>
                <a:srgbClr val="000000"/>
              </a:solidFill>
              <a:latin typeface="Arial"/>
            </a:endParaRPr>
          </a:p>
        </p:txBody>
      </p:sp>
      <p:sp>
        <p:nvSpPr>
          <p:cNvPr id="142" name="Rounded Rectangle 8"/>
          <p:cNvSpPr/>
          <p:nvPr/>
        </p:nvSpPr>
        <p:spPr>
          <a:xfrm>
            <a:off x="7772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3" name="Picture 9" descr="team.png"/>
          <p:cNvPicPr/>
          <p:nvPr/>
        </p:nvPicPr>
        <p:blipFill>
          <a:blip r:embed="rId2"/>
          <a:stretch/>
        </p:blipFill>
        <p:spPr>
          <a:xfrm>
            <a:off x="1088280" y="2459880"/>
            <a:ext cx="511560" cy="511560"/>
          </a:xfrm>
          <a:prstGeom prst="rect">
            <a:avLst/>
          </a:prstGeom>
          <a:ln w="0">
            <a:noFill/>
          </a:ln>
        </p:spPr>
      </p:pic>
      <p:sp>
        <p:nvSpPr>
          <p:cNvPr id="144" name="TextBox 10"/>
          <p:cNvSpPr/>
          <p:nvPr/>
        </p:nvSpPr>
        <p:spPr>
          <a:xfrm>
            <a:off x="1088280" y="3108960"/>
            <a:ext cx="2649240" cy="24318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équipes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SRDT</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DACCORD</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Egapro</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DomiFA</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SIRENA</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Comprendre leur quotidien et leurs enjeux.</a:t>
            </a:r>
            <a:endParaRPr b="0" lang="fr-FR" sz="1350" spc="-1" strike="noStrike">
              <a:solidFill>
                <a:srgbClr val="000000"/>
              </a:solidFill>
              <a:latin typeface="Arial"/>
            </a:endParaRPr>
          </a:p>
        </p:txBody>
      </p:sp>
      <p:sp>
        <p:nvSpPr>
          <p:cNvPr id="145" name="Rounded Rectangle 11"/>
          <p:cNvSpPr/>
          <p:nvPr/>
        </p:nvSpPr>
        <p:spPr>
          <a:xfrm>
            <a:off x="44600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6" name="Picture 12" descr="briefcase.png"/>
          <p:cNvPicPr/>
          <p:nvPr/>
        </p:nvPicPr>
        <p:blipFill>
          <a:blip r:embed="rId3"/>
          <a:stretch/>
        </p:blipFill>
        <p:spPr>
          <a:xfrm>
            <a:off x="4771080" y="2459880"/>
            <a:ext cx="511560" cy="511560"/>
          </a:xfrm>
          <a:prstGeom prst="rect">
            <a:avLst/>
          </a:prstGeom>
          <a:ln w="0">
            <a:noFill/>
          </a:ln>
        </p:spPr>
      </p:pic>
      <p:sp>
        <p:nvSpPr>
          <p:cNvPr id="147" name="TextBox 13"/>
          <p:cNvSpPr/>
          <p:nvPr/>
        </p:nvSpPr>
        <p:spPr>
          <a:xfrm>
            <a:off x="4771080" y="3108960"/>
            <a:ext cx="2649240" cy="213660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métiers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Architectes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Products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Designers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Développeurs</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Cerner les besoins propres à chaque rôle.</a:t>
            </a:r>
            <a:endParaRPr b="0" lang="fr-FR" sz="1350" spc="-1" strike="noStrike">
              <a:solidFill>
                <a:srgbClr val="000000"/>
              </a:solidFill>
              <a:latin typeface="Arial"/>
            </a:endParaRPr>
          </a:p>
        </p:txBody>
      </p:sp>
      <p:sp>
        <p:nvSpPr>
          <p:cNvPr id="148" name="Rounded Rectangle 14"/>
          <p:cNvSpPr/>
          <p:nvPr/>
        </p:nvSpPr>
        <p:spPr>
          <a:xfrm>
            <a:off x="814320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9" name="Picture 15" descr="discuss.png"/>
          <p:cNvPicPr/>
          <p:nvPr/>
        </p:nvPicPr>
        <p:blipFill>
          <a:blip r:embed="rId4"/>
          <a:stretch/>
        </p:blipFill>
        <p:spPr>
          <a:xfrm>
            <a:off x="8453880" y="2459880"/>
            <a:ext cx="511560" cy="511560"/>
          </a:xfrm>
          <a:prstGeom prst="rect">
            <a:avLst/>
          </a:prstGeom>
          <a:ln w="0">
            <a:noFill/>
          </a:ln>
        </p:spPr>
      </p:pic>
      <p:sp>
        <p:nvSpPr>
          <p:cNvPr id="150" name="TextBox 16"/>
          <p:cNvSpPr/>
          <p:nvPr/>
        </p:nvSpPr>
        <p:spPr>
          <a:xfrm>
            <a:off x="8453880" y="3108960"/>
            <a:ext cx="2649240" cy="2009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Échanges clés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Dominique — RGAA / accessibilité</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Victor Degliame — outillage interne</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Sécuriser conformité et stratégie d’outillage.</a:t>
            </a:r>
            <a:endParaRPr b="0" lang="fr-FR"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2" name="Picture 2" descr="logo.png"/>
          <p:cNvPicPr/>
          <p:nvPr/>
        </p:nvPicPr>
        <p:blipFill>
          <a:blip r:embed="rId1"/>
          <a:stretch/>
        </p:blipFill>
        <p:spPr>
          <a:xfrm>
            <a:off x="777240" y="274320"/>
            <a:ext cx="987480" cy="676440"/>
          </a:xfrm>
          <a:prstGeom prst="rect">
            <a:avLst/>
          </a:prstGeom>
          <a:ln w="0">
            <a:noFill/>
          </a:ln>
        </p:spPr>
      </p:pic>
      <p:sp>
        <p:nvSpPr>
          <p:cNvPr id="15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54" name="Connector 4"/>
          <p:cNvCxnSpPr/>
          <p:nvPr/>
        </p:nvCxnSpPr>
        <p:spPr>
          <a:xfrm>
            <a:off x="0" y="1005840"/>
            <a:ext cx="12191760" cy="360"/>
          </a:xfrm>
          <a:prstGeom prst="straightConnector1">
            <a:avLst/>
          </a:prstGeom>
          <a:ln w="9525">
            <a:solidFill>
              <a:srgbClr val="dddddd"/>
            </a:solidFill>
            <a:round/>
          </a:ln>
        </p:spPr>
      </p:cxnSp>
      <p:sp>
        <p:nvSpPr>
          <p:cNvPr id="15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5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7</a:t>
            </a:r>
            <a:endParaRPr b="0" lang="fr-FR" sz="1100" spc="-1" strike="noStrike">
              <a:solidFill>
                <a:srgbClr val="000000"/>
              </a:solidFill>
              <a:latin typeface="Arial"/>
            </a:endParaRPr>
          </a:p>
        </p:txBody>
      </p:sp>
      <p:sp>
        <p:nvSpPr>
          <p:cNvPr id="157"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Egapro : un usage de l’IA déjà avancé</a:t>
            </a:r>
            <a:endParaRPr b="0" lang="fr-FR" sz="3100" spc="-1" strike="noStrike">
              <a:solidFill>
                <a:srgbClr val="000000"/>
              </a:solidFill>
              <a:latin typeface="Arial"/>
            </a:endParaRPr>
          </a:p>
        </p:txBody>
      </p:sp>
      <p:sp>
        <p:nvSpPr>
          <p:cNvPr id="158" name="TextBox 8"/>
          <p:cNvSpPr/>
          <p:nvPr/>
        </p:nvSpPr>
        <p:spPr>
          <a:xfrm>
            <a:off x="777240" y="2011680"/>
            <a:ext cx="10636920" cy="2764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0" lang="en-US" sz="1650" spc="-1" strike="noStrike">
                <a:solidFill>
                  <a:srgbClr val="3a3a3a"/>
                </a:solidFill>
                <a:latin typeface="Marianne"/>
              </a:rPr>
              <a:t>Une équipe qui exploite déjà Claude — j’explore cet usage en développant dessus.</a:t>
            </a:r>
            <a:endParaRPr b="0" lang="fr-FR" sz="1650" spc="-1" strike="noStrike">
              <a:solidFill>
                <a:srgbClr val="000000"/>
              </a:solidFill>
              <a:latin typeface="Arial"/>
            </a:endParaRPr>
          </a:p>
        </p:txBody>
      </p:sp>
      <p:sp>
        <p:nvSpPr>
          <p:cNvPr id="159" name="Rounded Rectangle 9"/>
          <p:cNvSpPr/>
          <p:nvPr/>
        </p:nvSpPr>
        <p:spPr>
          <a:xfrm>
            <a:off x="77724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0" name="Picture 10" descr="terminal-box.png"/>
          <p:cNvPicPr/>
          <p:nvPr/>
        </p:nvPicPr>
        <p:blipFill>
          <a:blip r:embed="rId2"/>
          <a:stretch/>
        </p:blipFill>
        <p:spPr>
          <a:xfrm>
            <a:off x="1106280" y="3099960"/>
            <a:ext cx="511560" cy="511560"/>
          </a:xfrm>
          <a:prstGeom prst="rect">
            <a:avLst/>
          </a:prstGeom>
          <a:ln w="0">
            <a:noFill/>
          </a:ln>
        </p:spPr>
      </p:pic>
      <p:sp>
        <p:nvSpPr>
          <p:cNvPr id="161" name="TextBox 11"/>
          <p:cNvSpPr/>
          <p:nvPr/>
        </p:nvSpPr>
        <p:spPr>
          <a:xfrm>
            <a:off x="1106280" y="3749040"/>
            <a:ext cx="4431240" cy="12006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j’observe</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Un usage de Claude déjà en place avant mon arrivée.</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Une orchestration ambitieuse.</a:t>
            </a:r>
            <a:endParaRPr b="0" lang="fr-FR" sz="1500" spc="-1" strike="noStrike">
              <a:solidFill>
                <a:srgbClr val="000000"/>
              </a:solidFill>
              <a:latin typeface="Arial"/>
            </a:endParaRPr>
          </a:p>
        </p:txBody>
      </p:sp>
      <p:sp>
        <p:nvSpPr>
          <p:cNvPr id="162" name="Rounded Rectangle 12"/>
          <p:cNvSpPr/>
          <p:nvPr/>
        </p:nvSpPr>
        <p:spPr>
          <a:xfrm>
            <a:off x="632448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3" name="Picture 13" descr="settings-3.png"/>
          <p:cNvPicPr/>
          <p:nvPr/>
        </p:nvPicPr>
        <p:blipFill>
          <a:blip r:embed="rId3"/>
          <a:stretch/>
        </p:blipFill>
        <p:spPr>
          <a:xfrm>
            <a:off x="6653520" y="3099960"/>
            <a:ext cx="511560" cy="511560"/>
          </a:xfrm>
          <a:prstGeom prst="rect">
            <a:avLst/>
          </a:prstGeom>
          <a:ln w="0">
            <a:noFill/>
          </a:ln>
        </p:spPr>
      </p:pic>
      <p:sp>
        <p:nvSpPr>
          <p:cNvPr id="164" name="TextBox 14"/>
          <p:cNvSpPr/>
          <p:nvPr/>
        </p:nvSpPr>
        <p:spPr>
          <a:xfrm>
            <a:off x="6653520" y="3749040"/>
            <a:ext cx="4431240" cy="14403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je propose</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optimisations sur la façon dont l’IA est mobilisée.</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Intégrer des estimations par taille de « T-shirt » — aujourd’hui en expérimentation.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6" name="Picture 2" descr="logo.png"/>
          <p:cNvPicPr/>
          <p:nvPr/>
        </p:nvPicPr>
        <p:blipFill>
          <a:blip r:embed="rId1"/>
          <a:stretch/>
        </p:blipFill>
        <p:spPr>
          <a:xfrm>
            <a:off x="777240" y="274320"/>
            <a:ext cx="987480" cy="676440"/>
          </a:xfrm>
          <a:prstGeom prst="rect">
            <a:avLst/>
          </a:prstGeom>
          <a:ln w="0">
            <a:noFill/>
          </a:ln>
        </p:spPr>
      </p:pic>
      <p:sp>
        <p:nvSpPr>
          <p:cNvPr id="16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68" name="Connector 4"/>
          <p:cNvCxnSpPr/>
          <p:nvPr/>
        </p:nvCxnSpPr>
        <p:spPr>
          <a:xfrm>
            <a:off x="0" y="1005840"/>
            <a:ext cx="12191760" cy="360"/>
          </a:xfrm>
          <a:prstGeom prst="straightConnector1">
            <a:avLst/>
          </a:prstGeom>
          <a:ln w="9525">
            <a:solidFill>
              <a:srgbClr val="dddddd"/>
            </a:solidFill>
            <a:round/>
          </a:ln>
        </p:spPr>
      </p:cxnSp>
      <p:sp>
        <p:nvSpPr>
          <p:cNvPr id="16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0"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03</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 plan d’action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72" name="Picture 2" descr="logo.png"/>
          <p:cNvPicPr/>
          <p:nvPr/>
        </p:nvPicPr>
        <p:blipFill>
          <a:blip r:embed="rId1"/>
          <a:stretch/>
        </p:blipFill>
        <p:spPr>
          <a:xfrm>
            <a:off x="777240" y="274320"/>
            <a:ext cx="987480" cy="676440"/>
          </a:xfrm>
          <a:prstGeom prst="rect">
            <a:avLst/>
          </a:prstGeom>
          <a:ln w="0">
            <a:noFill/>
          </a:ln>
        </p:spPr>
      </p:pic>
      <p:sp>
        <p:nvSpPr>
          <p:cNvPr id="17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74" name="Connector 4"/>
          <p:cNvCxnSpPr/>
          <p:nvPr/>
        </p:nvCxnSpPr>
        <p:spPr>
          <a:xfrm>
            <a:off x="0" y="1005840"/>
            <a:ext cx="12191760" cy="360"/>
          </a:xfrm>
          <a:prstGeom prst="straightConnector1">
            <a:avLst/>
          </a:prstGeom>
          <a:ln w="9525">
            <a:solidFill>
              <a:srgbClr val="dddddd"/>
            </a:solidFill>
            <a:round/>
          </a:ln>
        </p:spPr>
      </p:cxnSp>
      <p:sp>
        <p:nvSpPr>
          <p:cNvPr id="17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9</a:t>
            </a:r>
            <a:endParaRPr b="0" lang="fr-FR" sz="1100" spc="-1" strike="noStrike">
              <a:solidFill>
                <a:srgbClr val="000000"/>
              </a:solidFill>
              <a:latin typeface="Arial"/>
            </a:endParaRPr>
          </a:p>
        </p:txBody>
      </p:sp>
      <p:sp>
        <p:nvSpPr>
          <p:cNvPr id="17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Trois horizons</a:t>
            </a:r>
            <a:endParaRPr b="0" lang="fr-FR" sz="3300" spc="-1" strike="noStrike">
              <a:solidFill>
                <a:srgbClr val="000000"/>
              </a:solidFill>
              <a:latin typeface="Arial"/>
            </a:endParaRPr>
          </a:p>
        </p:txBody>
      </p:sp>
      <p:sp>
        <p:nvSpPr>
          <p:cNvPr id="178" name="TextBox 8"/>
          <p:cNvSpPr/>
          <p:nvPr/>
        </p:nvSpPr>
        <p:spPr>
          <a:xfrm>
            <a:off x="777240" y="1974960"/>
            <a:ext cx="10636920" cy="2584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00" spc="-1" strike="noStrike">
                <a:solidFill>
                  <a:srgbClr val="3a3a3a"/>
                </a:solidFill>
                <a:latin typeface="Marianne"/>
              </a:rPr>
              <a:t>Une trajectoire progressive, du quick win à la cible souveraine.</a:t>
            </a:r>
            <a:endParaRPr b="0" lang="fr-FR" sz="1600" spc="-1" strike="noStrike">
              <a:solidFill>
                <a:srgbClr val="000000"/>
              </a:solidFill>
              <a:latin typeface="Arial"/>
            </a:endParaRPr>
          </a:p>
        </p:txBody>
      </p:sp>
      <p:cxnSp>
        <p:nvCxnSpPr>
          <p:cNvPr id="179" name="Connector 9"/>
          <p:cNvCxnSpPr/>
          <p:nvPr/>
        </p:nvCxnSpPr>
        <p:spPr>
          <a:xfrm>
            <a:off x="2360880" y="3035520"/>
            <a:ext cx="7972920" cy="360"/>
          </a:xfrm>
          <a:prstGeom prst="straightConnector1">
            <a:avLst/>
          </a:prstGeom>
          <a:ln w="22225">
            <a:solidFill>
              <a:srgbClr val="6a6af4"/>
            </a:solidFill>
            <a:round/>
            <a:tailEnd len="med" type="triangle" w="med"/>
          </a:ln>
        </p:spPr>
      </p:cxnSp>
      <p:sp>
        <p:nvSpPr>
          <p:cNvPr id="180" name="TextBox 10"/>
          <p:cNvSpPr/>
          <p:nvPr/>
        </p:nvSpPr>
        <p:spPr>
          <a:xfrm>
            <a:off x="77724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COURT TERME</a:t>
            </a:r>
            <a:endParaRPr b="0" lang="fr-FR" sz="1300" spc="-1" strike="noStrike">
              <a:solidFill>
                <a:srgbClr val="000000"/>
              </a:solidFill>
              <a:latin typeface="Arial"/>
            </a:endParaRPr>
          </a:p>
        </p:txBody>
      </p:sp>
      <p:sp>
        <p:nvSpPr>
          <p:cNvPr id="181" name="Rounded Rectangle 11"/>
          <p:cNvSpPr/>
          <p:nvPr/>
        </p:nvSpPr>
        <p:spPr>
          <a:xfrm>
            <a:off x="2123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2" name="Picture 12" descr="rocket_w.png"/>
          <p:cNvPicPr/>
          <p:nvPr/>
        </p:nvPicPr>
        <p:blipFill>
          <a:blip r:embed="rId2"/>
          <a:stretch/>
        </p:blipFill>
        <p:spPr>
          <a:xfrm>
            <a:off x="2232720" y="2907360"/>
            <a:ext cx="256320" cy="256320"/>
          </a:xfrm>
          <a:prstGeom prst="rect">
            <a:avLst/>
          </a:prstGeom>
          <a:ln w="0">
            <a:noFill/>
          </a:ln>
        </p:spPr>
      </p:pic>
      <p:sp>
        <p:nvSpPr>
          <p:cNvPr id="183" name="TextBox 13"/>
          <p:cNvSpPr/>
          <p:nvPr/>
        </p:nvSpPr>
        <p:spPr>
          <a:xfrm>
            <a:off x="451188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MOYEN TERME</a:t>
            </a:r>
            <a:endParaRPr b="0" lang="fr-FR" sz="1300" spc="-1" strike="noStrike">
              <a:solidFill>
                <a:srgbClr val="000000"/>
              </a:solidFill>
              <a:latin typeface="Arial"/>
            </a:endParaRPr>
          </a:p>
        </p:txBody>
      </p:sp>
      <p:sp>
        <p:nvSpPr>
          <p:cNvPr id="184" name="Rounded Rectangle 14"/>
          <p:cNvSpPr/>
          <p:nvPr/>
        </p:nvSpPr>
        <p:spPr>
          <a:xfrm>
            <a:off x="5858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5" name="Picture 15" descr="settings-3_w.png"/>
          <p:cNvPicPr/>
          <p:nvPr/>
        </p:nvPicPr>
        <p:blipFill>
          <a:blip r:embed="rId3"/>
          <a:stretch/>
        </p:blipFill>
        <p:spPr>
          <a:xfrm>
            <a:off x="5967360" y="2907360"/>
            <a:ext cx="256320" cy="256320"/>
          </a:xfrm>
          <a:prstGeom prst="rect">
            <a:avLst/>
          </a:prstGeom>
          <a:ln w="0">
            <a:noFill/>
          </a:ln>
        </p:spPr>
      </p:pic>
      <p:sp>
        <p:nvSpPr>
          <p:cNvPr id="186" name="TextBox 16"/>
          <p:cNvSpPr/>
          <p:nvPr/>
        </p:nvSpPr>
        <p:spPr>
          <a:xfrm>
            <a:off x="824652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LONG TERME</a:t>
            </a:r>
            <a:endParaRPr b="0" lang="fr-FR" sz="1300" spc="-1" strike="noStrike">
              <a:solidFill>
                <a:srgbClr val="000000"/>
              </a:solidFill>
              <a:latin typeface="Arial"/>
            </a:endParaRPr>
          </a:p>
        </p:txBody>
      </p:sp>
      <p:sp>
        <p:nvSpPr>
          <p:cNvPr id="187" name="Rounded Rectangle 17"/>
          <p:cNvSpPr/>
          <p:nvPr/>
        </p:nvSpPr>
        <p:spPr>
          <a:xfrm>
            <a:off x="959292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8" name="Picture 18" descr="government_w.png"/>
          <p:cNvPicPr/>
          <p:nvPr/>
        </p:nvPicPr>
        <p:blipFill>
          <a:blip r:embed="rId4"/>
          <a:stretch/>
        </p:blipFill>
        <p:spPr>
          <a:xfrm>
            <a:off x="9702360" y="2907360"/>
            <a:ext cx="256320" cy="256320"/>
          </a:xfrm>
          <a:prstGeom prst="rect">
            <a:avLst/>
          </a:prstGeom>
          <a:ln w="0">
            <a:noFill/>
          </a:ln>
        </p:spPr>
      </p:pic>
      <p:sp>
        <p:nvSpPr>
          <p:cNvPr id="189" name="Rounded Rectangle 19"/>
          <p:cNvSpPr/>
          <p:nvPr/>
        </p:nvSpPr>
        <p:spPr>
          <a:xfrm>
            <a:off x="77724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20"/>
          <p:cNvSpPr/>
          <p:nvPr/>
        </p:nvSpPr>
        <p:spPr>
          <a:xfrm>
            <a:off x="1069920" y="3730680"/>
            <a:ext cx="2582280" cy="1761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Outiller chaque métier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Architectes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Chefs de projet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Designers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Développeurs</a:t>
            </a:r>
            <a:endParaRPr b="0" lang="fr-FR" sz="1400" spc="-1" strike="noStrike">
              <a:solidFill>
                <a:srgbClr val="000000"/>
              </a:solidFill>
              <a:latin typeface="Arial"/>
            </a:endParaRPr>
          </a:p>
        </p:txBody>
      </p:sp>
      <p:sp>
        <p:nvSpPr>
          <p:cNvPr id="191" name="Rounded Rectangle 21"/>
          <p:cNvSpPr/>
          <p:nvPr/>
        </p:nvSpPr>
        <p:spPr>
          <a:xfrm>
            <a:off x="451188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 name="TextBox 22"/>
          <p:cNvSpPr/>
          <p:nvPr/>
        </p:nvSpPr>
        <p:spPr>
          <a:xfrm>
            <a:off x="4804560" y="3730680"/>
            <a:ext cx="2582280" cy="1985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Industrialiser &amp; animer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Communauté de champions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CI/CD &amp; déploiement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Dev agentique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Observabilité</a:t>
            </a:r>
            <a:endParaRPr b="0" lang="fr-FR" sz="1400" spc="-1" strike="noStrike">
              <a:solidFill>
                <a:srgbClr val="000000"/>
              </a:solidFill>
              <a:latin typeface="Arial"/>
            </a:endParaRPr>
          </a:p>
        </p:txBody>
      </p:sp>
      <p:sp>
        <p:nvSpPr>
          <p:cNvPr id="193" name="Rounded Rectangle 23"/>
          <p:cNvSpPr/>
          <p:nvPr/>
        </p:nvSpPr>
        <p:spPr>
          <a:xfrm>
            <a:off x="824652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 name="TextBox 24"/>
          <p:cNvSpPr/>
          <p:nvPr/>
        </p:nvSpPr>
        <p:spPr>
          <a:xfrm>
            <a:off x="8539200" y="3730680"/>
            <a:ext cx="2582280" cy="1200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Un harness maison</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Souveraineté</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Conformité intégrée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Expérience maîtrisée</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96" name="Picture 2" descr="logo.png"/>
          <p:cNvPicPr/>
          <p:nvPr/>
        </p:nvPicPr>
        <p:blipFill>
          <a:blip r:embed="rId1"/>
          <a:stretch/>
        </p:blipFill>
        <p:spPr>
          <a:xfrm>
            <a:off x="777240" y="274320"/>
            <a:ext cx="987480" cy="676440"/>
          </a:xfrm>
          <a:prstGeom prst="rect">
            <a:avLst/>
          </a:prstGeom>
          <a:ln w="0">
            <a:noFill/>
          </a:ln>
        </p:spPr>
      </p:pic>
      <p:sp>
        <p:nvSpPr>
          <p:cNvPr id="19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98" name="Connector 4"/>
          <p:cNvCxnSpPr/>
          <p:nvPr/>
        </p:nvCxnSpPr>
        <p:spPr>
          <a:xfrm>
            <a:off x="0" y="1005840"/>
            <a:ext cx="12191760" cy="360"/>
          </a:xfrm>
          <a:prstGeom prst="straightConnector1">
            <a:avLst/>
          </a:prstGeom>
          <a:ln w="9525">
            <a:solidFill>
              <a:srgbClr val="dddddd"/>
            </a:solidFill>
            <a:round/>
          </a:ln>
        </p:spPr>
      </p:cxnSp>
      <p:sp>
        <p:nvSpPr>
          <p:cNvPr id="19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0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10</a:t>
            </a:r>
            <a:endParaRPr b="0" lang="fr-FR" sz="1100" spc="-1" strike="noStrike">
              <a:solidFill>
                <a:srgbClr val="000000"/>
              </a:solidFill>
              <a:latin typeface="Arial"/>
            </a:endParaRPr>
          </a:p>
        </p:txBody>
      </p:sp>
      <p:sp>
        <p:nvSpPr>
          <p:cNvPr id="201"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Court terme : outiller chaque métier</a:t>
            </a:r>
            <a:endParaRPr b="0" lang="fr-FR" sz="3100" spc="-1" strike="noStrike">
              <a:solidFill>
                <a:srgbClr val="000000"/>
              </a:solidFill>
              <a:latin typeface="Arial"/>
            </a:endParaRPr>
          </a:p>
        </p:txBody>
      </p:sp>
      <p:sp>
        <p:nvSpPr>
          <p:cNvPr id="202" name="Rounded Rectangle 8"/>
          <p:cNvSpPr/>
          <p:nvPr/>
        </p:nvSpPr>
        <p:spPr>
          <a:xfrm>
            <a:off x="777240" y="2286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3" name="Picture 9" descr="compasses-2.png"/>
          <p:cNvPicPr/>
          <p:nvPr/>
        </p:nvPicPr>
        <p:blipFill>
          <a:blip r:embed="rId2"/>
          <a:stretch/>
        </p:blipFill>
        <p:spPr>
          <a:xfrm>
            <a:off x="1088280" y="2560320"/>
            <a:ext cx="456840" cy="456840"/>
          </a:xfrm>
          <a:prstGeom prst="rect">
            <a:avLst/>
          </a:prstGeom>
          <a:ln w="0">
            <a:noFill/>
          </a:ln>
        </p:spPr>
      </p:pic>
      <p:sp>
        <p:nvSpPr>
          <p:cNvPr id="204" name="TextBox 10"/>
          <p:cNvSpPr/>
          <p:nvPr/>
        </p:nvSpPr>
        <p:spPr>
          <a:xfrm>
            <a:off x="16916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Architectes</a:t>
            </a:r>
            <a:endParaRPr b="0" lang="fr-FR" sz="1750" spc="-1" strike="noStrike">
              <a:solidFill>
                <a:srgbClr val="000000"/>
              </a:solidFill>
              <a:latin typeface="Arial"/>
            </a:endParaRPr>
          </a:p>
        </p:txBody>
      </p:sp>
      <p:sp>
        <p:nvSpPr>
          <p:cNvPr id="205" name="TextBox 11"/>
          <p:cNvSpPr/>
          <p:nvPr/>
        </p:nvSpPr>
        <p:spPr>
          <a:xfrm>
            <a:off x="1088280" y="31273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Générer des Dossiers d’Architecture (DA) avec l’IA.</a:t>
            </a:r>
            <a:endParaRPr b="0" lang="fr-FR" sz="1400" spc="-1" strike="noStrike">
              <a:solidFill>
                <a:srgbClr val="000000"/>
              </a:solidFill>
              <a:latin typeface="Arial"/>
            </a:endParaRPr>
          </a:p>
        </p:txBody>
      </p:sp>
      <p:sp>
        <p:nvSpPr>
          <p:cNvPr id="206" name="Rounded Rectangle 12"/>
          <p:cNvSpPr/>
          <p:nvPr/>
        </p:nvSpPr>
        <p:spPr>
          <a:xfrm>
            <a:off x="6301440" y="2286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7" name="Picture 13" descr="clipboard.png"/>
          <p:cNvPicPr/>
          <p:nvPr/>
        </p:nvPicPr>
        <p:blipFill>
          <a:blip r:embed="rId3"/>
          <a:stretch/>
        </p:blipFill>
        <p:spPr>
          <a:xfrm>
            <a:off x="6612480" y="2560320"/>
            <a:ext cx="456840" cy="456840"/>
          </a:xfrm>
          <a:prstGeom prst="rect">
            <a:avLst/>
          </a:prstGeom>
          <a:ln w="0">
            <a:noFill/>
          </a:ln>
        </p:spPr>
      </p:pic>
      <p:sp>
        <p:nvSpPr>
          <p:cNvPr id="208" name="TextBox 14"/>
          <p:cNvSpPr/>
          <p:nvPr/>
        </p:nvSpPr>
        <p:spPr>
          <a:xfrm>
            <a:off x="72158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Chefs de projet</a:t>
            </a:r>
            <a:endParaRPr b="0" lang="fr-FR" sz="1750" spc="-1" strike="noStrike">
              <a:solidFill>
                <a:srgbClr val="000000"/>
              </a:solidFill>
              <a:latin typeface="Arial"/>
            </a:endParaRPr>
          </a:p>
        </p:txBody>
      </p:sp>
      <p:sp>
        <p:nvSpPr>
          <p:cNvPr id="209" name="TextBox 15"/>
          <p:cNvSpPr/>
          <p:nvPr/>
        </p:nvSpPr>
        <p:spPr>
          <a:xfrm>
            <a:off x="6612480" y="3127320"/>
            <a:ext cx="4490640" cy="4611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Pré-audit d’homologation continu et meilleur pilotage des projets faits avec l’IA.</a:t>
            </a:r>
            <a:endParaRPr b="0" lang="fr-FR" sz="1400" spc="-1" strike="noStrike">
              <a:solidFill>
                <a:srgbClr val="000000"/>
              </a:solidFill>
              <a:latin typeface="Arial"/>
            </a:endParaRPr>
          </a:p>
        </p:txBody>
      </p:sp>
      <p:sp>
        <p:nvSpPr>
          <p:cNvPr id="210" name="Rounded Rectangle 16"/>
          <p:cNvSpPr/>
          <p:nvPr/>
        </p:nvSpPr>
        <p:spPr>
          <a:xfrm>
            <a:off x="777240" y="4114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1" name="Picture 17" descr="palette.png"/>
          <p:cNvPicPr/>
          <p:nvPr/>
        </p:nvPicPr>
        <p:blipFill>
          <a:blip r:embed="rId4"/>
          <a:stretch/>
        </p:blipFill>
        <p:spPr>
          <a:xfrm>
            <a:off x="1088280" y="4389120"/>
            <a:ext cx="456840" cy="456840"/>
          </a:xfrm>
          <a:prstGeom prst="rect">
            <a:avLst/>
          </a:prstGeom>
          <a:ln w="0">
            <a:noFill/>
          </a:ln>
        </p:spPr>
      </p:pic>
      <p:sp>
        <p:nvSpPr>
          <p:cNvPr id="212" name="TextBox 18"/>
          <p:cNvSpPr/>
          <p:nvPr/>
        </p:nvSpPr>
        <p:spPr>
          <a:xfrm>
            <a:off x="16916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Designers</a:t>
            </a:r>
            <a:endParaRPr b="0" lang="fr-FR" sz="1750" spc="-1" strike="noStrike">
              <a:solidFill>
                <a:srgbClr val="000000"/>
              </a:solidFill>
              <a:latin typeface="Arial"/>
            </a:endParaRPr>
          </a:p>
        </p:txBody>
      </p:sp>
      <p:sp>
        <p:nvSpPr>
          <p:cNvPr id="213" name="TextBox 19"/>
          <p:cNvSpPr/>
          <p:nvPr/>
        </p:nvSpPr>
        <p:spPr>
          <a:xfrm>
            <a:off x="1088280" y="4956120"/>
            <a:ext cx="4490640" cy="4611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Créer et utiliser des skills d’UX et d’audit UX pour générer et challenger des prototypes rapidement.</a:t>
            </a:r>
            <a:endParaRPr b="0" lang="fr-FR" sz="1400" spc="-1" strike="noStrike">
              <a:solidFill>
                <a:srgbClr val="000000"/>
              </a:solidFill>
              <a:latin typeface="Arial"/>
            </a:endParaRPr>
          </a:p>
        </p:txBody>
      </p:sp>
      <p:sp>
        <p:nvSpPr>
          <p:cNvPr id="214" name="Rounded Rectangle 20"/>
          <p:cNvSpPr/>
          <p:nvPr/>
        </p:nvSpPr>
        <p:spPr>
          <a:xfrm>
            <a:off x="6301440" y="4114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5" name="Picture 21" descr="code-s-slash.png"/>
          <p:cNvPicPr/>
          <p:nvPr/>
        </p:nvPicPr>
        <p:blipFill>
          <a:blip r:embed="rId5"/>
          <a:stretch/>
        </p:blipFill>
        <p:spPr>
          <a:xfrm>
            <a:off x="6612480" y="4389120"/>
            <a:ext cx="456840" cy="456840"/>
          </a:xfrm>
          <a:prstGeom prst="rect">
            <a:avLst/>
          </a:prstGeom>
          <a:ln w="0">
            <a:noFill/>
          </a:ln>
        </p:spPr>
      </p:pic>
      <p:sp>
        <p:nvSpPr>
          <p:cNvPr id="216" name="TextBox 22"/>
          <p:cNvSpPr/>
          <p:nvPr/>
        </p:nvSpPr>
        <p:spPr>
          <a:xfrm>
            <a:off x="72158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Développeurs</a:t>
            </a:r>
            <a:endParaRPr b="0" lang="fr-FR" sz="1750" spc="-1" strike="noStrike">
              <a:solidFill>
                <a:srgbClr val="000000"/>
              </a:solidFill>
              <a:latin typeface="Arial"/>
            </a:endParaRPr>
          </a:p>
        </p:txBody>
      </p:sp>
      <p:sp>
        <p:nvSpPr>
          <p:cNvPr id="217" name="TextBox 23"/>
          <p:cNvSpPr/>
          <p:nvPr/>
        </p:nvSpPr>
        <p:spPr>
          <a:xfrm>
            <a:off x="6612480" y="49561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Aller vers ceux en difficulté avec l’IA et les guider.</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9" name="Picture 2" descr="logo.png"/>
          <p:cNvPicPr/>
          <p:nvPr/>
        </p:nvPicPr>
        <p:blipFill>
          <a:blip r:embed="rId1"/>
          <a:stretch/>
        </p:blipFill>
        <p:spPr>
          <a:xfrm>
            <a:off x="777240" y="274320"/>
            <a:ext cx="987480" cy="676440"/>
          </a:xfrm>
          <a:prstGeom prst="rect">
            <a:avLst/>
          </a:prstGeom>
          <a:ln w="0">
            <a:noFill/>
          </a:ln>
        </p:spPr>
      </p:pic>
      <p:sp>
        <p:nvSpPr>
          <p:cNvPr id="220"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21" name="Connector 4"/>
          <p:cNvCxnSpPr/>
          <p:nvPr/>
        </p:nvCxnSpPr>
        <p:spPr>
          <a:xfrm>
            <a:off x="0" y="1005840"/>
            <a:ext cx="12191760" cy="360"/>
          </a:xfrm>
          <a:prstGeom prst="straightConnector1">
            <a:avLst/>
          </a:prstGeom>
          <a:ln w="9525">
            <a:solidFill>
              <a:srgbClr val="dddddd"/>
            </a:solidFill>
            <a:round/>
          </a:ln>
        </p:spPr>
      </p:cxnSp>
      <p:sp>
        <p:nvSpPr>
          <p:cNvPr id="222"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23"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11</a:t>
            </a:r>
            <a:endParaRPr b="0" lang="fr-FR" sz="1100" spc="-1" strike="noStrike">
              <a:solidFill>
                <a:srgbClr val="000000"/>
              </a:solidFill>
              <a:latin typeface="Arial"/>
            </a:endParaRPr>
          </a:p>
        </p:txBody>
      </p:sp>
      <p:sp>
        <p:nvSpPr>
          <p:cNvPr id="224"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Moyen terme : industrialiser &amp; animer</a:t>
            </a:r>
            <a:endParaRPr b="0" lang="fr-FR" sz="3100" spc="-1" strike="noStrike">
              <a:solidFill>
                <a:srgbClr val="000000"/>
              </a:solidFill>
              <a:latin typeface="Arial"/>
            </a:endParaRPr>
          </a:p>
        </p:txBody>
      </p:sp>
      <p:sp>
        <p:nvSpPr>
          <p:cNvPr id="225" name="Rounded Rectangle 8"/>
          <p:cNvSpPr/>
          <p:nvPr/>
        </p:nvSpPr>
        <p:spPr>
          <a:xfrm>
            <a:off x="777240" y="2331720"/>
            <a:ext cx="3520080" cy="3382920"/>
          </a:xfrm>
          <a:prstGeom prst="roundRect">
            <a:avLst>
              <a:gd name="adj" fmla="val 5000"/>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TextBox 9"/>
          <p:cNvSpPr/>
          <p:nvPr/>
        </p:nvSpPr>
        <p:spPr>
          <a:xfrm>
            <a:off x="1143000" y="2743200"/>
            <a:ext cx="2788560" cy="180180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2000" spc="-1" strike="noStrike">
                <a:solidFill>
                  <a:srgbClr val="ffffff"/>
                </a:solidFill>
                <a:latin typeface="Marianne"/>
              </a:rPr>
              <a:t>Animer la communauté</a:t>
            </a:r>
            <a:endParaRPr b="0" lang="fr-FR" sz="2000" spc="-1" strike="noStrike">
              <a:solidFill>
                <a:srgbClr val="000000"/>
              </a:solidFill>
              <a:latin typeface="Arial"/>
            </a:endParaRPr>
          </a:p>
          <a:p>
            <a:pPr defTabSz="457200">
              <a:lnSpc>
                <a:spcPct val="118000"/>
              </a:lnSpc>
            </a:pPr>
            <a:r>
              <a:rPr b="0" lang="en-US" sz="1500" spc="-1" strike="noStrike">
                <a:solidFill>
                  <a:srgbClr val="e3e3fd"/>
                </a:solidFill>
                <a:latin typeface="Marianne"/>
              </a:rPr>
              <a:t>Identifier et préparer l’animation d’une communauté de champions pour chaque métier.</a:t>
            </a:r>
            <a:endParaRPr b="0" lang="fr-FR" sz="1500" spc="-1" strike="noStrike">
              <a:solidFill>
                <a:srgbClr val="000000"/>
              </a:solidFill>
              <a:latin typeface="Arial"/>
            </a:endParaRPr>
          </a:p>
        </p:txBody>
      </p:sp>
      <p:sp>
        <p:nvSpPr>
          <p:cNvPr id="227" name="TextBox 10"/>
          <p:cNvSpPr/>
          <p:nvPr/>
        </p:nvSpPr>
        <p:spPr>
          <a:xfrm>
            <a:off x="4754880" y="2350080"/>
            <a:ext cx="66592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Volet développeurs</a:t>
            </a:r>
            <a:endParaRPr b="0" lang="fr-FR" sz="1800" spc="-1" strike="noStrike">
              <a:solidFill>
                <a:srgbClr val="000000"/>
              </a:solidFill>
              <a:latin typeface="Arial"/>
            </a:endParaRPr>
          </a:p>
        </p:txBody>
      </p:sp>
      <p:sp>
        <p:nvSpPr>
          <p:cNvPr id="228" name="Rounded Rectangle 11"/>
          <p:cNvSpPr/>
          <p:nvPr/>
        </p:nvSpPr>
        <p:spPr>
          <a:xfrm>
            <a:off x="4754880" y="299016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TextBox 12"/>
          <p:cNvSpPr/>
          <p:nvPr/>
        </p:nvSpPr>
        <p:spPr>
          <a:xfrm>
            <a:off x="5047560" y="293508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CI/CD — </a:t>
            </a:r>
            <a:r>
              <a:rPr b="0" lang="en-US" sz="1450" spc="-1" strike="noStrike">
                <a:solidFill>
                  <a:srgbClr val="3a3a3a"/>
                </a:solidFill>
                <a:latin typeface="Marianne"/>
              </a:rPr>
              <a:t>bots de revue de code automatiques.</a:t>
            </a:r>
            <a:endParaRPr b="0" lang="fr-FR" sz="1450" spc="-1" strike="noStrike">
              <a:solidFill>
                <a:srgbClr val="000000"/>
              </a:solidFill>
              <a:latin typeface="Arial"/>
            </a:endParaRPr>
          </a:p>
        </p:txBody>
      </p:sp>
      <p:sp>
        <p:nvSpPr>
          <p:cNvPr id="230" name="Rounded Rectangle 13"/>
          <p:cNvSpPr/>
          <p:nvPr/>
        </p:nvSpPr>
        <p:spPr>
          <a:xfrm>
            <a:off x="4754880" y="375804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TextBox 14"/>
          <p:cNvSpPr/>
          <p:nvPr/>
        </p:nvSpPr>
        <p:spPr>
          <a:xfrm>
            <a:off x="5047560" y="370332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Déploiement — </a:t>
            </a:r>
            <a:r>
              <a:rPr b="0" lang="en-US" sz="1450" spc="-1" strike="noStrike">
                <a:solidFill>
                  <a:srgbClr val="3a3a3a"/>
                </a:solidFill>
                <a:latin typeface="Marianne"/>
              </a:rPr>
              <a:t>dès les licences Claude internes (Sièges).</a:t>
            </a:r>
            <a:endParaRPr b="0" lang="fr-FR" sz="1450" spc="-1" strike="noStrike">
              <a:solidFill>
                <a:srgbClr val="000000"/>
              </a:solidFill>
              <a:latin typeface="Arial"/>
            </a:endParaRPr>
          </a:p>
        </p:txBody>
      </p:sp>
      <p:sp>
        <p:nvSpPr>
          <p:cNvPr id="232" name="Rounded Rectangle 15"/>
          <p:cNvSpPr/>
          <p:nvPr/>
        </p:nvSpPr>
        <p:spPr>
          <a:xfrm>
            <a:off x="4754880" y="452628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TextBox 16"/>
          <p:cNvSpPr/>
          <p:nvPr/>
        </p:nvSpPr>
        <p:spPr>
          <a:xfrm>
            <a:off x="5047560" y="447156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Dev agentique — </a:t>
            </a:r>
            <a:r>
              <a:rPr b="0" lang="en-US" sz="1450" spc="-1" strike="noStrike">
                <a:solidFill>
                  <a:srgbClr val="3a3a3a"/>
                </a:solidFill>
                <a:latin typeface="Marianne"/>
              </a:rPr>
              <a:t>pour les internes, en lien avec la DINUM.</a:t>
            </a:r>
            <a:endParaRPr b="0" lang="fr-FR" sz="1450" spc="-1" strike="noStrike">
              <a:solidFill>
                <a:srgbClr val="000000"/>
              </a:solidFill>
              <a:latin typeface="Arial"/>
            </a:endParaRPr>
          </a:p>
        </p:txBody>
      </p:sp>
      <p:sp>
        <p:nvSpPr>
          <p:cNvPr id="234" name="Rounded Rectangle 17"/>
          <p:cNvSpPr/>
          <p:nvPr/>
        </p:nvSpPr>
        <p:spPr>
          <a:xfrm>
            <a:off x="4754880" y="529452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 name="TextBox 18"/>
          <p:cNvSpPr/>
          <p:nvPr/>
        </p:nvSpPr>
        <p:spPr>
          <a:xfrm>
            <a:off x="5047560" y="523944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Observabilité — </a:t>
            </a:r>
            <a:r>
              <a:rPr b="0" lang="en-US" sz="1450" spc="-1" strike="noStrike">
                <a:solidFill>
                  <a:srgbClr val="3a3a3a"/>
                </a:solidFill>
                <a:latin typeface="Marianne"/>
              </a:rPr>
              <a:t>suivre les usages et la qualité.</a:t>
            </a:r>
            <a:endParaRPr b="0" lang="fr-FR"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37" name="Picture 2" descr="logo.png"/>
          <p:cNvPicPr/>
          <p:nvPr/>
        </p:nvPicPr>
        <p:blipFill>
          <a:blip r:embed="rId1"/>
          <a:stretch/>
        </p:blipFill>
        <p:spPr>
          <a:xfrm>
            <a:off x="777240" y="274320"/>
            <a:ext cx="987480" cy="676440"/>
          </a:xfrm>
          <a:prstGeom prst="rect">
            <a:avLst/>
          </a:prstGeom>
          <a:ln w="0">
            <a:noFill/>
          </a:ln>
        </p:spPr>
      </p:pic>
      <p:sp>
        <p:nvSpPr>
          <p:cNvPr id="238"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39" name="Connector 4"/>
          <p:cNvCxnSpPr/>
          <p:nvPr/>
        </p:nvCxnSpPr>
        <p:spPr>
          <a:xfrm>
            <a:off x="0" y="1005840"/>
            <a:ext cx="12191760" cy="360"/>
          </a:xfrm>
          <a:prstGeom prst="straightConnector1">
            <a:avLst/>
          </a:prstGeom>
          <a:ln w="9525">
            <a:solidFill>
              <a:srgbClr val="dddddd"/>
            </a:solidFill>
            <a:round/>
          </a:ln>
        </p:spPr>
      </p:cxnSp>
      <p:sp>
        <p:nvSpPr>
          <p:cNvPr id="240"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41"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12</a:t>
            </a:r>
            <a:endParaRPr b="0" lang="fr-FR" sz="1100" spc="-1" strike="noStrike">
              <a:solidFill>
                <a:srgbClr val="000000"/>
              </a:solidFill>
              <a:latin typeface="Arial"/>
            </a:endParaRPr>
          </a:p>
        </p:txBody>
      </p:sp>
      <p:sp>
        <p:nvSpPr>
          <p:cNvPr id="242"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Long terme : un harness maison</a:t>
            </a:r>
            <a:endParaRPr b="0" lang="fr-FR" sz="3100" spc="-1" strike="noStrike">
              <a:solidFill>
                <a:srgbClr val="000000"/>
              </a:solidFill>
              <a:latin typeface="Arial"/>
            </a:endParaRPr>
          </a:p>
        </p:txBody>
      </p:sp>
      <p:sp>
        <p:nvSpPr>
          <p:cNvPr id="243"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Construire notre propre environnement IA, maîtrisé de bout en bout.</a:t>
            </a:r>
            <a:endParaRPr b="0" lang="fr-FR" sz="1650" spc="-1" strike="noStrike">
              <a:solidFill>
                <a:srgbClr val="000000"/>
              </a:solidFill>
              <a:latin typeface="Arial"/>
            </a:endParaRPr>
          </a:p>
        </p:txBody>
      </p:sp>
      <p:sp>
        <p:nvSpPr>
          <p:cNvPr id="244" name="Rounded Rectangle 9"/>
          <p:cNvSpPr/>
          <p:nvPr/>
        </p:nvSpPr>
        <p:spPr>
          <a:xfrm>
            <a:off x="77724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5" name="Picture 10" descr="user-smile.png"/>
          <p:cNvPicPr/>
          <p:nvPr/>
        </p:nvPicPr>
        <p:blipFill>
          <a:blip r:embed="rId2"/>
          <a:stretch/>
        </p:blipFill>
        <p:spPr>
          <a:xfrm>
            <a:off x="1051560" y="3008520"/>
            <a:ext cx="511560" cy="511560"/>
          </a:xfrm>
          <a:prstGeom prst="rect">
            <a:avLst/>
          </a:prstGeom>
          <a:ln w="0">
            <a:noFill/>
          </a:ln>
        </p:spPr>
      </p:pic>
      <p:sp>
        <p:nvSpPr>
          <p:cNvPr id="246" name="TextBox 11"/>
          <p:cNvSpPr/>
          <p:nvPr/>
        </p:nvSpPr>
        <p:spPr>
          <a:xfrm>
            <a:off x="105156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Expérience maîtrisée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Embarquer les profils les moins technophiles.</a:t>
            </a:r>
            <a:endParaRPr b="0" lang="fr-FR" sz="1350" spc="-1" strike="noStrike">
              <a:solidFill>
                <a:srgbClr val="000000"/>
              </a:solidFill>
              <a:latin typeface="Arial"/>
            </a:endParaRPr>
          </a:p>
        </p:txBody>
      </p:sp>
      <p:sp>
        <p:nvSpPr>
          <p:cNvPr id="247" name="Rounded Rectangle 12"/>
          <p:cNvSpPr/>
          <p:nvPr/>
        </p:nvSpPr>
        <p:spPr>
          <a:xfrm>
            <a:off x="352800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8" name="Picture 13" descr="focus-3.png"/>
          <p:cNvPicPr/>
          <p:nvPr/>
        </p:nvPicPr>
        <p:blipFill>
          <a:blip r:embed="rId3"/>
          <a:stretch/>
        </p:blipFill>
        <p:spPr>
          <a:xfrm>
            <a:off x="3802320" y="3008520"/>
            <a:ext cx="511560" cy="511560"/>
          </a:xfrm>
          <a:prstGeom prst="rect">
            <a:avLst/>
          </a:prstGeom>
          <a:ln w="0">
            <a:noFill/>
          </a:ln>
        </p:spPr>
      </p:pic>
      <p:sp>
        <p:nvSpPr>
          <p:cNvPr id="249" name="TextBox 14"/>
          <p:cNvSpPr/>
          <p:nvPr/>
        </p:nvSpPr>
        <p:spPr>
          <a:xfrm>
            <a:off x="380232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Périmètre maîtrisé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Contrôler les besoins auxquels l’outil répond.</a:t>
            </a:r>
            <a:endParaRPr b="0" lang="fr-FR" sz="1350" spc="-1" strike="noStrike">
              <a:solidFill>
                <a:srgbClr val="000000"/>
              </a:solidFill>
              <a:latin typeface="Arial"/>
            </a:endParaRPr>
          </a:p>
        </p:txBody>
      </p:sp>
      <p:sp>
        <p:nvSpPr>
          <p:cNvPr id="250" name="Rounded Rectangle 15"/>
          <p:cNvSpPr/>
          <p:nvPr/>
        </p:nvSpPr>
        <p:spPr>
          <a:xfrm>
            <a:off x="627876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1" name="Picture 16" descr="shield-check.png"/>
          <p:cNvPicPr/>
          <p:nvPr/>
        </p:nvPicPr>
        <p:blipFill>
          <a:blip r:embed="rId4"/>
          <a:stretch/>
        </p:blipFill>
        <p:spPr>
          <a:xfrm>
            <a:off x="6553080" y="3008520"/>
            <a:ext cx="511560" cy="511560"/>
          </a:xfrm>
          <a:prstGeom prst="rect">
            <a:avLst/>
          </a:prstGeom>
          <a:ln w="0">
            <a:noFill/>
          </a:ln>
        </p:spPr>
      </p:pic>
      <p:sp>
        <p:nvSpPr>
          <p:cNvPr id="252" name="TextBox 17"/>
          <p:cNvSpPr/>
          <p:nvPr/>
        </p:nvSpPr>
        <p:spPr>
          <a:xfrm>
            <a:off x="655308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Conformité intégrée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Intégrer accessibilité et conformité dans les réalisations.</a:t>
            </a:r>
            <a:endParaRPr b="0" lang="fr-FR" sz="1350" spc="-1" strike="noStrike">
              <a:solidFill>
                <a:srgbClr val="000000"/>
              </a:solidFill>
              <a:latin typeface="Arial"/>
            </a:endParaRPr>
          </a:p>
        </p:txBody>
      </p:sp>
      <p:sp>
        <p:nvSpPr>
          <p:cNvPr id="253" name="Rounded Rectangle 18"/>
          <p:cNvSpPr/>
          <p:nvPr/>
        </p:nvSpPr>
        <p:spPr>
          <a:xfrm>
            <a:off x="902952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4" name="Picture 19" descr="bank.png"/>
          <p:cNvPicPr/>
          <p:nvPr/>
        </p:nvPicPr>
        <p:blipFill>
          <a:blip r:embed="rId5"/>
          <a:stretch/>
        </p:blipFill>
        <p:spPr>
          <a:xfrm>
            <a:off x="9303840" y="3008520"/>
            <a:ext cx="511560" cy="511560"/>
          </a:xfrm>
          <a:prstGeom prst="rect">
            <a:avLst/>
          </a:prstGeom>
          <a:ln w="0">
            <a:noFill/>
          </a:ln>
        </p:spPr>
      </p:pic>
      <p:sp>
        <p:nvSpPr>
          <p:cNvPr id="255" name="TextBox 20"/>
          <p:cNvSpPr/>
          <p:nvPr/>
        </p:nvSpPr>
        <p:spPr>
          <a:xfrm>
            <a:off x="930384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Souveraineté &amp; stabilité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Indépendance vis-à-vis des fournisseurs.</a:t>
            </a:r>
            <a:endParaRPr b="0" lang="fr-FR"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7" name="Picture 2" descr="logo.png"/>
          <p:cNvPicPr/>
          <p:nvPr/>
        </p:nvPicPr>
        <p:blipFill>
          <a:blip r:embed="rId1"/>
          <a:stretch/>
        </p:blipFill>
        <p:spPr>
          <a:xfrm>
            <a:off x="777240" y="274320"/>
            <a:ext cx="987480" cy="676440"/>
          </a:xfrm>
          <a:prstGeom prst="rect">
            <a:avLst/>
          </a:prstGeom>
          <a:ln w="0">
            <a:noFill/>
          </a:ln>
        </p:spPr>
      </p:pic>
      <p:sp>
        <p:nvSpPr>
          <p:cNvPr id="258"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59" name="Connector 4"/>
          <p:cNvCxnSpPr/>
          <p:nvPr/>
        </p:nvCxnSpPr>
        <p:spPr>
          <a:xfrm>
            <a:off x="0" y="1005840"/>
            <a:ext cx="12191760" cy="360"/>
          </a:xfrm>
          <a:prstGeom prst="straightConnector1">
            <a:avLst/>
          </a:prstGeom>
          <a:ln w="9525">
            <a:solidFill>
              <a:srgbClr val="dddddd"/>
            </a:solidFill>
            <a:round/>
          </a:ln>
        </p:spPr>
      </p:cxnSp>
      <p:sp>
        <p:nvSpPr>
          <p:cNvPr id="260"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61"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13</a:t>
            </a:r>
            <a:endParaRPr b="0" lang="fr-FR" sz="1100" spc="-1" strike="noStrike">
              <a:solidFill>
                <a:srgbClr val="000000"/>
              </a:solidFill>
              <a:latin typeface="Arial"/>
            </a:endParaRPr>
          </a:p>
        </p:txBody>
      </p:sp>
      <p:sp>
        <p:nvSpPr>
          <p:cNvPr id="262"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Où nous en sommes</a:t>
            </a:r>
            <a:endParaRPr b="0" lang="fr-FR" sz="3300" spc="-1" strike="noStrike">
              <a:solidFill>
                <a:srgbClr val="000000"/>
              </a:solidFill>
              <a:latin typeface="Arial"/>
            </a:endParaRPr>
          </a:p>
        </p:txBody>
      </p:sp>
      <p:sp>
        <p:nvSpPr>
          <p:cNvPr id="263" name="TextBox 8"/>
          <p:cNvSpPr/>
          <p:nvPr/>
        </p:nvSpPr>
        <p:spPr>
          <a:xfrm>
            <a:off x="777240" y="219456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Ce qui est acquis</a:t>
            </a:r>
            <a:endParaRPr b="0" lang="fr-FR" sz="1800" spc="-1" strike="noStrike">
              <a:solidFill>
                <a:srgbClr val="000000"/>
              </a:solidFill>
              <a:latin typeface="Arial"/>
            </a:endParaRPr>
          </a:p>
        </p:txBody>
      </p:sp>
      <p:sp>
        <p:nvSpPr>
          <p:cNvPr id="264" name="TextBox 9"/>
          <p:cNvSpPr/>
          <p:nvPr/>
        </p:nvSpPr>
        <p:spPr>
          <a:xfrm>
            <a:off x="777240" y="2724840"/>
            <a:ext cx="5089680" cy="266796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Cinq équipes rencontrées : SRDT, DACCORD, Egapro, DomiFA, SIRENA.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Métiers rencontrés : architectes, products, designers, développeurs.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Échanges menés sur l’accessibilité/RGAA (Dominique) et l’outillage interne (V. Degliame).</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Egapro : usage avancé de Claude observé, premières pistes proposées.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Un plan d’action structuré sur trois horizons.</a:t>
            </a:r>
            <a:endParaRPr b="0" lang="fr-FR" sz="1500" spc="-1" strike="noStrike">
              <a:solidFill>
                <a:srgbClr val="000000"/>
              </a:solidFill>
              <a:latin typeface="Arial"/>
            </a:endParaRPr>
          </a:p>
        </p:txBody>
      </p:sp>
      <p:sp>
        <p:nvSpPr>
          <p:cNvPr id="265" name="TextBox 10"/>
          <p:cNvSpPr/>
          <p:nvPr/>
        </p:nvSpPr>
        <p:spPr>
          <a:xfrm>
            <a:off x="6324480" y="219456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Prochaines étapes</a:t>
            </a:r>
            <a:endParaRPr b="0" lang="fr-FR" sz="1800" spc="-1" strike="noStrike">
              <a:solidFill>
                <a:srgbClr val="000000"/>
              </a:solidFill>
              <a:latin typeface="Arial"/>
            </a:endParaRPr>
          </a:p>
        </p:txBody>
      </p:sp>
      <p:sp>
        <p:nvSpPr>
          <p:cNvPr id="266" name="TextBox 11"/>
          <p:cNvSpPr/>
          <p:nvPr/>
        </p:nvSpPr>
        <p:spPr>
          <a:xfrm>
            <a:off x="6324480" y="2724840"/>
            <a:ext cx="5089680" cy="302076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Architectes : outiller la génération de DA avec l’IA.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Chefs de projet : en rencontrer plus, lancer le pré-audit d’homologation continu.</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Designers : créer les premiers skills d’UX et d’audit UX, analyser les autres besoins.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Développeurs : aller vers ceux en difficulté avec l’IA et les guider.</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Préparer la communauté de champions ; anticiper licences Claude &amp; lien DINUM.</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Poser les bases d’un Harness maison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68" name="Picture 2" descr="logo.png"/>
          <p:cNvPicPr/>
          <p:nvPr/>
        </p:nvPicPr>
        <p:blipFill>
          <a:blip r:embed="rId1"/>
          <a:stretch/>
        </p:blipFill>
        <p:spPr>
          <a:xfrm>
            <a:off x="777240" y="274320"/>
            <a:ext cx="987480" cy="676440"/>
          </a:xfrm>
          <a:prstGeom prst="rect">
            <a:avLst/>
          </a:prstGeom>
          <a:ln w="0">
            <a:noFill/>
          </a:ln>
        </p:spPr>
      </p:pic>
      <p:sp>
        <p:nvSpPr>
          <p:cNvPr id="269" name="Rectangle 3"/>
          <p:cNvSpPr/>
          <p:nvPr/>
        </p:nvSpPr>
        <p:spPr>
          <a:xfrm>
            <a:off x="777240" y="1234440"/>
            <a:ext cx="10926720" cy="525744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70" name="Picture 4" descr="stripes.png"/>
          <p:cNvPicPr/>
          <p:nvPr/>
        </p:nvPicPr>
        <p:blipFill>
          <a:blip r:embed="rId2"/>
          <a:stretch/>
        </p:blipFill>
        <p:spPr>
          <a:xfrm>
            <a:off x="8869680" y="4810320"/>
            <a:ext cx="2834280" cy="1681560"/>
          </a:xfrm>
          <a:prstGeom prst="rect">
            <a:avLst/>
          </a:prstGeom>
          <a:ln w="0">
            <a:noFill/>
          </a:ln>
        </p:spPr>
      </p:pic>
      <p:sp>
        <p:nvSpPr>
          <p:cNvPr id="271" name="TextBox 5"/>
          <p:cNvSpPr/>
          <p:nvPr/>
        </p:nvSpPr>
        <p:spPr>
          <a:xfrm>
            <a:off x="1371600" y="3108960"/>
            <a:ext cx="8777880" cy="7624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000" spc="-1" strike="noStrike">
                <a:solidFill>
                  <a:srgbClr val="ffffff"/>
                </a:solidFill>
                <a:latin typeface="Marianne"/>
              </a:rPr>
              <a:t>Place à l’échange</a:t>
            </a:r>
            <a:endParaRPr b="0" lang="fr-FR" sz="5000" spc="-1" strike="noStrike">
              <a:solidFill>
                <a:srgbClr val="000000"/>
              </a:solidFill>
              <a:latin typeface="Arial"/>
            </a:endParaRPr>
          </a:p>
        </p:txBody>
      </p:sp>
      <p:sp>
        <p:nvSpPr>
          <p:cNvPr id="272" name="TextBox 6"/>
          <p:cNvSpPr/>
          <p:nvPr/>
        </p:nvSpPr>
        <p:spPr>
          <a:xfrm>
            <a:off x="1398960" y="4114800"/>
            <a:ext cx="8960760" cy="3553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200" spc="-1" strike="noStrike">
                <a:solidFill>
                  <a:srgbClr val="ffffff"/>
                </a:solidFill>
                <a:latin typeface="Marianne"/>
              </a:rPr>
              <a:t>Vos questions, vos retours, vos arbitrages.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dcterms:modified xsi:type="dcterms:W3CDTF">2026-06-25T17:05:56Z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