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3.png" ContentType="image/png"/>
  <Override PartName="/ppt/media/image4.png" ContentType="image/png"/>
  <Override PartName="/ppt/media/image9.png" ContentType="image/png"/>
  <Override PartName="/ppt/media/image18.png" ContentType="image/png"/>
  <Override PartName="/ppt/media/image20.png" ContentType="image/png"/>
  <Override PartName="/ppt/media/image12.png" ContentType="image/png"/>
  <Override PartName="/ppt/media/image3.png" ContentType="image/png"/>
  <Override PartName="/ppt/media/image8.png" ContentType="image/png"/>
  <Override PartName="/ppt/media/image17.png" ContentType="image/png"/>
  <Override PartName="/ppt/media/image22.png" ContentType="image/png"/>
  <Override PartName="/ppt/media/image21.png" ContentType="image/png"/>
  <Override PartName="/ppt/media/image19.png" ContentType="image/png"/>
  <Override PartName="/ppt/media/image5.png" ContentType="image/png"/>
  <Override PartName="/ppt/media/image14.png" ContentType="image/png"/>
  <Override PartName="/ppt/media/image6.png" ContentType="image/png"/>
  <Override PartName="/ppt/media/image15.png" ContentType="image/png"/>
  <Override PartName="/ppt/media/image10.png" ContentType="image/png"/>
  <Override PartName="/ppt/media/image1.png" ContentType="image/png"/>
  <Override PartName="/ppt/media/image16.png" ContentType="image/png"/>
  <Override PartName="/ppt/media/image7.png" ContentType="image/png"/>
  <Override PartName="/ppt/media/image2.png" ContentType="image/png"/>
  <Override PartName="/ppt/media/image11.png" ContentType="image/png"/>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notesSlides/_rels/notesSlide13.xml.rels" ContentType="application/vnd.openxmlformats-package.relationships+xml"/>
  <Override PartName="/ppt/notesSlides/_rels/notesSlide6.xml.rels" ContentType="application/vnd.openxmlformats-package.relationships+xml"/>
  <Override PartName="/ppt/notesSlides/_rels/notesSlide12.xml.rels" ContentType="application/vnd.openxmlformats-package.relationships+xml"/>
  <Override PartName="/ppt/notesSlides/_rels/notesSlide5.xml.rels" ContentType="application/vnd.openxmlformats-package.relationships+xml"/>
  <Override PartName="/ppt/notesSlides/_rels/notesSlide11.xml.rels" ContentType="application/vnd.openxmlformats-package.relationships+xml"/>
  <Override PartName="/ppt/notesSlides/_rels/notesSlide4.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b="0" lang="fr-FR" sz="4400" spc="-1" strike="noStrike">
                <a:solidFill>
                  <a:srgbClr val="000000"/>
                </a:solidFill>
                <a:latin typeface="Arial"/>
              </a:rPr>
              <a:t>Cliquez pour déplacer la diapo</a:t>
            </a:r>
            <a:endParaRPr b="0" lang="fr-FR" sz="4400" spc="-1" strike="noStrike">
              <a:solidFill>
                <a:srgbClr val="000000"/>
              </a:solidFill>
              <a:latin typeface="Arial"/>
            </a:endParaRPr>
          </a:p>
        </p:txBody>
      </p:sp>
      <p:sp>
        <p:nvSpPr>
          <p:cNvPr id="51"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fr-FR" sz="2000" spc="-1" strike="noStrike">
                <a:solidFill>
                  <a:srgbClr val="000000"/>
                </a:solidFill>
                <a:latin typeface="Arial"/>
              </a:rPr>
              <a:t>Cliquez pour modifier le format des notes</a:t>
            </a:r>
            <a:endParaRPr b="0" lang="fr-FR" sz="2000" spc="-1" strike="noStrike">
              <a:solidFill>
                <a:srgbClr val="000000"/>
              </a:solidFill>
              <a:latin typeface="Arial"/>
            </a:endParaRPr>
          </a:p>
        </p:txBody>
      </p:sp>
      <p:sp>
        <p:nvSpPr>
          <p:cNvPr id="52"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fr-FR" sz="1400" spc="-1" strike="noStrike">
                <a:solidFill>
                  <a:srgbClr val="000000"/>
                </a:solidFill>
                <a:latin typeface="Times New Roman"/>
              </a:rPr>
              <a:t>&lt;en-tête&gt;</a:t>
            </a:r>
            <a:endParaRPr b="0" lang="fr-FR" sz="1400" spc="-1" strike="noStrike">
              <a:solidFill>
                <a:srgbClr val="000000"/>
              </a:solidFill>
              <a:latin typeface="Times New Roman"/>
            </a:endParaRPr>
          </a:p>
        </p:txBody>
      </p:sp>
      <p:sp>
        <p:nvSpPr>
          <p:cNvPr id="53"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b="0" lang="fr-FR" sz="1400" spc="-1" strike="noStrike">
                <a:solidFill>
                  <a:srgbClr val="000000"/>
                </a:solidFill>
                <a:latin typeface="Times New Roman"/>
              </a:defRPr>
            </a:lvl1pPr>
          </a:lstStyle>
          <a:p>
            <a:pPr indent="0" algn="r">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
        <p:nvSpPr>
          <p:cNvPr id="54"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55"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b="0" lang="fr-FR" sz="1400" spc="-1" strike="noStrike">
                <a:solidFill>
                  <a:srgbClr val="000000"/>
                </a:solidFill>
                <a:latin typeface="Times New Roman"/>
              </a:defRPr>
            </a:lvl1pPr>
          </a:lstStyle>
          <a:p>
            <a:pPr indent="0" algn="r">
              <a:buNone/>
            </a:pPr>
            <a:fld id="{C8032125-A315-4EE1-8455-ED6DD6DA6E91}" type="slidenum">
              <a:rPr b="0" lang="fr-FR" sz="1400" spc="-1" strike="noStrike">
                <a:solidFill>
                  <a:srgbClr val="000000"/>
                </a:solidFill>
                <a:latin typeface="Times New Roman"/>
              </a:rPr>
              <a:t>&lt;numéro&gt;</a:t>
            </a:fld>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 name="PlaceHolder 1"/>
          <p:cNvSpPr>
            <a:spLocks noGrp="1"/>
          </p:cNvSpPr>
          <p:nvPr>
            <p:ph type="sldImg"/>
          </p:nvPr>
        </p:nvSpPr>
        <p:spPr>
          <a:xfrm>
            <a:off x="1143000" y="685800"/>
            <a:ext cx="4570920" cy="3427920"/>
          </a:xfrm>
          <a:prstGeom prst="rect">
            <a:avLst/>
          </a:prstGeom>
          <a:ln w="0">
            <a:noFill/>
          </a:ln>
        </p:spPr>
      </p:sp>
      <p:sp>
        <p:nvSpPr>
          <p:cNvPr id="238"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fr-FR" sz="2000" spc="-1" strike="noStrike">
                <a:solidFill>
                  <a:srgbClr val="000000"/>
                </a:solidFill>
                <a:latin typeface="Arial"/>
              </a:rPr>
              <a:t>Point d'etape de la mission IA a la Direction du numerique des Ministeres Sociaux. Objectif du jour : partager ou en est la mission - enjeux, exploration menee, plan d'action sur 3 horizons. 10 min de presentation puis echange.</a:t>
            </a:r>
            <a:endParaRPr b="0" lang="fr-FR" sz="2000" spc="-1" strike="noStrike">
              <a:solidFill>
                <a:srgbClr val="000000"/>
              </a:solidFill>
              <a:latin typeface="Arial"/>
            </a:endParaRPr>
          </a:p>
        </p:txBody>
      </p:sp>
      <p:sp>
        <p:nvSpPr>
          <p:cNvPr id="239" name="PlaceHolder 3"/>
          <p:cNvSpPr>
            <a:spLocks noGrp="1"/>
          </p:cNvSpPr>
          <p:nvPr>
            <p:ph type="sldNum" idx="37"/>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3B090718-FDE0-41AA-8803-BEFDD3A915D1}"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0" name="PlaceHolder 1"/>
          <p:cNvSpPr>
            <a:spLocks noGrp="1"/>
          </p:cNvSpPr>
          <p:nvPr>
            <p:ph type="sldImg"/>
          </p:nvPr>
        </p:nvSpPr>
        <p:spPr>
          <a:xfrm>
            <a:off x="1143000" y="685800"/>
            <a:ext cx="4570920" cy="3427920"/>
          </a:xfrm>
          <a:prstGeom prst="rect">
            <a:avLst/>
          </a:prstGeom>
          <a:ln w="0">
            <a:noFill/>
          </a:ln>
        </p:spPr>
      </p:sp>
      <p:sp>
        <p:nvSpPr>
          <p:cNvPr id="241"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fr-FR" sz="2000" spc="-1" strike="noStrike">
                <a:solidFill>
                  <a:srgbClr val="000000"/>
                </a:solidFill>
                <a:latin typeface="Arial"/>
              </a:rPr>
              <a:t>Trois temps : les enjeux (mon mandat), l'exploration (ce que j'ai fait pour comprendre), puis le plan d'action structure en trois horizons.</a:t>
            </a:r>
            <a:endParaRPr b="0" lang="fr-FR" sz="2000" spc="-1" strike="noStrike">
              <a:solidFill>
                <a:srgbClr val="000000"/>
              </a:solidFill>
              <a:latin typeface="Arial"/>
            </a:endParaRPr>
          </a:p>
        </p:txBody>
      </p:sp>
      <p:sp>
        <p:nvSpPr>
          <p:cNvPr id="242" name="PlaceHolder 3"/>
          <p:cNvSpPr>
            <a:spLocks noGrp="1"/>
          </p:cNvSpPr>
          <p:nvPr>
            <p:ph type="sldNum" idx="38"/>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064871AC-CC17-441F-A3F9-44784E46AE60}"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PlaceHolder 1"/>
          <p:cNvSpPr>
            <a:spLocks noGrp="1"/>
          </p:cNvSpPr>
          <p:nvPr>
            <p:ph type="sldImg"/>
          </p:nvPr>
        </p:nvSpPr>
        <p:spPr>
          <a:xfrm>
            <a:off x="1143000" y="685800"/>
            <a:ext cx="4570920" cy="3427920"/>
          </a:xfrm>
          <a:prstGeom prst="rect">
            <a:avLst/>
          </a:prstGeom>
          <a:ln w="0">
            <a:noFill/>
          </a:ln>
        </p:spPr>
      </p:sp>
      <p:sp>
        <p:nvSpPr>
          <p:cNvPr id="244"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fr-FR" sz="2000" spc="-1" strike="noStrike">
                <a:solidFill>
                  <a:srgbClr val="000000"/>
                </a:solidFill>
                <a:latin typeface="Arial"/>
              </a:rPr>
              <a:t>Mon mandat sur cette mission, en trois enjeux.</a:t>
            </a:r>
            <a:endParaRPr b="0" lang="fr-FR" sz="2000" spc="-1" strike="noStrike">
              <a:solidFill>
                <a:srgbClr val="000000"/>
              </a:solidFill>
              <a:latin typeface="Arial"/>
            </a:endParaRPr>
          </a:p>
        </p:txBody>
      </p:sp>
      <p:sp>
        <p:nvSpPr>
          <p:cNvPr id="245" name="PlaceHolder 3"/>
          <p:cNvSpPr>
            <a:spLocks noGrp="1"/>
          </p:cNvSpPr>
          <p:nvPr>
            <p:ph type="sldNum" idx="39"/>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478982E4-1EA6-4684-831E-F1F9B9D869DE}"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6" name="PlaceHolder 1"/>
          <p:cNvSpPr>
            <a:spLocks noGrp="1"/>
          </p:cNvSpPr>
          <p:nvPr>
            <p:ph type="sldImg"/>
          </p:nvPr>
        </p:nvSpPr>
        <p:spPr>
          <a:xfrm>
            <a:off x="1143000" y="685800"/>
            <a:ext cx="4570920" cy="3427920"/>
          </a:xfrm>
          <a:prstGeom prst="rect">
            <a:avLst/>
          </a:prstGeom>
          <a:ln w="0">
            <a:noFill/>
          </a:ln>
        </p:spPr>
      </p:sp>
      <p:sp>
        <p:nvSpPr>
          <p:cNvPr id="247"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fr-FR" sz="2000" spc="-1" strike="noStrike">
                <a:solidFill>
                  <a:srgbClr val="000000"/>
                </a:solidFill>
                <a:latin typeface="Arial"/>
              </a:rPr>
              <a:t>Mon mandat tient en trois enjeux : identifier les usages pertinents par metier, accompagner la montee en maitrise sur des cas concrets, et evangeliser pour diffuser la culture IA. Au service de quatre metiers : architectes, chefs de projet, designers, developpeurs.</a:t>
            </a:r>
            <a:endParaRPr b="0" lang="fr-FR" sz="2000" spc="-1" strike="noStrike">
              <a:solidFill>
                <a:srgbClr val="000000"/>
              </a:solidFill>
              <a:latin typeface="Arial"/>
            </a:endParaRPr>
          </a:p>
        </p:txBody>
      </p:sp>
      <p:sp>
        <p:nvSpPr>
          <p:cNvPr id="248" name="PlaceHolder 3"/>
          <p:cNvSpPr>
            <a:spLocks noGrp="1"/>
          </p:cNvSpPr>
          <p:nvPr>
            <p:ph type="sldNum" idx="40"/>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A7437CFB-D08F-417E-90A5-A15CB0497E94}"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PlaceHolder 1"/>
          <p:cNvSpPr>
            <a:spLocks noGrp="1"/>
          </p:cNvSpPr>
          <p:nvPr>
            <p:ph type="sldImg"/>
          </p:nvPr>
        </p:nvSpPr>
        <p:spPr>
          <a:xfrm>
            <a:off x="1143000" y="685800"/>
            <a:ext cx="4570920" cy="3427920"/>
          </a:xfrm>
          <a:prstGeom prst="rect">
            <a:avLst/>
          </a:prstGeom>
          <a:ln w="0">
            <a:noFill/>
          </a:ln>
        </p:spPr>
      </p:sp>
      <p:sp>
        <p:nvSpPr>
          <p:cNvPr id="250"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fr-FR" sz="2000" spc="-1" strike="noStrike">
                <a:solidFill>
                  <a:srgbClr val="000000"/>
                </a:solidFill>
                <a:latin typeface="Arial"/>
              </a:rPr>
              <a:t>Comment j'ai pris la mesure du terrain et des usages en place.</a:t>
            </a:r>
            <a:endParaRPr b="0" lang="fr-FR" sz="2000" spc="-1" strike="noStrike">
              <a:solidFill>
                <a:srgbClr val="000000"/>
              </a:solidFill>
              <a:latin typeface="Arial"/>
            </a:endParaRPr>
          </a:p>
        </p:txBody>
      </p:sp>
      <p:sp>
        <p:nvSpPr>
          <p:cNvPr id="251" name="PlaceHolder 3"/>
          <p:cNvSpPr>
            <a:spLocks noGrp="1"/>
          </p:cNvSpPr>
          <p:nvPr>
            <p:ph type="sldNum" idx="41"/>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9CCFB25D-4F29-455E-8C2E-2C03C471C2E9}"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2" name="PlaceHolder 1"/>
          <p:cNvSpPr>
            <a:spLocks noGrp="1"/>
          </p:cNvSpPr>
          <p:nvPr>
            <p:ph type="sldImg"/>
          </p:nvPr>
        </p:nvSpPr>
        <p:spPr>
          <a:xfrm>
            <a:off x="1143000" y="685800"/>
            <a:ext cx="4570920" cy="3427920"/>
          </a:xfrm>
          <a:prstGeom prst="rect">
            <a:avLst/>
          </a:prstGeom>
          <a:ln w="0">
            <a:noFill/>
          </a:ln>
        </p:spPr>
      </p:sp>
      <p:sp>
        <p:nvSpPr>
          <p:cNvPr id="253"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fr-FR" sz="2000" spc="-1" strike="noStrike">
                <a:solidFill>
                  <a:srgbClr val="000000"/>
                </a:solidFill>
                <a:latin typeface="Arial"/>
              </a:rPr>
              <a:t>Premier reflexe : aller voir les gens. J'ai rencontre cinq equipes produit (SRDT, DACCORD, Egapro, DomiFA, SIRENA) pour comprendre leur quotidien et garder un acces au contexte. J'ai croise les quatre metiers, et securise deux sujets cles : l'accessibilite/RGAA avec Dominique, et la strategie d'outillage des internes avec Victor Degliame.</a:t>
            </a:r>
            <a:endParaRPr b="0" lang="fr-FR" sz="2000" spc="-1" strike="noStrike">
              <a:solidFill>
                <a:srgbClr val="000000"/>
              </a:solidFill>
              <a:latin typeface="Arial"/>
            </a:endParaRPr>
          </a:p>
        </p:txBody>
      </p:sp>
      <p:sp>
        <p:nvSpPr>
          <p:cNvPr id="254" name="PlaceHolder 3"/>
          <p:cNvSpPr>
            <a:spLocks noGrp="1"/>
          </p:cNvSpPr>
          <p:nvPr>
            <p:ph type="sldNum" idx="42"/>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8BF263F1-D8FA-4855-9788-AB819CFC29A9}"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 name="PlaceHolder 1"/>
          <p:cNvSpPr>
            <a:spLocks noGrp="1"/>
          </p:cNvSpPr>
          <p:nvPr>
            <p:ph type="sldImg"/>
          </p:nvPr>
        </p:nvSpPr>
        <p:spPr>
          <a:xfrm>
            <a:off x="1143000" y="685800"/>
            <a:ext cx="4570920" cy="3427920"/>
          </a:xfrm>
          <a:prstGeom prst="rect">
            <a:avLst/>
          </a:prstGeom>
          <a:ln w="0">
            <a:noFill/>
          </a:ln>
        </p:spPr>
      </p:sp>
      <p:sp>
        <p:nvSpPr>
          <p:cNvPr id="256"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fr-FR" sz="2000" spc="-1" strike="noStrike">
                <a:solidFill>
                  <a:srgbClr val="000000"/>
                </a:solidFill>
                <a:latin typeface="Arial"/>
              </a:rPr>
              <a:t>Egapro est une des equipes : Claude y est DEJA fortement exploite, avec une orchestration ambitieuse mise en place avant mon arrivee. Mon role est d'explorer cet usage en developpant dessus. Ce que j'observe : un usage avance deja en place. Ce que je propose a partir de la : des optimisations, et l'integration d'estimations par taille de T-shirt (aujourd'hui en experimentation). C'est de l'exploration et des pistes, pas un livrable abouti.</a:t>
            </a:r>
            <a:endParaRPr b="0" lang="fr-FR" sz="2000" spc="-1" strike="noStrike">
              <a:solidFill>
                <a:srgbClr val="000000"/>
              </a:solidFill>
              <a:latin typeface="Arial"/>
            </a:endParaRPr>
          </a:p>
        </p:txBody>
      </p:sp>
      <p:sp>
        <p:nvSpPr>
          <p:cNvPr id="257" name="PlaceHolder 3"/>
          <p:cNvSpPr>
            <a:spLocks noGrp="1"/>
          </p:cNvSpPr>
          <p:nvPr>
            <p:ph type="sldNum" idx="43"/>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053B340D-1DD9-480A-A749-1912C605853C}"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8" name="PlaceHolder 1"/>
          <p:cNvSpPr>
            <a:spLocks noGrp="1"/>
          </p:cNvSpPr>
          <p:nvPr>
            <p:ph type="sldImg"/>
          </p:nvPr>
        </p:nvSpPr>
        <p:spPr>
          <a:xfrm>
            <a:off x="1143000" y="685800"/>
            <a:ext cx="4570920" cy="3427920"/>
          </a:xfrm>
          <a:prstGeom prst="rect">
            <a:avLst/>
          </a:prstGeom>
          <a:ln w="0">
            <a:noFill/>
          </a:ln>
        </p:spPr>
      </p:sp>
      <p:sp>
        <p:nvSpPr>
          <p:cNvPr id="259"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fr-FR" sz="2000" spc="-1" strike="noStrike">
                <a:solidFill>
                  <a:srgbClr val="000000"/>
                </a:solidFill>
                <a:latin typeface="Arial"/>
              </a:rPr>
              <a:t>Ce que je propose, sequence du court au long terme.</a:t>
            </a:r>
            <a:endParaRPr b="0" lang="fr-FR" sz="2000" spc="-1" strike="noStrike">
              <a:solidFill>
                <a:srgbClr val="000000"/>
              </a:solidFill>
              <a:latin typeface="Arial"/>
            </a:endParaRPr>
          </a:p>
        </p:txBody>
      </p:sp>
      <p:sp>
        <p:nvSpPr>
          <p:cNvPr id="260" name="PlaceHolder 3"/>
          <p:cNvSpPr>
            <a:spLocks noGrp="1"/>
          </p:cNvSpPr>
          <p:nvPr>
            <p:ph type="sldNum" idx="44"/>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946BF87F-5B3C-4F52-8313-63F13F589811}"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PlaceHolder 1"/>
          <p:cNvSpPr>
            <a:spLocks noGrp="1"/>
          </p:cNvSpPr>
          <p:nvPr>
            <p:ph type="sldImg"/>
          </p:nvPr>
        </p:nvSpPr>
        <p:spPr>
          <a:xfrm>
            <a:off x="1143000" y="685800"/>
            <a:ext cx="4570920" cy="3427920"/>
          </a:xfrm>
          <a:prstGeom prst="rect">
            <a:avLst/>
          </a:prstGeom>
          <a:ln w="0">
            <a:noFill/>
          </a:ln>
        </p:spPr>
      </p:sp>
      <p:sp>
        <p:nvSpPr>
          <p:cNvPr id="262"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fr-FR" sz="2000" spc="-1" strike="noStrike">
                <a:solidFill>
                  <a:srgbClr val="000000"/>
                </a:solidFill>
                <a:latin typeface="Arial"/>
              </a:rPr>
              <a:t>Le plan se lit sur trois horizons. Court terme : des quick wins par metier. Moyen terme : industrialiser (CI/CD, deploiement, dev agentique, observabilite) et animer une communaute de champions. Long terme : un harness maison pour la souverainete et la conformite. Je detaille ensuite.</a:t>
            </a:r>
            <a:endParaRPr b="0" lang="fr-FR" sz="2000" spc="-1" strike="noStrike">
              <a:solidFill>
                <a:srgbClr val="000000"/>
              </a:solidFill>
              <a:latin typeface="Arial"/>
            </a:endParaRPr>
          </a:p>
        </p:txBody>
      </p:sp>
      <p:sp>
        <p:nvSpPr>
          <p:cNvPr id="263" name="PlaceHolder 3"/>
          <p:cNvSpPr>
            <a:spLocks noGrp="1"/>
          </p:cNvSpPr>
          <p:nvPr>
            <p:ph type="sldNum" idx="45"/>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FD647062-3988-4BA5-BFF2-74E7B256EE5D}"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4" name="PlaceHolder 1"/>
          <p:cNvSpPr>
            <a:spLocks noGrp="1"/>
          </p:cNvSpPr>
          <p:nvPr>
            <p:ph type="sldImg"/>
          </p:nvPr>
        </p:nvSpPr>
        <p:spPr>
          <a:xfrm>
            <a:off x="1143000" y="685800"/>
            <a:ext cx="4570920" cy="3427920"/>
          </a:xfrm>
          <a:prstGeom prst="rect">
            <a:avLst/>
          </a:prstGeom>
          <a:ln w="0">
            <a:noFill/>
          </a:ln>
        </p:spPr>
      </p:sp>
      <p:sp>
        <p:nvSpPr>
          <p:cNvPr id="265"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fr-FR" sz="2000" spc="-1" strike="noStrike">
                <a:solidFill>
                  <a:srgbClr val="000000"/>
                </a:solidFill>
                <a:latin typeface="Arial"/>
              </a:rPr>
              <a:t>Court terme, metier par metier. Architectes : generer les dossiers d'architecture avec l'IA. Chefs de projet : un pre-audit d'homologation continu et l'enjeu de pilotage des projets faits avec l'IA (estimations T-shirt experimentees sur Egapro). Designers : des skills d'UX et d'audit pour prototyper et challenger vite. Developpeurs : accompagner ceux qui peinent a s'approprier l'IA.</a:t>
            </a:r>
            <a:endParaRPr b="0" lang="fr-FR" sz="2000" spc="-1" strike="noStrike">
              <a:solidFill>
                <a:srgbClr val="000000"/>
              </a:solidFill>
              <a:latin typeface="Arial"/>
            </a:endParaRPr>
          </a:p>
        </p:txBody>
      </p:sp>
      <p:sp>
        <p:nvSpPr>
          <p:cNvPr id="266" name="PlaceHolder 3"/>
          <p:cNvSpPr>
            <a:spLocks noGrp="1"/>
          </p:cNvSpPr>
          <p:nvPr>
            <p:ph type="sldNum" idx="46"/>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CA248F09-36DB-4DC1-B289-AFDC82B3D397}"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7" name="PlaceHolder 1"/>
          <p:cNvSpPr>
            <a:spLocks noGrp="1"/>
          </p:cNvSpPr>
          <p:nvPr>
            <p:ph type="sldImg"/>
          </p:nvPr>
        </p:nvSpPr>
        <p:spPr>
          <a:xfrm>
            <a:off x="1143000" y="685800"/>
            <a:ext cx="4570920" cy="3427920"/>
          </a:xfrm>
          <a:prstGeom prst="rect">
            <a:avLst/>
          </a:prstGeom>
          <a:ln w="0">
            <a:noFill/>
          </a:ln>
        </p:spPr>
      </p:sp>
      <p:sp>
        <p:nvSpPr>
          <p:cNvPr id="268"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fr-FR" sz="2000" spc="-1" strike="noStrike">
                <a:solidFill>
                  <a:srgbClr val="000000"/>
                </a:solidFill>
                <a:latin typeface="Arial"/>
              </a:rPr>
              <a:t>Moyen terme, deux volets. Animer : identifier et faire vivre une communaute de champions par metier. Cote developpeurs : fiabiliser la CI/CD avec des bots de review, activer le deploiement des qu'on aura les licences Claude internes, ouvrir le dev agentique avec la DINUM, mettre en place l'observabilite.</a:t>
            </a:r>
            <a:endParaRPr b="0" lang="fr-FR" sz="2000" spc="-1" strike="noStrike">
              <a:solidFill>
                <a:srgbClr val="000000"/>
              </a:solidFill>
              <a:latin typeface="Arial"/>
            </a:endParaRPr>
          </a:p>
        </p:txBody>
      </p:sp>
      <p:sp>
        <p:nvSpPr>
          <p:cNvPr id="269" name="PlaceHolder 3"/>
          <p:cNvSpPr>
            <a:spLocks noGrp="1"/>
          </p:cNvSpPr>
          <p:nvPr>
            <p:ph type="sldNum" idx="47"/>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54E5790B-1954-4688-B743-11A1069697B4}"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0" name="PlaceHolder 1"/>
          <p:cNvSpPr>
            <a:spLocks noGrp="1"/>
          </p:cNvSpPr>
          <p:nvPr>
            <p:ph type="sldImg"/>
          </p:nvPr>
        </p:nvSpPr>
        <p:spPr>
          <a:xfrm>
            <a:off x="1143000" y="685800"/>
            <a:ext cx="4570920" cy="3427920"/>
          </a:xfrm>
          <a:prstGeom prst="rect">
            <a:avLst/>
          </a:prstGeom>
          <a:ln w="0">
            <a:noFill/>
          </a:ln>
        </p:spPr>
      </p:sp>
      <p:sp>
        <p:nvSpPr>
          <p:cNvPr id="271"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fr-FR" sz="2000" spc="-1" strike="noStrike">
                <a:solidFill>
                  <a:srgbClr val="000000"/>
                </a:solidFill>
                <a:latin typeface="Arial"/>
              </a:rPr>
              <a:t>L'horizon cible : un harness maison, notre propre environnement IA. Quatre benefices : une experience maitrisee pour embarquer les moins technophiles, un perimetre maitrise sur les besoins couverts, la conformite (accessibilite) integree des la conception, et la souverainete - l'independance vis-a-vis des fournisseurs.</a:t>
            </a:r>
            <a:endParaRPr b="0" lang="fr-FR" sz="2000" spc="-1" strike="noStrike">
              <a:solidFill>
                <a:srgbClr val="000000"/>
              </a:solidFill>
              <a:latin typeface="Arial"/>
            </a:endParaRPr>
          </a:p>
        </p:txBody>
      </p:sp>
      <p:sp>
        <p:nvSpPr>
          <p:cNvPr id="272" name="PlaceHolder 3"/>
          <p:cNvSpPr>
            <a:spLocks noGrp="1"/>
          </p:cNvSpPr>
          <p:nvPr>
            <p:ph type="sldNum" idx="48"/>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036BD7DC-55CF-4C48-897B-C01C01EF66B4}"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3" name="PlaceHolder 1"/>
          <p:cNvSpPr>
            <a:spLocks noGrp="1"/>
          </p:cNvSpPr>
          <p:nvPr>
            <p:ph type="sldImg"/>
          </p:nvPr>
        </p:nvSpPr>
        <p:spPr>
          <a:xfrm>
            <a:off x="1143000" y="685800"/>
            <a:ext cx="4570920" cy="3427920"/>
          </a:xfrm>
          <a:prstGeom prst="rect">
            <a:avLst/>
          </a:prstGeom>
          <a:ln w="0">
            <a:noFill/>
          </a:ln>
        </p:spPr>
      </p:sp>
      <p:sp>
        <p:nvSpPr>
          <p:cNvPr id="274"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fr-FR" sz="2000" spc="-1" strike="noStrike">
                <a:solidFill>
                  <a:srgbClr val="000000"/>
                </a:solidFill>
                <a:latin typeface="Arial"/>
              </a:rPr>
              <a:t>Synthese. Ce qui est acquis : les cinq equipes rencontrees (SRDT, DACCORD, Egapro, DomiFA, SIRENA), les metiers rencontres (architectes, products, designers, developpeurs), les echanges sur le RGAA avec Dominique et l'outillage interne avec Victor Degliame, l'usage avance de Claude observe sur Egapro avec de premieres pistes, et un plan structure sur 3 horizons. Prochaines etapes, surtout court terme : DA pour les architectes ; rencontrer plus de CDP et lancer le pre-audit d'homologation continu ; premiers skills UX/audit cote designers ; accompagner les developpeurs en difficulte. Puis preparer la communaute de champions et anticiper les licences Claude et le lien DINUM. Place a vos questions.</a:t>
            </a:r>
            <a:endParaRPr b="0" lang="fr-FR" sz="2000" spc="-1" strike="noStrike">
              <a:solidFill>
                <a:srgbClr val="000000"/>
              </a:solidFill>
              <a:latin typeface="Arial"/>
            </a:endParaRPr>
          </a:p>
        </p:txBody>
      </p:sp>
      <p:sp>
        <p:nvSpPr>
          <p:cNvPr id="275" name="PlaceHolder 3"/>
          <p:cNvSpPr>
            <a:spLocks noGrp="1"/>
          </p:cNvSpPr>
          <p:nvPr>
            <p:ph type="sldNum" idx="49"/>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841D3EFD-B07F-4135-B0F7-B08C9FD3FD2E}"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5"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fr-FR"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DC939911-E4E0-4F1E-8FCE-8153FAABC9B9}" type="slidenum">
              <a:t>&lt;#&gt;</a:t>
            </a:fld>
          </a:p>
        </p:txBody>
      </p:sp>
      <p:sp>
        <p:nvSpPr>
          <p:cNvPr id="6" name="PlaceHolder 5"/>
          <p:cNvSpPr>
            <a:spLocks noGrp="1"/>
          </p:cNvSpPr>
          <p:nvPr>
            <p:ph type="dt" idx="3"/>
          </p:nvPr>
        </p:nvSpPr>
        <p:spPr/>
        <p:txBody>
          <a:bodyPr/>
          <a:p>
            <a:r>
              <a:rPr lang="fr-FR"/>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86482DC2-323E-4557-82B6-8FCD9C938A76}" type="slidenum">
              <a:t>&lt;#&gt;</a:t>
            </a:fld>
          </a:p>
        </p:txBody>
      </p:sp>
      <p:sp>
        <p:nvSpPr>
          <p:cNvPr id="4" name="PlaceHolder 3"/>
          <p:cNvSpPr>
            <a:spLocks noGrp="1"/>
          </p:cNvSpPr>
          <p:nvPr>
            <p:ph type="dt" idx="6"/>
          </p:nvPr>
        </p:nvSpPr>
        <p:spPr/>
        <p:txBody>
          <a:bodyPr/>
          <a:p>
            <a:r>
              <a:rPr lang="fr-FR"/>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B041592A-60A3-49F7-96E5-F0A05DC26632}" type="slidenum">
              <a:t>&lt;#&gt;</a:t>
            </a:fld>
          </a:p>
        </p:txBody>
      </p:sp>
      <p:sp>
        <p:nvSpPr>
          <p:cNvPr id="4" name="PlaceHolder 3"/>
          <p:cNvSpPr>
            <a:spLocks noGrp="1"/>
          </p:cNvSpPr>
          <p:nvPr>
            <p:ph type="dt" idx="9"/>
          </p:nvPr>
        </p:nvSpPr>
        <p:spPr/>
        <p:txBody>
          <a:bodyPr/>
          <a:p>
            <a:r>
              <a:rPr lang="fr-FR"/>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18"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EE3AD4FD-7080-4640-AE45-4AA34C33B445}" type="slidenum">
              <a:t>&lt;#&gt;</a:t>
            </a:fld>
          </a:p>
        </p:txBody>
      </p:sp>
      <p:sp>
        <p:nvSpPr>
          <p:cNvPr id="6" name="PlaceHolder 5"/>
          <p:cNvSpPr>
            <a:spLocks noGrp="1"/>
          </p:cNvSpPr>
          <p:nvPr>
            <p:ph type="dt" idx="12"/>
          </p:nvPr>
        </p:nvSpPr>
        <p:spPr/>
        <p:txBody>
          <a:bodyPr/>
          <a:p>
            <a:r>
              <a:rPr lang="fr-FR"/>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F8F4CD36-B155-4976-A782-949966BD277A}" type="slidenum">
              <a:t>&lt;#&gt;</a:t>
            </a:fld>
          </a:p>
        </p:txBody>
      </p:sp>
      <p:sp>
        <p:nvSpPr>
          <p:cNvPr id="4" name="PlaceHolder 3"/>
          <p:cNvSpPr>
            <a:spLocks noGrp="1"/>
          </p:cNvSpPr>
          <p:nvPr>
            <p:ph type="dt" idx="15"/>
          </p:nvPr>
        </p:nvSpPr>
        <p:spPr/>
        <p:txBody>
          <a:bodyPr/>
          <a:p>
            <a:r>
              <a:rPr lang="fr-FR"/>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29"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30"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5" name="PlaceHolder 4"/>
          <p:cNvSpPr>
            <a:spLocks noGrp="1"/>
          </p:cNvSpPr>
          <p:nvPr>
            <p:ph type="ftr" idx="16"/>
          </p:nvPr>
        </p:nvSpPr>
        <p:spPr/>
        <p:txBody>
          <a:bodyPr/>
          <a:p>
            <a:r>
              <a:t>Footer</a:t>
            </a:r>
          </a:p>
        </p:txBody>
      </p:sp>
      <p:sp>
        <p:nvSpPr>
          <p:cNvPr id="6" name="PlaceHolder 5"/>
          <p:cNvSpPr>
            <a:spLocks noGrp="1"/>
          </p:cNvSpPr>
          <p:nvPr>
            <p:ph type="sldNum" idx="17"/>
          </p:nvPr>
        </p:nvSpPr>
        <p:spPr/>
        <p:txBody>
          <a:bodyPr/>
          <a:p>
            <a:fld id="{02AA20C4-B062-455C-A7D2-ACC1701A1005}" type="slidenum">
              <a:t>&lt;#&gt;</a:t>
            </a:fld>
          </a:p>
        </p:txBody>
      </p:sp>
      <p:sp>
        <p:nvSpPr>
          <p:cNvPr id="7" name="PlaceHolder 6"/>
          <p:cNvSpPr>
            <a:spLocks noGrp="1"/>
          </p:cNvSpPr>
          <p:nvPr>
            <p:ph type="dt" idx="18"/>
          </p:nvPr>
        </p:nvSpPr>
        <p:spPr/>
        <p:txBody>
          <a:bodyPr/>
          <a:p>
            <a:r>
              <a:rPr lang="fr-FR"/>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68FCB03B-3A5D-424C-B629-1A6568AF81F7}" type="slidenum">
              <a:t>&lt;#&gt;</a:t>
            </a:fld>
          </a:p>
        </p:txBody>
      </p:sp>
      <p:sp>
        <p:nvSpPr>
          <p:cNvPr id="4" name="PlaceHolder 3"/>
          <p:cNvSpPr>
            <a:spLocks noGrp="1"/>
          </p:cNvSpPr>
          <p:nvPr>
            <p:ph type="dt" idx="21"/>
          </p:nvPr>
        </p:nvSpPr>
        <p:spPr/>
        <p:txBody>
          <a:bodyPr/>
          <a:p>
            <a:r>
              <a:rPr lang="fr-FR"/>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3" name="PlaceHolder 2"/>
          <p:cNvSpPr>
            <a:spLocks noGrp="1"/>
          </p:cNvSpPr>
          <p:nvPr>
            <p:ph type="ftr" idx="22"/>
          </p:nvPr>
        </p:nvSpPr>
        <p:spPr/>
        <p:txBody>
          <a:bodyPr/>
          <a:p>
            <a:r>
              <a:t>Footer</a:t>
            </a:r>
          </a:p>
        </p:txBody>
      </p:sp>
      <p:sp>
        <p:nvSpPr>
          <p:cNvPr id="4" name="PlaceHolder 3"/>
          <p:cNvSpPr>
            <a:spLocks noGrp="1"/>
          </p:cNvSpPr>
          <p:nvPr>
            <p:ph type="sldNum" idx="23"/>
          </p:nvPr>
        </p:nvSpPr>
        <p:spPr/>
        <p:txBody>
          <a:bodyPr/>
          <a:p>
            <a:fld id="{BB464A13-EEAF-4527-B1F1-0984F5669BE1}" type="slidenum">
              <a:t>&lt;#&gt;</a:t>
            </a:fld>
          </a:p>
        </p:txBody>
      </p:sp>
      <p:sp>
        <p:nvSpPr>
          <p:cNvPr id="5" name="PlaceHolder 4"/>
          <p:cNvSpPr>
            <a:spLocks noGrp="1"/>
          </p:cNvSpPr>
          <p:nvPr>
            <p:ph type="dt" idx="24"/>
          </p:nvPr>
        </p:nvSpPr>
        <p:spPr/>
        <p:txBody>
          <a:bodyPr/>
          <a:p>
            <a:r>
              <a:rPr lang="fr-FR"/>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p>
            <a:r>
              <a:t>Footer</a:t>
            </a:r>
          </a:p>
        </p:txBody>
      </p:sp>
      <p:sp>
        <p:nvSpPr>
          <p:cNvPr id="3" name="PlaceHolder 2"/>
          <p:cNvSpPr>
            <a:spLocks noGrp="1"/>
          </p:cNvSpPr>
          <p:nvPr>
            <p:ph type="sldNum" idx="26"/>
          </p:nvPr>
        </p:nvSpPr>
        <p:spPr/>
        <p:txBody>
          <a:bodyPr/>
          <a:p>
            <a:fld id="{7A9D4919-313B-4E86-B53F-009C84AF3EC0}" type="slidenum">
              <a:t>&lt;#&gt;</a:t>
            </a:fld>
          </a:p>
        </p:txBody>
      </p:sp>
      <p:sp>
        <p:nvSpPr>
          <p:cNvPr id="4" name="PlaceHolder 3"/>
          <p:cNvSpPr>
            <a:spLocks noGrp="1"/>
          </p:cNvSpPr>
          <p:nvPr>
            <p:ph type="dt" idx="27"/>
          </p:nvPr>
        </p:nvSpPr>
        <p:spPr/>
        <p:txBody>
          <a:bodyPr/>
          <a:p>
            <a:r>
              <a:rPr lang="fr-FR"/>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49177A24-8CB5-49B5-A918-D1FB67327B03}" type="slidenum">
              <a:t>&lt;#&gt;</a:t>
            </a:fld>
          </a:p>
        </p:txBody>
      </p:sp>
      <p:sp>
        <p:nvSpPr>
          <p:cNvPr id="4" name="PlaceHolder 3"/>
          <p:cNvSpPr>
            <a:spLocks noGrp="1"/>
          </p:cNvSpPr>
          <p:nvPr>
            <p:ph type="dt" idx="30"/>
          </p:nvPr>
        </p:nvSpPr>
        <p:spPr/>
        <p:txBody>
          <a:bodyPr/>
          <a:p>
            <a:r>
              <a:rPr lang="fr-FR"/>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62863B7B-8CAB-4AA7-9094-EAB780B478FA}" type="slidenum">
              <a:t>&lt;#&gt;</a:t>
            </a:fld>
          </a:p>
        </p:txBody>
      </p:sp>
      <p:sp>
        <p:nvSpPr>
          <p:cNvPr id="4" name="PlaceHolder 3"/>
          <p:cNvSpPr>
            <a:spLocks noGrp="1"/>
          </p:cNvSpPr>
          <p:nvPr>
            <p:ph type="dt" idx="33"/>
          </p:nvPr>
        </p:nvSpPr>
        <p:spPr/>
        <p:txBody>
          <a:bodyPr/>
          <a:p>
            <a:r>
              <a:rPr lang="fr-FR"/>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fr-FR" sz="1800" spc="-1" strike="noStrike">
                <a:solidFill>
                  <a:srgbClr val="000000"/>
                </a:solidFill>
                <a:latin typeface="Arial"/>
              </a:rPr>
              <a:t>Cliquez pour éditer le format du texte-titre</a:t>
            </a:r>
            <a:endParaRPr b="0" lang="fr-FR" sz="1800" spc="-1" strike="noStrike">
              <a:solidFill>
                <a:srgbClr val="000000"/>
              </a:solidFill>
              <a:latin typeface="Arial"/>
            </a:endParaRPr>
          </a:p>
        </p:txBody>
      </p:sp>
      <p:sp>
        <p:nvSpPr>
          <p:cNvPr id="1" name="PlaceHolder 2"/>
          <p:cNvSpPr>
            <a:spLocks noGrp="1"/>
          </p:cNvSpPr>
          <p:nvPr>
            <p:ph type="ftr" idx="1"/>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 </a:t>
            </a:r>
            <a:endParaRPr b="0" lang="fr-FR" sz="1400" spc="-1" strike="noStrike">
              <a:solidFill>
                <a:srgbClr val="000000"/>
              </a:solidFill>
              <a:latin typeface="Times New Roman"/>
            </a:endParaRPr>
          </a:p>
        </p:txBody>
      </p:sp>
      <p:sp>
        <p:nvSpPr>
          <p:cNvPr id="2" name="PlaceHolder 3"/>
          <p:cNvSpPr>
            <a:spLocks noGrp="1"/>
          </p:cNvSpPr>
          <p:nvPr>
            <p:ph type="sldNum" idx="2"/>
          </p:nvPr>
        </p:nvSpPr>
        <p:spPr>
          <a:xfrm>
            <a:off x="6553080" y="6356520"/>
            <a:ext cx="213264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E807752D-3036-409F-BDB9-D6B2DA677AE4}" type="slidenum">
              <a:rPr b="0" lang="en-US" sz="1200" spc="-1" strike="noStrike">
                <a:solidFill>
                  <a:schemeClr val="dk1">
                    <a:tint val="75000"/>
                  </a:schemeClr>
                </a:solidFill>
                <a:latin typeface="Calibri"/>
              </a:rPr>
              <a:t>11</a:t>
            </a:fld>
            <a:endParaRPr b="0" lang="fr-FR" sz="1200" spc="-1" strike="noStrike">
              <a:solidFill>
                <a:srgbClr val="000000"/>
              </a:solidFill>
              <a:latin typeface="Times New Roman"/>
            </a:endParaRPr>
          </a:p>
        </p:txBody>
      </p:sp>
      <p:sp>
        <p:nvSpPr>
          <p:cNvPr id="3" name="PlaceHolder 4"/>
          <p:cNvSpPr>
            <a:spLocks noGrp="1"/>
          </p:cNvSpPr>
          <p:nvPr>
            <p:ph type="dt" idx="3"/>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 </a:t>
            </a:r>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ftr" idx="4"/>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7" name="PlaceHolder 2"/>
          <p:cNvSpPr>
            <a:spLocks noGrp="1"/>
          </p:cNvSpPr>
          <p:nvPr>
            <p:ph type="sldNum" idx="5"/>
          </p:nvPr>
        </p:nvSpPr>
        <p:spPr>
          <a:xfrm>
            <a:off x="6553080" y="6356520"/>
            <a:ext cx="213264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DBE6412F-7E2A-4625-9A8D-6E0DAEC9B838}"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
        <p:nvSpPr>
          <p:cNvPr id="8" name="PlaceHolder 3"/>
          <p:cNvSpPr>
            <a:spLocks noGrp="1"/>
          </p:cNvSpPr>
          <p:nvPr>
            <p:ph type="dt" idx="6"/>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 name="PlaceHolder 1"/>
          <p:cNvSpPr>
            <a:spLocks noGrp="1"/>
          </p:cNvSpPr>
          <p:nvPr>
            <p:ph type="ftr" idx="7"/>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10" name="PlaceHolder 2"/>
          <p:cNvSpPr>
            <a:spLocks noGrp="1"/>
          </p:cNvSpPr>
          <p:nvPr>
            <p:ph type="sldNum" idx="8"/>
          </p:nvPr>
        </p:nvSpPr>
        <p:spPr>
          <a:xfrm>
            <a:off x="6553080" y="6356520"/>
            <a:ext cx="213264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8F7065A1-8DD5-46F6-A46E-47F0C2881B48}"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
        <p:nvSpPr>
          <p:cNvPr id="11" name="PlaceHolder 3"/>
          <p:cNvSpPr>
            <a:spLocks noGrp="1"/>
          </p:cNvSpPr>
          <p:nvPr>
            <p:ph type="dt" idx="9"/>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fr-FR" sz="1800" spc="-1" strike="noStrike">
                <a:solidFill>
                  <a:srgbClr val="000000"/>
                </a:solidFill>
                <a:latin typeface="Arial"/>
              </a:rPr>
              <a:t>Cliquez pour éditer le format du texte-titre</a:t>
            </a:r>
            <a:endParaRPr b="0" lang="fr-FR" sz="1800" spc="-1" strike="noStrike">
              <a:solidFill>
                <a:srgbClr val="000000"/>
              </a:solidFill>
              <a:latin typeface="Arial"/>
            </a:endParaRPr>
          </a:p>
        </p:txBody>
      </p:sp>
      <p:sp>
        <p:nvSpPr>
          <p:cNvPr id="13"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14" name="PlaceHolder 3"/>
          <p:cNvSpPr>
            <a:spLocks noGrp="1"/>
          </p:cNvSpPr>
          <p:nvPr>
            <p:ph type="ftr" idx="10"/>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15" name="PlaceHolder 4"/>
          <p:cNvSpPr>
            <a:spLocks noGrp="1"/>
          </p:cNvSpPr>
          <p:nvPr>
            <p:ph type="sldNum" idx="11"/>
          </p:nvPr>
        </p:nvSpPr>
        <p:spPr>
          <a:xfrm>
            <a:off x="6553080" y="6356520"/>
            <a:ext cx="213264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1A73BF49-2138-4037-9413-796A3CDEB089}"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
        <p:nvSpPr>
          <p:cNvPr id="16" name="PlaceHolder 5"/>
          <p:cNvSpPr>
            <a:spLocks noGrp="1"/>
          </p:cNvSpPr>
          <p:nvPr>
            <p:ph type="dt" idx="12"/>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 name="PlaceHolder 1"/>
          <p:cNvSpPr>
            <a:spLocks noGrp="1"/>
          </p:cNvSpPr>
          <p:nvPr>
            <p:ph type="ftr" idx="13"/>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20" name="PlaceHolder 2"/>
          <p:cNvSpPr>
            <a:spLocks noGrp="1"/>
          </p:cNvSpPr>
          <p:nvPr>
            <p:ph type="sldNum" idx="14"/>
          </p:nvPr>
        </p:nvSpPr>
        <p:spPr>
          <a:xfrm>
            <a:off x="6553080" y="6356520"/>
            <a:ext cx="213264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9AE14645-2C06-4111-9F58-602F565914DC}"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
        <p:nvSpPr>
          <p:cNvPr id="21" name="PlaceHolder 3"/>
          <p:cNvSpPr>
            <a:spLocks noGrp="1"/>
          </p:cNvSpPr>
          <p:nvPr>
            <p:ph type="dt" idx="15"/>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fr-FR" sz="1800" spc="-1" strike="noStrike">
                <a:solidFill>
                  <a:srgbClr val="000000"/>
                </a:solidFill>
                <a:latin typeface="Arial"/>
              </a:rPr>
              <a:t>Cliquez pour éditer le format du texte-titre</a:t>
            </a:r>
            <a:endParaRPr b="0" lang="fr-FR" sz="1800" spc="-1" strike="noStrike">
              <a:solidFill>
                <a:srgbClr val="000000"/>
              </a:solidFill>
              <a:latin typeface="Arial"/>
            </a:endParaRPr>
          </a:p>
        </p:txBody>
      </p:sp>
      <p:sp>
        <p:nvSpPr>
          <p:cNvPr id="23"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24"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Cliquez pour éditer le format du plan de texte</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niveau de plan</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Quatrième niveau de plan</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Cinquième niveau de plan</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Sixième niveau de plan</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Septième niveau de plan</a:t>
            </a:r>
            <a:endParaRPr b="0" lang="fr-FR" sz="1800" spc="-1" strike="noStrike">
              <a:solidFill>
                <a:srgbClr val="000000"/>
              </a:solidFill>
              <a:latin typeface="Arial"/>
            </a:endParaRPr>
          </a:p>
        </p:txBody>
      </p:sp>
      <p:sp>
        <p:nvSpPr>
          <p:cNvPr id="25" name="PlaceHolder 4"/>
          <p:cNvSpPr>
            <a:spLocks noGrp="1"/>
          </p:cNvSpPr>
          <p:nvPr>
            <p:ph type="ftr" idx="16"/>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26" name="PlaceHolder 5"/>
          <p:cNvSpPr>
            <a:spLocks noGrp="1"/>
          </p:cNvSpPr>
          <p:nvPr>
            <p:ph type="sldNum" idx="17"/>
          </p:nvPr>
        </p:nvSpPr>
        <p:spPr>
          <a:xfrm>
            <a:off x="6553080" y="6356520"/>
            <a:ext cx="213264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49DD1528-56C9-4A15-A672-ACD61B2EF8A9}"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
        <p:nvSpPr>
          <p:cNvPr id="27" name="PlaceHolder 6"/>
          <p:cNvSpPr>
            <a:spLocks noGrp="1"/>
          </p:cNvSpPr>
          <p:nvPr>
            <p:ph type="dt" idx="18"/>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 name="PlaceHolder 1"/>
          <p:cNvSpPr>
            <a:spLocks noGrp="1"/>
          </p:cNvSpPr>
          <p:nvPr>
            <p:ph type="ftr" idx="19"/>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32" name="PlaceHolder 2"/>
          <p:cNvSpPr>
            <a:spLocks noGrp="1"/>
          </p:cNvSpPr>
          <p:nvPr>
            <p:ph type="sldNum" idx="20"/>
          </p:nvPr>
        </p:nvSpPr>
        <p:spPr>
          <a:xfrm>
            <a:off x="6553080" y="6356520"/>
            <a:ext cx="213264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249BE69F-5747-4D6F-9B43-3145D99E7B32}"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
        <p:nvSpPr>
          <p:cNvPr id="33" name="PlaceHolder 3"/>
          <p:cNvSpPr>
            <a:spLocks noGrp="1"/>
          </p:cNvSpPr>
          <p:nvPr>
            <p:ph type="dt" idx="21"/>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fr-FR" sz="1800" spc="-1" strike="noStrike">
                <a:solidFill>
                  <a:srgbClr val="000000"/>
                </a:solidFill>
                <a:latin typeface="Arial"/>
              </a:rPr>
              <a:t>Cliquez pour éditer le format du texte-titre</a:t>
            </a:r>
            <a:endParaRPr b="0" lang="fr-FR" sz="1800" spc="-1" strike="noStrike">
              <a:solidFill>
                <a:srgbClr val="000000"/>
              </a:solidFill>
              <a:latin typeface="Arial"/>
            </a:endParaRPr>
          </a:p>
        </p:txBody>
      </p:sp>
      <p:sp>
        <p:nvSpPr>
          <p:cNvPr id="35" name="PlaceHolder 2"/>
          <p:cNvSpPr>
            <a:spLocks noGrp="1"/>
          </p:cNvSpPr>
          <p:nvPr>
            <p:ph type="ftr" idx="22"/>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36" name="PlaceHolder 3"/>
          <p:cNvSpPr>
            <a:spLocks noGrp="1"/>
          </p:cNvSpPr>
          <p:nvPr>
            <p:ph type="sldNum" idx="23"/>
          </p:nvPr>
        </p:nvSpPr>
        <p:spPr>
          <a:xfrm>
            <a:off x="6553080" y="6356520"/>
            <a:ext cx="213264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E93ED66E-AB36-458D-851D-55F6ADE69111}"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
        <p:nvSpPr>
          <p:cNvPr id="37" name="PlaceHolder 4"/>
          <p:cNvSpPr>
            <a:spLocks noGrp="1"/>
          </p:cNvSpPr>
          <p:nvPr>
            <p:ph type="dt" idx="24"/>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 name="PlaceHolder 1"/>
          <p:cNvSpPr>
            <a:spLocks noGrp="1"/>
          </p:cNvSpPr>
          <p:nvPr>
            <p:ph type="ftr" idx="25"/>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40" name="PlaceHolder 2"/>
          <p:cNvSpPr>
            <a:spLocks noGrp="1"/>
          </p:cNvSpPr>
          <p:nvPr>
            <p:ph type="sldNum" idx="26"/>
          </p:nvPr>
        </p:nvSpPr>
        <p:spPr>
          <a:xfrm>
            <a:off x="6553080" y="6356520"/>
            <a:ext cx="213264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B0BBE4E7-9FE5-4C47-890E-EAC54542FC45}"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
        <p:nvSpPr>
          <p:cNvPr id="41" name="PlaceHolder 3"/>
          <p:cNvSpPr>
            <a:spLocks noGrp="1"/>
          </p:cNvSpPr>
          <p:nvPr>
            <p:ph type="dt" idx="27"/>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
        <p:nvSpPr>
          <p:cNvPr id="42"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fr-FR" sz="4400" spc="-1" strike="noStrike">
                <a:solidFill>
                  <a:srgbClr val="000000"/>
                </a:solidFill>
                <a:latin typeface="Arial"/>
              </a:rPr>
              <a:t>Cliquez pour éditer le format du texte-titre</a:t>
            </a:r>
            <a:endParaRPr b="0" lang="fr-FR" sz="4400" spc="-1" strike="noStrike">
              <a:solidFill>
                <a:srgbClr val="000000"/>
              </a:solidFill>
              <a:latin typeface="Arial"/>
            </a:endParaRPr>
          </a:p>
        </p:txBody>
      </p:sp>
      <p:sp>
        <p:nvSpPr>
          <p:cNvPr id="43"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3200" spc="-1" strike="noStrike">
                <a:solidFill>
                  <a:srgbClr val="000000"/>
                </a:solidFill>
                <a:latin typeface="Arial"/>
              </a:rPr>
              <a:t>Cliquez pour éditer le format du plan de texte</a:t>
            </a:r>
            <a:endParaRPr b="0" lang="fr-FR"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2800" spc="-1" strike="noStrike">
                <a:solidFill>
                  <a:srgbClr val="000000"/>
                </a:solidFill>
                <a:latin typeface="Arial"/>
              </a:rPr>
              <a:t>Second niveau de plan</a:t>
            </a:r>
            <a:endParaRPr b="0" lang="fr-FR"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2400" spc="-1" strike="noStrike">
                <a:solidFill>
                  <a:srgbClr val="000000"/>
                </a:solidFill>
                <a:latin typeface="Arial"/>
              </a:rPr>
              <a:t>Troisième niveau de plan</a:t>
            </a:r>
            <a:endParaRPr b="0" lang="fr-FR"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2000" spc="-1" strike="noStrike">
                <a:solidFill>
                  <a:srgbClr val="000000"/>
                </a:solidFill>
                <a:latin typeface="Arial"/>
              </a:rPr>
              <a:t>Quatrième niveau de plan</a:t>
            </a:r>
            <a:endParaRPr b="0" lang="fr-F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Arial"/>
              </a:rPr>
              <a:t>Cinquième niveau de plan</a:t>
            </a:r>
            <a:endParaRPr b="0" lang="fr-F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Arial"/>
              </a:rPr>
              <a:t>Sixième niveau de plan</a:t>
            </a:r>
            <a:endParaRPr b="0" lang="fr-F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Arial"/>
              </a:rPr>
              <a:t>Septième niveau de plan</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ftr" idx="28"/>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45" name="PlaceHolder 2"/>
          <p:cNvSpPr>
            <a:spLocks noGrp="1"/>
          </p:cNvSpPr>
          <p:nvPr>
            <p:ph type="sldNum" idx="29"/>
          </p:nvPr>
        </p:nvSpPr>
        <p:spPr>
          <a:xfrm>
            <a:off x="6553080" y="6356520"/>
            <a:ext cx="213264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04F9738A-5F9C-4C1B-B6F6-622970BEDCDD}"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
        <p:nvSpPr>
          <p:cNvPr id="46" name="PlaceHolder 3"/>
          <p:cNvSpPr>
            <a:spLocks noGrp="1"/>
          </p:cNvSpPr>
          <p:nvPr>
            <p:ph type="dt" idx="30"/>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 name="PlaceHolder 1"/>
          <p:cNvSpPr>
            <a:spLocks noGrp="1"/>
          </p:cNvSpPr>
          <p:nvPr>
            <p:ph type="ftr" idx="31"/>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48" name="PlaceHolder 2"/>
          <p:cNvSpPr>
            <a:spLocks noGrp="1"/>
          </p:cNvSpPr>
          <p:nvPr>
            <p:ph type="sldNum" idx="32"/>
          </p:nvPr>
        </p:nvSpPr>
        <p:spPr>
          <a:xfrm>
            <a:off x="6553080" y="6356520"/>
            <a:ext cx="213264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58EB77BA-26E0-4A94-B613-06DD3BC308E2}"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
        <p:nvSpPr>
          <p:cNvPr id="49" name="PlaceHolder 3"/>
          <p:cNvSpPr>
            <a:spLocks noGrp="1"/>
          </p:cNvSpPr>
          <p:nvPr>
            <p:ph type="dt" idx="33"/>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9.xml"/><Relationship Id="rId4"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slideLayout" Target="../slideLayouts/slideLayout9.xml"/><Relationship Id="rId6"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png"/><Relationship Id="rId5" Type="http://schemas.openxmlformats.org/officeDocument/2006/relationships/slideLayout" Target="../slideLayouts/slideLayout9.xml"/><Relationship Id="rId6"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image" Target="../media/image1.png"/><Relationship Id="rId4" Type="http://schemas.openxmlformats.org/officeDocument/2006/relationships/slideLayout" Target="../slideLayouts/slideLayout9.xml"/><Relationship Id="rId5"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png"/><Relationship Id="rId5" Type="http://schemas.openxmlformats.org/officeDocument/2006/relationships/slideLayout" Target="../slideLayouts/slideLayout9.xml"/><Relationship Id="rId6"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png"/><Relationship Id="rId6" Type="http://schemas.openxmlformats.org/officeDocument/2006/relationships/slideLayout" Target="../slideLayouts/slideLayout9.xml"/><Relationship Id="rId7"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2.png"/><Relationship Id="rId7" Type="http://schemas.openxmlformats.org/officeDocument/2006/relationships/image" Target="../media/image1.png"/><Relationship Id="rId8" Type="http://schemas.openxmlformats.org/officeDocument/2006/relationships/slideLayout" Target="../slideLayouts/slideLayout9.xml"/><Relationship Id="rId9"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Relationship Id="rId3" Type="http://schemas.openxmlformats.org/officeDocument/2006/relationships/notesSlide" Target="../notesSlides/notesSlide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Rectangle 1"/>
          <p:cNvSpPr/>
          <p:nvPr/>
        </p:nvSpPr>
        <p:spPr>
          <a:xfrm>
            <a:off x="0" y="0"/>
            <a:ext cx="12190680" cy="685692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57" name="Picture 2" descr="logo.png"/>
          <p:cNvPicPr/>
          <p:nvPr/>
        </p:nvPicPr>
        <p:blipFill>
          <a:blip r:embed="rId1"/>
          <a:srcRect l="0" t="0" r="0" b="14936"/>
          <a:stretch/>
        </p:blipFill>
        <p:spPr>
          <a:xfrm>
            <a:off x="777240" y="166320"/>
            <a:ext cx="1382040" cy="804600"/>
          </a:xfrm>
          <a:prstGeom prst="rect">
            <a:avLst/>
          </a:prstGeom>
          <a:ln w="0">
            <a:noFill/>
          </a:ln>
        </p:spPr>
      </p:pic>
      <p:sp>
        <p:nvSpPr>
          <p:cNvPr id="58" name="TextBox 3"/>
          <p:cNvSpPr/>
          <p:nvPr/>
        </p:nvSpPr>
        <p:spPr>
          <a:xfrm>
            <a:off x="7574040" y="274320"/>
            <a:ext cx="3839400" cy="435240"/>
          </a:xfrm>
          <a:prstGeom prst="rect">
            <a:avLst/>
          </a:prstGeom>
          <a:noFill/>
          <a:ln w="0">
            <a:noFill/>
          </a:ln>
        </p:spPr>
        <p:style>
          <a:lnRef idx="0"/>
          <a:fillRef idx="0"/>
          <a:effectRef idx="0"/>
          <a:fontRef idx="minor"/>
        </p:style>
        <p:txBody>
          <a:bodyPr lIns="0" rIns="0" tIns="0" bIns="0" anchor="t">
            <a:spAutoFit/>
          </a:bodyPr>
          <a:p>
            <a:pPr algn="r" defTabSz="457200">
              <a:lnSpc>
                <a:spcPct val="106000"/>
              </a:lnSpc>
            </a:pPr>
            <a:r>
              <a:rPr b="1" lang="en-US" sz="1350" spc="-1" strike="noStrike">
                <a:solidFill>
                  <a:srgbClr val="161616"/>
                </a:solidFill>
                <a:latin typeface="Marianne"/>
              </a:rPr>
              <a:t>Secrétariat général</a:t>
            </a:r>
            <a:endParaRPr b="0" lang="fr-FR" sz="1350" spc="-1" strike="noStrike">
              <a:solidFill>
                <a:srgbClr val="000000"/>
              </a:solidFill>
              <a:latin typeface="Arial"/>
            </a:endParaRPr>
          </a:p>
          <a:p>
            <a:pPr algn="r" defTabSz="457200">
              <a:lnSpc>
                <a:spcPct val="106000"/>
              </a:lnSpc>
            </a:pPr>
            <a:r>
              <a:rPr b="0" lang="en-US" sz="1350" spc="-1" strike="noStrike">
                <a:solidFill>
                  <a:srgbClr val="3a3a3a"/>
                </a:solidFill>
                <a:latin typeface="Marianne"/>
              </a:rPr>
              <a:t>Direction du numérique</a:t>
            </a:r>
            <a:endParaRPr b="0" lang="fr-FR" sz="1350" spc="-1" strike="noStrike">
              <a:solidFill>
                <a:srgbClr val="000000"/>
              </a:solidFill>
              <a:latin typeface="Arial"/>
            </a:endParaRPr>
          </a:p>
        </p:txBody>
      </p:sp>
      <p:sp>
        <p:nvSpPr>
          <p:cNvPr id="59" name="Rectangle 4"/>
          <p:cNvSpPr/>
          <p:nvPr/>
        </p:nvSpPr>
        <p:spPr>
          <a:xfrm>
            <a:off x="777240" y="1234440"/>
            <a:ext cx="10926000" cy="5256720"/>
          </a:xfrm>
          <a:prstGeom prst="rect">
            <a:avLst/>
          </a:prstGeom>
          <a:solidFill>
            <a:srgbClr val="00009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60" name="Picture 5" descr="stripes.png"/>
          <p:cNvPicPr/>
          <p:nvPr/>
        </p:nvPicPr>
        <p:blipFill>
          <a:blip r:embed="rId2"/>
          <a:stretch/>
        </p:blipFill>
        <p:spPr>
          <a:xfrm>
            <a:off x="9326880" y="5081400"/>
            <a:ext cx="2376360" cy="1409760"/>
          </a:xfrm>
          <a:prstGeom prst="rect">
            <a:avLst/>
          </a:prstGeom>
          <a:ln w="0">
            <a:noFill/>
          </a:ln>
        </p:spPr>
      </p:pic>
      <p:sp>
        <p:nvSpPr>
          <p:cNvPr id="61" name="TextBox 7"/>
          <p:cNvSpPr/>
          <p:nvPr/>
        </p:nvSpPr>
        <p:spPr>
          <a:xfrm>
            <a:off x="1371600" y="3840480"/>
            <a:ext cx="9874440" cy="13402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4400" spc="-1" strike="noStrike">
                <a:solidFill>
                  <a:srgbClr val="ffffff"/>
                </a:solidFill>
                <a:latin typeface="Marianne"/>
              </a:rPr>
              <a:t>Accompagner l’adoption</a:t>
            </a:r>
            <a:endParaRPr b="0" lang="fr-FR" sz="4400" spc="-1" strike="noStrike">
              <a:solidFill>
                <a:srgbClr val="000000"/>
              </a:solidFill>
              <a:latin typeface="Arial"/>
            </a:endParaRPr>
          </a:p>
          <a:p>
            <a:pPr defTabSz="457200">
              <a:lnSpc>
                <a:spcPct val="100000"/>
              </a:lnSpc>
            </a:pPr>
            <a:r>
              <a:rPr b="1" lang="en-US" sz="4400" spc="-1" strike="noStrike">
                <a:solidFill>
                  <a:srgbClr val="ffffff"/>
                </a:solidFill>
                <a:latin typeface="Marianne"/>
              </a:rPr>
              <a:t>de l’IA</a:t>
            </a:r>
            <a:endParaRPr b="0" lang="fr-FR" sz="4400" spc="-1" strike="noStrike">
              <a:solidFill>
                <a:srgbClr val="000000"/>
              </a:solidFill>
              <a:latin typeface="Arial"/>
            </a:endParaRPr>
          </a:p>
        </p:txBody>
      </p:sp>
      <p:sp>
        <p:nvSpPr>
          <p:cNvPr id="62" name="TextBox 8"/>
          <p:cNvSpPr/>
          <p:nvPr/>
        </p:nvSpPr>
        <p:spPr>
          <a:xfrm>
            <a:off x="1398960" y="5349240"/>
            <a:ext cx="9508680" cy="32256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2000" spc="-1" strike="noStrike">
                <a:solidFill>
                  <a:srgbClr val="ffffff"/>
                </a:solidFill>
                <a:latin typeface="Marianne"/>
              </a:rPr>
              <a:t>Point d’étape — enjeux, exploration et plan d’action</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Rectangle 1"/>
          <p:cNvSpPr/>
          <p:nvPr/>
        </p:nvSpPr>
        <p:spPr>
          <a:xfrm>
            <a:off x="0" y="0"/>
            <a:ext cx="12190680" cy="685692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4" name="TextBox 3"/>
          <p:cNvSpPr/>
          <p:nvPr/>
        </p:nvSpPr>
        <p:spPr>
          <a:xfrm>
            <a:off x="7574040" y="274320"/>
            <a:ext cx="3839400" cy="430920"/>
          </a:xfrm>
          <a:prstGeom prst="rect">
            <a:avLst/>
          </a:prstGeom>
          <a:noFill/>
          <a:ln w="0">
            <a:noFill/>
          </a:ln>
        </p:spPr>
        <p:style>
          <a:lnRef idx="0"/>
          <a:fillRef idx="0"/>
          <a:effectRef idx="0"/>
          <a:fontRef idx="minor"/>
        </p:style>
        <p:txBody>
          <a:bodyPr lIns="0" rIns="0" tIns="0" bIns="0" anchor="t">
            <a:spAutoFit/>
          </a:bodyPr>
          <a:p>
            <a:pPr algn="r" defTabSz="457200">
              <a:lnSpc>
                <a:spcPct val="105000"/>
              </a:lnSpc>
            </a:pPr>
            <a:r>
              <a:rPr b="1" lang="en-US" sz="1350" spc="-1" strike="noStrike">
                <a:solidFill>
                  <a:srgbClr val="161616"/>
                </a:solidFill>
                <a:latin typeface="Marianne"/>
              </a:rPr>
              <a:t>Secrétariat général</a:t>
            </a:r>
            <a:endParaRPr b="0" lang="fr-FR" sz="1350" spc="-1" strike="noStrike">
              <a:solidFill>
                <a:srgbClr val="000000"/>
              </a:solidFill>
              <a:latin typeface="Arial"/>
            </a:endParaRPr>
          </a:p>
          <a:p>
            <a:pPr algn="r" defTabSz="457200">
              <a:lnSpc>
                <a:spcPct val="105000"/>
              </a:lnSpc>
            </a:pPr>
            <a:r>
              <a:rPr b="0" lang="en-US" sz="1350" spc="-1" strike="noStrike">
                <a:solidFill>
                  <a:srgbClr val="3a3a3a"/>
                </a:solidFill>
                <a:latin typeface="Marianne"/>
              </a:rPr>
              <a:t>Direction du numérique</a:t>
            </a:r>
            <a:endParaRPr b="0" lang="fr-FR" sz="1350" spc="-1" strike="noStrike">
              <a:solidFill>
                <a:srgbClr val="000000"/>
              </a:solidFill>
              <a:latin typeface="Arial"/>
            </a:endParaRPr>
          </a:p>
        </p:txBody>
      </p:sp>
      <p:cxnSp>
        <p:nvCxnSpPr>
          <p:cNvPr id="65" name="Connector 4"/>
          <p:cNvCxnSpPr/>
          <p:nvPr/>
        </p:nvCxnSpPr>
        <p:spPr>
          <a:xfrm>
            <a:off x="0" y="1005840"/>
            <a:ext cx="12192480" cy="1080"/>
          </a:xfrm>
          <a:prstGeom prst="straightConnector1">
            <a:avLst/>
          </a:prstGeom>
          <a:ln w="9525">
            <a:solidFill>
              <a:srgbClr val="dddddd"/>
            </a:solidFill>
            <a:round/>
          </a:ln>
        </p:spPr>
      </p:cxnSp>
      <p:sp>
        <p:nvSpPr>
          <p:cNvPr id="66" name="TextBox 6"/>
          <p:cNvSpPr/>
          <p:nvPr/>
        </p:nvSpPr>
        <p:spPr>
          <a:xfrm>
            <a:off x="10683000" y="6437520"/>
            <a:ext cx="730440" cy="177120"/>
          </a:xfrm>
          <a:prstGeom prst="rect">
            <a:avLst/>
          </a:prstGeom>
          <a:noFill/>
          <a:ln w="0">
            <a:noFill/>
          </a:ln>
        </p:spPr>
        <p:style>
          <a:lnRef idx="0"/>
          <a:fillRef idx="0"/>
          <a:effectRef idx="0"/>
          <a:fontRef idx="minor"/>
        </p:style>
        <p:txBody>
          <a:bodyPr lIns="0" rIns="0" tIns="0" bIns="0" anchor="t">
            <a:spAutoFit/>
          </a:bodyPr>
          <a:p>
            <a:pPr algn="r" defTabSz="457200">
              <a:lnSpc>
                <a:spcPct val="106000"/>
              </a:lnSpc>
            </a:pPr>
            <a:r>
              <a:rPr b="0" lang="en-US" sz="1100" spc="-1" strike="noStrike">
                <a:solidFill>
                  <a:srgbClr val="6a6a6a"/>
                </a:solidFill>
                <a:latin typeface="Marianne"/>
              </a:rPr>
              <a:t>2</a:t>
            </a:r>
            <a:endParaRPr b="0" lang="fr-FR" sz="1100" spc="-1" strike="noStrike">
              <a:solidFill>
                <a:srgbClr val="000000"/>
              </a:solidFill>
              <a:latin typeface="Arial"/>
            </a:endParaRPr>
          </a:p>
        </p:txBody>
      </p:sp>
      <p:sp>
        <p:nvSpPr>
          <p:cNvPr id="67" name="TextBox 7"/>
          <p:cNvSpPr/>
          <p:nvPr/>
        </p:nvSpPr>
        <p:spPr>
          <a:xfrm>
            <a:off x="777240" y="1325880"/>
            <a:ext cx="10636200" cy="51228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3300" spc="-1" strike="noStrike">
                <a:solidFill>
                  <a:srgbClr val="161616"/>
                </a:solidFill>
                <a:latin typeface="Marianne"/>
              </a:rPr>
              <a:t>Au programme</a:t>
            </a:r>
            <a:endParaRPr b="0" lang="fr-FR" sz="3300" spc="-1" strike="noStrike">
              <a:solidFill>
                <a:srgbClr val="000000"/>
              </a:solidFill>
              <a:latin typeface="Arial"/>
            </a:endParaRPr>
          </a:p>
        </p:txBody>
      </p:sp>
      <p:sp>
        <p:nvSpPr>
          <p:cNvPr id="68" name="Rounded Rectangle 8"/>
          <p:cNvSpPr/>
          <p:nvPr/>
        </p:nvSpPr>
        <p:spPr>
          <a:xfrm>
            <a:off x="777240" y="2468880"/>
            <a:ext cx="565920" cy="565920"/>
          </a:xfrm>
          <a:prstGeom prst="roundRect">
            <a:avLst>
              <a:gd name="adj" fmla="val 50000"/>
            </a:avLst>
          </a:prstGeom>
          <a:solidFill>
            <a:srgbClr val="6a6af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9" name="TextBox 9"/>
          <p:cNvSpPr/>
          <p:nvPr/>
        </p:nvSpPr>
        <p:spPr>
          <a:xfrm>
            <a:off x="777240" y="2574360"/>
            <a:ext cx="565920" cy="354960"/>
          </a:xfrm>
          <a:prstGeom prst="rect">
            <a:avLst/>
          </a:prstGeom>
          <a:noFill/>
          <a:ln w="0">
            <a:noFill/>
          </a:ln>
        </p:spPr>
        <p:style>
          <a:lnRef idx="0"/>
          <a:fillRef idx="0"/>
          <a:effectRef idx="0"/>
          <a:fontRef idx="minor"/>
        </p:style>
        <p:txBody>
          <a:bodyPr lIns="0" rIns="0" tIns="0" bIns="0" anchor="ctr">
            <a:spAutoFit/>
          </a:bodyPr>
          <a:p>
            <a:pPr algn="ctr" defTabSz="457200">
              <a:lnSpc>
                <a:spcPct val="106000"/>
              </a:lnSpc>
            </a:pPr>
            <a:r>
              <a:rPr b="1" lang="en-US" sz="2200" spc="-1" strike="noStrike">
                <a:solidFill>
                  <a:srgbClr val="ffffff"/>
                </a:solidFill>
                <a:latin typeface="Marianne"/>
              </a:rPr>
              <a:t>1</a:t>
            </a:r>
            <a:endParaRPr b="0" lang="fr-FR" sz="2200" spc="-1" strike="noStrike">
              <a:solidFill>
                <a:srgbClr val="000000"/>
              </a:solidFill>
              <a:latin typeface="Arial"/>
            </a:endParaRPr>
          </a:p>
        </p:txBody>
      </p:sp>
      <p:sp>
        <p:nvSpPr>
          <p:cNvPr id="70" name="TextBox 10"/>
          <p:cNvSpPr/>
          <p:nvPr/>
        </p:nvSpPr>
        <p:spPr>
          <a:xfrm>
            <a:off x="1645920" y="2609640"/>
            <a:ext cx="9142920" cy="339120"/>
          </a:xfrm>
          <a:prstGeom prst="rect">
            <a:avLst/>
          </a:prstGeom>
          <a:noFill/>
          <a:ln w="0">
            <a:noFill/>
          </a:ln>
        </p:spPr>
        <p:style>
          <a:lnRef idx="0"/>
          <a:fillRef idx="0"/>
          <a:effectRef idx="0"/>
          <a:fontRef idx="minor"/>
        </p:style>
        <p:txBody>
          <a:bodyPr lIns="0" rIns="0" tIns="0" bIns="0" anchor="ctr">
            <a:spAutoFit/>
          </a:bodyPr>
          <a:p>
            <a:pPr defTabSz="457200">
              <a:lnSpc>
                <a:spcPct val="106000"/>
              </a:lnSpc>
            </a:pPr>
            <a:r>
              <a:rPr b="1" lang="en-US" sz="2100" spc="-1" strike="noStrike">
                <a:solidFill>
                  <a:srgbClr val="161616"/>
                </a:solidFill>
                <a:latin typeface="Marianne"/>
              </a:rPr>
              <a:t>Les enjeux de la mission</a:t>
            </a:r>
            <a:endParaRPr b="0" lang="fr-FR" sz="2100" spc="-1" strike="noStrike">
              <a:solidFill>
                <a:srgbClr val="000000"/>
              </a:solidFill>
              <a:latin typeface="Arial"/>
            </a:endParaRPr>
          </a:p>
        </p:txBody>
      </p:sp>
      <p:sp>
        <p:nvSpPr>
          <p:cNvPr id="71" name="Rounded Rectangle 11"/>
          <p:cNvSpPr/>
          <p:nvPr/>
        </p:nvSpPr>
        <p:spPr>
          <a:xfrm>
            <a:off x="777240" y="3547800"/>
            <a:ext cx="565920" cy="565920"/>
          </a:xfrm>
          <a:prstGeom prst="roundRect">
            <a:avLst>
              <a:gd name="adj" fmla="val 50000"/>
            </a:avLst>
          </a:prstGeom>
          <a:solidFill>
            <a:srgbClr val="6a6af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2" name="TextBox 12"/>
          <p:cNvSpPr/>
          <p:nvPr/>
        </p:nvSpPr>
        <p:spPr>
          <a:xfrm>
            <a:off x="777240" y="3653280"/>
            <a:ext cx="565920" cy="354960"/>
          </a:xfrm>
          <a:prstGeom prst="rect">
            <a:avLst/>
          </a:prstGeom>
          <a:noFill/>
          <a:ln w="0">
            <a:noFill/>
          </a:ln>
        </p:spPr>
        <p:style>
          <a:lnRef idx="0"/>
          <a:fillRef idx="0"/>
          <a:effectRef idx="0"/>
          <a:fontRef idx="minor"/>
        </p:style>
        <p:txBody>
          <a:bodyPr lIns="0" rIns="0" tIns="0" bIns="0" anchor="ctr">
            <a:spAutoFit/>
          </a:bodyPr>
          <a:p>
            <a:pPr algn="ctr" defTabSz="457200">
              <a:lnSpc>
                <a:spcPct val="106000"/>
              </a:lnSpc>
            </a:pPr>
            <a:r>
              <a:rPr b="1" lang="en-US" sz="2200" spc="-1" strike="noStrike">
                <a:solidFill>
                  <a:srgbClr val="ffffff"/>
                </a:solidFill>
                <a:latin typeface="Marianne"/>
              </a:rPr>
              <a:t>2</a:t>
            </a:r>
            <a:endParaRPr b="0" lang="fr-FR" sz="2200" spc="-1" strike="noStrike">
              <a:solidFill>
                <a:srgbClr val="000000"/>
              </a:solidFill>
              <a:latin typeface="Arial"/>
            </a:endParaRPr>
          </a:p>
        </p:txBody>
      </p:sp>
      <p:sp>
        <p:nvSpPr>
          <p:cNvPr id="73" name="TextBox 13"/>
          <p:cNvSpPr/>
          <p:nvPr/>
        </p:nvSpPr>
        <p:spPr>
          <a:xfrm>
            <a:off x="1645920" y="3688560"/>
            <a:ext cx="9142920" cy="339120"/>
          </a:xfrm>
          <a:prstGeom prst="rect">
            <a:avLst/>
          </a:prstGeom>
          <a:noFill/>
          <a:ln w="0">
            <a:noFill/>
          </a:ln>
        </p:spPr>
        <p:style>
          <a:lnRef idx="0"/>
          <a:fillRef idx="0"/>
          <a:effectRef idx="0"/>
          <a:fontRef idx="minor"/>
        </p:style>
        <p:txBody>
          <a:bodyPr lIns="0" rIns="0" tIns="0" bIns="0" anchor="ctr">
            <a:spAutoFit/>
          </a:bodyPr>
          <a:p>
            <a:pPr defTabSz="457200">
              <a:lnSpc>
                <a:spcPct val="106000"/>
              </a:lnSpc>
            </a:pPr>
            <a:r>
              <a:rPr b="1" lang="en-US" sz="2100" spc="-1" strike="noStrike">
                <a:solidFill>
                  <a:srgbClr val="161616"/>
                </a:solidFill>
                <a:latin typeface="Marianne"/>
              </a:rPr>
              <a:t>La phase d’exploration</a:t>
            </a:r>
            <a:endParaRPr b="0" lang="fr-FR" sz="2100" spc="-1" strike="noStrike">
              <a:solidFill>
                <a:srgbClr val="000000"/>
              </a:solidFill>
              <a:latin typeface="Arial"/>
            </a:endParaRPr>
          </a:p>
        </p:txBody>
      </p:sp>
      <p:sp>
        <p:nvSpPr>
          <p:cNvPr id="74" name="Rounded Rectangle 14"/>
          <p:cNvSpPr/>
          <p:nvPr/>
        </p:nvSpPr>
        <p:spPr>
          <a:xfrm>
            <a:off x="777240" y="4626720"/>
            <a:ext cx="565920" cy="565920"/>
          </a:xfrm>
          <a:prstGeom prst="roundRect">
            <a:avLst>
              <a:gd name="adj" fmla="val 50000"/>
            </a:avLst>
          </a:prstGeom>
          <a:solidFill>
            <a:srgbClr val="6a6af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5" name="TextBox 15"/>
          <p:cNvSpPr/>
          <p:nvPr/>
        </p:nvSpPr>
        <p:spPr>
          <a:xfrm>
            <a:off x="777240" y="4732200"/>
            <a:ext cx="565920" cy="354960"/>
          </a:xfrm>
          <a:prstGeom prst="rect">
            <a:avLst/>
          </a:prstGeom>
          <a:noFill/>
          <a:ln w="0">
            <a:noFill/>
          </a:ln>
        </p:spPr>
        <p:style>
          <a:lnRef idx="0"/>
          <a:fillRef idx="0"/>
          <a:effectRef idx="0"/>
          <a:fontRef idx="minor"/>
        </p:style>
        <p:txBody>
          <a:bodyPr lIns="0" rIns="0" tIns="0" bIns="0" anchor="ctr">
            <a:spAutoFit/>
          </a:bodyPr>
          <a:p>
            <a:pPr algn="ctr" defTabSz="457200">
              <a:lnSpc>
                <a:spcPct val="106000"/>
              </a:lnSpc>
            </a:pPr>
            <a:r>
              <a:rPr b="1" lang="en-US" sz="2200" spc="-1" strike="noStrike">
                <a:solidFill>
                  <a:srgbClr val="ffffff"/>
                </a:solidFill>
                <a:latin typeface="Marianne"/>
              </a:rPr>
              <a:t>3</a:t>
            </a:r>
            <a:endParaRPr b="0" lang="fr-FR" sz="2200" spc="-1" strike="noStrike">
              <a:solidFill>
                <a:srgbClr val="000000"/>
              </a:solidFill>
              <a:latin typeface="Arial"/>
            </a:endParaRPr>
          </a:p>
        </p:txBody>
      </p:sp>
      <p:sp>
        <p:nvSpPr>
          <p:cNvPr id="76" name="TextBox 16"/>
          <p:cNvSpPr/>
          <p:nvPr/>
        </p:nvSpPr>
        <p:spPr>
          <a:xfrm>
            <a:off x="1645920" y="4767480"/>
            <a:ext cx="9142920" cy="339120"/>
          </a:xfrm>
          <a:prstGeom prst="rect">
            <a:avLst/>
          </a:prstGeom>
          <a:noFill/>
          <a:ln w="0">
            <a:noFill/>
          </a:ln>
        </p:spPr>
        <p:style>
          <a:lnRef idx="0"/>
          <a:fillRef idx="0"/>
          <a:effectRef idx="0"/>
          <a:fontRef idx="minor"/>
        </p:style>
        <p:txBody>
          <a:bodyPr lIns="0" rIns="0" tIns="0" bIns="0" anchor="ctr">
            <a:spAutoFit/>
          </a:bodyPr>
          <a:p>
            <a:pPr defTabSz="457200">
              <a:lnSpc>
                <a:spcPct val="106000"/>
              </a:lnSpc>
            </a:pPr>
            <a:r>
              <a:rPr b="1" lang="en-US" sz="2100" spc="-1" strike="noStrike">
                <a:solidFill>
                  <a:srgbClr val="161616"/>
                </a:solidFill>
                <a:latin typeface="Marianne"/>
              </a:rPr>
              <a:t>Le plan d’action</a:t>
            </a:r>
            <a:endParaRPr b="0" lang="fr-FR" sz="2100" spc="-1" strike="noStrike">
              <a:solidFill>
                <a:srgbClr val="000000"/>
              </a:solidFill>
              <a:latin typeface="Arial"/>
            </a:endParaRPr>
          </a:p>
        </p:txBody>
      </p:sp>
      <p:pic>
        <p:nvPicPr>
          <p:cNvPr id="77" name="Picture 1" descr="logo.png"/>
          <p:cNvPicPr/>
          <p:nvPr/>
        </p:nvPicPr>
        <p:blipFill>
          <a:blip r:embed="rId1"/>
          <a:srcRect l="0" t="0" r="0" b="14936"/>
          <a:stretch/>
        </p:blipFill>
        <p:spPr>
          <a:xfrm>
            <a:off x="777600" y="166680"/>
            <a:ext cx="1382040" cy="80460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Rectangle 1"/>
          <p:cNvSpPr/>
          <p:nvPr/>
        </p:nvSpPr>
        <p:spPr>
          <a:xfrm>
            <a:off x="0" y="0"/>
            <a:ext cx="12190680" cy="685692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9" name="TextBox 3"/>
          <p:cNvSpPr/>
          <p:nvPr/>
        </p:nvSpPr>
        <p:spPr>
          <a:xfrm>
            <a:off x="7574040" y="274320"/>
            <a:ext cx="3839400" cy="430920"/>
          </a:xfrm>
          <a:prstGeom prst="rect">
            <a:avLst/>
          </a:prstGeom>
          <a:noFill/>
          <a:ln w="0">
            <a:noFill/>
          </a:ln>
        </p:spPr>
        <p:style>
          <a:lnRef idx="0"/>
          <a:fillRef idx="0"/>
          <a:effectRef idx="0"/>
          <a:fontRef idx="minor"/>
        </p:style>
        <p:txBody>
          <a:bodyPr lIns="0" rIns="0" tIns="0" bIns="0" anchor="t">
            <a:spAutoFit/>
          </a:bodyPr>
          <a:p>
            <a:pPr algn="r" defTabSz="457200">
              <a:lnSpc>
                <a:spcPct val="105000"/>
              </a:lnSpc>
            </a:pPr>
            <a:r>
              <a:rPr b="1" lang="en-US" sz="1350" spc="-1" strike="noStrike">
                <a:solidFill>
                  <a:srgbClr val="161616"/>
                </a:solidFill>
                <a:latin typeface="Marianne"/>
              </a:rPr>
              <a:t>Secrétariat général</a:t>
            </a:r>
            <a:endParaRPr b="0" lang="fr-FR" sz="1350" spc="-1" strike="noStrike">
              <a:solidFill>
                <a:srgbClr val="000000"/>
              </a:solidFill>
              <a:latin typeface="Arial"/>
            </a:endParaRPr>
          </a:p>
          <a:p>
            <a:pPr algn="r" defTabSz="457200">
              <a:lnSpc>
                <a:spcPct val="105000"/>
              </a:lnSpc>
            </a:pPr>
            <a:r>
              <a:rPr b="0" lang="en-US" sz="1350" spc="-1" strike="noStrike">
                <a:solidFill>
                  <a:srgbClr val="3a3a3a"/>
                </a:solidFill>
                <a:latin typeface="Marianne"/>
              </a:rPr>
              <a:t>Direction du numérique</a:t>
            </a:r>
            <a:endParaRPr b="0" lang="fr-FR" sz="1350" spc="-1" strike="noStrike">
              <a:solidFill>
                <a:srgbClr val="000000"/>
              </a:solidFill>
              <a:latin typeface="Arial"/>
            </a:endParaRPr>
          </a:p>
        </p:txBody>
      </p:sp>
      <p:cxnSp>
        <p:nvCxnSpPr>
          <p:cNvPr id="80" name="Connector 4"/>
          <p:cNvCxnSpPr/>
          <p:nvPr/>
        </p:nvCxnSpPr>
        <p:spPr>
          <a:xfrm>
            <a:off x="0" y="1005840"/>
            <a:ext cx="12192480" cy="1080"/>
          </a:xfrm>
          <a:prstGeom prst="straightConnector1">
            <a:avLst/>
          </a:prstGeom>
          <a:ln w="9525">
            <a:solidFill>
              <a:srgbClr val="dddddd"/>
            </a:solidFill>
            <a:round/>
          </a:ln>
        </p:spPr>
      </p:cxnSp>
      <p:sp>
        <p:nvSpPr>
          <p:cNvPr id="81" name="TextBox 6"/>
          <p:cNvSpPr/>
          <p:nvPr/>
        </p:nvSpPr>
        <p:spPr>
          <a:xfrm>
            <a:off x="777240" y="3056040"/>
            <a:ext cx="10636200" cy="1202040"/>
          </a:xfrm>
          <a:prstGeom prst="rect">
            <a:avLst/>
          </a:prstGeom>
          <a:noFill/>
          <a:ln w="0">
            <a:noFill/>
          </a:ln>
        </p:spPr>
        <p:style>
          <a:lnRef idx="0"/>
          <a:fillRef idx="0"/>
          <a:effectRef idx="0"/>
          <a:fontRef idx="minor"/>
        </p:style>
        <p:txBody>
          <a:bodyPr lIns="0" rIns="0" tIns="0" bIns="0" anchor="ctr">
            <a:spAutoFit/>
          </a:bodyPr>
          <a:p>
            <a:pPr algn="ctr" defTabSz="457200">
              <a:lnSpc>
                <a:spcPct val="106000"/>
              </a:lnSpc>
              <a:spcAft>
                <a:spcPts val="1400"/>
              </a:spcAft>
            </a:pPr>
            <a:r>
              <a:rPr b="1" lang="en-US" sz="2000" spc="-1" strike="noStrike">
                <a:solidFill>
                  <a:srgbClr val="6a6af4"/>
                </a:solidFill>
                <a:latin typeface="Marianne"/>
              </a:rPr>
              <a:t>01</a:t>
            </a:r>
            <a:endParaRPr b="0" lang="fr-FR" sz="2000" spc="-1" strike="noStrike">
              <a:solidFill>
                <a:srgbClr val="000000"/>
              </a:solidFill>
              <a:latin typeface="Arial"/>
            </a:endParaRPr>
          </a:p>
          <a:p>
            <a:pPr algn="ctr" defTabSz="457200">
              <a:lnSpc>
                <a:spcPct val="100000"/>
              </a:lnSpc>
            </a:pPr>
            <a:r>
              <a:rPr b="1" lang="en-US" sz="4600" spc="-1" strike="noStrike">
                <a:solidFill>
                  <a:srgbClr val="161616"/>
                </a:solidFill>
                <a:latin typeface="Marianne"/>
              </a:rPr>
              <a:t>Les enjeux</a:t>
            </a:r>
            <a:endParaRPr b="0" lang="fr-FR" sz="4600" spc="-1" strike="noStrike">
              <a:solidFill>
                <a:srgbClr val="000000"/>
              </a:solidFill>
              <a:latin typeface="Arial"/>
            </a:endParaRPr>
          </a:p>
        </p:txBody>
      </p:sp>
      <p:pic>
        <p:nvPicPr>
          <p:cNvPr id="82" name="Picture 3" descr="logo.png"/>
          <p:cNvPicPr/>
          <p:nvPr/>
        </p:nvPicPr>
        <p:blipFill>
          <a:blip r:embed="rId1"/>
          <a:srcRect l="0" t="0" r="0" b="14936"/>
          <a:stretch/>
        </p:blipFill>
        <p:spPr>
          <a:xfrm>
            <a:off x="777600" y="166680"/>
            <a:ext cx="1382040" cy="80460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Rectangle 1"/>
          <p:cNvSpPr/>
          <p:nvPr/>
        </p:nvSpPr>
        <p:spPr>
          <a:xfrm>
            <a:off x="0" y="0"/>
            <a:ext cx="12190680" cy="685692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4" name="TextBox 3"/>
          <p:cNvSpPr/>
          <p:nvPr/>
        </p:nvSpPr>
        <p:spPr>
          <a:xfrm>
            <a:off x="7574040" y="274320"/>
            <a:ext cx="3839400" cy="430920"/>
          </a:xfrm>
          <a:prstGeom prst="rect">
            <a:avLst/>
          </a:prstGeom>
          <a:noFill/>
          <a:ln w="0">
            <a:noFill/>
          </a:ln>
        </p:spPr>
        <p:style>
          <a:lnRef idx="0"/>
          <a:fillRef idx="0"/>
          <a:effectRef idx="0"/>
          <a:fontRef idx="minor"/>
        </p:style>
        <p:txBody>
          <a:bodyPr lIns="0" rIns="0" tIns="0" bIns="0" anchor="t">
            <a:spAutoFit/>
          </a:bodyPr>
          <a:p>
            <a:pPr algn="r" defTabSz="457200">
              <a:lnSpc>
                <a:spcPct val="105000"/>
              </a:lnSpc>
            </a:pPr>
            <a:r>
              <a:rPr b="1" lang="en-US" sz="1350" spc="-1" strike="noStrike">
                <a:solidFill>
                  <a:srgbClr val="161616"/>
                </a:solidFill>
                <a:latin typeface="Marianne"/>
              </a:rPr>
              <a:t>Secrétariat général</a:t>
            </a:r>
            <a:endParaRPr b="0" lang="fr-FR" sz="1350" spc="-1" strike="noStrike">
              <a:solidFill>
                <a:srgbClr val="000000"/>
              </a:solidFill>
              <a:latin typeface="Arial"/>
            </a:endParaRPr>
          </a:p>
          <a:p>
            <a:pPr algn="r" defTabSz="457200">
              <a:lnSpc>
                <a:spcPct val="105000"/>
              </a:lnSpc>
            </a:pPr>
            <a:r>
              <a:rPr b="0" lang="en-US" sz="1350" spc="-1" strike="noStrike">
                <a:solidFill>
                  <a:srgbClr val="3a3a3a"/>
                </a:solidFill>
                <a:latin typeface="Marianne"/>
              </a:rPr>
              <a:t>Direction du numérique</a:t>
            </a:r>
            <a:endParaRPr b="0" lang="fr-FR" sz="1350" spc="-1" strike="noStrike">
              <a:solidFill>
                <a:srgbClr val="000000"/>
              </a:solidFill>
              <a:latin typeface="Arial"/>
            </a:endParaRPr>
          </a:p>
        </p:txBody>
      </p:sp>
      <p:cxnSp>
        <p:nvCxnSpPr>
          <p:cNvPr id="85" name="Connector 4"/>
          <p:cNvCxnSpPr/>
          <p:nvPr/>
        </p:nvCxnSpPr>
        <p:spPr>
          <a:xfrm>
            <a:off x="0" y="1005840"/>
            <a:ext cx="12192480" cy="1080"/>
          </a:xfrm>
          <a:prstGeom prst="straightConnector1">
            <a:avLst/>
          </a:prstGeom>
          <a:ln w="9525">
            <a:solidFill>
              <a:srgbClr val="dddddd"/>
            </a:solidFill>
            <a:round/>
          </a:ln>
        </p:spPr>
      </p:cxnSp>
      <p:sp>
        <p:nvSpPr>
          <p:cNvPr id="86" name="TextBox 6"/>
          <p:cNvSpPr/>
          <p:nvPr/>
        </p:nvSpPr>
        <p:spPr>
          <a:xfrm>
            <a:off x="10683000" y="6437520"/>
            <a:ext cx="730440" cy="177120"/>
          </a:xfrm>
          <a:prstGeom prst="rect">
            <a:avLst/>
          </a:prstGeom>
          <a:noFill/>
          <a:ln w="0">
            <a:noFill/>
          </a:ln>
        </p:spPr>
        <p:style>
          <a:lnRef idx="0"/>
          <a:fillRef idx="0"/>
          <a:effectRef idx="0"/>
          <a:fontRef idx="minor"/>
        </p:style>
        <p:txBody>
          <a:bodyPr lIns="0" rIns="0" tIns="0" bIns="0" anchor="t">
            <a:spAutoFit/>
          </a:bodyPr>
          <a:p>
            <a:pPr algn="r" defTabSz="457200">
              <a:lnSpc>
                <a:spcPct val="106000"/>
              </a:lnSpc>
            </a:pPr>
            <a:r>
              <a:rPr b="0" lang="en-US" sz="1100" spc="-1" strike="noStrike">
                <a:solidFill>
                  <a:srgbClr val="6a6a6a"/>
                </a:solidFill>
                <a:latin typeface="Marianne"/>
              </a:rPr>
              <a:t>4</a:t>
            </a:r>
            <a:endParaRPr b="0" lang="fr-FR" sz="1100" spc="-1" strike="noStrike">
              <a:solidFill>
                <a:srgbClr val="000000"/>
              </a:solidFill>
              <a:latin typeface="Arial"/>
            </a:endParaRPr>
          </a:p>
        </p:txBody>
      </p:sp>
      <p:sp>
        <p:nvSpPr>
          <p:cNvPr id="87" name="TextBox 7"/>
          <p:cNvSpPr/>
          <p:nvPr/>
        </p:nvSpPr>
        <p:spPr>
          <a:xfrm>
            <a:off x="777240" y="1325880"/>
            <a:ext cx="10636200" cy="51228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3300" spc="-1" strike="noStrike">
                <a:solidFill>
                  <a:srgbClr val="161616"/>
                </a:solidFill>
                <a:latin typeface="Marianne"/>
              </a:rPr>
              <a:t>Les enjeux</a:t>
            </a:r>
            <a:endParaRPr b="0" lang="fr-FR" sz="3300" spc="-1" strike="noStrike">
              <a:solidFill>
                <a:srgbClr val="000000"/>
              </a:solidFill>
              <a:latin typeface="Arial"/>
            </a:endParaRPr>
          </a:p>
        </p:txBody>
      </p:sp>
      <p:sp>
        <p:nvSpPr>
          <p:cNvPr id="88" name="TextBox 8"/>
          <p:cNvSpPr/>
          <p:nvPr/>
        </p:nvSpPr>
        <p:spPr>
          <a:xfrm>
            <a:off x="777240" y="1993320"/>
            <a:ext cx="10636200" cy="26568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650" spc="-1" strike="noStrike">
                <a:solidFill>
                  <a:srgbClr val="3a3a3a"/>
                </a:solidFill>
                <a:latin typeface="Marianne"/>
              </a:rPr>
              <a:t>Faire de l’IA un levier concret pour les métiers du numérique.</a:t>
            </a:r>
            <a:endParaRPr b="0" lang="fr-FR" sz="1650" spc="-1" strike="noStrike">
              <a:solidFill>
                <a:srgbClr val="000000"/>
              </a:solidFill>
              <a:latin typeface="Arial"/>
            </a:endParaRPr>
          </a:p>
        </p:txBody>
      </p:sp>
      <p:sp>
        <p:nvSpPr>
          <p:cNvPr id="89" name="Rounded Rectangle 9"/>
          <p:cNvSpPr/>
          <p:nvPr/>
        </p:nvSpPr>
        <p:spPr>
          <a:xfrm>
            <a:off x="777240" y="2651760"/>
            <a:ext cx="3270240" cy="2513520"/>
          </a:xfrm>
          <a:prstGeom prst="roundRect">
            <a:avLst>
              <a:gd name="adj" fmla="val 5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90" name="Picture 10" descr="search-eye.png"/>
          <p:cNvPicPr/>
          <p:nvPr/>
        </p:nvPicPr>
        <p:blipFill>
          <a:blip r:embed="rId1"/>
          <a:stretch/>
        </p:blipFill>
        <p:spPr>
          <a:xfrm>
            <a:off x="1088280" y="2962800"/>
            <a:ext cx="547560" cy="547560"/>
          </a:xfrm>
          <a:prstGeom prst="rect">
            <a:avLst/>
          </a:prstGeom>
          <a:ln w="0">
            <a:noFill/>
          </a:ln>
        </p:spPr>
      </p:pic>
      <p:sp>
        <p:nvSpPr>
          <p:cNvPr id="91" name="TextBox 11"/>
          <p:cNvSpPr/>
          <p:nvPr/>
        </p:nvSpPr>
        <p:spPr>
          <a:xfrm>
            <a:off x="1088280" y="3694320"/>
            <a:ext cx="2685240" cy="849600"/>
          </a:xfrm>
          <a:prstGeom prst="rect">
            <a:avLst/>
          </a:prstGeom>
          <a:noFill/>
          <a:ln w="0">
            <a:noFill/>
          </a:ln>
        </p:spPr>
        <p:style>
          <a:lnRef idx="0"/>
          <a:fillRef idx="0"/>
          <a:effectRef idx="0"/>
          <a:fontRef idx="minor"/>
        </p:style>
        <p:txBody>
          <a:bodyPr lIns="0" rIns="0" tIns="0" bIns="0" anchor="t">
            <a:spAutoFit/>
          </a:bodyPr>
          <a:p>
            <a:pPr defTabSz="457200">
              <a:lnSpc>
                <a:spcPct val="102000"/>
              </a:lnSpc>
              <a:spcAft>
                <a:spcPts val="601"/>
              </a:spcAft>
            </a:pPr>
            <a:r>
              <a:rPr b="1" lang="en-US" sz="1850" spc="-1" strike="noStrike">
                <a:solidFill>
                  <a:srgbClr val="000091"/>
                </a:solidFill>
                <a:latin typeface="Marianne"/>
              </a:rPr>
              <a:t>Identifier les usages</a:t>
            </a:r>
            <a:endParaRPr b="0" lang="fr-FR" sz="1850" spc="-1" strike="noStrike">
              <a:solidFill>
                <a:srgbClr val="000000"/>
              </a:solidFill>
              <a:latin typeface="Arial"/>
            </a:endParaRPr>
          </a:p>
          <a:p>
            <a:pPr defTabSz="457200">
              <a:lnSpc>
                <a:spcPct val="110000"/>
              </a:lnSpc>
            </a:pPr>
            <a:r>
              <a:rPr b="0" lang="en-US" sz="1450" spc="-1" strike="noStrike">
                <a:solidFill>
                  <a:srgbClr val="3a3a3a"/>
                </a:solidFill>
                <a:latin typeface="Marianne"/>
              </a:rPr>
              <a:t>Repérer les cas d’usage IA pour chaque métier.</a:t>
            </a:r>
            <a:endParaRPr b="0" lang="fr-FR" sz="1450" spc="-1" strike="noStrike">
              <a:solidFill>
                <a:srgbClr val="000000"/>
              </a:solidFill>
              <a:latin typeface="Arial"/>
            </a:endParaRPr>
          </a:p>
        </p:txBody>
      </p:sp>
      <p:sp>
        <p:nvSpPr>
          <p:cNvPr id="92" name="Rounded Rectangle 12"/>
          <p:cNvSpPr/>
          <p:nvPr/>
        </p:nvSpPr>
        <p:spPr>
          <a:xfrm>
            <a:off x="4460040" y="2651760"/>
            <a:ext cx="3270240" cy="2513520"/>
          </a:xfrm>
          <a:prstGeom prst="roundRect">
            <a:avLst>
              <a:gd name="adj" fmla="val 5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93" name="Picture 13" descr="user-follow.png"/>
          <p:cNvPicPr/>
          <p:nvPr/>
        </p:nvPicPr>
        <p:blipFill>
          <a:blip r:embed="rId2"/>
          <a:stretch/>
        </p:blipFill>
        <p:spPr>
          <a:xfrm>
            <a:off x="4771080" y="2962800"/>
            <a:ext cx="547560" cy="547560"/>
          </a:xfrm>
          <a:prstGeom prst="rect">
            <a:avLst/>
          </a:prstGeom>
          <a:ln w="0">
            <a:noFill/>
          </a:ln>
        </p:spPr>
      </p:pic>
      <p:sp>
        <p:nvSpPr>
          <p:cNvPr id="94" name="TextBox 14"/>
          <p:cNvSpPr/>
          <p:nvPr/>
        </p:nvSpPr>
        <p:spPr>
          <a:xfrm>
            <a:off x="4771080" y="3694320"/>
            <a:ext cx="2685240" cy="1137240"/>
          </a:xfrm>
          <a:prstGeom prst="rect">
            <a:avLst/>
          </a:prstGeom>
          <a:noFill/>
          <a:ln w="0">
            <a:noFill/>
          </a:ln>
        </p:spPr>
        <p:style>
          <a:lnRef idx="0"/>
          <a:fillRef idx="0"/>
          <a:effectRef idx="0"/>
          <a:fontRef idx="minor"/>
        </p:style>
        <p:txBody>
          <a:bodyPr lIns="0" rIns="0" tIns="0" bIns="0" anchor="t">
            <a:spAutoFit/>
          </a:bodyPr>
          <a:p>
            <a:pPr defTabSz="457200">
              <a:lnSpc>
                <a:spcPct val="102000"/>
              </a:lnSpc>
              <a:spcAft>
                <a:spcPts val="601"/>
              </a:spcAft>
            </a:pPr>
            <a:r>
              <a:rPr b="1" lang="en-US" sz="1850" spc="-1" strike="noStrike">
                <a:solidFill>
                  <a:srgbClr val="000091"/>
                </a:solidFill>
                <a:latin typeface="Marianne"/>
              </a:rPr>
              <a:t>Accompagner la maîtrise</a:t>
            </a:r>
            <a:endParaRPr b="0" lang="fr-FR" sz="1850" spc="-1" strike="noStrike">
              <a:solidFill>
                <a:srgbClr val="000000"/>
              </a:solidFill>
              <a:latin typeface="Arial"/>
            </a:endParaRPr>
          </a:p>
          <a:p>
            <a:pPr defTabSz="457200">
              <a:lnSpc>
                <a:spcPct val="110000"/>
              </a:lnSpc>
            </a:pPr>
            <a:r>
              <a:rPr b="0" lang="en-US" sz="1450" spc="-1" strike="noStrike">
                <a:solidFill>
                  <a:srgbClr val="3a3a3a"/>
                </a:solidFill>
                <a:latin typeface="Marianne"/>
              </a:rPr>
              <a:t>Aider les équipes à s’approprier des cas concrets.</a:t>
            </a:r>
            <a:endParaRPr b="0" lang="fr-FR" sz="1450" spc="-1" strike="noStrike">
              <a:solidFill>
                <a:srgbClr val="000000"/>
              </a:solidFill>
              <a:latin typeface="Arial"/>
            </a:endParaRPr>
          </a:p>
        </p:txBody>
      </p:sp>
      <p:sp>
        <p:nvSpPr>
          <p:cNvPr id="95" name="Rounded Rectangle 15"/>
          <p:cNvSpPr/>
          <p:nvPr/>
        </p:nvSpPr>
        <p:spPr>
          <a:xfrm>
            <a:off x="8143200" y="2651760"/>
            <a:ext cx="3270240" cy="2513520"/>
          </a:xfrm>
          <a:prstGeom prst="roundRect">
            <a:avLst>
              <a:gd name="adj" fmla="val 5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96" name="Picture 16" descr="megaphone.png"/>
          <p:cNvPicPr/>
          <p:nvPr/>
        </p:nvPicPr>
        <p:blipFill>
          <a:blip r:embed="rId3"/>
          <a:stretch/>
        </p:blipFill>
        <p:spPr>
          <a:xfrm>
            <a:off x="8453880" y="2962800"/>
            <a:ext cx="547560" cy="547560"/>
          </a:xfrm>
          <a:prstGeom prst="rect">
            <a:avLst/>
          </a:prstGeom>
          <a:ln w="0">
            <a:noFill/>
          </a:ln>
        </p:spPr>
      </p:pic>
      <p:sp>
        <p:nvSpPr>
          <p:cNvPr id="97" name="TextBox 17"/>
          <p:cNvSpPr/>
          <p:nvPr/>
        </p:nvSpPr>
        <p:spPr>
          <a:xfrm>
            <a:off x="8453880" y="3694320"/>
            <a:ext cx="2685240" cy="849600"/>
          </a:xfrm>
          <a:prstGeom prst="rect">
            <a:avLst/>
          </a:prstGeom>
          <a:noFill/>
          <a:ln w="0">
            <a:noFill/>
          </a:ln>
        </p:spPr>
        <p:style>
          <a:lnRef idx="0"/>
          <a:fillRef idx="0"/>
          <a:effectRef idx="0"/>
          <a:fontRef idx="minor"/>
        </p:style>
        <p:txBody>
          <a:bodyPr lIns="0" rIns="0" tIns="0" bIns="0" anchor="t">
            <a:spAutoFit/>
          </a:bodyPr>
          <a:p>
            <a:pPr defTabSz="457200">
              <a:lnSpc>
                <a:spcPct val="102000"/>
              </a:lnSpc>
              <a:spcAft>
                <a:spcPts val="601"/>
              </a:spcAft>
            </a:pPr>
            <a:r>
              <a:rPr b="1" lang="en-US" sz="1850" spc="-1" strike="noStrike">
                <a:solidFill>
                  <a:srgbClr val="000091"/>
                </a:solidFill>
                <a:latin typeface="Marianne"/>
              </a:rPr>
              <a:t>Évangéliser</a:t>
            </a:r>
            <a:endParaRPr b="0" lang="fr-FR" sz="1850" spc="-1" strike="noStrike">
              <a:solidFill>
                <a:srgbClr val="000000"/>
              </a:solidFill>
              <a:latin typeface="Arial"/>
            </a:endParaRPr>
          </a:p>
          <a:p>
            <a:pPr defTabSz="457200">
              <a:lnSpc>
                <a:spcPct val="110000"/>
              </a:lnSpc>
            </a:pPr>
            <a:r>
              <a:rPr b="0" lang="en-US" sz="1450" spc="-1" strike="noStrike">
                <a:solidFill>
                  <a:srgbClr val="3a3a3a"/>
                </a:solidFill>
                <a:latin typeface="Marianne"/>
              </a:rPr>
              <a:t>Diffuser la culture et les bons réflexes de l’IA.</a:t>
            </a:r>
            <a:endParaRPr b="0" lang="fr-FR" sz="1450" spc="-1" strike="noStrike">
              <a:solidFill>
                <a:srgbClr val="000000"/>
              </a:solidFill>
              <a:latin typeface="Arial"/>
            </a:endParaRPr>
          </a:p>
        </p:txBody>
      </p:sp>
      <p:sp>
        <p:nvSpPr>
          <p:cNvPr id="98" name="TextBox 18"/>
          <p:cNvSpPr/>
          <p:nvPr/>
        </p:nvSpPr>
        <p:spPr>
          <a:xfrm>
            <a:off x="777240" y="5573880"/>
            <a:ext cx="2010600" cy="226080"/>
          </a:xfrm>
          <a:prstGeom prst="rect">
            <a:avLst/>
          </a:prstGeom>
          <a:noFill/>
          <a:ln w="0">
            <a:noFill/>
          </a:ln>
        </p:spPr>
        <p:style>
          <a:lnRef idx="0"/>
          <a:fillRef idx="0"/>
          <a:effectRef idx="0"/>
          <a:fontRef idx="minor"/>
        </p:style>
        <p:txBody>
          <a:bodyPr lIns="0" rIns="0" tIns="0" bIns="0" anchor="ctr">
            <a:spAutoFit/>
          </a:bodyPr>
          <a:p>
            <a:pPr defTabSz="457200">
              <a:lnSpc>
                <a:spcPct val="106000"/>
              </a:lnSpc>
            </a:pPr>
            <a:r>
              <a:rPr b="1" lang="en-US" sz="1400" spc="-1" strike="noStrike">
                <a:solidFill>
                  <a:srgbClr val="161616"/>
                </a:solidFill>
                <a:latin typeface="Marianne"/>
              </a:rPr>
              <a:t>Pour 4 métiers :</a:t>
            </a:r>
            <a:endParaRPr b="0" lang="fr-FR" sz="1400" spc="-1" strike="noStrike">
              <a:solidFill>
                <a:srgbClr val="000000"/>
              </a:solidFill>
              <a:latin typeface="Arial"/>
            </a:endParaRPr>
          </a:p>
        </p:txBody>
      </p:sp>
      <p:sp>
        <p:nvSpPr>
          <p:cNvPr id="99" name="Rounded Rectangle 19"/>
          <p:cNvSpPr/>
          <p:nvPr/>
        </p:nvSpPr>
        <p:spPr>
          <a:xfrm>
            <a:off x="2834640" y="5477400"/>
            <a:ext cx="1329480" cy="419400"/>
          </a:xfrm>
          <a:prstGeom prst="roundRect">
            <a:avLst>
              <a:gd name="adj" fmla="val 50000"/>
            </a:avLst>
          </a:prstGeom>
          <a:noFill/>
          <a:ln w="12700">
            <a:solidFill>
              <a:srgbClr val="6a6af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0" name="TextBox 20"/>
          <p:cNvSpPr/>
          <p:nvPr/>
        </p:nvSpPr>
        <p:spPr>
          <a:xfrm>
            <a:off x="2834640" y="5581800"/>
            <a:ext cx="1329480" cy="210240"/>
          </a:xfrm>
          <a:prstGeom prst="rect">
            <a:avLst/>
          </a:prstGeom>
          <a:noFill/>
          <a:ln w="0">
            <a:noFill/>
          </a:ln>
        </p:spPr>
        <p:style>
          <a:lnRef idx="0"/>
          <a:fillRef idx="0"/>
          <a:effectRef idx="0"/>
          <a:fontRef idx="minor"/>
        </p:style>
        <p:txBody>
          <a:bodyPr lIns="0" rIns="0" tIns="0" bIns="0" anchor="ctr">
            <a:spAutoFit/>
          </a:bodyPr>
          <a:p>
            <a:pPr algn="ctr" defTabSz="457200">
              <a:lnSpc>
                <a:spcPct val="106000"/>
              </a:lnSpc>
            </a:pPr>
            <a:r>
              <a:rPr b="1" lang="en-US" sz="1300" spc="-1" strike="noStrike">
                <a:solidFill>
                  <a:srgbClr val="000091"/>
                </a:solidFill>
                <a:latin typeface="Marianne"/>
              </a:rPr>
              <a:t>Architectes</a:t>
            </a:r>
            <a:endParaRPr b="0" lang="fr-FR" sz="1300" spc="-1" strike="noStrike">
              <a:solidFill>
                <a:srgbClr val="000000"/>
              </a:solidFill>
              <a:latin typeface="Arial"/>
            </a:endParaRPr>
          </a:p>
        </p:txBody>
      </p:sp>
      <p:sp>
        <p:nvSpPr>
          <p:cNvPr id="101" name="Rounded Rectangle 21"/>
          <p:cNvSpPr/>
          <p:nvPr/>
        </p:nvSpPr>
        <p:spPr>
          <a:xfrm>
            <a:off x="4366440" y="5477400"/>
            <a:ext cx="1713600" cy="419400"/>
          </a:xfrm>
          <a:prstGeom prst="roundRect">
            <a:avLst>
              <a:gd name="adj" fmla="val 50000"/>
            </a:avLst>
          </a:prstGeom>
          <a:noFill/>
          <a:ln w="12700">
            <a:solidFill>
              <a:srgbClr val="6a6af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2" name="TextBox 22"/>
          <p:cNvSpPr/>
          <p:nvPr/>
        </p:nvSpPr>
        <p:spPr>
          <a:xfrm>
            <a:off x="4366440" y="5581800"/>
            <a:ext cx="1713600" cy="210240"/>
          </a:xfrm>
          <a:prstGeom prst="rect">
            <a:avLst/>
          </a:prstGeom>
          <a:noFill/>
          <a:ln w="0">
            <a:noFill/>
          </a:ln>
        </p:spPr>
        <p:style>
          <a:lnRef idx="0"/>
          <a:fillRef idx="0"/>
          <a:effectRef idx="0"/>
          <a:fontRef idx="minor"/>
        </p:style>
        <p:txBody>
          <a:bodyPr lIns="0" rIns="0" tIns="0" bIns="0" anchor="ctr">
            <a:spAutoFit/>
          </a:bodyPr>
          <a:p>
            <a:pPr algn="ctr" defTabSz="457200">
              <a:lnSpc>
                <a:spcPct val="106000"/>
              </a:lnSpc>
            </a:pPr>
            <a:r>
              <a:rPr b="1" lang="en-US" sz="1300" spc="-1" strike="noStrike">
                <a:solidFill>
                  <a:srgbClr val="000091"/>
                </a:solidFill>
                <a:latin typeface="Marianne"/>
              </a:rPr>
              <a:t>Chefs de projet</a:t>
            </a:r>
            <a:endParaRPr b="0" lang="fr-FR" sz="1300" spc="-1" strike="noStrike">
              <a:solidFill>
                <a:srgbClr val="000000"/>
              </a:solidFill>
              <a:latin typeface="Arial"/>
            </a:endParaRPr>
          </a:p>
        </p:txBody>
      </p:sp>
      <p:sp>
        <p:nvSpPr>
          <p:cNvPr id="103" name="Rounded Rectangle 23"/>
          <p:cNvSpPr/>
          <p:nvPr/>
        </p:nvSpPr>
        <p:spPr>
          <a:xfrm>
            <a:off x="6282000" y="5477400"/>
            <a:ext cx="1137240" cy="419400"/>
          </a:xfrm>
          <a:prstGeom prst="roundRect">
            <a:avLst>
              <a:gd name="adj" fmla="val 50000"/>
            </a:avLst>
          </a:prstGeom>
          <a:noFill/>
          <a:ln w="12700">
            <a:solidFill>
              <a:srgbClr val="6a6af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4" name="TextBox 24"/>
          <p:cNvSpPr/>
          <p:nvPr/>
        </p:nvSpPr>
        <p:spPr>
          <a:xfrm>
            <a:off x="6282000" y="5581800"/>
            <a:ext cx="1137240" cy="210240"/>
          </a:xfrm>
          <a:prstGeom prst="rect">
            <a:avLst/>
          </a:prstGeom>
          <a:noFill/>
          <a:ln w="0">
            <a:noFill/>
          </a:ln>
        </p:spPr>
        <p:style>
          <a:lnRef idx="0"/>
          <a:fillRef idx="0"/>
          <a:effectRef idx="0"/>
          <a:fontRef idx="minor"/>
        </p:style>
        <p:txBody>
          <a:bodyPr lIns="0" rIns="0" tIns="0" bIns="0" anchor="ctr">
            <a:spAutoFit/>
          </a:bodyPr>
          <a:p>
            <a:pPr algn="ctr" defTabSz="457200">
              <a:lnSpc>
                <a:spcPct val="106000"/>
              </a:lnSpc>
            </a:pPr>
            <a:r>
              <a:rPr b="1" lang="en-US" sz="1300" spc="-1" strike="noStrike">
                <a:solidFill>
                  <a:srgbClr val="000091"/>
                </a:solidFill>
                <a:latin typeface="Marianne"/>
              </a:rPr>
              <a:t>Designers</a:t>
            </a:r>
            <a:endParaRPr b="0" lang="fr-FR" sz="1300" spc="-1" strike="noStrike">
              <a:solidFill>
                <a:srgbClr val="000000"/>
              </a:solidFill>
              <a:latin typeface="Arial"/>
            </a:endParaRPr>
          </a:p>
        </p:txBody>
      </p:sp>
      <p:sp>
        <p:nvSpPr>
          <p:cNvPr id="105" name="Rounded Rectangle 25"/>
          <p:cNvSpPr/>
          <p:nvPr/>
        </p:nvSpPr>
        <p:spPr>
          <a:xfrm>
            <a:off x="7621560" y="5477400"/>
            <a:ext cx="1425240" cy="419400"/>
          </a:xfrm>
          <a:prstGeom prst="roundRect">
            <a:avLst>
              <a:gd name="adj" fmla="val 50000"/>
            </a:avLst>
          </a:prstGeom>
          <a:noFill/>
          <a:ln w="12700">
            <a:solidFill>
              <a:srgbClr val="6a6af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6" name="TextBox 26"/>
          <p:cNvSpPr/>
          <p:nvPr/>
        </p:nvSpPr>
        <p:spPr>
          <a:xfrm>
            <a:off x="7621560" y="5581800"/>
            <a:ext cx="1425240" cy="210240"/>
          </a:xfrm>
          <a:prstGeom prst="rect">
            <a:avLst/>
          </a:prstGeom>
          <a:noFill/>
          <a:ln w="0">
            <a:noFill/>
          </a:ln>
        </p:spPr>
        <p:style>
          <a:lnRef idx="0"/>
          <a:fillRef idx="0"/>
          <a:effectRef idx="0"/>
          <a:fontRef idx="minor"/>
        </p:style>
        <p:txBody>
          <a:bodyPr lIns="0" rIns="0" tIns="0" bIns="0" anchor="ctr">
            <a:spAutoFit/>
          </a:bodyPr>
          <a:p>
            <a:pPr algn="ctr" defTabSz="457200">
              <a:lnSpc>
                <a:spcPct val="106000"/>
              </a:lnSpc>
            </a:pPr>
            <a:r>
              <a:rPr b="1" lang="en-US" sz="1300" spc="-1" strike="noStrike">
                <a:solidFill>
                  <a:srgbClr val="000091"/>
                </a:solidFill>
                <a:latin typeface="Marianne"/>
              </a:rPr>
              <a:t>Développeurs</a:t>
            </a:r>
            <a:endParaRPr b="0" lang="fr-FR" sz="1300" spc="-1" strike="noStrike">
              <a:solidFill>
                <a:srgbClr val="000000"/>
              </a:solidFill>
              <a:latin typeface="Arial"/>
            </a:endParaRPr>
          </a:p>
        </p:txBody>
      </p:sp>
      <p:pic>
        <p:nvPicPr>
          <p:cNvPr id="107" name="Picture 4" descr="logo.png"/>
          <p:cNvPicPr/>
          <p:nvPr/>
        </p:nvPicPr>
        <p:blipFill>
          <a:blip r:embed="rId4"/>
          <a:srcRect l="0" t="0" r="0" b="14936"/>
          <a:stretch/>
        </p:blipFill>
        <p:spPr>
          <a:xfrm>
            <a:off x="777600" y="166680"/>
            <a:ext cx="1382040" cy="80460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Rectangle 1"/>
          <p:cNvSpPr/>
          <p:nvPr/>
        </p:nvSpPr>
        <p:spPr>
          <a:xfrm>
            <a:off x="0" y="0"/>
            <a:ext cx="12190680" cy="685692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9" name="TextBox 3"/>
          <p:cNvSpPr/>
          <p:nvPr/>
        </p:nvSpPr>
        <p:spPr>
          <a:xfrm>
            <a:off x="7574040" y="274320"/>
            <a:ext cx="3839400" cy="430920"/>
          </a:xfrm>
          <a:prstGeom prst="rect">
            <a:avLst/>
          </a:prstGeom>
          <a:noFill/>
          <a:ln w="0">
            <a:noFill/>
          </a:ln>
        </p:spPr>
        <p:style>
          <a:lnRef idx="0"/>
          <a:fillRef idx="0"/>
          <a:effectRef idx="0"/>
          <a:fontRef idx="minor"/>
        </p:style>
        <p:txBody>
          <a:bodyPr lIns="0" rIns="0" tIns="0" bIns="0" anchor="t">
            <a:spAutoFit/>
          </a:bodyPr>
          <a:p>
            <a:pPr algn="r" defTabSz="457200">
              <a:lnSpc>
                <a:spcPct val="105000"/>
              </a:lnSpc>
            </a:pPr>
            <a:r>
              <a:rPr b="1" lang="en-US" sz="1350" spc="-1" strike="noStrike">
                <a:solidFill>
                  <a:srgbClr val="161616"/>
                </a:solidFill>
                <a:latin typeface="Marianne"/>
              </a:rPr>
              <a:t>Secrétariat général</a:t>
            </a:r>
            <a:endParaRPr b="0" lang="fr-FR" sz="1350" spc="-1" strike="noStrike">
              <a:solidFill>
                <a:srgbClr val="000000"/>
              </a:solidFill>
              <a:latin typeface="Arial"/>
            </a:endParaRPr>
          </a:p>
          <a:p>
            <a:pPr algn="r" defTabSz="457200">
              <a:lnSpc>
                <a:spcPct val="105000"/>
              </a:lnSpc>
            </a:pPr>
            <a:r>
              <a:rPr b="0" lang="en-US" sz="1350" spc="-1" strike="noStrike">
                <a:solidFill>
                  <a:srgbClr val="3a3a3a"/>
                </a:solidFill>
                <a:latin typeface="Marianne"/>
              </a:rPr>
              <a:t>Direction du numérique</a:t>
            </a:r>
            <a:endParaRPr b="0" lang="fr-FR" sz="1350" spc="-1" strike="noStrike">
              <a:solidFill>
                <a:srgbClr val="000000"/>
              </a:solidFill>
              <a:latin typeface="Arial"/>
            </a:endParaRPr>
          </a:p>
        </p:txBody>
      </p:sp>
      <p:cxnSp>
        <p:nvCxnSpPr>
          <p:cNvPr id="110" name="Connector 4"/>
          <p:cNvCxnSpPr/>
          <p:nvPr/>
        </p:nvCxnSpPr>
        <p:spPr>
          <a:xfrm>
            <a:off x="0" y="1005840"/>
            <a:ext cx="12192480" cy="1080"/>
          </a:xfrm>
          <a:prstGeom prst="straightConnector1">
            <a:avLst/>
          </a:prstGeom>
          <a:ln w="9525">
            <a:solidFill>
              <a:srgbClr val="dddddd"/>
            </a:solidFill>
            <a:round/>
          </a:ln>
        </p:spPr>
      </p:cxnSp>
      <p:sp>
        <p:nvSpPr>
          <p:cNvPr id="111" name="TextBox 6"/>
          <p:cNvSpPr/>
          <p:nvPr/>
        </p:nvSpPr>
        <p:spPr>
          <a:xfrm>
            <a:off x="777240" y="3056040"/>
            <a:ext cx="10636200" cy="1202040"/>
          </a:xfrm>
          <a:prstGeom prst="rect">
            <a:avLst/>
          </a:prstGeom>
          <a:noFill/>
          <a:ln w="0">
            <a:noFill/>
          </a:ln>
        </p:spPr>
        <p:style>
          <a:lnRef idx="0"/>
          <a:fillRef idx="0"/>
          <a:effectRef idx="0"/>
          <a:fontRef idx="minor"/>
        </p:style>
        <p:txBody>
          <a:bodyPr lIns="0" rIns="0" tIns="0" bIns="0" anchor="ctr">
            <a:spAutoFit/>
          </a:bodyPr>
          <a:p>
            <a:pPr algn="ctr" defTabSz="457200">
              <a:lnSpc>
                <a:spcPct val="106000"/>
              </a:lnSpc>
              <a:spcAft>
                <a:spcPts val="1400"/>
              </a:spcAft>
            </a:pPr>
            <a:r>
              <a:rPr b="1" lang="en-US" sz="2000" spc="-1" strike="noStrike">
                <a:solidFill>
                  <a:srgbClr val="6a6af4"/>
                </a:solidFill>
                <a:latin typeface="Marianne"/>
              </a:rPr>
              <a:t>02</a:t>
            </a:r>
            <a:endParaRPr b="0" lang="fr-FR" sz="2000" spc="-1" strike="noStrike">
              <a:solidFill>
                <a:srgbClr val="000000"/>
              </a:solidFill>
              <a:latin typeface="Arial"/>
            </a:endParaRPr>
          </a:p>
          <a:p>
            <a:pPr algn="ctr" defTabSz="457200">
              <a:lnSpc>
                <a:spcPct val="100000"/>
              </a:lnSpc>
            </a:pPr>
            <a:r>
              <a:rPr b="1" lang="en-US" sz="4600" spc="-1" strike="noStrike">
                <a:solidFill>
                  <a:srgbClr val="161616"/>
                </a:solidFill>
                <a:latin typeface="Marianne"/>
              </a:rPr>
              <a:t>L’exploration</a:t>
            </a:r>
            <a:endParaRPr b="0" lang="fr-FR" sz="4600" spc="-1" strike="noStrike">
              <a:solidFill>
                <a:srgbClr val="000000"/>
              </a:solidFill>
              <a:latin typeface="Arial"/>
            </a:endParaRPr>
          </a:p>
        </p:txBody>
      </p:sp>
      <p:pic>
        <p:nvPicPr>
          <p:cNvPr id="112" name="Picture 6" descr="logo.png"/>
          <p:cNvPicPr/>
          <p:nvPr/>
        </p:nvPicPr>
        <p:blipFill>
          <a:blip r:embed="rId1"/>
          <a:srcRect l="0" t="0" r="0" b="14936"/>
          <a:stretch/>
        </p:blipFill>
        <p:spPr>
          <a:xfrm>
            <a:off x="777600" y="166680"/>
            <a:ext cx="1382040" cy="80460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Rectangle 1"/>
          <p:cNvSpPr/>
          <p:nvPr/>
        </p:nvSpPr>
        <p:spPr>
          <a:xfrm>
            <a:off x="0" y="0"/>
            <a:ext cx="12190680" cy="685692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4" name="TextBox 3"/>
          <p:cNvSpPr/>
          <p:nvPr/>
        </p:nvSpPr>
        <p:spPr>
          <a:xfrm>
            <a:off x="7574040" y="274320"/>
            <a:ext cx="3839400" cy="430920"/>
          </a:xfrm>
          <a:prstGeom prst="rect">
            <a:avLst/>
          </a:prstGeom>
          <a:noFill/>
          <a:ln w="0">
            <a:noFill/>
          </a:ln>
        </p:spPr>
        <p:style>
          <a:lnRef idx="0"/>
          <a:fillRef idx="0"/>
          <a:effectRef idx="0"/>
          <a:fontRef idx="minor"/>
        </p:style>
        <p:txBody>
          <a:bodyPr lIns="0" rIns="0" tIns="0" bIns="0" anchor="t">
            <a:spAutoFit/>
          </a:bodyPr>
          <a:p>
            <a:pPr algn="r" defTabSz="457200">
              <a:lnSpc>
                <a:spcPct val="105000"/>
              </a:lnSpc>
            </a:pPr>
            <a:r>
              <a:rPr b="1" lang="en-US" sz="1350" spc="-1" strike="noStrike">
                <a:solidFill>
                  <a:srgbClr val="161616"/>
                </a:solidFill>
                <a:latin typeface="Marianne"/>
              </a:rPr>
              <a:t>Secrétariat général</a:t>
            </a:r>
            <a:endParaRPr b="0" lang="fr-FR" sz="1350" spc="-1" strike="noStrike">
              <a:solidFill>
                <a:srgbClr val="000000"/>
              </a:solidFill>
              <a:latin typeface="Arial"/>
            </a:endParaRPr>
          </a:p>
          <a:p>
            <a:pPr algn="r" defTabSz="457200">
              <a:lnSpc>
                <a:spcPct val="105000"/>
              </a:lnSpc>
            </a:pPr>
            <a:r>
              <a:rPr b="0" lang="en-US" sz="1350" spc="-1" strike="noStrike">
                <a:solidFill>
                  <a:srgbClr val="3a3a3a"/>
                </a:solidFill>
                <a:latin typeface="Marianne"/>
              </a:rPr>
              <a:t>Direction du numérique</a:t>
            </a:r>
            <a:endParaRPr b="0" lang="fr-FR" sz="1350" spc="-1" strike="noStrike">
              <a:solidFill>
                <a:srgbClr val="000000"/>
              </a:solidFill>
              <a:latin typeface="Arial"/>
            </a:endParaRPr>
          </a:p>
        </p:txBody>
      </p:sp>
      <p:cxnSp>
        <p:nvCxnSpPr>
          <p:cNvPr id="115" name="Connector 4"/>
          <p:cNvCxnSpPr/>
          <p:nvPr/>
        </p:nvCxnSpPr>
        <p:spPr>
          <a:xfrm>
            <a:off x="0" y="1005840"/>
            <a:ext cx="12192480" cy="1080"/>
          </a:xfrm>
          <a:prstGeom prst="straightConnector1">
            <a:avLst/>
          </a:prstGeom>
          <a:ln w="9525">
            <a:solidFill>
              <a:srgbClr val="dddddd"/>
            </a:solidFill>
            <a:round/>
          </a:ln>
        </p:spPr>
      </p:cxnSp>
      <p:sp>
        <p:nvSpPr>
          <p:cNvPr id="116" name="TextBox 6"/>
          <p:cNvSpPr/>
          <p:nvPr/>
        </p:nvSpPr>
        <p:spPr>
          <a:xfrm>
            <a:off x="10683000" y="6437520"/>
            <a:ext cx="730440" cy="177120"/>
          </a:xfrm>
          <a:prstGeom prst="rect">
            <a:avLst/>
          </a:prstGeom>
          <a:noFill/>
          <a:ln w="0">
            <a:noFill/>
          </a:ln>
        </p:spPr>
        <p:style>
          <a:lnRef idx="0"/>
          <a:fillRef idx="0"/>
          <a:effectRef idx="0"/>
          <a:fontRef idx="minor"/>
        </p:style>
        <p:txBody>
          <a:bodyPr lIns="0" rIns="0" tIns="0" bIns="0" anchor="t">
            <a:spAutoFit/>
          </a:bodyPr>
          <a:p>
            <a:pPr algn="r" defTabSz="457200">
              <a:lnSpc>
                <a:spcPct val="106000"/>
              </a:lnSpc>
            </a:pPr>
            <a:r>
              <a:rPr b="0" lang="en-US" sz="1100" spc="-1" strike="noStrike">
                <a:solidFill>
                  <a:srgbClr val="6a6a6a"/>
                </a:solidFill>
                <a:latin typeface="Marianne"/>
              </a:rPr>
              <a:t>6</a:t>
            </a:r>
            <a:endParaRPr b="0" lang="fr-FR" sz="1100" spc="-1" strike="noStrike">
              <a:solidFill>
                <a:srgbClr val="000000"/>
              </a:solidFill>
              <a:latin typeface="Arial"/>
            </a:endParaRPr>
          </a:p>
        </p:txBody>
      </p:sp>
      <p:sp>
        <p:nvSpPr>
          <p:cNvPr id="117" name="TextBox 7"/>
          <p:cNvSpPr/>
          <p:nvPr/>
        </p:nvSpPr>
        <p:spPr>
          <a:xfrm>
            <a:off x="777240" y="1325880"/>
            <a:ext cx="10636200" cy="51228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3300" spc="-1" strike="noStrike">
                <a:solidFill>
                  <a:srgbClr val="161616"/>
                </a:solidFill>
                <a:latin typeface="Marianne"/>
              </a:rPr>
              <a:t>Aller à la rencontre du terrain</a:t>
            </a:r>
            <a:endParaRPr b="0" lang="fr-FR" sz="3300" spc="-1" strike="noStrike">
              <a:solidFill>
                <a:srgbClr val="000000"/>
              </a:solidFill>
              <a:latin typeface="Arial"/>
            </a:endParaRPr>
          </a:p>
        </p:txBody>
      </p:sp>
      <p:sp>
        <p:nvSpPr>
          <p:cNvPr id="118" name="Rounded Rectangle 8"/>
          <p:cNvSpPr/>
          <p:nvPr/>
        </p:nvSpPr>
        <p:spPr>
          <a:xfrm>
            <a:off x="777240" y="2148840"/>
            <a:ext cx="3270240" cy="3610800"/>
          </a:xfrm>
          <a:prstGeom prst="roundRect">
            <a:avLst>
              <a:gd name="adj" fmla="val 5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19" name="Picture 9" descr="team.png"/>
          <p:cNvPicPr/>
          <p:nvPr/>
        </p:nvPicPr>
        <p:blipFill>
          <a:blip r:embed="rId1"/>
          <a:stretch/>
        </p:blipFill>
        <p:spPr>
          <a:xfrm>
            <a:off x="1088280" y="2387880"/>
            <a:ext cx="510840" cy="510840"/>
          </a:xfrm>
          <a:prstGeom prst="rect">
            <a:avLst/>
          </a:prstGeom>
          <a:ln w="0">
            <a:noFill/>
          </a:ln>
        </p:spPr>
      </p:pic>
      <p:sp>
        <p:nvSpPr>
          <p:cNvPr id="120" name="TextBox 10"/>
          <p:cNvSpPr/>
          <p:nvPr/>
        </p:nvSpPr>
        <p:spPr>
          <a:xfrm>
            <a:off x="1088280" y="3036960"/>
            <a:ext cx="2648520" cy="26571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901"/>
              </a:spcAft>
            </a:pPr>
            <a:r>
              <a:rPr b="1" lang="en-US" sz="1800" spc="-1" strike="noStrike">
                <a:solidFill>
                  <a:srgbClr val="000091"/>
                </a:solidFill>
                <a:latin typeface="Marianne"/>
              </a:rPr>
              <a:t>Les équipes</a:t>
            </a:r>
            <a:endParaRPr b="0" lang="fr-FR" sz="18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50" spc="-1" strike="noStrike">
                <a:solidFill>
                  <a:srgbClr val="161616"/>
                </a:solidFill>
                <a:latin typeface="Marianne"/>
              </a:rPr>
              <a:t>SRDT</a:t>
            </a:r>
            <a:endParaRPr b="0" lang="fr-FR" sz="145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50" spc="-1" strike="noStrike">
                <a:solidFill>
                  <a:srgbClr val="161616"/>
                </a:solidFill>
                <a:latin typeface="Marianne"/>
              </a:rPr>
              <a:t>DACCORD</a:t>
            </a:r>
            <a:endParaRPr b="0" lang="fr-FR" sz="145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50" spc="-1" strike="noStrike">
                <a:solidFill>
                  <a:srgbClr val="161616"/>
                </a:solidFill>
                <a:latin typeface="Marianne"/>
              </a:rPr>
              <a:t>Egapro</a:t>
            </a:r>
            <a:endParaRPr b="0" lang="fr-FR" sz="145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50" spc="-1" strike="noStrike">
                <a:solidFill>
                  <a:srgbClr val="161616"/>
                </a:solidFill>
                <a:latin typeface="Marianne"/>
              </a:rPr>
              <a:t>DomiFA</a:t>
            </a:r>
            <a:endParaRPr b="0" lang="fr-FR" sz="145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50" spc="-1" strike="noStrike">
                <a:solidFill>
                  <a:srgbClr val="161616"/>
                </a:solidFill>
                <a:latin typeface="Marianne"/>
              </a:rPr>
              <a:t>SIRENA</a:t>
            </a:r>
            <a:endParaRPr b="0" lang="fr-FR" sz="1450" spc="-1" strike="noStrike">
              <a:solidFill>
                <a:srgbClr val="000000"/>
              </a:solidFill>
              <a:latin typeface="Arial"/>
            </a:endParaRPr>
          </a:p>
          <a:p>
            <a:pPr marL="201240" defTabSz="457200">
              <a:lnSpc>
                <a:spcPct val="110000"/>
              </a:lnSpc>
              <a:spcBef>
                <a:spcPts val="901"/>
              </a:spcBef>
              <a:tabLst>
                <a:tab algn="l" pos="0"/>
              </a:tabLst>
            </a:pPr>
            <a:r>
              <a:rPr b="0" i="1" lang="en-US" sz="1350" spc="-1" strike="noStrike">
                <a:solidFill>
                  <a:srgbClr val="3a3a3a"/>
                </a:solidFill>
                <a:latin typeface="Marianne"/>
              </a:rPr>
              <a:t>Avoir un point d’entrée dans ces équipes afin d’itérer avec elles lors d’une phase d’action.</a:t>
            </a:r>
            <a:endParaRPr b="0" lang="fr-FR" sz="1350" spc="-1" strike="noStrike">
              <a:solidFill>
                <a:srgbClr val="000000"/>
              </a:solidFill>
              <a:latin typeface="Arial"/>
            </a:endParaRPr>
          </a:p>
        </p:txBody>
      </p:sp>
      <p:sp>
        <p:nvSpPr>
          <p:cNvPr id="121" name="Rounded Rectangle 11"/>
          <p:cNvSpPr/>
          <p:nvPr/>
        </p:nvSpPr>
        <p:spPr>
          <a:xfrm>
            <a:off x="4460040" y="2148840"/>
            <a:ext cx="3270240" cy="3610800"/>
          </a:xfrm>
          <a:prstGeom prst="roundRect">
            <a:avLst>
              <a:gd name="adj" fmla="val 5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22" name="Picture 12" descr="briefcase.png"/>
          <p:cNvPicPr/>
          <p:nvPr/>
        </p:nvPicPr>
        <p:blipFill>
          <a:blip r:embed="rId2"/>
          <a:stretch/>
        </p:blipFill>
        <p:spPr>
          <a:xfrm>
            <a:off x="4771080" y="2387880"/>
            <a:ext cx="510840" cy="510840"/>
          </a:xfrm>
          <a:prstGeom prst="rect">
            <a:avLst/>
          </a:prstGeom>
          <a:ln w="0">
            <a:noFill/>
          </a:ln>
        </p:spPr>
      </p:pic>
      <p:sp>
        <p:nvSpPr>
          <p:cNvPr id="123" name="TextBox 13"/>
          <p:cNvSpPr/>
          <p:nvPr/>
        </p:nvSpPr>
        <p:spPr>
          <a:xfrm>
            <a:off x="4771080" y="3036960"/>
            <a:ext cx="2648520" cy="21358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901"/>
              </a:spcAft>
            </a:pPr>
            <a:r>
              <a:rPr b="1" lang="en-US" sz="1800" spc="-1" strike="noStrike">
                <a:solidFill>
                  <a:srgbClr val="000091"/>
                </a:solidFill>
                <a:latin typeface="Marianne"/>
              </a:rPr>
              <a:t>Les métiers</a:t>
            </a:r>
            <a:endParaRPr b="0" lang="fr-FR" sz="18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50" spc="-1" strike="noStrike">
                <a:solidFill>
                  <a:srgbClr val="161616"/>
                </a:solidFill>
                <a:latin typeface="Marianne"/>
              </a:rPr>
              <a:t>Architectes</a:t>
            </a:r>
            <a:endParaRPr b="0" lang="fr-FR" sz="145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50" spc="-1" strike="noStrike">
                <a:solidFill>
                  <a:srgbClr val="161616"/>
                </a:solidFill>
                <a:latin typeface="Marianne"/>
              </a:rPr>
              <a:t>Products</a:t>
            </a:r>
            <a:endParaRPr b="0" lang="fr-FR" sz="145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50" spc="-1" strike="noStrike">
                <a:solidFill>
                  <a:srgbClr val="161616"/>
                </a:solidFill>
                <a:latin typeface="Marianne"/>
              </a:rPr>
              <a:t>Designers</a:t>
            </a:r>
            <a:endParaRPr b="0" lang="fr-FR" sz="145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50" spc="-1" strike="noStrike">
                <a:solidFill>
                  <a:srgbClr val="161616"/>
                </a:solidFill>
                <a:latin typeface="Marianne"/>
              </a:rPr>
              <a:t>Développeurs</a:t>
            </a:r>
            <a:endParaRPr b="0" lang="fr-FR" sz="1450" spc="-1" strike="noStrike">
              <a:solidFill>
                <a:srgbClr val="000000"/>
              </a:solidFill>
              <a:latin typeface="Arial"/>
            </a:endParaRPr>
          </a:p>
          <a:p>
            <a:pPr marL="201240" defTabSz="457200">
              <a:lnSpc>
                <a:spcPct val="110000"/>
              </a:lnSpc>
              <a:spcBef>
                <a:spcPts val="901"/>
              </a:spcBef>
              <a:tabLst>
                <a:tab algn="l" pos="0"/>
              </a:tabLst>
            </a:pPr>
            <a:r>
              <a:rPr b="0" i="1" lang="en-US" sz="1350" spc="-1" strike="noStrike">
                <a:solidFill>
                  <a:srgbClr val="3a3a3a"/>
                </a:solidFill>
                <a:latin typeface="Marianne"/>
              </a:rPr>
              <a:t>Cerner les besoins propres à chaque rôle.</a:t>
            </a:r>
            <a:endParaRPr b="0" lang="fr-FR" sz="1350" spc="-1" strike="noStrike">
              <a:solidFill>
                <a:srgbClr val="000000"/>
              </a:solidFill>
              <a:latin typeface="Arial"/>
            </a:endParaRPr>
          </a:p>
        </p:txBody>
      </p:sp>
      <p:sp>
        <p:nvSpPr>
          <p:cNvPr id="124" name="Rounded Rectangle 14"/>
          <p:cNvSpPr/>
          <p:nvPr/>
        </p:nvSpPr>
        <p:spPr>
          <a:xfrm>
            <a:off x="8143200" y="2148840"/>
            <a:ext cx="3270240" cy="3610800"/>
          </a:xfrm>
          <a:prstGeom prst="roundRect">
            <a:avLst>
              <a:gd name="adj" fmla="val 5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25" name="Picture 15" descr="discuss.png"/>
          <p:cNvPicPr/>
          <p:nvPr/>
        </p:nvPicPr>
        <p:blipFill>
          <a:blip r:embed="rId3"/>
          <a:stretch/>
        </p:blipFill>
        <p:spPr>
          <a:xfrm>
            <a:off x="8453880" y="2387880"/>
            <a:ext cx="510840" cy="510840"/>
          </a:xfrm>
          <a:prstGeom prst="rect">
            <a:avLst/>
          </a:prstGeom>
          <a:ln w="0">
            <a:noFill/>
          </a:ln>
        </p:spPr>
      </p:pic>
      <p:sp>
        <p:nvSpPr>
          <p:cNvPr id="126" name="TextBox 16"/>
          <p:cNvSpPr/>
          <p:nvPr/>
        </p:nvSpPr>
        <p:spPr>
          <a:xfrm>
            <a:off x="8453880" y="3036960"/>
            <a:ext cx="2648520" cy="20091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901"/>
              </a:spcAft>
            </a:pPr>
            <a:r>
              <a:rPr b="1" lang="en-US" sz="1800" spc="-1" strike="noStrike">
                <a:solidFill>
                  <a:srgbClr val="000091"/>
                </a:solidFill>
                <a:latin typeface="Marianne"/>
              </a:rPr>
              <a:t>D’autres échanges clés</a:t>
            </a:r>
            <a:endParaRPr b="0" lang="fr-FR" sz="18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50" spc="-1" strike="noStrike">
                <a:solidFill>
                  <a:srgbClr val="161616"/>
                </a:solidFill>
                <a:latin typeface="Marianne"/>
              </a:rPr>
              <a:t>Dominique — RGAA / accessibilité</a:t>
            </a:r>
            <a:endParaRPr b="0" lang="fr-FR" sz="145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50" spc="-1" strike="noStrike">
                <a:solidFill>
                  <a:srgbClr val="161616"/>
                </a:solidFill>
                <a:latin typeface="Marianne"/>
              </a:rPr>
              <a:t>Victor Degliame — outillage interne</a:t>
            </a:r>
            <a:endParaRPr b="0" lang="fr-FR" sz="1450" spc="-1" strike="noStrike">
              <a:solidFill>
                <a:srgbClr val="000000"/>
              </a:solidFill>
              <a:latin typeface="Arial"/>
            </a:endParaRPr>
          </a:p>
          <a:p>
            <a:pPr marL="201240" defTabSz="457200">
              <a:lnSpc>
                <a:spcPct val="110000"/>
              </a:lnSpc>
              <a:spcBef>
                <a:spcPts val="901"/>
              </a:spcBef>
              <a:tabLst>
                <a:tab algn="l" pos="0"/>
              </a:tabLst>
            </a:pPr>
            <a:r>
              <a:rPr b="0" i="1" lang="en-US" sz="1350" spc="-1" strike="noStrike">
                <a:solidFill>
                  <a:srgbClr val="3a3a3a"/>
                </a:solidFill>
                <a:latin typeface="Marianne"/>
              </a:rPr>
              <a:t>Sécuriser conformité et stratégie d’outillage.</a:t>
            </a:r>
            <a:endParaRPr b="0" lang="fr-FR" sz="1350" spc="-1" strike="noStrike">
              <a:solidFill>
                <a:srgbClr val="000000"/>
              </a:solidFill>
              <a:latin typeface="Arial"/>
            </a:endParaRPr>
          </a:p>
        </p:txBody>
      </p:sp>
      <p:pic>
        <p:nvPicPr>
          <p:cNvPr id="127" name="Picture 7" descr="logo.png"/>
          <p:cNvPicPr/>
          <p:nvPr/>
        </p:nvPicPr>
        <p:blipFill>
          <a:blip r:embed="rId4"/>
          <a:srcRect l="0" t="0" r="0" b="14936"/>
          <a:stretch/>
        </p:blipFill>
        <p:spPr>
          <a:xfrm>
            <a:off x="777600" y="166680"/>
            <a:ext cx="1382040" cy="80460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Rectangle 1"/>
          <p:cNvSpPr/>
          <p:nvPr/>
        </p:nvSpPr>
        <p:spPr>
          <a:xfrm>
            <a:off x="0" y="0"/>
            <a:ext cx="12190680" cy="685692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9" name="TextBox 3"/>
          <p:cNvSpPr/>
          <p:nvPr/>
        </p:nvSpPr>
        <p:spPr>
          <a:xfrm>
            <a:off x="7574040" y="274320"/>
            <a:ext cx="3839400" cy="430920"/>
          </a:xfrm>
          <a:prstGeom prst="rect">
            <a:avLst/>
          </a:prstGeom>
          <a:noFill/>
          <a:ln w="0">
            <a:noFill/>
          </a:ln>
        </p:spPr>
        <p:style>
          <a:lnRef idx="0"/>
          <a:fillRef idx="0"/>
          <a:effectRef idx="0"/>
          <a:fontRef idx="minor"/>
        </p:style>
        <p:txBody>
          <a:bodyPr lIns="0" rIns="0" tIns="0" bIns="0" anchor="t">
            <a:spAutoFit/>
          </a:bodyPr>
          <a:p>
            <a:pPr algn="r" defTabSz="457200">
              <a:lnSpc>
                <a:spcPct val="105000"/>
              </a:lnSpc>
            </a:pPr>
            <a:r>
              <a:rPr b="1" lang="en-US" sz="1350" spc="-1" strike="noStrike">
                <a:solidFill>
                  <a:srgbClr val="161616"/>
                </a:solidFill>
                <a:latin typeface="Marianne"/>
              </a:rPr>
              <a:t>Secrétariat général</a:t>
            </a:r>
            <a:endParaRPr b="0" lang="fr-FR" sz="1350" spc="-1" strike="noStrike">
              <a:solidFill>
                <a:srgbClr val="000000"/>
              </a:solidFill>
              <a:latin typeface="Arial"/>
            </a:endParaRPr>
          </a:p>
          <a:p>
            <a:pPr algn="r" defTabSz="457200">
              <a:lnSpc>
                <a:spcPct val="105000"/>
              </a:lnSpc>
            </a:pPr>
            <a:r>
              <a:rPr b="0" lang="en-US" sz="1350" spc="-1" strike="noStrike">
                <a:solidFill>
                  <a:srgbClr val="3a3a3a"/>
                </a:solidFill>
                <a:latin typeface="Marianne"/>
              </a:rPr>
              <a:t>Direction du numérique</a:t>
            </a:r>
            <a:endParaRPr b="0" lang="fr-FR" sz="1350" spc="-1" strike="noStrike">
              <a:solidFill>
                <a:srgbClr val="000000"/>
              </a:solidFill>
              <a:latin typeface="Arial"/>
            </a:endParaRPr>
          </a:p>
        </p:txBody>
      </p:sp>
      <p:cxnSp>
        <p:nvCxnSpPr>
          <p:cNvPr id="130" name="Connector 4"/>
          <p:cNvCxnSpPr/>
          <p:nvPr/>
        </p:nvCxnSpPr>
        <p:spPr>
          <a:xfrm>
            <a:off x="0" y="1005840"/>
            <a:ext cx="12192480" cy="1080"/>
          </a:xfrm>
          <a:prstGeom prst="straightConnector1">
            <a:avLst/>
          </a:prstGeom>
          <a:ln w="9525">
            <a:solidFill>
              <a:srgbClr val="dddddd"/>
            </a:solidFill>
            <a:round/>
          </a:ln>
        </p:spPr>
      </p:cxnSp>
      <p:sp>
        <p:nvSpPr>
          <p:cNvPr id="131" name="TextBox 6"/>
          <p:cNvSpPr/>
          <p:nvPr/>
        </p:nvSpPr>
        <p:spPr>
          <a:xfrm>
            <a:off x="10683000" y="6437520"/>
            <a:ext cx="730440" cy="177120"/>
          </a:xfrm>
          <a:prstGeom prst="rect">
            <a:avLst/>
          </a:prstGeom>
          <a:noFill/>
          <a:ln w="0">
            <a:noFill/>
          </a:ln>
        </p:spPr>
        <p:style>
          <a:lnRef idx="0"/>
          <a:fillRef idx="0"/>
          <a:effectRef idx="0"/>
          <a:fontRef idx="minor"/>
        </p:style>
        <p:txBody>
          <a:bodyPr lIns="0" rIns="0" tIns="0" bIns="0" anchor="t">
            <a:spAutoFit/>
          </a:bodyPr>
          <a:p>
            <a:pPr algn="r" defTabSz="457200">
              <a:lnSpc>
                <a:spcPct val="106000"/>
              </a:lnSpc>
            </a:pPr>
            <a:r>
              <a:rPr b="0" lang="en-US" sz="1100" spc="-1" strike="noStrike">
                <a:solidFill>
                  <a:srgbClr val="6a6a6a"/>
                </a:solidFill>
                <a:latin typeface="Marianne"/>
              </a:rPr>
              <a:t>7</a:t>
            </a:r>
            <a:endParaRPr b="0" lang="fr-FR" sz="1100" spc="-1" strike="noStrike">
              <a:solidFill>
                <a:srgbClr val="000000"/>
              </a:solidFill>
              <a:latin typeface="Arial"/>
            </a:endParaRPr>
          </a:p>
        </p:txBody>
      </p:sp>
      <p:sp>
        <p:nvSpPr>
          <p:cNvPr id="132" name="TextBox 7"/>
          <p:cNvSpPr/>
          <p:nvPr/>
        </p:nvSpPr>
        <p:spPr>
          <a:xfrm>
            <a:off x="777240" y="1325880"/>
            <a:ext cx="10636200" cy="48168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3100" spc="-1" strike="noStrike">
                <a:solidFill>
                  <a:srgbClr val="161616"/>
                </a:solidFill>
                <a:latin typeface="Marianne"/>
              </a:rPr>
              <a:t>Egapro : un usage de l’IA déjà avancé</a:t>
            </a:r>
            <a:endParaRPr b="0" lang="fr-FR" sz="3100" spc="-1" strike="noStrike">
              <a:solidFill>
                <a:srgbClr val="000000"/>
              </a:solidFill>
              <a:latin typeface="Arial"/>
            </a:endParaRPr>
          </a:p>
        </p:txBody>
      </p:sp>
      <p:sp>
        <p:nvSpPr>
          <p:cNvPr id="133" name="TextBox 8"/>
          <p:cNvSpPr/>
          <p:nvPr/>
        </p:nvSpPr>
        <p:spPr>
          <a:xfrm>
            <a:off x="777240" y="2011680"/>
            <a:ext cx="10636200" cy="275760"/>
          </a:xfrm>
          <a:prstGeom prst="rect">
            <a:avLst/>
          </a:prstGeom>
          <a:noFill/>
          <a:ln w="0">
            <a:noFill/>
          </a:ln>
        </p:spPr>
        <p:style>
          <a:lnRef idx="0"/>
          <a:fillRef idx="0"/>
          <a:effectRef idx="0"/>
          <a:fontRef idx="minor"/>
        </p:style>
        <p:txBody>
          <a:bodyPr lIns="0" rIns="0" tIns="0" bIns="0" anchor="t">
            <a:spAutoFit/>
          </a:bodyPr>
          <a:p>
            <a:pPr defTabSz="457200">
              <a:lnSpc>
                <a:spcPct val="110000"/>
              </a:lnSpc>
            </a:pPr>
            <a:r>
              <a:rPr b="0" lang="en-US" sz="1650" spc="-1" strike="noStrike">
                <a:solidFill>
                  <a:srgbClr val="3a3a3a"/>
                </a:solidFill>
                <a:latin typeface="Marianne"/>
              </a:rPr>
              <a:t>Une équipe qui exploite déjà Claude — j’ai exploré cet usage en développant dessus.</a:t>
            </a:r>
            <a:endParaRPr b="0" lang="fr-FR" sz="1650" spc="-1" strike="noStrike">
              <a:solidFill>
                <a:srgbClr val="000000"/>
              </a:solidFill>
              <a:latin typeface="Arial"/>
            </a:endParaRPr>
          </a:p>
        </p:txBody>
      </p:sp>
      <p:sp>
        <p:nvSpPr>
          <p:cNvPr id="134" name="Rounded Rectangle 9"/>
          <p:cNvSpPr/>
          <p:nvPr/>
        </p:nvSpPr>
        <p:spPr>
          <a:xfrm>
            <a:off x="777240" y="2788920"/>
            <a:ext cx="5088960" cy="2970720"/>
          </a:xfrm>
          <a:prstGeom prst="roundRect">
            <a:avLst>
              <a:gd name="adj" fmla="val 5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35" name="Picture 10" descr="terminal-box.png"/>
          <p:cNvPicPr/>
          <p:nvPr/>
        </p:nvPicPr>
        <p:blipFill>
          <a:blip r:embed="rId1"/>
          <a:stretch/>
        </p:blipFill>
        <p:spPr>
          <a:xfrm>
            <a:off x="1106280" y="3099960"/>
            <a:ext cx="510840" cy="510840"/>
          </a:xfrm>
          <a:prstGeom prst="rect">
            <a:avLst/>
          </a:prstGeom>
          <a:ln w="0">
            <a:noFill/>
          </a:ln>
        </p:spPr>
      </p:pic>
      <p:sp>
        <p:nvSpPr>
          <p:cNvPr id="136" name="TextBox 11"/>
          <p:cNvSpPr/>
          <p:nvPr/>
        </p:nvSpPr>
        <p:spPr>
          <a:xfrm>
            <a:off x="1106280" y="3749040"/>
            <a:ext cx="4430520" cy="2222280"/>
          </a:xfrm>
          <a:prstGeom prst="rect">
            <a:avLst/>
          </a:prstGeom>
          <a:noFill/>
          <a:ln w="0">
            <a:noFill/>
          </a:ln>
        </p:spPr>
        <p:style>
          <a:lnRef idx="0"/>
          <a:fillRef idx="0"/>
          <a:effectRef idx="0"/>
          <a:fontRef idx="minor"/>
        </p:style>
        <p:txBody>
          <a:bodyPr lIns="0" rIns="0" tIns="0" bIns="0" anchor="t">
            <a:spAutoFit/>
          </a:bodyPr>
          <a:p>
            <a:pPr defTabSz="457200">
              <a:lnSpc>
                <a:spcPct val="106000"/>
              </a:lnSpc>
              <a:spcAft>
                <a:spcPts val="1001"/>
              </a:spcAft>
            </a:pPr>
            <a:r>
              <a:rPr b="1" lang="en-US" sz="1800" spc="-1" strike="noStrike">
                <a:solidFill>
                  <a:srgbClr val="000091"/>
                </a:solidFill>
                <a:latin typeface="Marianne"/>
              </a:rPr>
              <a:t>Ce que j’ai observé</a:t>
            </a:r>
            <a:endParaRPr b="0" lang="fr-FR" sz="18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500" spc="-1" strike="noStrike">
                <a:solidFill>
                  <a:srgbClr val="161616"/>
                </a:solidFill>
                <a:latin typeface="Marianne"/>
              </a:rPr>
              <a:t>Une orchestration ambitieuse, impactant positivement la qualité des tickets et la vélocité des développeurs.</a:t>
            </a:r>
            <a:endParaRPr b="0" lang="fr-FR" sz="15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500" spc="-1" strike="noStrike">
                <a:solidFill>
                  <a:srgbClr val="161616"/>
                </a:solidFill>
                <a:latin typeface="Marianne"/>
              </a:rPr>
              <a:t>Des difficultés à piloter un projet avec un usage aussi mature de l’IA par les développeurs.</a:t>
            </a:r>
            <a:endParaRPr b="0" lang="fr-FR" sz="1500" spc="-1" strike="noStrike">
              <a:solidFill>
                <a:srgbClr val="000000"/>
              </a:solidFill>
              <a:latin typeface="Arial"/>
            </a:endParaRPr>
          </a:p>
          <a:p>
            <a:pPr marL="201240" indent="-201240" defTabSz="457200">
              <a:lnSpc>
                <a:spcPct val="105000"/>
              </a:lnSpc>
              <a:spcAft>
                <a:spcPts val="499"/>
              </a:spcAft>
              <a:tabLst>
                <a:tab algn="l" pos="0"/>
              </a:tabLst>
            </a:pPr>
            <a:endParaRPr b="0" lang="fr-FR" sz="1500" spc="-1" strike="noStrike">
              <a:solidFill>
                <a:srgbClr val="000000"/>
              </a:solidFill>
              <a:latin typeface="Arial"/>
            </a:endParaRPr>
          </a:p>
        </p:txBody>
      </p:sp>
      <p:sp>
        <p:nvSpPr>
          <p:cNvPr id="137" name="Rounded Rectangle 12"/>
          <p:cNvSpPr/>
          <p:nvPr/>
        </p:nvSpPr>
        <p:spPr>
          <a:xfrm>
            <a:off x="6324480" y="2788920"/>
            <a:ext cx="5088960" cy="2970720"/>
          </a:xfrm>
          <a:prstGeom prst="roundRect">
            <a:avLst>
              <a:gd name="adj" fmla="val 5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38" name="Picture 13" descr="settings-3.png"/>
          <p:cNvPicPr/>
          <p:nvPr/>
        </p:nvPicPr>
        <p:blipFill>
          <a:blip r:embed="rId2"/>
          <a:stretch/>
        </p:blipFill>
        <p:spPr>
          <a:xfrm>
            <a:off x="6653520" y="3099960"/>
            <a:ext cx="510840" cy="510840"/>
          </a:xfrm>
          <a:prstGeom prst="rect">
            <a:avLst/>
          </a:prstGeom>
          <a:ln w="0">
            <a:noFill/>
          </a:ln>
        </p:spPr>
      </p:pic>
      <p:sp>
        <p:nvSpPr>
          <p:cNvPr id="139" name="TextBox 14"/>
          <p:cNvSpPr/>
          <p:nvPr/>
        </p:nvSpPr>
        <p:spPr>
          <a:xfrm>
            <a:off x="6653520" y="3749040"/>
            <a:ext cx="4430520" cy="1439640"/>
          </a:xfrm>
          <a:prstGeom prst="rect">
            <a:avLst/>
          </a:prstGeom>
          <a:noFill/>
          <a:ln w="0">
            <a:noFill/>
          </a:ln>
        </p:spPr>
        <p:style>
          <a:lnRef idx="0"/>
          <a:fillRef idx="0"/>
          <a:effectRef idx="0"/>
          <a:fontRef idx="minor"/>
        </p:style>
        <p:txBody>
          <a:bodyPr lIns="0" rIns="0" tIns="0" bIns="0" anchor="t">
            <a:spAutoFit/>
          </a:bodyPr>
          <a:p>
            <a:pPr defTabSz="457200">
              <a:lnSpc>
                <a:spcPct val="106000"/>
              </a:lnSpc>
              <a:spcAft>
                <a:spcPts val="1001"/>
              </a:spcAft>
            </a:pPr>
            <a:r>
              <a:rPr b="1" lang="en-US" sz="1800" spc="-1" strike="noStrike">
                <a:solidFill>
                  <a:srgbClr val="000091"/>
                </a:solidFill>
                <a:latin typeface="Marianne"/>
              </a:rPr>
              <a:t>Ce que j’ai proposé</a:t>
            </a:r>
            <a:endParaRPr b="0" lang="fr-FR" sz="18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500" spc="-1" strike="noStrike">
                <a:solidFill>
                  <a:srgbClr val="161616"/>
                </a:solidFill>
                <a:latin typeface="Marianne"/>
              </a:rPr>
              <a:t>Des optimisations sur la façon dont l’IA est mobilisée.</a:t>
            </a:r>
            <a:endParaRPr b="0" lang="fr-FR" sz="15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500" spc="-1" strike="noStrike">
                <a:solidFill>
                  <a:srgbClr val="161616"/>
                </a:solidFill>
                <a:latin typeface="Marianne"/>
              </a:rPr>
              <a:t>Intégrer des estimations par taille de « T-shirt » — aujourd’hui en expérimentation.</a:t>
            </a:r>
            <a:endParaRPr b="0" lang="fr-FR" sz="1500" spc="-1" strike="noStrike">
              <a:solidFill>
                <a:srgbClr val="000000"/>
              </a:solidFill>
              <a:latin typeface="Arial"/>
            </a:endParaRPr>
          </a:p>
        </p:txBody>
      </p:sp>
      <p:pic>
        <p:nvPicPr>
          <p:cNvPr id="140" name="Picture 8" descr="logo.png"/>
          <p:cNvPicPr/>
          <p:nvPr/>
        </p:nvPicPr>
        <p:blipFill>
          <a:blip r:embed="rId3"/>
          <a:srcRect l="0" t="0" r="0" b="14936"/>
          <a:stretch/>
        </p:blipFill>
        <p:spPr>
          <a:xfrm>
            <a:off x="777600" y="166680"/>
            <a:ext cx="1382040" cy="80460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Rectangle 1"/>
          <p:cNvSpPr/>
          <p:nvPr/>
        </p:nvSpPr>
        <p:spPr>
          <a:xfrm>
            <a:off x="0" y="0"/>
            <a:ext cx="12190680" cy="685692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2" name="TextBox 3"/>
          <p:cNvSpPr/>
          <p:nvPr/>
        </p:nvSpPr>
        <p:spPr>
          <a:xfrm>
            <a:off x="7574040" y="274320"/>
            <a:ext cx="3839400" cy="430920"/>
          </a:xfrm>
          <a:prstGeom prst="rect">
            <a:avLst/>
          </a:prstGeom>
          <a:noFill/>
          <a:ln w="0">
            <a:noFill/>
          </a:ln>
        </p:spPr>
        <p:style>
          <a:lnRef idx="0"/>
          <a:fillRef idx="0"/>
          <a:effectRef idx="0"/>
          <a:fontRef idx="minor"/>
        </p:style>
        <p:txBody>
          <a:bodyPr lIns="0" rIns="0" tIns="0" bIns="0" anchor="t">
            <a:spAutoFit/>
          </a:bodyPr>
          <a:p>
            <a:pPr algn="r" defTabSz="457200">
              <a:lnSpc>
                <a:spcPct val="105000"/>
              </a:lnSpc>
            </a:pPr>
            <a:r>
              <a:rPr b="1" lang="en-US" sz="1350" spc="-1" strike="noStrike">
                <a:solidFill>
                  <a:srgbClr val="161616"/>
                </a:solidFill>
                <a:latin typeface="Marianne"/>
              </a:rPr>
              <a:t>Secrétariat général</a:t>
            </a:r>
            <a:endParaRPr b="0" lang="fr-FR" sz="1350" spc="-1" strike="noStrike">
              <a:solidFill>
                <a:srgbClr val="000000"/>
              </a:solidFill>
              <a:latin typeface="Arial"/>
            </a:endParaRPr>
          </a:p>
          <a:p>
            <a:pPr algn="r" defTabSz="457200">
              <a:lnSpc>
                <a:spcPct val="105000"/>
              </a:lnSpc>
            </a:pPr>
            <a:r>
              <a:rPr b="0" lang="en-US" sz="1350" spc="-1" strike="noStrike">
                <a:solidFill>
                  <a:srgbClr val="3a3a3a"/>
                </a:solidFill>
                <a:latin typeface="Marianne"/>
              </a:rPr>
              <a:t>Direction du numérique</a:t>
            </a:r>
            <a:endParaRPr b="0" lang="fr-FR" sz="1350" spc="-1" strike="noStrike">
              <a:solidFill>
                <a:srgbClr val="000000"/>
              </a:solidFill>
              <a:latin typeface="Arial"/>
            </a:endParaRPr>
          </a:p>
        </p:txBody>
      </p:sp>
      <p:cxnSp>
        <p:nvCxnSpPr>
          <p:cNvPr id="143" name="Connector 4"/>
          <p:cNvCxnSpPr/>
          <p:nvPr/>
        </p:nvCxnSpPr>
        <p:spPr>
          <a:xfrm>
            <a:off x="0" y="1005840"/>
            <a:ext cx="12192480" cy="1080"/>
          </a:xfrm>
          <a:prstGeom prst="straightConnector1">
            <a:avLst/>
          </a:prstGeom>
          <a:ln w="9525">
            <a:solidFill>
              <a:srgbClr val="dddddd"/>
            </a:solidFill>
            <a:round/>
          </a:ln>
        </p:spPr>
      </p:cxnSp>
      <p:sp>
        <p:nvSpPr>
          <p:cNvPr id="144" name="TextBox 6"/>
          <p:cNvSpPr/>
          <p:nvPr/>
        </p:nvSpPr>
        <p:spPr>
          <a:xfrm>
            <a:off x="777240" y="3056040"/>
            <a:ext cx="10636200" cy="1202040"/>
          </a:xfrm>
          <a:prstGeom prst="rect">
            <a:avLst/>
          </a:prstGeom>
          <a:noFill/>
          <a:ln w="0">
            <a:noFill/>
          </a:ln>
        </p:spPr>
        <p:style>
          <a:lnRef idx="0"/>
          <a:fillRef idx="0"/>
          <a:effectRef idx="0"/>
          <a:fontRef idx="minor"/>
        </p:style>
        <p:txBody>
          <a:bodyPr lIns="0" rIns="0" tIns="0" bIns="0" anchor="ctr">
            <a:spAutoFit/>
          </a:bodyPr>
          <a:p>
            <a:pPr algn="ctr" defTabSz="457200">
              <a:lnSpc>
                <a:spcPct val="106000"/>
              </a:lnSpc>
              <a:spcAft>
                <a:spcPts val="1400"/>
              </a:spcAft>
            </a:pPr>
            <a:r>
              <a:rPr b="1" lang="en-US" sz="2000" spc="-1" strike="noStrike">
                <a:solidFill>
                  <a:srgbClr val="6a6af4"/>
                </a:solidFill>
                <a:latin typeface="Marianne"/>
              </a:rPr>
              <a:t>03</a:t>
            </a:r>
            <a:endParaRPr b="0" lang="fr-FR" sz="2000" spc="-1" strike="noStrike">
              <a:solidFill>
                <a:srgbClr val="000000"/>
              </a:solidFill>
              <a:latin typeface="Arial"/>
            </a:endParaRPr>
          </a:p>
          <a:p>
            <a:pPr algn="ctr" defTabSz="457200">
              <a:lnSpc>
                <a:spcPct val="100000"/>
              </a:lnSpc>
            </a:pPr>
            <a:r>
              <a:rPr b="1" lang="en-US" sz="4600" spc="-1" strike="noStrike">
                <a:solidFill>
                  <a:srgbClr val="161616"/>
                </a:solidFill>
                <a:latin typeface="Marianne"/>
              </a:rPr>
              <a:t>Le plan d’action</a:t>
            </a:r>
            <a:endParaRPr b="0" lang="fr-FR" sz="4600" spc="-1" strike="noStrike">
              <a:solidFill>
                <a:srgbClr val="000000"/>
              </a:solidFill>
              <a:latin typeface="Arial"/>
            </a:endParaRPr>
          </a:p>
        </p:txBody>
      </p:sp>
      <p:pic>
        <p:nvPicPr>
          <p:cNvPr id="145" name="Picture 11" descr="logo.png"/>
          <p:cNvPicPr/>
          <p:nvPr/>
        </p:nvPicPr>
        <p:blipFill>
          <a:blip r:embed="rId1"/>
          <a:srcRect l="0" t="0" r="0" b="14936"/>
          <a:stretch/>
        </p:blipFill>
        <p:spPr>
          <a:xfrm>
            <a:off x="777600" y="166680"/>
            <a:ext cx="1382040" cy="80460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Rectangle 1"/>
          <p:cNvSpPr/>
          <p:nvPr/>
        </p:nvSpPr>
        <p:spPr>
          <a:xfrm>
            <a:off x="0" y="0"/>
            <a:ext cx="12190680" cy="685692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7" name="TextBox 3"/>
          <p:cNvSpPr/>
          <p:nvPr/>
        </p:nvSpPr>
        <p:spPr>
          <a:xfrm>
            <a:off x="7574040" y="274320"/>
            <a:ext cx="3839400" cy="430920"/>
          </a:xfrm>
          <a:prstGeom prst="rect">
            <a:avLst/>
          </a:prstGeom>
          <a:noFill/>
          <a:ln w="0">
            <a:noFill/>
          </a:ln>
        </p:spPr>
        <p:style>
          <a:lnRef idx="0"/>
          <a:fillRef idx="0"/>
          <a:effectRef idx="0"/>
          <a:fontRef idx="minor"/>
        </p:style>
        <p:txBody>
          <a:bodyPr lIns="0" rIns="0" tIns="0" bIns="0" anchor="t">
            <a:spAutoFit/>
          </a:bodyPr>
          <a:p>
            <a:pPr algn="r" defTabSz="457200">
              <a:lnSpc>
                <a:spcPct val="105000"/>
              </a:lnSpc>
            </a:pPr>
            <a:r>
              <a:rPr b="1" lang="en-US" sz="1350" spc="-1" strike="noStrike">
                <a:solidFill>
                  <a:srgbClr val="161616"/>
                </a:solidFill>
                <a:latin typeface="Marianne"/>
              </a:rPr>
              <a:t>Secrétariat général</a:t>
            </a:r>
            <a:endParaRPr b="0" lang="fr-FR" sz="1350" spc="-1" strike="noStrike">
              <a:solidFill>
                <a:srgbClr val="000000"/>
              </a:solidFill>
              <a:latin typeface="Arial"/>
            </a:endParaRPr>
          </a:p>
          <a:p>
            <a:pPr algn="r" defTabSz="457200">
              <a:lnSpc>
                <a:spcPct val="105000"/>
              </a:lnSpc>
            </a:pPr>
            <a:r>
              <a:rPr b="0" lang="en-US" sz="1350" spc="-1" strike="noStrike">
                <a:solidFill>
                  <a:srgbClr val="3a3a3a"/>
                </a:solidFill>
                <a:latin typeface="Marianne"/>
              </a:rPr>
              <a:t>Direction du numérique</a:t>
            </a:r>
            <a:endParaRPr b="0" lang="fr-FR" sz="1350" spc="-1" strike="noStrike">
              <a:solidFill>
                <a:srgbClr val="000000"/>
              </a:solidFill>
              <a:latin typeface="Arial"/>
            </a:endParaRPr>
          </a:p>
        </p:txBody>
      </p:sp>
      <p:cxnSp>
        <p:nvCxnSpPr>
          <p:cNvPr id="148" name="Connector 4"/>
          <p:cNvCxnSpPr/>
          <p:nvPr/>
        </p:nvCxnSpPr>
        <p:spPr>
          <a:xfrm>
            <a:off x="0" y="1005840"/>
            <a:ext cx="12192480" cy="1080"/>
          </a:xfrm>
          <a:prstGeom prst="straightConnector1">
            <a:avLst/>
          </a:prstGeom>
          <a:ln w="9525">
            <a:solidFill>
              <a:srgbClr val="dddddd"/>
            </a:solidFill>
            <a:round/>
          </a:ln>
        </p:spPr>
      </p:cxnSp>
      <p:sp>
        <p:nvSpPr>
          <p:cNvPr id="149" name="TextBox 6"/>
          <p:cNvSpPr/>
          <p:nvPr/>
        </p:nvSpPr>
        <p:spPr>
          <a:xfrm>
            <a:off x="10683000" y="6437520"/>
            <a:ext cx="730440" cy="177120"/>
          </a:xfrm>
          <a:prstGeom prst="rect">
            <a:avLst/>
          </a:prstGeom>
          <a:noFill/>
          <a:ln w="0">
            <a:noFill/>
          </a:ln>
        </p:spPr>
        <p:style>
          <a:lnRef idx="0"/>
          <a:fillRef idx="0"/>
          <a:effectRef idx="0"/>
          <a:fontRef idx="minor"/>
        </p:style>
        <p:txBody>
          <a:bodyPr lIns="0" rIns="0" tIns="0" bIns="0" anchor="t">
            <a:spAutoFit/>
          </a:bodyPr>
          <a:p>
            <a:pPr algn="r" defTabSz="457200">
              <a:lnSpc>
                <a:spcPct val="106000"/>
              </a:lnSpc>
            </a:pPr>
            <a:r>
              <a:rPr b="0" lang="en-US" sz="1100" spc="-1" strike="noStrike">
                <a:solidFill>
                  <a:srgbClr val="6a6a6a"/>
                </a:solidFill>
                <a:latin typeface="Marianne"/>
              </a:rPr>
              <a:t>9</a:t>
            </a:r>
            <a:endParaRPr b="0" lang="fr-FR" sz="1100" spc="-1" strike="noStrike">
              <a:solidFill>
                <a:srgbClr val="000000"/>
              </a:solidFill>
              <a:latin typeface="Arial"/>
            </a:endParaRPr>
          </a:p>
        </p:txBody>
      </p:sp>
      <p:sp>
        <p:nvSpPr>
          <p:cNvPr id="150" name="TextBox 7"/>
          <p:cNvSpPr/>
          <p:nvPr/>
        </p:nvSpPr>
        <p:spPr>
          <a:xfrm>
            <a:off x="777240" y="1325880"/>
            <a:ext cx="10636200" cy="51228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3300" spc="-1" strike="noStrike">
                <a:solidFill>
                  <a:srgbClr val="161616"/>
                </a:solidFill>
                <a:latin typeface="Marianne"/>
              </a:rPr>
              <a:t>Trois horizons</a:t>
            </a:r>
            <a:endParaRPr b="0" lang="fr-FR" sz="3300" spc="-1" strike="noStrike">
              <a:solidFill>
                <a:srgbClr val="000000"/>
              </a:solidFill>
              <a:latin typeface="Arial"/>
            </a:endParaRPr>
          </a:p>
        </p:txBody>
      </p:sp>
      <p:sp>
        <p:nvSpPr>
          <p:cNvPr id="151" name="TextBox 8"/>
          <p:cNvSpPr/>
          <p:nvPr/>
        </p:nvSpPr>
        <p:spPr>
          <a:xfrm>
            <a:off x="777240" y="1974960"/>
            <a:ext cx="10636200" cy="25776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600" spc="-1" strike="noStrike">
                <a:solidFill>
                  <a:srgbClr val="3a3a3a"/>
                </a:solidFill>
                <a:latin typeface="Marianne"/>
              </a:rPr>
              <a:t>Une trajectoire progressive, du quick win à la cible souveraine.</a:t>
            </a:r>
            <a:endParaRPr b="0" lang="fr-FR" sz="1600" spc="-1" strike="noStrike">
              <a:solidFill>
                <a:srgbClr val="000000"/>
              </a:solidFill>
              <a:latin typeface="Arial"/>
            </a:endParaRPr>
          </a:p>
        </p:txBody>
      </p:sp>
      <p:cxnSp>
        <p:nvCxnSpPr>
          <p:cNvPr id="152" name="Connector 9"/>
          <p:cNvCxnSpPr/>
          <p:nvPr/>
        </p:nvCxnSpPr>
        <p:spPr>
          <a:xfrm>
            <a:off x="2360880" y="3035520"/>
            <a:ext cx="7973640" cy="1080"/>
          </a:xfrm>
          <a:prstGeom prst="straightConnector1">
            <a:avLst/>
          </a:prstGeom>
          <a:ln w="22225">
            <a:solidFill>
              <a:srgbClr val="6a6af4"/>
            </a:solidFill>
            <a:round/>
            <a:tailEnd len="med" type="triangle" w="med"/>
          </a:ln>
        </p:spPr>
      </p:cxnSp>
      <p:sp>
        <p:nvSpPr>
          <p:cNvPr id="153" name="TextBox 10"/>
          <p:cNvSpPr/>
          <p:nvPr/>
        </p:nvSpPr>
        <p:spPr>
          <a:xfrm>
            <a:off x="777240" y="2591640"/>
            <a:ext cx="3166560" cy="210240"/>
          </a:xfrm>
          <a:prstGeom prst="rect">
            <a:avLst/>
          </a:prstGeom>
          <a:noFill/>
          <a:ln w="0">
            <a:noFill/>
          </a:ln>
        </p:spPr>
        <p:style>
          <a:lnRef idx="0"/>
          <a:fillRef idx="0"/>
          <a:effectRef idx="0"/>
          <a:fontRef idx="minor"/>
        </p:style>
        <p:txBody>
          <a:bodyPr lIns="0" rIns="0" tIns="0" bIns="0" anchor="ctr">
            <a:spAutoFit/>
          </a:bodyPr>
          <a:p>
            <a:pPr algn="ctr" defTabSz="457200">
              <a:lnSpc>
                <a:spcPct val="106000"/>
              </a:lnSpc>
            </a:pPr>
            <a:r>
              <a:rPr b="1" lang="en-US" sz="1300" spc="-1" strike="noStrike">
                <a:solidFill>
                  <a:srgbClr val="6a6af4"/>
                </a:solidFill>
                <a:latin typeface="Marianne"/>
              </a:rPr>
              <a:t>COURT TERME</a:t>
            </a:r>
            <a:endParaRPr b="0" lang="fr-FR" sz="1300" spc="-1" strike="noStrike">
              <a:solidFill>
                <a:srgbClr val="000000"/>
              </a:solidFill>
              <a:latin typeface="Arial"/>
            </a:endParaRPr>
          </a:p>
        </p:txBody>
      </p:sp>
      <p:sp>
        <p:nvSpPr>
          <p:cNvPr id="154" name="Rounded Rectangle 11"/>
          <p:cNvSpPr/>
          <p:nvPr/>
        </p:nvSpPr>
        <p:spPr>
          <a:xfrm>
            <a:off x="2123280" y="2797920"/>
            <a:ext cx="474480" cy="474480"/>
          </a:xfrm>
          <a:prstGeom prst="roundRect">
            <a:avLst>
              <a:gd name="adj" fmla="val 50000"/>
            </a:avLst>
          </a:prstGeom>
          <a:solidFill>
            <a:srgbClr val="6a6af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55" name="Picture 12" descr="rocket_w.png"/>
          <p:cNvPicPr/>
          <p:nvPr/>
        </p:nvPicPr>
        <p:blipFill>
          <a:blip r:embed="rId1"/>
          <a:stretch/>
        </p:blipFill>
        <p:spPr>
          <a:xfrm>
            <a:off x="2232720" y="2907360"/>
            <a:ext cx="255600" cy="255600"/>
          </a:xfrm>
          <a:prstGeom prst="rect">
            <a:avLst/>
          </a:prstGeom>
          <a:ln w="0">
            <a:noFill/>
          </a:ln>
        </p:spPr>
      </p:pic>
      <p:sp>
        <p:nvSpPr>
          <p:cNvPr id="156" name="TextBox 13"/>
          <p:cNvSpPr/>
          <p:nvPr/>
        </p:nvSpPr>
        <p:spPr>
          <a:xfrm>
            <a:off x="4511880" y="2591640"/>
            <a:ext cx="3166560" cy="210240"/>
          </a:xfrm>
          <a:prstGeom prst="rect">
            <a:avLst/>
          </a:prstGeom>
          <a:noFill/>
          <a:ln w="0">
            <a:noFill/>
          </a:ln>
        </p:spPr>
        <p:style>
          <a:lnRef idx="0"/>
          <a:fillRef idx="0"/>
          <a:effectRef idx="0"/>
          <a:fontRef idx="minor"/>
        </p:style>
        <p:txBody>
          <a:bodyPr lIns="0" rIns="0" tIns="0" bIns="0" anchor="ctr">
            <a:spAutoFit/>
          </a:bodyPr>
          <a:p>
            <a:pPr algn="ctr" defTabSz="457200">
              <a:lnSpc>
                <a:spcPct val="106000"/>
              </a:lnSpc>
            </a:pPr>
            <a:r>
              <a:rPr b="1" lang="en-US" sz="1300" spc="-1" strike="noStrike">
                <a:solidFill>
                  <a:srgbClr val="6a6af4"/>
                </a:solidFill>
                <a:latin typeface="Marianne"/>
              </a:rPr>
              <a:t>MOYEN TERME</a:t>
            </a:r>
            <a:endParaRPr b="0" lang="fr-FR" sz="1300" spc="-1" strike="noStrike">
              <a:solidFill>
                <a:srgbClr val="000000"/>
              </a:solidFill>
              <a:latin typeface="Arial"/>
            </a:endParaRPr>
          </a:p>
        </p:txBody>
      </p:sp>
      <p:sp>
        <p:nvSpPr>
          <p:cNvPr id="157" name="Rounded Rectangle 14"/>
          <p:cNvSpPr/>
          <p:nvPr/>
        </p:nvSpPr>
        <p:spPr>
          <a:xfrm>
            <a:off x="5858280" y="2797920"/>
            <a:ext cx="474480" cy="474480"/>
          </a:xfrm>
          <a:prstGeom prst="roundRect">
            <a:avLst>
              <a:gd name="adj" fmla="val 50000"/>
            </a:avLst>
          </a:prstGeom>
          <a:solidFill>
            <a:srgbClr val="6a6af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58" name="Picture 15" descr="settings-3_w.png"/>
          <p:cNvPicPr/>
          <p:nvPr/>
        </p:nvPicPr>
        <p:blipFill>
          <a:blip r:embed="rId2"/>
          <a:stretch/>
        </p:blipFill>
        <p:spPr>
          <a:xfrm>
            <a:off x="5967360" y="2907360"/>
            <a:ext cx="255600" cy="255600"/>
          </a:xfrm>
          <a:prstGeom prst="rect">
            <a:avLst/>
          </a:prstGeom>
          <a:ln w="0">
            <a:noFill/>
          </a:ln>
        </p:spPr>
      </p:pic>
      <p:sp>
        <p:nvSpPr>
          <p:cNvPr id="159" name="TextBox 16"/>
          <p:cNvSpPr/>
          <p:nvPr/>
        </p:nvSpPr>
        <p:spPr>
          <a:xfrm>
            <a:off x="8246520" y="2591640"/>
            <a:ext cx="3166560" cy="210240"/>
          </a:xfrm>
          <a:prstGeom prst="rect">
            <a:avLst/>
          </a:prstGeom>
          <a:noFill/>
          <a:ln w="0">
            <a:noFill/>
          </a:ln>
        </p:spPr>
        <p:style>
          <a:lnRef idx="0"/>
          <a:fillRef idx="0"/>
          <a:effectRef idx="0"/>
          <a:fontRef idx="minor"/>
        </p:style>
        <p:txBody>
          <a:bodyPr lIns="0" rIns="0" tIns="0" bIns="0" anchor="ctr">
            <a:spAutoFit/>
          </a:bodyPr>
          <a:p>
            <a:pPr algn="ctr" defTabSz="457200">
              <a:lnSpc>
                <a:spcPct val="106000"/>
              </a:lnSpc>
            </a:pPr>
            <a:r>
              <a:rPr b="1" lang="en-US" sz="1300" spc="-1" strike="noStrike">
                <a:solidFill>
                  <a:srgbClr val="6a6af4"/>
                </a:solidFill>
                <a:latin typeface="Marianne"/>
              </a:rPr>
              <a:t>LONG TERME</a:t>
            </a:r>
            <a:endParaRPr b="0" lang="fr-FR" sz="1300" spc="-1" strike="noStrike">
              <a:solidFill>
                <a:srgbClr val="000000"/>
              </a:solidFill>
              <a:latin typeface="Arial"/>
            </a:endParaRPr>
          </a:p>
        </p:txBody>
      </p:sp>
      <p:sp>
        <p:nvSpPr>
          <p:cNvPr id="160" name="Rounded Rectangle 17"/>
          <p:cNvSpPr/>
          <p:nvPr/>
        </p:nvSpPr>
        <p:spPr>
          <a:xfrm>
            <a:off x="9592920" y="2797920"/>
            <a:ext cx="474480" cy="474480"/>
          </a:xfrm>
          <a:prstGeom prst="roundRect">
            <a:avLst>
              <a:gd name="adj" fmla="val 50000"/>
            </a:avLst>
          </a:prstGeom>
          <a:solidFill>
            <a:srgbClr val="6a6af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61" name="Picture 18" descr="government_w.png"/>
          <p:cNvPicPr/>
          <p:nvPr/>
        </p:nvPicPr>
        <p:blipFill>
          <a:blip r:embed="rId3"/>
          <a:stretch/>
        </p:blipFill>
        <p:spPr>
          <a:xfrm>
            <a:off x="9702360" y="2907360"/>
            <a:ext cx="255600" cy="255600"/>
          </a:xfrm>
          <a:prstGeom prst="rect">
            <a:avLst/>
          </a:prstGeom>
          <a:ln w="0">
            <a:noFill/>
          </a:ln>
        </p:spPr>
      </p:pic>
      <p:sp>
        <p:nvSpPr>
          <p:cNvPr id="162" name="Rounded Rectangle 19"/>
          <p:cNvSpPr/>
          <p:nvPr/>
        </p:nvSpPr>
        <p:spPr>
          <a:xfrm>
            <a:off x="777240" y="3456360"/>
            <a:ext cx="3166560" cy="2843280"/>
          </a:xfrm>
          <a:prstGeom prst="roundRect">
            <a:avLst>
              <a:gd name="adj" fmla="val 5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3" name="TextBox 20"/>
          <p:cNvSpPr/>
          <p:nvPr/>
        </p:nvSpPr>
        <p:spPr>
          <a:xfrm>
            <a:off x="1069920" y="3730680"/>
            <a:ext cx="2581560" cy="176112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001"/>
              </a:spcAft>
            </a:pPr>
            <a:r>
              <a:rPr b="1" lang="en-US" sz="1800" spc="-1" strike="noStrike">
                <a:solidFill>
                  <a:srgbClr val="000091"/>
                </a:solidFill>
                <a:latin typeface="Marianne"/>
              </a:rPr>
              <a:t>Outiller chaque métier</a:t>
            </a:r>
            <a:endParaRPr b="0" lang="fr-FR" sz="18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00" spc="-1" strike="noStrike">
                <a:solidFill>
                  <a:srgbClr val="161616"/>
                </a:solidFill>
                <a:latin typeface="Marianne"/>
              </a:rPr>
              <a:t>Architectes</a:t>
            </a:r>
            <a:endParaRPr b="0" lang="fr-FR" sz="14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00" spc="-1" strike="noStrike">
                <a:solidFill>
                  <a:srgbClr val="161616"/>
                </a:solidFill>
                <a:latin typeface="Marianne"/>
              </a:rPr>
              <a:t>Chefs de projet</a:t>
            </a:r>
            <a:endParaRPr b="0" lang="fr-FR" sz="14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00" spc="-1" strike="noStrike">
                <a:solidFill>
                  <a:srgbClr val="161616"/>
                </a:solidFill>
                <a:latin typeface="Marianne"/>
              </a:rPr>
              <a:t>Designers</a:t>
            </a:r>
            <a:endParaRPr b="0" lang="fr-FR" sz="14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00" spc="-1" strike="noStrike">
                <a:solidFill>
                  <a:srgbClr val="161616"/>
                </a:solidFill>
                <a:latin typeface="Marianne"/>
              </a:rPr>
              <a:t>Développeurs</a:t>
            </a:r>
            <a:endParaRPr b="0" lang="fr-FR" sz="1400" spc="-1" strike="noStrike">
              <a:solidFill>
                <a:srgbClr val="000000"/>
              </a:solidFill>
              <a:latin typeface="Arial"/>
            </a:endParaRPr>
          </a:p>
        </p:txBody>
      </p:sp>
      <p:sp>
        <p:nvSpPr>
          <p:cNvPr id="164" name="Rounded Rectangle 21"/>
          <p:cNvSpPr/>
          <p:nvPr/>
        </p:nvSpPr>
        <p:spPr>
          <a:xfrm>
            <a:off x="4511880" y="3456360"/>
            <a:ext cx="3166560" cy="2843280"/>
          </a:xfrm>
          <a:prstGeom prst="roundRect">
            <a:avLst>
              <a:gd name="adj" fmla="val 5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5" name="TextBox 22"/>
          <p:cNvSpPr/>
          <p:nvPr/>
        </p:nvSpPr>
        <p:spPr>
          <a:xfrm>
            <a:off x="4804560" y="3730680"/>
            <a:ext cx="2755080" cy="225972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001"/>
              </a:spcAft>
            </a:pPr>
            <a:r>
              <a:rPr b="1" lang="en-US" sz="1800" spc="-1" strike="noStrike">
                <a:solidFill>
                  <a:srgbClr val="000091"/>
                </a:solidFill>
                <a:latin typeface="Marianne"/>
              </a:rPr>
              <a:t>Industrialiser l’usage &amp; animer une communauté</a:t>
            </a:r>
            <a:endParaRPr b="0" lang="fr-FR" sz="18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00" spc="-1" strike="noStrike">
                <a:solidFill>
                  <a:srgbClr val="161616"/>
                </a:solidFill>
                <a:latin typeface="Marianne"/>
              </a:rPr>
              <a:t>Communauté de référents IA</a:t>
            </a:r>
            <a:endParaRPr b="0" lang="fr-FR" sz="14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00" spc="-1" strike="noStrike">
                <a:solidFill>
                  <a:srgbClr val="161616"/>
                </a:solidFill>
                <a:latin typeface="Marianne"/>
              </a:rPr>
              <a:t>CI/CD augmentée (bots)</a:t>
            </a:r>
            <a:endParaRPr b="0" lang="fr-FR" sz="14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00" spc="-1" strike="noStrike">
                <a:solidFill>
                  <a:srgbClr val="161616"/>
                </a:solidFill>
                <a:latin typeface="Marianne"/>
              </a:rPr>
              <a:t>Déploiement de l’IA chez les internes</a:t>
            </a:r>
            <a:endParaRPr b="0" lang="fr-FR" sz="14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00" spc="-1" strike="noStrike">
                <a:solidFill>
                  <a:srgbClr val="161616"/>
                </a:solidFill>
                <a:latin typeface="Marianne"/>
              </a:rPr>
              <a:t>Observabilité</a:t>
            </a:r>
            <a:endParaRPr b="0" lang="fr-FR" sz="1400" spc="-1" strike="noStrike">
              <a:solidFill>
                <a:srgbClr val="000000"/>
              </a:solidFill>
              <a:latin typeface="Arial"/>
            </a:endParaRPr>
          </a:p>
        </p:txBody>
      </p:sp>
      <p:sp>
        <p:nvSpPr>
          <p:cNvPr id="166" name="Rounded Rectangle 23"/>
          <p:cNvSpPr/>
          <p:nvPr/>
        </p:nvSpPr>
        <p:spPr>
          <a:xfrm>
            <a:off x="8246520" y="3456360"/>
            <a:ext cx="3166560" cy="2843280"/>
          </a:xfrm>
          <a:prstGeom prst="roundRect">
            <a:avLst>
              <a:gd name="adj" fmla="val 5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7" name="TextBox 24"/>
          <p:cNvSpPr/>
          <p:nvPr/>
        </p:nvSpPr>
        <p:spPr>
          <a:xfrm>
            <a:off x="8539200" y="3730680"/>
            <a:ext cx="2581560" cy="119952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001"/>
              </a:spcAft>
            </a:pPr>
            <a:r>
              <a:rPr b="1" lang="en-US" sz="1800" spc="-1" strike="noStrike">
                <a:solidFill>
                  <a:srgbClr val="000091"/>
                </a:solidFill>
                <a:latin typeface="Marianne"/>
              </a:rPr>
              <a:t>Un harness maison</a:t>
            </a:r>
            <a:endParaRPr b="0" lang="fr-FR" sz="18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00" spc="-1" strike="noStrike">
                <a:solidFill>
                  <a:srgbClr val="161616"/>
                </a:solidFill>
                <a:latin typeface="Marianne"/>
              </a:rPr>
              <a:t>Souveraineté</a:t>
            </a:r>
            <a:endParaRPr b="0" lang="fr-FR" sz="14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00" spc="-1" strike="noStrike">
                <a:solidFill>
                  <a:srgbClr val="161616"/>
                </a:solidFill>
                <a:latin typeface="Marianne"/>
              </a:rPr>
              <a:t>Conformité intégrée</a:t>
            </a:r>
            <a:endParaRPr b="0" lang="fr-FR" sz="14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00" spc="-1" strike="noStrike">
                <a:solidFill>
                  <a:srgbClr val="161616"/>
                </a:solidFill>
                <a:latin typeface="Marianne"/>
              </a:rPr>
              <a:t>Expérience maîtrisée</a:t>
            </a:r>
            <a:endParaRPr b="0" lang="fr-FR" sz="1400" spc="-1" strike="noStrike">
              <a:solidFill>
                <a:srgbClr val="000000"/>
              </a:solidFill>
              <a:latin typeface="Arial"/>
            </a:endParaRPr>
          </a:p>
        </p:txBody>
      </p:sp>
      <p:pic>
        <p:nvPicPr>
          <p:cNvPr id="168" name="Picture 14" descr="logo.png"/>
          <p:cNvPicPr/>
          <p:nvPr/>
        </p:nvPicPr>
        <p:blipFill>
          <a:blip r:embed="rId4"/>
          <a:srcRect l="0" t="0" r="0" b="14936"/>
          <a:stretch/>
        </p:blipFill>
        <p:spPr>
          <a:xfrm>
            <a:off x="777600" y="166680"/>
            <a:ext cx="1382040" cy="80460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Rectangle 1"/>
          <p:cNvSpPr/>
          <p:nvPr/>
        </p:nvSpPr>
        <p:spPr>
          <a:xfrm>
            <a:off x="0" y="0"/>
            <a:ext cx="12190680" cy="685692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0" name="TextBox 3"/>
          <p:cNvSpPr/>
          <p:nvPr/>
        </p:nvSpPr>
        <p:spPr>
          <a:xfrm>
            <a:off x="7574040" y="274320"/>
            <a:ext cx="3839400" cy="430920"/>
          </a:xfrm>
          <a:prstGeom prst="rect">
            <a:avLst/>
          </a:prstGeom>
          <a:noFill/>
          <a:ln w="0">
            <a:noFill/>
          </a:ln>
        </p:spPr>
        <p:style>
          <a:lnRef idx="0"/>
          <a:fillRef idx="0"/>
          <a:effectRef idx="0"/>
          <a:fontRef idx="minor"/>
        </p:style>
        <p:txBody>
          <a:bodyPr lIns="0" rIns="0" tIns="0" bIns="0" anchor="t">
            <a:spAutoFit/>
          </a:bodyPr>
          <a:p>
            <a:pPr algn="r" defTabSz="457200">
              <a:lnSpc>
                <a:spcPct val="105000"/>
              </a:lnSpc>
            </a:pPr>
            <a:r>
              <a:rPr b="1" lang="en-US" sz="1350" spc="-1" strike="noStrike">
                <a:solidFill>
                  <a:srgbClr val="161616"/>
                </a:solidFill>
                <a:latin typeface="Marianne"/>
              </a:rPr>
              <a:t>Secrétariat général</a:t>
            </a:r>
            <a:endParaRPr b="0" lang="fr-FR" sz="1350" spc="-1" strike="noStrike">
              <a:solidFill>
                <a:srgbClr val="000000"/>
              </a:solidFill>
              <a:latin typeface="Arial"/>
            </a:endParaRPr>
          </a:p>
          <a:p>
            <a:pPr algn="r" defTabSz="457200">
              <a:lnSpc>
                <a:spcPct val="105000"/>
              </a:lnSpc>
            </a:pPr>
            <a:r>
              <a:rPr b="0" lang="en-US" sz="1350" spc="-1" strike="noStrike">
                <a:solidFill>
                  <a:srgbClr val="3a3a3a"/>
                </a:solidFill>
                <a:latin typeface="Marianne"/>
              </a:rPr>
              <a:t>Direction du numérique</a:t>
            </a:r>
            <a:endParaRPr b="0" lang="fr-FR" sz="1350" spc="-1" strike="noStrike">
              <a:solidFill>
                <a:srgbClr val="000000"/>
              </a:solidFill>
              <a:latin typeface="Arial"/>
            </a:endParaRPr>
          </a:p>
        </p:txBody>
      </p:sp>
      <p:cxnSp>
        <p:nvCxnSpPr>
          <p:cNvPr id="171" name="Connector 4"/>
          <p:cNvCxnSpPr/>
          <p:nvPr/>
        </p:nvCxnSpPr>
        <p:spPr>
          <a:xfrm>
            <a:off x="0" y="1005840"/>
            <a:ext cx="12192480" cy="1080"/>
          </a:xfrm>
          <a:prstGeom prst="straightConnector1">
            <a:avLst/>
          </a:prstGeom>
          <a:ln w="9525">
            <a:solidFill>
              <a:srgbClr val="dddddd"/>
            </a:solidFill>
            <a:round/>
          </a:ln>
        </p:spPr>
      </p:cxnSp>
      <p:sp>
        <p:nvSpPr>
          <p:cNvPr id="172" name="TextBox 6"/>
          <p:cNvSpPr/>
          <p:nvPr/>
        </p:nvSpPr>
        <p:spPr>
          <a:xfrm>
            <a:off x="10683000" y="6437520"/>
            <a:ext cx="730440" cy="177120"/>
          </a:xfrm>
          <a:prstGeom prst="rect">
            <a:avLst/>
          </a:prstGeom>
          <a:noFill/>
          <a:ln w="0">
            <a:noFill/>
          </a:ln>
        </p:spPr>
        <p:style>
          <a:lnRef idx="0"/>
          <a:fillRef idx="0"/>
          <a:effectRef idx="0"/>
          <a:fontRef idx="minor"/>
        </p:style>
        <p:txBody>
          <a:bodyPr lIns="0" rIns="0" tIns="0" bIns="0" anchor="t">
            <a:spAutoFit/>
          </a:bodyPr>
          <a:p>
            <a:pPr algn="r" defTabSz="457200">
              <a:lnSpc>
                <a:spcPct val="106000"/>
              </a:lnSpc>
            </a:pPr>
            <a:r>
              <a:rPr b="0" lang="en-US" sz="1100" spc="-1" strike="noStrike">
                <a:solidFill>
                  <a:srgbClr val="6a6a6a"/>
                </a:solidFill>
                <a:latin typeface="Marianne"/>
              </a:rPr>
              <a:t>10</a:t>
            </a:r>
            <a:endParaRPr b="0" lang="fr-FR" sz="1100" spc="-1" strike="noStrike">
              <a:solidFill>
                <a:srgbClr val="000000"/>
              </a:solidFill>
              <a:latin typeface="Arial"/>
            </a:endParaRPr>
          </a:p>
        </p:txBody>
      </p:sp>
      <p:sp>
        <p:nvSpPr>
          <p:cNvPr id="173" name="TextBox 7"/>
          <p:cNvSpPr/>
          <p:nvPr/>
        </p:nvSpPr>
        <p:spPr>
          <a:xfrm>
            <a:off x="777240" y="1325880"/>
            <a:ext cx="10636200" cy="48168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3100" spc="-1" strike="noStrike">
                <a:solidFill>
                  <a:srgbClr val="161616"/>
                </a:solidFill>
                <a:latin typeface="Marianne"/>
              </a:rPr>
              <a:t>Court terme : outiller chaque métier</a:t>
            </a:r>
            <a:endParaRPr b="0" lang="fr-FR" sz="3100" spc="-1" strike="noStrike">
              <a:solidFill>
                <a:srgbClr val="000000"/>
              </a:solidFill>
              <a:latin typeface="Arial"/>
            </a:endParaRPr>
          </a:p>
        </p:txBody>
      </p:sp>
      <p:sp>
        <p:nvSpPr>
          <p:cNvPr id="174" name="Rounded Rectangle 8"/>
          <p:cNvSpPr/>
          <p:nvPr/>
        </p:nvSpPr>
        <p:spPr>
          <a:xfrm>
            <a:off x="777240" y="2358000"/>
            <a:ext cx="5111640" cy="1553400"/>
          </a:xfrm>
          <a:prstGeom prst="roundRect">
            <a:avLst>
              <a:gd name="adj" fmla="val 6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75" name="Picture 9" descr="compasses-2.png"/>
          <p:cNvPicPr/>
          <p:nvPr/>
        </p:nvPicPr>
        <p:blipFill>
          <a:blip r:embed="rId1"/>
          <a:stretch/>
        </p:blipFill>
        <p:spPr>
          <a:xfrm>
            <a:off x="1088280" y="2560320"/>
            <a:ext cx="456120" cy="456120"/>
          </a:xfrm>
          <a:prstGeom prst="rect">
            <a:avLst/>
          </a:prstGeom>
          <a:ln w="0">
            <a:noFill/>
          </a:ln>
        </p:spPr>
      </p:pic>
      <p:sp>
        <p:nvSpPr>
          <p:cNvPr id="176" name="TextBox 10"/>
          <p:cNvSpPr/>
          <p:nvPr/>
        </p:nvSpPr>
        <p:spPr>
          <a:xfrm>
            <a:off x="1691640" y="2647080"/>
            <a:ext cx="3922920" cy="282240"/>
          </a:xfrm>
          <a:prstGeom prst="rect">
            <a:avLst/>
          </a:prstGeom>
          <a:noFill/>
          <a:ln w="0">
            <a:noFill/>
          </a:ln>
        </p:spPr>
        <p:style>
          <a:lnRef idx="0"/>
          <a:fillRef idx="0"/>
          <a:effectRef idx="0"/>
          <a:fontRef idx="minor"/>
        </p:style>
        <p:txBody>
          <a:bodyPr lIns="0" rIns="0" tIns="0" bIns="0" anchor="ctr">
            <a:spAutoFit/>
          </a:bodyPr>
          <a:p>
            <a:pPr defTabSz="457200">
              <a:lnSpc>
                <a:spcPct val="106000"/>
              </a:lnSpc>
            </a:pPr>
            <a:r>
              <a:rPr b="1" lang="en-US" sz="1750" spc="-1" strike="noStrike">
                <a:solidFill>
                  <a:srgbClr val="000091"/>
                </a:solidFill>
                <a:latin typeface="Marianne"/>
              </a:rPr>
              <a:t>Architectes</a:t>
            </a:r>
            <a:endParaRPr b="0" lang="fr-FR" sz="1750" spc="-1" strike="noStrike">
              <a:solidFill>
                <a:srgbClr val="000000"/>
              </a:solidFill>
              <a:latin typeface="Arial"/>
            </a:endParaRPr>
          </a:p>
        </p:txBody>
      </p:sp>
      <p:sp>
        <p:nvSpPr>
          <p:cNvPr id="177" name="TextBox 11"/>
          <p:cNvSpPr/>
          <p:nvPr/>
        </p:nvSpPr>
        <p:spPr>
          <a:xfrm>
            <a:off x="1088280" y="3127320"/>
            <a:ext cx="4489920" cy="230040"/>
          </a:xfrm>
          <a:prstGeom prst="rect">
            <a:avLst/>
          </a:prstGeom>
          <a:noFill/>
          <a:ln w="0">
            <a:noFill/>
          </a:ln>
        </p:spPr>
        <p:style>
          <a:lnRef idx="0"/>
          <a:fillRef idx="0"/>
          <a:effectRef idx="0"/>
          <a:fontRef idx="minor"/>
        </p:style>
        <p:txBody>
          <a:bodyPr lIns="0" rIns="0" tIns="0" bIns="0" anchor="t">
            <a:spAutoFit/>
          </a:bodyPr>
          <a:p>
            <a:pPr defTabSz="457200">
              <a:lnSpc>
                <a:spcPct val="108000"/>
              </a:lnSpc>
            </a:pPr>
            <a:r>
              <a:rPr b="0" lang="en-US" sz="1400" spc="-1" strike="noStrike">
                <a:solidFill>
                  <a:srgbClr val="3a3a3a"/>
                </a:solidFill>
                <a:latin typeface="Marianne"/>
              </a:rPr>
              <a:t>Générer des Dossiers d’Architecture (DA) avec l’IA.</a:t>
            </a:r>
            <a:endParaRPr b="0" lang="fr-FR" sz="1400" spc="-1" strike="noStrike">
              <a:solidFill>
                <a:srgbClr val="000000"/>
              </a:solidFill>
              <a:latin typeface="Arial"/>
            </a:endParaRPr>
          </a:p>
        </p:txBody>
      </p:sp>
      <p:sp>
        <p:nvSpPr>
          <p:cNvPr id="178" name="Rounded Rectangle 12"/>
          <p:cNvSpPr/>
          <p:nvPr/>
        </p:nvSpPr>
        <p:spPr>
          <a:xfrm>
            <a:off x="6301440" y="2358000"/>
            <a:ext cx="5111640" cy="1553400"/>
          </a:xfrm>
          <a:prstGeom prst="roundRect">
            <a:avLst>
              <a:gd name="adj" fmla="val 6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79" name="Picture 13" descr="clipboard.png"/>
          <p:cNvPicPr/>
          <p:nvPr/>
        </p:nvPicPr>
        <p:blipFill>
          <a:blip r:embed="rId2"/>
          <a:stretch/>
        </p:blipFill>
        <p:spPr>
          <a:xfrm>
            <a:off x="6612480" y="2560320"/>
            <a:ext cx="456120" cy="456120"/>
          </a:xfrm>
          <a:prstGeom prst="rect">
            <a:avLst/>
          </a:prstGeom>
          <a:ln w="0">
            <a:noFill/>
          </a:ln>
        </p:spPr>
      </p:pic>
      <p:sp>
        <p:nvSpPr>
          <p:cNvPr id="180" name="TextBox 14"/>
          <p:cNvSpPr/>
          <p:nvPr/>
        </p:nvSpPr>
        <p:spPr>
          <a:xfrm>
            <a:off x="7215840" y="2647080"/>
            <a:ext cx="3922920" cy="282240"/>
          </a:xfrm>
          <a:prstGeom prst="rect">
            <a:avLst/>
          </a:prstGeom>
          <a:noFill/>
          <a:ln w="0">
            <a:noFill/>
          </a:ln>
        </p:spPr>
        <p:style>
          <a:lnRef idx="0"/>
          <a:fillRef idx="0"/>
          <a:effectRef idx="0"/>
          <a:fontRef idx="minor"/>
        </p:style>
        <p:txBody>
          <a:bodyPr lIns="0" rIns="0" tIns="0" bIns="0" anchor="ctr">
            <a:spAutoFit/>
          </a:bodyPr>
          <a:p>
            <a:pPr defTabSz="457200">
              <a:lnSpc>
                <a:spcPct val="106000"/>
              </a:lnSpc>
            </a:pPr>
            <a:r>
              <a:rPr b="1" lang="en-US" sz="1750" spc="-1" strike="noStrike">
                <a:solidFill>
                  <a:srgbClr val="000091"/>
                </a:solidFill>
                <a:latin typeface="Marianne"/>
              </a:rPr>
              <a:t>Chefs de projet</a:t>
            </a:r>
            <a:endParaRPr b="0" lang="fr-FR" sz="1750" spc="-1" strike="noStrike">
              <a:solidFill>
                <a:srgbClr val="000000"/>
              </a:solidFill>
              <a:latin typeface="Arial"/>
            </a:endParaRPr>
          </a:p>
        </p:txBody>
      </p:sp>
      <p:sp>
        <p:nvSpPr>
          <p:cNvPr id="181" name="TextBox 15"/>
          <p:cNvSpPr/>
          <p:nvPr/>
        </p:nvSpPr>
        <p:spPr>
          <a:xfrm>
            <a:off x="6612480" y="3127320"/>
            <a:ext cx="4489920" cy="690840"/>
          </a:xfrm>
          <a:prstGeom prst="rect">
            <a:avLst/>
          </a:prstGeom>
          <a:noFill/>
          <a:ln w="0">
            <a:noFill/>
          </a:ln>
        </p:spPr>
        <p:style>
          <a:lnRef idx="0"/>
          <a:fillRef idx="0"/>
          <a:effectRef idx="0"/>
          <a:fontRef idx="minor"/>
        </p:style>
        <p:txBody>
          <a:bodyPr lIns="0" rIns="0" tIns="0" bIns="0" anchor="t">
            <a:spAutoFit/>
          </a:bodyPr>
          <a:p>
            <a:pPr defTabSz="457200">
              <a:lnSpc>
                <a:spcPct val="108000"/>
              </a:lnSpc>
            </a:pPr>
            <a:r>
              <a:rPr b="0" lang="en-US" sz="1400" spc="-1" strike="noStrike">
                <a:solidFill>
                  <a:srgbClr val="3a3a3a"/>
                </a:solidFill>
                <a:latin typeface="Marianne"/>
              </a:rPr>
              <a:t>Pré-audit d’homologation continu et meilleur pilotage des projets faits avec l’IA.</a:t>
            </a:r>
            <a:br>
              <a:rPr sz="1400"/>
            </a:br>
            <a:r>
              <a:rPr b="0" lang="en-US" sz="1400" spc="-1" strike="noStrike">
                <a:solidFill>
                  <a:srgbClr val="3a3a3a"/>
                </a:solidFill>
                <a:latin typeface="Marianne"/>
              </a:rPr>
              <a:t>Récupérer plus de besoins dans les jours à venir.</a:t>
            </a:r>
            <a:endParaRPr b="0" lang="fr-FR" sz="1400" spc="-1" strike="noStrike">
              <a:solidFill>
                <a:srgbClr val="000000"/>
              </a:solidFill>
              <a:latin typeface="Arial"/>
            </a:endParaRPr>
          </a:p>
        </p:txBody>
      </p:sp>
      <p:sp>
        <p:nvSpPr>
          <p:cNvPr id="182" name="Rounded Rectangle 16"/>
          <p:cNvSpPr/>
          <p:nvPr/>
        </p:nvSpPr>
        <p:spPr>
          <a:xfrm>
            <a:off x="777240" y="4186800"/>
            <a:ext cx="5111640" cy="1553400"/>
          </a:xfrm>
          <a:prstGeom prst="roundRect">
            <a:avLst>
              <a:gd name="adj" fmla="val 6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83" name="Picture 17" descr="palette.png"/>
          <p:cNvPicPr/>
          <p:nvPr/>
        </p:nvPicPr>
        <p:blipFill>
          <a:blip r:embed="rId3"/>
          <a:stretch/>
        </p:blipFill>
        <p:spPr>
          <a:xfrm>
            <a:off x="1088280" y="4389120"/>
            <a:ext cx="456120" cy="456120"/>
          </a:xfrm>
          <a:prstGeom prst="rect">
            <a:avLst/>
          </a:prstGeom>
          <a:ln w="0">
            <a:noFill/>
          </a:ln>
        </p:spPr>
      </p:pic>
      <p:sp>
        <p:nvSpPr>
          <p:cNvPr id="184" name="TextBox 18"/>
          <p:cNvSpPr/>
          <p:nvPr/>
        </p:nvSpPr>
        <p:spPr>
          <a:xfrm>
            <a:off x="1691640" y="4475880"/>
            <a:ext cx="3922920" cy="282240"/>
          </a:xfrm>
          <a:prstGeom prst="rect">
            <a:avLst/>
          </a:prstGeom>
          <a:noFill/>
          <a:ln w="0">
            <a:noFill/>
          </a:ln>
        </p:spPr>
        <p:style>
          <a:lnRef idx="0"/>
          <a:fillRef idx="0"/>
          <a:effectRef idx="0"/>
          <a:fontRef idx="minor"/>
        </p:style>
        <p:txBody>
          <a:bodyPr lIns="0" rIns="0" tIns="0" bIns="0" anchor="ctr">
            <a:spAutoFit/>
          </a:bodyPr>
          <a:p>
            <a:pPr defTabSz="457200">
              <a:lnSpc>
                <a:spcPct val="106000"/>
              </a:lnSpc>
            </a:pPr>
            <a:r>
              <a:rPr b="1" lang="en-US" sz="1750" spc="-1" strike="noStrike">
                <a:solidFill>
                  <a:srgbClr val="000091"/>
                </a:solidFill>
                <a:latin typeface="Marianne"/>
              </a:rPr>
              <a:t>Designers</a:t>
            </a:r>
            <a:endParaRPr b="0" lang="fr-FR" sz="1750" spc="-1" strike="noStrike">
              <a:solidFill>
                <a:srgbClr val="000000"/>
              </a:solidFill>
              <a:latin typeface="Arial"/>
            </a:endParaRPr>
          </a:p>
        </p:txBody>
      </p:sp>
      <p:sp>
        <p:nvSpPr>
          <p:cNvPr id="185" name="TextBox 19"/>
          <p:cNvSpPr/>
          <p:nvPr/>
        </p:nvSpPr>
        <p:spPr>
          <a:xfrm>
            <a:off x="1088280" y="4956120"/>
            <a:ext cx="4489920" cy="460440"/>
          </a:xfrm>
          <a:prstGeom prst="rect">
            <a:avLst/>
          </a:prstGeom>
          <a:noFill/>
          <a:ln w="0">
            <a:noFill/>
          </a:ln>
        </p:spPr>
        <p:style>
          <a:lnRef idx="0"/>
          <a:fillRef idx="0"/>
          <a:effectRef idx="0"/>
          <a:fontRef idx="minor"/>
        </p:style>
        <p:txBody>
          <a:bodyPr lIns="0" rIns="0" tIns="0" bIns="0" anchor="t">
            <a:spAutoFit/>
          </a:bodyPr>
          <a:p>
            <a:pPr defTabSz="457200">
              <a:lnSpc>
                <a:spcPct val="108000"/>
              </a:lnSpc>
            </a:pPr>
            <a:r>
              <a:rPr b="0" lang="en-US" sz="1400" spc="-1" strike="noStrike">
                <a:solidFill>
                  <a:srgbClr val="3a3a3a"/>
                </a:solidFill>
                <a:latin typeface="Marianne"/>
              </a:rPr>
              <a:t>Créer et utiliser des skills d’UX et d’audit UX pour générer et challenger des prototypes rapidement.</a:t>
            </a:r>
            <a:endParaRPr b="0" lang="fr-FR" sz="1400" spc="-1" strike="noStrike">
              <a:solidFill>
                <a:srgbClr val="000000"/>
              </a:solidFill>
              <a:latin typeface="Arial"/>
            </a:endParaRPr>
          </a:p>
        </p:txBody>
      </p:sp>
      <p:sp>
        <p:nvSpPr>
          <p:cNvPr id="186" name="Rounded Rectangle 20"/>
          <p:cNvSpPr/>
          <p:nvPr/>
        </p:nvSpPr>
        <p:spPr>
          <a:xfrm>
            <a:off x="6301440" y="4186800"/>
            <a:ext cx="5111640" cy="1553400"/>
          </a:xfrm>
          <a:prstGeom prst="roundRect">
            <a:avLst>
              <a:gd name="adj" fmla="val 6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87" name="Picture 21" descr="code-s-slash.png"/>
          <p:cNvPicPr/>
          <p:nvPr/>
        </p:nvPicPr>
        <p:blipFill>
          <a:blip r:embed="rId4"/>
          <a:stretch/>
        </p:blipFill>
        <p:spPr>
          <a:xfrm>
            <a:off x="6612480" y="4389120"/>
            <a:ext cx="456120" cy="456120"/>
          </a:xfrm>
          <a:prstGeom prst="rect">
            <a:avLst/>
          </a:prstGeom>
          <a:ln w="0">
            <a:noFill/>
          </a:ln>
        </p:spPr>
      </p:pic>
      <p:sp>
        <p:nvSpPr>
          <p:cNvPr id="188" name="TextBox 22"/>
          <p:cNvSpPr/>
          <p:nvPr/>
        </p:nvSpPr>
        <p:spPr>
          <a:xfrm>
            <a:off x="7215840" y="4475880"/>
            <a:ext cx="3922920" cy="282240"/>
          </a:xfrm>
          <a:prstGeom prst="rect">
            <a:avLst/>
          </a:prstGeom>
          <a:noFill/>
          <a:ln w="0">
            <a:noFill/>
          </a:ln>
        </p:spPr>
        <p:style>
          <a:lnRef idx="0"/>
          <a:fillRef idx="0"/>
          <a:effectRef idx="0"/>
          <a:fontRef idx="minor"/>
        </p:style>
        <p:txBody>
          <a:bodyPr lIns="0" rIns="0" tIns="0" bIns="0" anchor="ctr">
            <a:spAutoFit/>
          </a:bodyPr>
          <a:p>
            <a:pPr defTabSz="457200">
              <a:lnSpc>
                <a:spcPct val="106000"/>
              </a:lnSpc>
            </a:pPr>
            <a:r>
              <a:rPr b="1" lang="en-US" sz="1750" spc="-1" strike="noStrike">
                <a:solidFill>
                  <a:srgbClr val="000091"/>
                </a:solidFill>
                <a:latin typeface="Marianne"/>
              </a:rPr>
              <a:t>Développeurs</a:t>
            </a:r>
            <a:endParaRPr b="0" lang="fr-FR" sz="1750" spc="-1" strike="noStrike">
              <a:solidFill>
                <a:srgbClr val="000000"/>
              </a:solidFill>
              <a:latin typeface="Arial"/>
            </a:endParaRPr>
          </a:p>
        </p:txBody>
      </p:sp>
      <p:sp>
        <p:nvSpPr>
          <p:cNvPr id="189" name="TextBox 23"/>
          <p:cNvSpPr/>
          <p:nvPr/>
        </p:nvSpPr>
        <p:spPr>
          <a:xfrm>
            <a:off x="6612480" y="4956120"/>
            <a:ext cx="4489920" cy="230040"/>
          </a:xfrm>
          <a:prstGeom prst="rect">
            <a:avLst/>
          </a:prstGeom>
          <a:noFill/>
          <a:ln w="0">
            <a:noFill/>
          </a:ln>
        </p:spPr>
        <p:style>
          <a:lnRef idx="0"/>
          <a:fillRef idx="0"/>
          <a:effectRef idx="0"/>
          <a:fontRef idx="minor"/>
        </p:style>
        <p:txBody>
          <a:bodyPr lIns="0" rIns="0" tIns="0" bIns="0" anchor="t">
            <a:spAutoFit/>
          </a:bodyPr>
          <a:p>
            <a:pPr defTabSz="457200">
              <a:lnSpc>
                <a:spcPct val="108000"/>
              </a:lnSpc>
            </a:pPr>
            <a:r>
              <a:rPr b="0" lang="en-US" sz="1400" spc="-1" strike="noStrike">
                <a:solidFill>
                  <a:srgbClr val="3a3a3a"/>
                </a:solidFill>
                <a:latin typeface="Marianne"/>
              </a:rPr>
              <a:t>Aller vers ceux en difficulté avec l’IA et les guider.</a:t>
            </a:r>
            <a:endParaRPr b="0" lang="fr-FR" sz="1400" spc="-1" strike="noStrike">
              <a:solidFill>
                <a:srgbClr val="000000"/>
              </a:solidFill>
              <a:latin typeface="Arial"/>
            </a:endParaRPr>
          </a:p>
        </p:txBody>
      </p:sp>
      <p:pic>
        <p:nvPicPr>
          <p:cNvPr id="190" name="Picture 20" descr="logo.png"/>
          <p:cNvPicPr/>
          <p:nvPr/>
        </p:nvPicPr>
        <p:blipFill>
          <a:blip r:embed="rId5"/>
          <a:srcRect l="0" t="0" r="0" b="14936"/>
          <a:stretch/>
        </p:blipFill>
        <p:spPr>
          <a:xfrm>
            <a:off x="777600" y="166680"/>
            <a:ext cx="1382040" cy="80460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Rectangle 1"/>
          <p:cNvSpPr/>
          <p:nvPr/>
        </p:nvSpPr>
        <p:spPr>
          <a:xfrm>
            <a:off x="0" y="0"/>
            <a:ext cx="12190680" cy="685692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2" name="TextBox 3"/>
          <p:cNvSpPr/>
          <p:nvPr/>
        </p:nvSpPr>
        <p:spPr>
          <a:xfrm>
            <a:off x="7574040" y="274320"/>
            <a:ext cx="3839400" cy="430920"/>
          </a:xfrm>
          <a:prstGeom prst="rect">
            <a:avLst/>
          </a:prstGeom>
          <a:noFill/>
          <a:ln w="0">
            <a:noFill/>
          </a:ln>
        </p:spPr>
        <p:style>
          <a:lnRef idx="0"/>
          <a:fillRef idx="0"/>
          <a:effectRef idx="0"/>
          <a:fontRef idx="minor"/>
        </p:style>
        <p:txBody>
          <a:bodyPr lIns="0" rIns="0" tIns="0" bIns="0" anchor="t">
            <a:spAutoFit/>
          </a:bodyPr>
          <a:p>
            <a:pPr algn="r" defTabSz="457200">
              <a:lnSpc>
                <a:spcPct val="105000"/>
              </a:lnSpc>
            </a:pPr>
            <a:r>
              <a:rPr b="1" lang="en-US" sz="1350" spc="-1" strike="noStrike">
                <a:solidFill>
                  <a:srgbClr val="161616"/>
                </a:solidFill>
                <a:latin typeface="Marianne"/>
              </a:rPr>
              <a:t>Secrétariat général</a:t>
            </a:r>
            <a:endParaRPr b="0" lang="fr-FR" sz="1350" spc="-1" strike="noStrike">
              <a:solidFill>
                <a:srgbClr val="000000"/>
              </a:solidFill>
              <a:latin typeface="Arial"/>
            </a:endParaRPr>
          </a:p>
          <a:p>
            <a:pPr algn="r" defTabSz="457200">
              <a:lnSpc>
                <a:spcPct val="105000"/>
              </a:lnSpc>
            </a:pPr>
            <a:r>
              <a:rPr b="0" lang="en-US" sz="1350" spc="-1" strike="noStrike">
                <a:solidFill>
                  <a:srgbClr val="3a3a3a"/>
                </a:solidFill>
                <a:latin typeface="Marianne"/>
              </a:rPr>
              <a:t>Direction du numérique</a:t>
            </a:r>
            <a:endParaRPr b="0" lang="fr-FR" sz="1350" spc="-1" strike="noStrike">
              <a:solidFill>
                <a:srgbClr val="000000"/>
              </a:solidFill>
              <a:latin typeface="Arial"/>
            </a:endParaRPr>
          </a:p>
        </p:txBody>
      </p:sp>
      <p:cxnSp>
        <p:nvCxnSpPr>
          <p:cNvPr id="193" name="Connector 4"/>
          <p:cNvCxnSpPr/>
          <p:nvPr/>
        </p:nvCxnSpPr>
        <p:spPr>
          <a:xfrm>
            <a:off x="0" y="1005840"/>
            <a:ext cx="12192480" cy="1080"/>
          </a:xfrm>
          <a:prstGeom prst="straightConnector1">
            <a:avLst/>
          </a:prstGeom>
          <a:ln w="9525">
            <a:solidFill>
              <a:srgbClr val="dddddd"/>
            </a:solidFill>
            <a:round/>
          </a:ln>
        </p:spPr>
      </p:cxnSp>
      <p:sp>
        <p:nvSpPr>
          <p:cNvPr id="194" name="TextBox 6"/>
          <p:cNvSpPr/>
          <p:nvPr/>
        </p:nvSpPr>
        <p:spPr>
          <a:xfrm>
            <a:off x="10683000" y="6437520"/>
            <a:ext cx="730440" cy="177120"/>
          </a:xfrm>
          <a:prstGeom prst="rect">
            <a:avLst/>
          </a:prstGeom>
          <a:noFill/>
          <a:ln w="0">
            <a:noFill/>
          </a:ln>
        </p:spPr>
        <p:style>
          <a:lnRef idx="0"/>
          <a:fillRef idx="0"/>
          <a:effectRef idx="0"/>
          <a:fontRef idx="minor"/>
        </p:style>
        <p:txBody>
          <a:bodyPr lIns="0" rIns="0" tIns="0" bIns="0" anchor="t">
            <a:spAutoFit/>
          </a:bodyPr>
          <a:p>
            <a:pPr algn="r" defTabSz="457200">
              <a:lnSpc>
                <a:spcPct val="106000"/>
              </a:lnSpc>
            </a:pPr>
            <a:r>
              <a:rPr b="0" lang="en-US" sz="1100" spc="-1" strike="noStrike">
                <a:solidFill>
                  <a:srgbClr val="6a6a6a"/>
                </a:solidFill>
                <a:latin typeface="Marianne"/>
              </a:rPr>
              <a:t>11</a:t>
            </a:r>
            <a:endParaRPr b="0" lang="fr-FR" sz="1100" spc="-1" strike="noStrike">
              <a:solidFill>
                <a:srgbClr val="000000"/>
              </a:solidFill>
              <a:latin typeface="Arial"/>
            </a:endParaRPr>
          </a:p>
        </p:txBody>
      </p:sp>
      <p:sp>
        <p:nvSpPr>
          <p:cNvPr id="195" name="TextBox 7"/>
          <p:cNvSpPr/>
          <p:nvPr/>
        </p:nvSpPr>
        <p:spPr>
          <a:xfrm>
            <a:off x="777240" y="1325880"/>
            <a:ext cx="10636200" cy="96372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3100" spc="-1" strike="noStrike">
                <a:solidFill>
                  <a:srgbClr val="161616"/>
                </a:solidFill>
                <a:latin typeface="Marianne"/>
              </a:rPr>
              <a:t>Moyen terme : Industrialiser l’usage &amp; animer </a:t>
            </a:r>
            <a:br>
              <a:rPr sz="3100"/>
            </a:br>
            <a:r>
              <a:rPr b="1" lang="en-US" sz="3100" spc="-1" strike="noStrike">
                <a:solidFill>
                  <a:srgbClr val="161616"/>
                </a:solidFill>
                <a:latin typeface="Marianne"/>
              </a:rPr>
              <a:t>une communauté</a:t>
            </a:r>
            <a:endParaRPr b="0" lang="fr-FR" sz="3100" spc="-1" strike="noStrike">
              <a:solidFill>
                <a:srgbClr val="000000"/>
              </a:solidFill>
              <a:latin typeface="Arial"/>
            </a:endParaRPr>
          </a:p>
        </p:txBody>
      </p:sp>
      <p:sp>
        <p:nvSpPr>
          <p:cNvPr id="196" name="Rounded Rectangle 8"/>
          <p:cNvSpPr/>
          <p:nvPr/>
        </p:nvSpPr>
        <p:spPr>
          <a:xfrm>
            <a:off x="777240" y="2331720"/>
            <a:ext cx="3519360" cy="3382200"/>
          </a:xfrm>
          <a:prstGeom prst="roundRect">
            <a:avLst>
              <a:gd name="adj" fmla="val 5000"/>
            </a:avLst>
          </a:prstGeom>
          <a:solidFill>
            <a:srgbClr val="00009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7" name="TextBox 9"/>
          <p:cNvSpPr/>
          <p:nvPr/>
        </p:nvSpPr>
        <p:spPr>
          <a:xfrm>
            <a:off x="1143000" y="2743200"/>
            <a:ext cx="2787840" cy="2111760"/>
          </a:xfrm>
          <a:prstGeom prst="rect">
            <a:avLst/>
          </a:prstGeom>
          <a:noFill/>
          <a:ln w="0">
            <a:noFill/>
          </a:ln>
        </p:spPr>
        <p:style>
          <a:lnRef idx="0"/>
          <a:fillRef idx="0"/>
          <a:effectRef idx="0"/>
          <a:fontRef idx="minor"/>
        </p:style>
        <p:txBody>
          <a:bodyPr lIns="0" rIns="0" tIns="0" bIns="0" anchor="t">
            <a:spAutoFit/>
          </a:bodyPr>
          <a:p>
            <a:pPr defTabSz="457200">
              <a:lnSpc>
                <a:spcPct val="102000"/>
              </a:lnSpc>
              <a:spcAft>
                <a:spcPts val="799"/>
              </a:spcAft>
            </a:pPr>
            <a:r>
              <a:rPr b="1" lang="en-US" sz="2000" spc="-1" strike="noStrike">
                <a:solidFill>
                  <a:srgbClr val="ffffff"/>
                </a:solidFill>
                <a:latin typeface="Marianne"/>
              </a:rPr>
              <a:t>Créer et animer une communauté de référents IA</a:t>
            </a:r>
            <a:endParaRPr b="0" lang="fr-FR" sz="2000" spc="-1" strike="noStrike">
              <a:solidFill>
                <a:srgbClr val="000000"/>
              </a:solidFill>
              <a:latin typeface="Arial"/>
            </a:endParaRPr>
          </a:p>
          <a:p>
            <a:pPr defTabSz="457200">
              <a:lnSpc>
                <a:spcPct val="118000"/>
              </a:lnSpc>
            </a:pPr>
            <a:r>
              <a:rPr b="0" lang="en-US" sz="1500" spc="-1" strike="noStrike">
                <a:solidFill>
                  <a:srgbClr val="e3e3fd"/>
                </a:solidFill>
                <a:latin typeface="Marianne"/>
              </a:rPr>
              <a:t>Identifier et préparer l’animation d’une communauté de référents IA pour chaque métier.</a:t>
            </a:r>
            <a:endParaRPr b="0" lang="fr-FR" sz="1500" spc="-1" strike="noStrike">
              <a:solidFill>
                <a:srgbClr val="000000"/>
              </a:solidFill>
              <a:latin typeface="Arial"/>
            </a:endParaRPr>
          </a:p>
        </p:txBody>
      </p:sp>
      <p:sp>
        <p:nvSpPr>
          <p:cNvPr id="198" name="TextBox 10"/>
          <p:cNvSpPr/>
          <p:nvPr/>
        </p:nvSpPr>
        <p:spPr>
          <a:xfrm>
            <a:off x="4754880" y="2350080"/>
            <a:ext cx="6658560" cy="29016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1" lang="en-US" sz="1800" spc="-1" strike="noStrike">
                <a:solidFill>
                  <a:srgbClr val="000091"/>
                </a:solidFill>
                <a:latin typeface="Marianne"/>
              </a:rPr>
              <a:t>Volet développeurs</a:t>
            </a:r>
            <a:endParaRPr b="0" lang="fr-FR" sz="1800" spc="-1" strike="noStrike">
              <a:solidFill>
                <a:srgbClr val="000000"/>
              </a:solidFill>
              <a:latin typeface="Arial"/>
            </a:endParaRPr>
          </a:p>
        </p:txBody>
      </p:sp>
      <p:sp>
        <p:nvSpPr>
          <p:cNvPr id="199" name="Rounded Rectangle 11"/>
          <p:cNvSpPr/>
          <p:nvPr/>
        </p:nvSpPr>
        <p:spPr>
          <a:xfrm>
            <a:off x="4754880" y="2990160"/>
            <a:ext cx="136080" cy="136080"/>
          </a:xfrm>
          <a:prstGeom prst="roundRect">
            <a:avLst>
              <a:gd name="adj" fmla="val 50000"/>
            </a:avLst>
          </a:prstGeom>
          <a:solidFill>
            <a:srgbClr val="6a6af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0" name="TextBox 12"/>
          <p:cNvSpPr/>
          <p:nvPr/>
        </p:nvSpPr>
        <p:spPr>
          <a:xfrm>
            <a:off x="5047560" y="2935080"/>
            <a:ext cx="6365880" cy="23940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1" lang="en-US" sz="1500" spc="-1" strike="noStrike">
                <a:solidFill>
                  <a:srgbClr val="161616"/>
                </a:solidFill>
                <a:latin typeface="Marianne"/>
              </a:rPr>
              <a:t>CI/CD — </a:t>
            </a:r>
            <a:r>
              <a:rPr b="0" lang="en-US" sz="1450" spc="-1" strike="noStrike">
                <a:solidFill>
                  <a:srgbClr val="3a3a3a"/>
                </a:solidFill>
                <a:latin typeface="Marianne"/>
              </a:rPr>
              <a:t>bots de revue de code automatiques.</a:t>
            </a:r>
            <a:endParaRPr b="0" lang="fr-FR" sz="1450" spc="-1" strike="noStrike">
              <a:solidFill>
                <a:srgbClr val="000000"/>
              </a:solidFill>
              <a:latin typeface="Arial"/>
            </a:endParaRPr>
          </a:p>
        </p:txBody>
      </p:sp>
      <p:sp>
        <p:nvSpPr>
          <p:cNvPr id="201" name="Rounded Rectangle 13"/>
          <p:cNvSpPr/>
          <p:nvPr/>
        </p:nvSpPr>
        <p:spPr>
          <a:xfrm>
            <a:off x="4754880" y="3758040"/>
            <a:ext cx="136080" cy="136080"/>
          </a:xfrm>
          <a:prstGeom prst="roundRect">
            <a:avLst>
              <a:gd name="adj" fmla="val 50000"/>
            </a:avLst>
          </a:prstGeom>
          <a:solidFill>
            <a:srgbClr val="6a6af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2" name="TextBox 14"/>
          <p:cNvSpPr/>
          <p:nvPr/>
        </p:nvSpPr>
        <p:spPr>
          <a:xfrm>
            <a:off x="5047560" y="3703320"/>
            <a:ext cx="6365880" cy="47124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1" lang="en-US" sz="1500" spc="-1" strike="noStrike">
                <a:solidFill>
                  <a:srgbClr val="161616"/>
                </a:solidFill>
                <a:latin typeface="Marianne"/>
              </a:rPr>
              <a:t>Déploiement des licences Claude — </a:t>
            </a:r>
            <a:r>
              <a:rPr b="0" lang="en-US" sz="1450" spc="-1" strike="noStrike">
                <a:solidFill>
                  <a:srgbClr val="3a3a3a"/>
                </a:solidFill>
                <a:latin typeface="Marianne"/>
              </a:rPr>
              <a:t>Permettre l’agentique en trouvant la bonne formule pour les PC internes, Se mettre en lien avec la DINUM.</a:t>
            </a:r>
            <a:endParaRPr b="0" lang="fr-FR" sz="1450" spc="-1" strike="noStrike">
              <a:solidFill>
                <a:srgbClr val="000000"/>
              </a:solidFill>
              <a:latin typeface="Arial"/>
            </a:endParaRPr>
          </a:p>
        </p:txBody>
      </p:sp>
      <p:sp>
        <p:nvSpPr>
          <p:cNvPr id="203" name="Rounded Rectangle 17"/>
          <p:cNvSpPr/>
          <p:nvPr/>
        </p:nvSpPr>
        <p:spPr>
          <a:xfrm>
            <a:off x="4754880" y="4610520"/>
            <a:ext cx="136080" cy="136080"/>
          </a:xfrm>
          <a:prstGeom prst="roundRect">
            <a:avLst>
              <a:gd name="adj" fmla="val 50000"/>
            </a:avLst>
          </a:prstGeom>
          <a:solidFill>
            <a:srgbClr val="6a6af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4" name="TextBox 18"/>
          <p:cNvSpPr/>
          <p:nvPr/>
        </p:nvSpPr>
        <p:spPr>
          <a:xfrm>
            <a:off x="5047560" y="4555440"/>
            <a:ext cx="6365880" cy="23940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1" lang="en-US" sz="1500" spc="-1" strike="noStrike">
                <a:solidFill>
                  <a:srgbClr val="161616"/>
                </a:solidFill>
                <a:latin typeface="Marianne"/>
              </a:rPr>
              <a:t>Observabilité — </a:t>
            </a:r>
            <a:r>
              <a:rPr b="0" lang="en-US" sz="1450" spc="-1" strike="noStrike">
                <a:solidFill>
                  <a:srgbClr val="3a3a3a"/>
                </a:solidFill>
                <a:latin typeface="Marianne"/>
              </a:rPr>
              <a:t>suivre les usages et la qualité.</a:t>
            </a:r>
            <a:endParaRPr b="0" lang="fr-FR" sz="1450" spc="-1" strike="noStrike">
              <a:solidFill>
                <a:srgbClr val="000000"/>
              </a:solidFill>
              <a:latin typeface="Arial"/>
            </a:endParaRPr>
          </a:p>
        </p:txBody>
      </p:sp>
      <p:pic>
        <p:nvPicPr>
          <p:cNvPr id="205" name="Picture 22" descr="logo.png"/>
          <p:cNvPicPr/>
          <p:nvPr/>
        </p:nvPicPr>
        <p:blipFill>
          <a:blip r:embed="rId1"/>
          <a:srcRect l="0" t="0" r="0" b="14936"/>
          <a:stretch/>
        </p:blipFill>
        <p:spPr>
          <a:xfrm>
            <a:off x="777600" y="166680"/>
            <a:ext cx="1382040" cy="80460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Rectangle 1"/>
          <p:cNvSpPr/>
          <p:nvPr/>
        </p:nvSpPr>
        <p:spPr>
          <a:xfrm>
            <a:off x="0" y="0"/>
            <a:ext cx="12190680" cy="685692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7" name="TextBox 3"/>
          <p:cNvSpPr/>
          <p:nvPr/>
        </p:nvSpPr>
        <p:spPr>
          <a:xfrm>
            <a:off x="7574040" y="274320"/>
            <a:ext cx="3839400" cy="430920"/>
          </a:xfrm>
          <a:prstGeom prst="rect">
            <a:avLst/>
          </a:prstGeom>
          <a:noFill/>
          <a:ln w="0">
            <a:noFill/>
          </a:ln>
        </p:spPr>
        <p:style>
          <a:lnRef idx="0"/>
          <a:fillRef idx="0"/>
          <a:effectRef idx="0"/>
          <a:fontRef idx="minor"/>
        </p:style>
        <p:txBody>
          <a:bodyPr lIns="0" rIns="0" tIns="0" bIns="0" anchor="t">
            <a:spAutoFit/>
          </a:bodyPr>
          <a:p>
            <a:pPr algn="r" defTabSz="457200">
              <a:lnSpc>
                <a:spcPct val="105000"/>
              </a:lnSpc>
            </a:pPr>
            <a:r>
              <a:rPr b="1" lang="en-US" sz="1350" spc="-1" strike="noStrike">
                <a:solidFill>
                  <a:srgbClr val="161616"/>
                </a:solidFill>
                <a:latin typeface="Marianne"/>
              </a:rPr>
              <a:t>Secrétariat général</a:t>
            </a:r>
            <a:endParaRPr b="0" lang="fr-FR" sz="1350" spc="-1" strike="noStrike">
              <a:solidFill>
                <a:srgbClr val="000000"/>
              </a:solidFill>
              <a:latin typeface="Arial"/>
            </a:endParaRPr>
          </a:p>
          <a:p>
            <a:pPr algn="r" defTabSz="457200">
              <a:lnSpc>
                <a:spcPct val="105000"/>
              </a:lnSpc>
            </a:pPr>
            <a:r>
              <a:rPr b="0" lang="en-US" sz="1350" spc="-1" strike="noStrike">
                <a:solidFill>
                  <a:srgbClr val="3a3a3a"/>
                </a:solidFill>
                <a:latin typeface="Marianne"/>
              </a:rPr>
              <a:t>Direction du numérique</a:t>
            </a:r>
            <a:endParaRPr b="0" lang="fr-FR" sz="1350" spc="-1" strike="noStrike">
              <a:solidFill>
                <a:srgbClr val="000000"/>
              </a:solidFill>
              <a:latin typeface="Arial"/>
            </a:endParaRPr>
          </a:p>
        </p:txBody>
      </p:sp>
      <p:cxnSp>
        <p:nvCxnSpPr>
          <p:cNvPr id="208" name="Connector 4"/>
          <p:cNvCxnSpPr/>
          <p:nvPr/>
        </p:nvCxnSpPr>
        <p:spPr>
          <a:xfrm>
            <a:off x="0" y="1005840"/>
            <a:ext cx="12192480" cy="1080"/>
          </a:xfrm>
          <a:prstGeom prst="straightConnector1">
            <a:avLst/>
          </a:prstGeom>
          <a:ln w="9525">
            <a:solidFill>
              <a:srgbClr val="dddddd"/>
            </a:solidFill>
            <a:round/>
          </a:ln>
        </p:spPr>
      </p:cxnSp>
      <p:sp>
        <p:nvSpPr>
          <p:cNvPr id="209" name="TextBox 6"/>
          <p:cNvSpPr/>
          <p:nvPr/>
        </p:nvSpPr>
        <p:spPr>
          <a:xfrm>
            <a:off x="10683000" y="6437520"/>
            <a:ext cx="730440" cy="177120"/>
          </a:xfrm>
          <a:prstGeom prst="rect">
            <a:avLst/>
          </a:prstGeom>
          <a:noFill/>
          <a:ln w="0">
            <a:noFill/>
          </a:ln>
        </p:spPr>
        <p:style>
          <a:lnRef idx="0"/>
          <a:fillRef idx="0"/>
          <a:effectRef idx="0"/>
          <a:fontRef idx="minor"/>
        </p:style>
        <p:txBody>
          <a:bodyPr lIns="0" rIns="0" tIns="0" bIns="0" anchor="t">
            <a:spAutoFit/>
          </a:bodyPr>
          <a:p>
            <a:pPr algn="r" defTabSz="457200">
              <a:lnSpc>
                <a:spcPct val="106000"/>
              </a:lnSpc>
            </a:pPr>
            <a:r>
              <a:rPr b="0" lang="en-US" sz="1100" spc="-1" strike="noStrike">
                <a:solidFill>
                  <a:srgbClr val="6a6a6a"/>
                </a:solidFill>
                <a:latin typeface="Marianne"/>
              </a:rPr>
              <a:t>12</a:t>
            </a:r>
            <a:endParaRPr b="0" lang="fr-FR" sz="1100" spc="-1" strike="noStrike">
              <a:solidFill>
                <a:srgbClr val="000000"/>
              </a:solidFill>
              <a:latin typeface="Arial"/>
            </a:endParaRPr>
          </a:p>
        </p:txBody>
      </p:sp>
      <p:sp>
        <p:nvSpPr>
          <p:cNvPr id="210" name="TextBox 7"/>
          <p:cNvSpPr/>
          <p:nvPr/>
        </p:nvSpPr>
        <p:spPr>
          <a:xfrm>
            <a:off x="777240" y="1325880"/>
            <a:ext cx="10636200" cy="48168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3100" spc="-1" strike="noStrike">
                <a:solidFill>
                  <a:srgbClr val="161616"/>
                </a:solidFill>
                <a:latin typeface="Marianne"/>
              </a:rPr>
              <a:t>Long terme : un harness maison</a:t>
            </a:r>
            <a:endParaRPr b="0" lang="fr-FR" sz="3100" spc="-1" strike="noStrike">
              <a:solidFill>
                <a:srgbClr val="000000"/>
              </a:solidFill>
              <a:latin typeface="Arial"/>
            </a:endParaRPr>
          </a:p>
        </p:txBody>
      </p:sp>
      <p:sp>
        <p:nvSpPr>
          <p:cNvPr id="211" name="TextBox 8"/>
          <p:cNvSpPr/>
          <p:nvPr/>
        </p:nvSpPr>
        <p:spPr>
          <a:xfrm>
            <a:off x="777240" y="1993320"/>
            <a:ext cx="10636200" cy="26568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650" spc="-1" strike="noStrike">
                <a:solidFill>
                  <a:srgbClr val="3a3a3a"/>
                </a:solidFill>
                <a:latin typeface="Marianne"/>
              </a:rPr>
              <a:t>Construire notre propre environnement IA, maîtrisé de bout en bout.</a:t>
            </a:r>
            <a:endParaRPr b="0" lang="fr-FR" sz="1650" spc="-1" strike="noStrike">
              <a:solidFill>
                <a:srgbClr val="000000"/>
              </a:solidFill>
              <a:latin typeface="Arial"/>
            </a:endParaRPr>
          </a:p>
        </p:txBody>
      </p:sp>
      <p:sp>
        <p:nvSpPr>
          <p:cNvPr id="212" name="Rounded Rectangle 9"/>
          <p:cNvSpPr/>
          <p:nvPr/>
        </p:nvSpPr>
        <p:spPr>
          <a:xfrm>
            <a:off x="777240" y="2697480"/>
            <a:ext cx="2383920" cy="2422080"/>
          </a:xfrm>
          <a:prstGeom prst="roundRect">
            <a:avLst>
              <a:gd name="adj" fmla="val 6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213" name="Picture 10" descr="user-smile.png"/>
          <p:cNvPicPr/>
          <p:nvPr/>
        </p:nvPicPr>
        <p:blipFill>
          <a:blip r:embed="rId1"/>
          <a:stretch/>
        </p:blipFill>
        <p:spPr>
          <a:xfrm>
            <a:off x="1051560" y="3008520"/>
            <a:ext cx="510840" cy="510840"/>
          </a:xfrm>
          <a:prstGeom prst="rect">
            <a:avLst/>
          </a:prstGeom>
          <a:ln w="0">
            <a:noFill/>
          </a:ln>
        </p:spPr>
      </p:pic>
      <p:sp>
        <p:nvSpPr>
          <p:cNvPr id="214" name="TextBox 11"/>
          <p:cNvSpPr/>
          <p:nvPr/>
        </p:nvSpPr>
        <p:spPr>
          <a:xfrm>
            <a:off x="1051560" y="3703320"/>
            <a:ext cx="1872000" cy="1288080"/>
          </a:xfrm>
          <a:prstGeom prst="rect">
            <a:avLst/>
          </a:prstGeom>
          <a:noFill/>
          <a:ln w="0">
            <a:noFill/>
          </a:ln>
        </p:spPr>
        <p:style>
          <a:lnRef idx="0"/>
          <a:fillRef idx="0"/>
          <a:effectRef idx="0"/>
          <a:fontRef idx="minor"/>
        </p:style>
        <p:txBody>
          <a:bodyPr lIns="0" rIns="0" tIns="0" bIns="0" anchor="t">
            <a:spAutoFit/>
          </a:bodyPr>
          <a:p>
            <a:pPr defTabSz="457200">
              <a:lnSpc>
                <a:spcPct val="102000"/>
              </a:lnSpc>
              <a:spcAft>
                <a:spcPts val="799"/>
              </a:spcAft>
            </a:pPr>
            <a:r>
              <a:rPr b="1" lang="en-US" sz="1600" spc="-1" strike="noStrike">
                <a:solidFill>
                  <a:srgbClr val="000091"/>
                </a:solidFill>
                <a:latin typeface="Marianne"/>
              </a:rPr>
              <a:t>Expérience maîtrisée</a:t>
            </a:r>
            <a:endParaRPr b="0" lang="fr-FR" sz="1600" spc="-1" strike="noStrike">
              <a:solidFill>
                <a:srgbClr val="000000"/>
              </a:solidFill>
              <a:latin typeface="Arial"/>
            </a:endParaRPr>
          </a:p>
          <a:p>
            <a:pPr defTabSz="457200">
              <a:lnSpc>
                <a:spcPct val="112000"/>
              </a:lnSpc>
            </a:pPr>
            <a:r>
              <a:rPr b="0" lang="en-US" sz="1350" spc="-1" strike="noStrike">
                <a:solidFill>
                  <a:srgbClr val="3a3a3a"/>
                </a:solidFill>
                <a:latin typeface="Marianne"/>
              </a:rPr>
              <a:t>Embarquer les profils les moins technophiles.</a:t>
            </a:r>
            <a:endParaRPr b="0" lang="fr-FR" sz="1350" spc="-1" strike="noStrike">
              <a:solidFill>
                <a:srgbClr val="000000"/>
              </a:solidFill>
              <a:latin typeface="Arial"/>
            </a:endParaRPr>
          </a:p>
        </p:txBody>
      </p:sp>
      <p:sp>
        <p:nvSpPr>
          <p:cNvPr id="215" name="Rounded Rectangle 12"/>
          <p:cNvSpPr/>
          <p:nvPr/>
        </p:nvSpPr>
        <p:spPr>
          <a:xfrm>
            <a:off x="3528000" y="2697480"/>
            <a:ext cx="2383920" cy="2422080"/>
          </a:xfrm>
          <a:prstGeom prst="roundRect">
            <a:avLst>
              <a:gd name="adj" fmla="val 6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216" name="Picture 13" descr="focus-3.png"/>
          <p:cNvPicPr/>
          <p:nvPr/>
        </p:nvPicPr>
        <p:blipFill>
          <a:blip r:embed="rId2"/>
          <a:stretch/>
        </p:blipFill>
        <p:spPr>
          <a:xfrm>
            <a:off x="3802320" y="3008520"/>
            <a:ext cx="510840" cy="510840"/>
          </a:xfrm>
          <a:prstGeom prst="rect">
            <a:avLst/>
          </a:prstGeom>
          <a:ln w="0">
            <a:noFill/>
          </a:ln>
        </p:spPr>
      </p:pic>
      <p:sp>
        <p:nvSpPr>
          <p:cNvPr id="217" name="TextBox 14"/>
          <p:cNvSpPr/>
          <p:nvPr/>
        </p:nvSpPr>
        <p:spPr>
          <a:xfrm>
            <a:off x="3802320" y="3703320"/>
            <a:ext cx="1872000" cy="1058040"/>
          </a:xfrm>
          <a:prstGeom prst="rect">
            <a:avLst/>
          </a:prstGeom>
          <a:noFill/>
          <a:ln w="0">
            <a:noFill/>
          </a:ln>
        </p:spPr>
        <p:style>
          <a:lnRef idx="0"/>
          <a:fillRef idx="0"/>
          <a:effectRef idx="0"/>
          <a:fontRef idx="minor"/>
        </p:style>
        <p:txBody>
          <a:bodyPr lIns="0" rIns="0" tIns="0" bIns="0" anchor="t">
            <a:spAutoFit/>
          </a:bodyPr>
          <a:p>
            <a:pPr defTabSz="457200">
              <a:lnSpc>
                <a:spcPct val="102000"/>
              </a:lnSpc>
              <a:spcAft>
                <a:spcPts val="799"/>
              </a:spcAft>
            </a:pPr>
            <a:r>
              <a:rPr b="1" lang="en-US" sz="1600" spc="-1" strike="noStrike">
                <a:solidFill>
                  <a:srgbClr val="000091"/>
                </a:solidFill>
                <a:latin typeface="Marianne"/>
              </a:rPr>
              <a:t>Périmètre maîtrisé</a:t>
            </a:r>
            <a:endParaRPr b="0" lang="fr-FR" sz="1600" spc="-1" strike="noStrike">
              <a:solidFill>
                <a:srgbClr val="000000"/>
              </a:solidFill>
              <a:latin typeface="Arial"/>
            </a:endParaRPr>
          </a:p>
          <a:p>
            <a:pPr defTabSz="457200">
              <a:lnSpc>
                <a:spcPct val="112000"/>
              </a:lnSpc>
            </a:pPr>
            <a:r>
              <a:rPr b="0" lang="en-US" sz="1350" spc="-1" strike="noStrike">
                <a:solidFill>
                  <a:srgbClr val="3a3a3a"/>
                </a:solidFill>
                <a:latin typeface="Marianne"/>
              </a:rPr>
              <a:t>Contrôler les besoins auxquels l’outil répond.</a:t>
            </a:r>
            <a:endParaRPr b="0" lang="fr-FR" sz="1350" spc="-1" strike="noStrike">
              <a:solidFill>
                <a:srgbClr val="000000"/>
              </a:solidFill>
              <a:latin typeface="Arial"/>
            </a:endParaRPr>
          </a:p>
        </p:txBody>
      </p:sp>
      <p:sp>
        <p:nvSpPr>
          <p:cNvPr id="218" name="Rounded Rectangle 15"/>
          <p:cNvSpPr/>
          <p:nvPr/>
        </p:nvSpPr>
        <p:spPr>
          <a:xfrm>
            <a:off x="6278760" y="2697480"/>
            <a:ext cx="2383920" cy="2422080"/>
          </a:xfrm>
          <a:prstGeom prst="roundRect">
            <a:avLst>
              <a:gd name="adj" fmla="val 6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219" name="Picture 16" descr="shield-check.png"/>
          <p:cNvPicPr/>
          <p:nvPr/>
        </p:nvPicPr>
        <p:blipFill>
          <a:blip r:embed="rId3"/>
          <a:stretch/>
        </p:blipFill>
        <p:spPr>
          <a:xfrm>
            <a:off x="6553080" y="3008520"/>
            <a:ext cx="510840" cy="510840"/>
          </a:xfrm>
          <a:prstGeom prst="rect">
            <a:avLst/>
          </a:prstGeom>
          <a:ln w="0">
            <a:noFill/>
          </a:ln>
        </p:spPr>
      </p:pic>
      <p:sp>
        <p:nvSpPr>
          <p:cNvPr id="220" name="TextBox 17"/>
          <p:cNvSpPr/>
          <p:nvPr/>
        </p:nvSpPr>
        <p:spPr>
          <a:xfrm>
            <a:off x="6553080" y="3703320"/>
            <a:ext cx="1872000" cy="1288080"/>
          </a:xfrm>
          <a:prstGeom prst="rect">
            <a:avLst/>
          </a:prstGeom>
          <a:noFill/>
          <a:ln w="0">
            <a:noFill/>
          </a:ln>
        </p:spPr>
        <p:style>
          <a:lnRef idx="0"/>
          <a:fillRef idx="0"/>
          <a:effectRef idx="0"/>
          <a:fontRef idx="minor"/>
        </p:style>
        <p:txBody>
          <a:bodyPr lIns="0" rIns="0" tIns="0" bIns="0" anchor="t">
            <a:spAutoFit/>
          </a:bodyPr>
          <a:p>
            <a:pPr defTabSz="457200">
              <a:lnSpc>
                <a:spcPct val="102000"/>
              </a:lnSpc>
              <a:spcAft>
                <a:spcPts val="799"/>
              </a:spcAft>
            </a:pPr>
            <a:r>
              <a:rPr b="1" lang="en-US" sz="1600" spc="-1" strike="noStrike">
                <a:solidFill>
                  <a:srgbClr val="000091"/>
                </a:solidFill>
                <a:latin typeface="Marianne"/>
              </a:rPr>
              <a:t>Conformité intégrée</a:t>
            </a:r>
            <a:endParaRPr b="0" lang="fr-FR" sz="1600" spc="-1" strike="noStrike">
              <a:solidFill>
                <a:srgbClr val="000000"/>
              </a:solidFill>
              <a:latin typeface="Arial"/>
            </a:endParaRPr>
          </a:p>
          <a:p>
            <a:pPr defTabSz="457200">
              <a:lnSpc>
                <a:spcPct val="112000"/>
              </a:lnSpc>
            </a:pPr>
            <a:r>
              <a:rPr b="0" lang="en-US" sz="1350" spc="-1" strike="noStrike">
                <a:solidFill>
                  <a:srgbClr val="3a3a3a"/>
                </a:solidFill>
                <a:latin typeface="Marianne"/>
              </a:rPr>
              <a:t>Intégrer accessibilité et conformité dans les réalisations.</a:t>
            </a:r>
            <a:endParaRPr b="0" lang="fr-FR" sz="1350" spc="-1" strike="noStrike">
              <a:solidFill>
                <a:srgbClr val="000000"/>
              </a:solidFill>
              <a:latin typeface="Arial"/>
            </a:endParaRPr>
          </a:p>
        </p:txBody>
      </p:sp>
      <p:sp>
        <p:nvSpPr>
          <p:cNvPr id="221" name="Rounded Rectangle 18"/>
          <p:cNvSpPr/>
          <p:nvPr/>
        </p:nvSpPr>
        <p:spPr>
          <a:xfrm>
            <a:off x="9029520" y="2697480"/>
            <a:ext cx="2383920" cy="2422080"/>
          </a:xfrm>
          <a:prstGeom prst="roundRect">
            <a:avLst>
              <a:gd name="adj" fmla="val 6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222" name="Picture 19" descr="bank.png"/>
          <p:cNvPicPr/>
          <p:nvPr/>
        </p:nvPicPr>
        <p:blipFill>
          <a:blip r:embed="rId4"/>
          <a:stretch/>
        </p:blipFill>
        <p:spPr>
          <a:xfrm>
            <a:off x="9303840" y="3008520"/>
            <a:ext cx="510840" cy="510840"/>
          </a:xfrm>
          <a:prstGeom prst="rect">
            <a:avLst/>
          </a:prstGeom>
          <a:ln w="0">
            <a:noFill/>
          </a:ln>
        </p:spPr>
      </p:pic>
      <p:sp>
        <p:nvSpPr>
          <p:cNvPr id="223" name="TextBox 20"/>
          <p:cNvSpPr/>
          <p:nvPr/>
        </p:nvSpPr>
        <p:spPr>
          <a:xfrm>
            <a:off x="9303840" y="3703320"/>
            <a:ext cx="1872000" cy="1058040"/>
          </a:xfrm>
          <a:prstGeom prst="rect">
            <a:avLst/>
          </a:prstGeom>
          <a:noFill/>
          <a:ln w="0">
            <a:noFill/>
          </a:ln>
        </p:spPr>
        <p:style>
          <a:lnRef idx="0"/>
          <a:fillRef idx="0"/>
          <a:effectRef idx="0"/>
          <a:fontRef idx="minor"/>
        </p:style>
        <p:txBody>
          <a:bodyPr lIns="0" rIns="0" tIns="0" bIns="0" anchor="t">
            <a:spAutoFit/>
          </a:bodyPr>
          <a:p>
            <a:pPr defTabSz="457200">
              <a:lnSpc>
                <a:spcPct val="102000"/>
              </a:lnSpc>
              <a:spcAft>
                <a:spcPts val="799"/>
              </a:spcAft>
            </a:pPr>
            <a:r>
              <a:rPr b="1" lang="en-US" sz="1600" spc="-1" strike="noStrike">
                <a:solidFill>
                  <a:srgbClr val="000091"/>
                </a:solidFill>
                <a:latin typeface="Marianne"/>
              </a:rPr>
              <a:t>Souveraineté &amp; stabilité</a:t>
            </a:r>
            <a:endParaRPr b="0" lang="fr-FR" sz="1600" spc="-1" strike="noStrike">
              <a:solidFill>
                <a:srgbClr val="000000"/>
              </a:solidFill>
              <a:latin typeface="Arial"/>
            </a:endParaRPr>
          </a:p>
          <a:p>
            <a:pPr defTabSz="457200">
              <a:lnSpc>
                <a:spcPct val="112000"/>
              </a:lnSpc>
            </a:pPr>
            <a:r>
              <a:rPr b="0" lang="en-US" sz="1350" spc="-1" strike="noStrike">
                <a:solidFill>
                  <a:srgbClr val="3a3a3a"/>
                </a:solidFill>
                <a:latin typeface="Marianne"/>
              </a:rPr>
              <a:t>Indépendance vis-à-vis des fournisseurs.</a:t>
            </a:r>
            <a:endParaRPr b="0" lang="fr-FR" sz="1350" spc="-1" strike="noStrike">
              <a:solidFill>
                <a:srgbClr val="000000"/>
              </a:solidFill>
              <a:latin typeface="Arial"/>
            </a:endParaRPr>
          </a:p>
        </p:txBody>
      </p:sp>
      <p:pic>
        <p:nvPicPr>
          <p:cNvPr id="224" name="" descr=""/>
          <p:cNvPicPr/>
          <p:nvPr/>
        </p:nvPicPr>
        <p:blipFill>
          <a:blip r:embed="rId5"/>
          <a:stretch/>
        </p:blipFill>
        <p:spPr>
          <a:xfrm>
            <a:off x="1219320" y="3144240"/>
            <a:ext cx="88560" cy="95040"/>
          </a:xfrm>
          <a:prstGeom prst="rect">
            <a:avLst/>
          </a:prstGeom>
          <a:ln w="0">
            <a:noFill/>
          </a:ln>
        </p:spPr>
      </p:pic>
      <p:pic>
        <p:nvPicPr>
          <p:cNvPr id="225" name="" descr=""/>
          <p:cNvPicPr/>
          <p:nvPr/>
        </p:nvPicPr>
        <p:blipFill>
          <a:blip r:embed="rId6"/>
          <a:stretch/>
        </p:blipFill>
        <p:spPr>
          <a:xfrm>
            <a:off x="1308600" y="3144240"/>
            <a:ext cx="88560" cy="95040"/>
          </a:xfrm>
          <a:prstGeom prst="rect">
            <a:avLst/>
          </a:prstGeom>
          <a:ln w="0">
            <a:noFill/>
          </a:ln>
        </p:spPr>
      </p:pic>
      <p:pic>
        <p:nvPicPr>
          <p:cNvPr id="226" name="Picture 23" descr="logo.png"/>
          <p:cNvPicPr/>
          <p:nvPr/>
        </p:nvPicPr>
        <p:blipFill>
          <a:blip r:embed="rId7"/>
          <a:srcRect l="0" t="0" r="0" b="14936"/>
          <a:stretch/>
        </p:blipFill>
        <p:spPr>
          <a:xfrm>
            <a:off x="777600" y="166680"/>
            <a:ext cx="1382040" cy="80460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Rectangle 2"/>
          <p:cNvSpPr/>
          <p:nvPr/>
        </p:nvSpPr>
        <p:spPr>
          <a:xfrm>
            <a:off x="0" y="0"/>
            <a:ext cx="12190680" cy="685692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228" name="TextBox 21"/>
          <p:cNvSpPr/>
          <p:nvPr/>
        </p:nvSpPr>
        <p:spPr>
          <a:xfrm>
            <a:off x="7574040" y="274320"/>
            <a:ext cx="3839400" cy="430920"/>
          </a:xfrm>
          <a:prstGeom prst="rect">
            <a:avLst/>
          </a:prstGeom>
          <a:noFill/>
          <a:ln w="0">
            <a:noFill/>
          </a:ln>
        </p:spPr>
        <p:style>
          <a:lnRef idx="0"/>
          <a:fillRef idx="0"/>
          <a:effectRef idx="0"/>
          <a:fontRef idx="minor"/>
        </p:style>
        <p:txBody>
          <a:bodyPr lIns="0" rIns="0" tIns="0" bIns="0" anchor="t">
            <a:spAutoFit/>
          </a:bodyPr>
          <a:p>
            <a:pPr algn="r" defTabSz="457200">
              <a:lnSpc>
                <a:spcPct val="105000"/>
              </a:lnSpc>
            </a:pPr>
            <a:r>
              <a:rPr b="1" lang="en-US" sz="1350" spc="-1" strike="noStrike">
                <a:solidFill>
                  <a:srgbClr val="161616"/>
                </a:solidFill>
                <a:latin typeface="Marianne"/>
              </a:rPr>
              <a:t>Secrétariat général</a:t>
            </a:r>
            <a:endParaRPr b="0" lang="fr-FR" sz="1350" spc="-1" strike="noStrike">
              <a:solidFill>
                <a:srgbClr val="000000"/>
              </a:solidFill>
              <a:latin typeface="Arial"/>
            </a:endParaRPr>
          </a:p>
          <a:p>
            <a:pPr algn="r" defTabSz="457200">
              <a:lnSpc>
                <a:spcPct val="105000"/>
              </a:lnSpc>
            </a:pPr>
            <a:r>
              <a:rPr b="0" lang="en-US" sz="1350" spc="-1" strike="noStrike">
                <a:solidFill>
                  <a:srgbClr val="3a3a3a"/>
                </a:solidFill>
                <a:latin typeface="Marianne"/>
              </a:rPr>
              <a:t>Direction du numérique</a:t>
            </a:r>
            <a:endParaRPr b="0" lang="fr-FR" sz="1350" spc="-1" strike="noStrike">
              <a:solidFill>
                <a:srgbClr val="000000"/>
              </a:solidFill>
              <a:latin typeface="Arial"/>
            </a:endParaRPr>
          </a:p>
        </p:txBody>
      </p:sp>
      <p:cxnSp>
        <p:nvCxnSpPr>
          <p:cNvPr id="229" name="Connector 2"/>
          <p:cNvCxnSpPr/>
          <p:nvPr/>
        </p:nvCxnSpPr>
        <p:spPr>
          <a:xfrm>
            <a:off x="0" y="1005840"/>
            <a:ext cx="12192480" cy="1080"/>
          </a:xfrm>
          <a:prstGeom prst="straightConnector1">
            <a:avLst/>
          </a:prstGeom>
          <a:ln w="9525">
            <a:solidFill>
              <a:srgbClr val="dddddd"/>
            </a:solidFill>
            <a:round/>
          </a:ln>
        </p:spPr>
      </p:cxnSp>
      <p:sp>
        <p:nvSpPr>
          <p:cNvPr id="230" name="TextBox 27"/>
          <p:cNvSpPr/>
          <p:nvPr/>
        </p:nvSpPr>
        <p:spPr>
          <a:xfrm>
            <a:off x="10683000" y="6437520"/>
            <a:ext cx="730440" cy="177120"/>
          </a:xfrm>
          <a:prstGeom prst="rect">
            <a:avLst/>
          </a:prstGeom>
          <a:noFill/>
          <a:ln w="0">
            <a:noFill/>
          </a:ln>
        </p:spPr>
        <p:style>
          <a:lnRef idx="0"/>
          <a:fillRef idx="0"/>
          <a:effectRef idx="0"/>
          <a:fontRef idx="minor"/>
        </p:style>
        <p:txBody>
          <a:bodyPr lIns="0" rIns="0" tIns="0" bIns="0" anchor="t">
            <a:spAutoFit/>
          </a:bodyPr>
          <a:p>
            <a:pPr algn="r" defTabSz="457200">
              <a:lnSpc>
                <a:spcPct val="106000"/>
              </a:lnSpc>
            </a:pPr>
            <a:r>
              <a:rPr b="0" lang="en-US" sz="1100" spc="-1" strike="noStrike">
                <a:solidFill>
                  <a:srgbClr val="6a6a6a"/>
                </a:solidFill>
                <a:latin typeface="Marianne"/>
              </a:rPr>
              <a:t>13</a:t>
            </a:r>
            <a:endParaRPr b="0" lang="fr-FR" sz="1100" spc="-1" strike="noStrike">
              <a:solidFill>
                <a:srgbClr val="000000"/>
              </a:solidFill>
              <a:latin typeface="Arial"/>
            </a:endParaRPr>
          </a:p>
        </p:txBody>
      </p:sp>
      <p:sp>
        <p:nvSpPr>
          <p:cNvPr id="231" name="TextBox 28"/>
          <p:cNvSpPr/>
          <p:nvPr/>
        </p:nvSpPr>
        <p:spPr>
          <a:xfrm>
            <a:off x="777240" y="1325880"/>
            <a:ext cx="10636200" cy="51228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3300" spc="-1" strike="noStrike">
                <a:solidFill>
                  <a:srgbClr val="161616"/>
                </a:solidFill>
                <a:latin typeface="Marianne"/>
              </a:rPr>
              <a:t>Où nous en sommes</a:t>
            </a:r>
            <a:endParaRPr b="0" lang="fr-FR" sz="3300" spc="-1" strike="noStrike">
              <a:solidFill>
                <a:srgbClr val="000000"/>
              </a:solidFill>
              <a:latin typeface="Arial"/>
            </a:endParaRPr>
          </a:p>
        </p:txBody>
      </p:sp>
      <p:sp>
        <p:nvSpPr>
          <p:cNvPr id="232" name="TextBox 29"/>
          <p:cNvSpPr/>
          <p:nvPr/>
        </p:nvSpPr>
        <p:spPr>
          <a:xfrm>
            <a:off x="777240" y="2194560"/>
            <a:ext cx="5088960" cy="29016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1" lang="en-US" sz="1800" spc="-1" strike="noStrike">
                <a:solidFill>
                  <a:srgbClr val="000091"/>
                </a:solidFill>
                <a:latin typeface="Marianne"/>
              </a:rPr>
              <a:t>Ce qui est réalisé</a:t>
            </a:r>
            <a:endParaRPr b="0" lang="fr-FR" sz="1800" spc="-1" strike="noStrike">
              <a:solidFill>
                <a:srgbClr val="000000"/>
              </a:solidFill>
              <a:latin typeface="Arial"/>
            </a:endParaRPr>
          </a:p>
        </p:txBody>
      </p:sp>
      <p:sp>
        <p:nvSpPr>
          <p:cNvPr id="233" name="TextBox 30"/>
          <p:cNvSpPr/>
          <p:nvPr/>
        </p:nvSpPr>
        <p:spPr>
          <a:xfrm>
            <a:off x="777240" y="2724840"/>
            <a:ext cx="5088960" cy="2667240"/>
          </a:xfrm>
          <a:prstGeom prst="rect">
            <a:avLst/>
          </a:prstGeom>
          <a:noFill/>
          <a:ln w="0">
            <a:noFill/>
          </a:ln>
        </p:spPr>
        <p:style>
          <a:lnRef idx="0"/>
          <a:fillRef idx="0"/>
          <a:effectRef idx="0"/>
          <a:fontRef idx="minor"/>
        </p:style>
        <p:txBody>
          <a:bodyPr lIns="0" rIns="0" tIns="0" bIns="0" anchor="t">
            <a:spAutoFit/>
          </a:bodyPr>
          <a:p>
            <a:pPr marL="201240" indent="-201240" defTabSz="457200">
              <a:lnSpc>
                <a:spcPct val="110000"/>
              </a:lnSpc>
              <a:spcAft>
                <a:spcPts val="799"/>
              </a:spcAft>
              <a:tabLst>
                <a:tab algn="l" pos="0"/>
              </a:tabLst>
            </a:pPr>
            <a:r>
              <a:rPr b="0" lang="en-US" sz="1200" spc="-1" strike="noStrike">
                <a:solidFill>
                  <a:srgbClr val="6a6af4"/>
                </a:solidFill>
                <a:latin typeface="Marianne"/>
              </a:rPr>
              <a:t>▪  </a:t>
            </a:r>
            <a:r>
              <a:rPr b="0" lang="en-US" sz="1500" spc="-1" strike="noStrike">
                <a:solidFill>
                  <a:srgbClr val="3a3a3a"/>
                </a:solidFill>
                <a:latin typeface="Marianne"/>
              </a:rPr>
              <a:t>Cinq équipes rencontrées : SRDT, DACCORD, Egapro, DomiFA, SIRENA.</a:t>
            </a:r>
            <a:endParaRPr b="0" lang="fr-FR" sz="1500" spc="-1" strike="noStrike">
              <a:solidFill>
                <a:srgbClr val="000000"/>
              </a:solidFill>
              <a:latin typeface="Arial"/>
            </a:endParaRPr>
          </a:p>
          <a:p>
            <a:pPr marL="201240" indent="-201240" defTabSz="457200">
              <a:lnSpc>
                <a:spcPct val="110000"/>
              </a:lnSpc>
              <a:spcAft>
                <a:spcPts val="799"/>
              </a:spcAft>
              <a:tabLst>
                <a:tab algn="l" pos="0"/>
              </a:tabLst>
            </a:pPr>
            <a:r>
              <a:rPr b="0" lang="en-US" sz="1200" spc="-1" strike="noStrike">
                <a:solidFill>
                  <a:srgbClr val="6a6af4"/>
                </a:solidFill>
                <a:latin typeface="Marianne"/>
              </a:rPr>
              <a:t>▪  </a:t>
            </a:r>
            <a:r>
              <a:rPr b="0" lang="en-US" sz="1500" spc="-1" strike="noStrike">
                <a:solidFill>
                  <a:srgbClr val="3a3a3a"/>
                </a:solidFill>
                <a:latin typeface="Marianne"/>
              </a:rPr>
              <a:t>Métiers rencontrés : architectes, products, designers, développeurs.</a:t>
            </a:r>
            <a:endParaRPr b="0" lang="fr-FR" sz="1500" spc="-1" strike="noStrike">
              <a:solidFill>
                <a:srgbClr val="000000"/>
              </a:solidFill>
              <a:latin typeface="Arial"/>
            </a:endParaRPr>
          </a:p>
          <a:p>
            <a:pPr marL="201240" indent="-201240" defTabSz="457200">
              <a:lnSpc>
                <a:spcPct val="110000"/>
              </a:lnSpc>
              <a:spcAft>
                <a:spcPts val="799"/>
              </a:spcAft>
              <a:tabLst>
                <a:tab algn="l" pos="0"/>
              </a:tabLst>
            </a:pPr>
            <a:r>
              <a:rPr b="0" lang="en-US" sz="1200" spc="-1" strike="noStrike">
                <a:solidFill>
                  <a:srgbClr val="6a6af4"/>
                </a:solidFill>
                <a:latin typeface="Marianne"/>
              </a:rPr>
              <a:t>▪  </a:t>
            </a:r>
            <a:r>
              <a:rPr b="0" lang="en-US" sz="1500" spc="-1" strike="noStrike">
                <a:solidFill>
                  <a:srgbClr val="3a3a3a"/>
                </a:solidFill>
                <a:latin typeface="Marianne"/>
              </a:rPr>
              <a:t>Échanges menés sur l’accessibilité/RGAA (Dominique) et l’outillage interne (V. Degliame).</a:t>
            </a:r>
            <a:endParaRPr b="0" lang="fr-FR" sz="1500" spc="-1" strike="noStrike">
              <a:solidFill>
                <a:srgbClr val="000000"/>
              </a:solidFill>
              <a:latin typeface="Arial"/>
            </a:endParaRPr>
          </a:p>
          <a:p>
            <a:pPr marL="201240" indent="-201240" defTabSz="457200">
              <a:lnSpc>
                <a:spcPct val="110000"/>
              </a:lnSpc>
              <a:spcAft>
                <a:spcPts val="799"/>
              </a:spcAft>
              <a:tabLst>
                <a:tab algn="l" pos="0"/>
              </a:tabLst>
            </a:pPr>
            <a:r>
              <a:rPr b="0" lang="en-US" sz="1200" spc="-1" strike="noStrike">
                <a:solidFill>
                  <a:srgbClr val="6a6af4"/>
                </a:solidFill>
                <a:latin typeface="Marianne"/>
              </a:rPr>
              <a:t>▪  </a:t>
            </a:r>
            <a:r>
              <a:rPr b="0" lang="en-US" sz="1500" spc="-1" strike="noStrike">
                <a:solidFill>
                  <a:srgbClr val="3a3a3a"/>
                </a:solidFill>
                <a:latin typeface="Marianne"/>
              </a:rPr>
              <a:t>Egapro : usage avancé de Claude observé, premières pistes proposées.</a:t>
            </a:r>
            <a:endParaRPr b="0" lang="fr-FR" sz="1500" spc="-1" strike="noStrike">
              <a:solidFill>
                <a:srgbClr val="000000"/>
              </a:solidFill>
              <a:latin typeface="Arial"/>
            </a:endParaRPr>
          </a:p>
          <a:p>
            <a:pPr marL="201240" indent="-201240" defTabSz="457200">
              <a:lnSpc>
                <a:spcPct val="110000"/>
              </a:lnSpc>
              <a:spcAft>
                <a:spcPts val="799"/>
              </a:spcAft>
              <a:tabLst>
                <a:tab algn="l" pos="0"/>
              </a:tabLst>
            </a:pPr>
            <a:r>
              <a:rPr b="0" lang="en-US" sz="1200" spc="-1" strike="noStrike">
                <a:solidFill>
                  <a:srgbClr val="6a6af4"/>
                </a:solidFill>
                <a:latin typeface="Marianne"/>
              </a:rPr>
              <a:t>▪  </a:t>
            </a:r>
            <a:r>
              <a:rPr b="0" lang="en-US" sz="1500" spc="-1" strike="noStrike">
                <a:solidFill>
                  <a:srgbClr val="3a3a3a"/>
                </a:solidFill>
                <a:latin typeface="Marianne"/>
              </a:rPr>
              <a:t>Un plan d’action structuré sur trois horizons.</a:t>
            </a:r>
            <a:endParaRPr b="0" lang="fr-FR" sz="1500" spc="-1" strike="noStrike">
              <a:solidFill>
                <a:srgbClr val="000000"/>
              </a:solidFill>
              <a:latin typeface="Arial"/>
            </a:endParaRPr>
          </a:p>
        </p:txBody>
      </p:sp>
      <p:sp>
        <p:nvSpPr>
          <p:cNvPr id="234" name="TextBox 31"/>
          <p:cNvSpPr/>
          <p:nvPr/>
        </p:nvSpPr>
        <p:spPr>
          <a:xfrm>
            <a:off x="6324480" y="2194560"/>
            <a:ext cx="5088960" cy="29016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1" lang="en-US" sz="1800" spc="-1" strike="noStrike">
                <a:solidFill>
                  <a:srgbClr val="000091"/>
                </a:solidFill>
                <a:latin typeface="Marianne"/>
              </a:rPr>
              <a:t>Prochaines étapes</a:t>
            </a:r>
            <a:endParaRPr b="0" lang="fr-FR" sz="1800" spc="-1" strike="noStrike">
              <a:solidFill>
                <a:srgbClr val="000000"/>
              </a:solidFill>
              <a:latin typeface="Arial"/>
            </a:endParaRPr>
          </a:p>
        </p:txBody>
      </p:sp>
      <p:sp>
        <p:nvSpPr>
          <p:cNvPr id="235" name="TextBox 32"/>
          <p:cNvSpPr/>
          <p:nvPr/>
        </p:nvSpPr>
        <p:spPr>
          <a:xfrm>
            <a:off x="6324480" y="2724840"/>
            <a:ext cx="5088960" cy="3020040"/>
          </a:xfrm>
          <a:prstGeom prst="rect">
            <a:avLst/>
          </a:prstGeom>
          <a:noFill/>
          <a:ln w="0">
            <a:noFill/>
          </a:ln>
        </p:spPr>
        <p:style>
          <a:lnRef idx="0"/>
          <a:fillRef idx="0"/>
          <a:effectRef idx="0"/>
          <a:fontRef idx="minor"/>
        </p:style>
        <p:txBody>
          <a:bodyPr lIns="0" rIns="0" tIns="0" bIns="0" anchor="t">
            <a:spAutoFit/>
          </a:bodyPr>
          <a:p>
            <a:pPr marL="201240" indent="-201240" defTabSz="457200">
              <a:lnSpc>
                <a:spcPct val="110000"/>
              </a:lnSpc>
              <a:spcAft>
                <a:spcPts val="799"/>
              </a:spcAft>
              <a:tabLst>
                <a:tab algn="l" pos="0"/>
              </a:tabLst>
            </a:pPr>
            <a:r>
              <a:rPr b="0" lang="en-US" sz="1200" spc="-1" strike="noStrike">
                <a:solidFill>
                  <a:srgbClr val="6a6af4"/>
                </a:solidFill>
                <a:latin typeface="Marianne"/>
              </a:rPr>
              <a:t>▪  </a:t>
            </a:r>
            <a:r>
              <a:rPr b="0" lang="en-US" sz="1500" spc="-1" strike="noStrike">
                <a:solidFill>
                  <a:srgbClr val="3a3a3a"/>
                </a:solidFill>
                <a:latin typeface="Marianne"/>
              </a:rPr>
              <a:t>Architectes : outiller la génération de DA avec l’IA.</a:t>
            </a:r>
            <a:endParaRPr b="0" lang="fr-FR" sz="1500" spc="-1" strike="noStrike">
              <a:solidFill>
                <a:srgbClr val="000000"/>
              </a:solidFill>
              <a:latin typeface="Arial"/>
            </a:endParaRPr>
          </a:p>
          <a:p>
            <a:pPr marL="201240" indent="-201240" defTabSz="457200">
              <a:lnSpc>
                <a:spcPct val="110000"/>
              </a:lnSpc>
              <a:spcAft>
                <a:spcPts val="799"/>
              </a:spcAft>
              <a:tabLst>
                <a:tab algn="l" pos="0"/>
              </a:tabLst>
            </a:pPr>
            <a:r>
              <a:rPr b="0" lang="en-US" sz="1200" spc="-1" strike="noStrike">
                <a:solidFill>
                  <a:srgbClr val="6a6af4"/>
                </a:solidFill>
                <a:latin typeface="Marianne"/>
              </a:rPr>
              <a:t>▪  </a:t>
            </a:r>
            <a:r>
              <a:rPr b="0" lang="en-US" sz="1500" spc="-1" strike="noStrike">
                <a:solidFill>
                  <a:srgbClr val="3a3a3a"/>
                </a:solidFill>
                <a:latin typeface="Marianne"/>
              </a:rPr>
              <a:t>Chefs de projet : en rencontrer plus, lancer le pré-audit d’homologation continu.</a:t>
            </a:r>
            <a:endParaRPr b="0" lang="fr-FR" sz="1500" spc="-1" strike="noStrike">
              <a:solidFill>
                <a:srgbClr val="000000"/>
              </a:solidFill>
              <a:latin typeface="Arial"/>
            </a:endParaRPr>
          </a:p>
          <a:p>
            <a:pPr marL="201240" indent="-201240" defTabSz="457200">
              <a:lnSpc>
                <a:spcPct val="110000"/>
              </a:lnSpc>
              <a:spcAft>
                <a:spcPts val="799"/>
              </a:spcAft>
              <a:tabLst>
                <a:tab algn="l" pos="0"/>
              </a:tabLst>
            </a:pPr>
            <a:r>
              <a:rPr b="0" lang="en-US" sz="1200" spc="-1" strike="noStrike">
                <a:solidFill>
                  <a:srgbClr val="6a6af4"/>
                </a:solidFill>
                <a:latin typeface="Marianne"/>
              </a:rPr>
              <a:t>▪  </a:t>
            </a:r>
            <a:r>
              <a:rPr b="0" lang="en-US" sz="1500" spc="-1" strike="noStrike">
                <a:solidFill>
                  <a:srgbClr val="3a3a3a"/>
                </a:solidFill>
                <a:latin typeface="Marianne"/>
              </a:rPr>
              <a:t>Designers : créer les premiers skills d’UX et d’audit UX, analyser les autres besoins.</a:t>
            </a:r>
            <a:endParaRPr b="0" lang="fr-FR" sz="1500" spc="-1" strike="noStrike">
              <a:solidFill>
                <a:srgbClr val="000000"/>
              </a:solidFill>
              <a:latin typeface="Arial"/>
            </a:endParaRPr>
          </a:p>
          <a:p>
            <a:pPr marL="201240" indent="-201240" defTabSz="457200">
              <a:lnSpc>
                <a:spcPct val="110000"/>
              </a:lnSpc>
              <a:spcAft>
                <a:spcPts val="799"/>
              </a:spcAft>
              <a:tabLst>
                <a:tab algn="l" pos="0"/>
              </a:tabLst>
            </a:pPr>
            <a:r>
              <a:rPr b="0" lang="en-US" sz="1200" spc="-1" strike="noStrike">
                <a:solidFill>
                  <a:srgbClr val="6a6af4"/>
                </a:solidFill>
                <a:latin typeface="Marianne"/>
              </a:rPr>
              <a:t>▪  </a:t>
            </a:r>
            <a:r>
              <a:rPr b="0" lang="en-US" sz="1500" spc="-1" strike="noStrike">
                <a:solidFill>
                  <a:srgbClr val="3a3a3a"/>
                </a:solidFill>
                <a:latin typeface="Marianne"/>
              </a:rPr>
              <a:t>Développeurs : aller vers ceux en difficulté avec l’IA et les guider.</a:t>
            </a:r>
            <a:endParaRPr b="0" lang="fr-FR" sz="1500" spc="-1" strike="noStrike">
              <a:solidFill>
                <a:srgbClr val="000000"/>
              </a:solidFill>
              <a:latin typeface="Arial"/>
            </a:endParaRPr>
          </a:p>
          <a:p>
            <a:pPr marL="201240" indent="-201240" defTabSz="457200">
              <a:lnSpc>
                <a:spcPct val="110000"/>
              </a:lnSpc>
              <a:spcAft>
                <a:spcPts val="799"/>
              </a:spcAft>
              <a:tabLst>
                <a:tab algn="l" pos="0"/>
              </a:tabLst>
            </a:pPr>
            <a:r>
              <a:rPr b="0" lang="en-US" sz="1200" spc="-1" strike="noStrike">
                <a:solidFill>
                  <a:srgbClr val="6a6af4"/>
                </a:solidFill>
                <a:latin typeface="Marianne"/>
              </a:rPr>
              <a:t>▪  </a:t>
            </a:r>
            <a:r>
              <a:rPr b="0" lang="en-US" sz="1500" spc="-1" strike="noStrike">
                <a:solidFill>
                  <a:srgbClr val="3a3a3a"/>
                </a:solidFill>
                <a:latin typeface="Marianne"/>
              </a:rPr>
              <a:t>Préparer la communauté de référents IA ; anticiper licences Claude &amp; lien DINUM.</a:t>
            </a:r>
            <a:endParaRPr b="0" lang="fr-FR" sz="1500" spc="-1" strike="noStrike">
              <a:solidFill>
                <a:srgbClr val="000000"/>
              </a:solidFill>
              <a:latin typeface="Arial"/>
            </a:endParaRPr>
          </a:p>
          <a:p>
            <a:pPr marL="201240" indent="-201240" defTabSz="457200">
              <a:lnSpc>
                <a:spcPct val="110000"/>
              </a:lnSpc>
              <a:spcAft>
                <a:spcPts val="799"/>
              </a:spcAft>
              <a:tabLst>
                <a:tab algn="l" pos="0"/>
              </a:tabLst>
            </a:pPr>
            <a:r>
              <a:rPr b="0" lang="en-US" sz="1200" spc="-1" strike="noStrike">
                <a:solidFill>
                  <a:srgbClr val="6a6af4"/>
                </a:solidFill>
                <a:latin typeface="Marianne"/>
              </a:rPr>
              <a:t>▪  </a:t>
            </a:r>
            <a:r>
              <a:rPr b="0" lang="en-US" sz="1500" spc="-1" strike="noStrike">
                <a:solidFill>
                  <a:srgbClr val="3a3a3a"/>
                </a:solidFill>
                <a:latin typeface="Marianne"/>
              </a:rPr>
              <a:t>Poser les bases d’un Harness maison</a:t>
            </a:r>
            <a:endParaRPr b="0" lang="fr-FR" sz="1500" spc="-1" strike="noStrike">
              <a:solidFill>
                <a:srgbClr val="000000"/>
              </a:solidFill>
              <a:latin typeface="Arial"/>
            </a:endParaRPr>
          </a:p>
        </p:txBody>
      </p:sp>
      <p:pic>
        <p:nvPicPr>
          <p:cNvPr id="236" name="Picture 24" descr="logo.png"/>
          <p:cNvPicPr/>
          <p:nvPr/>
        </p:nvPicPr>
        <p:blipFill>
          <a:blip r:embed="rId1"/>
          <a:srcRect l="0" t="0" r="0" b="14936"/>
          <a:stretch/>
        </p:blipFill>
        <p:spPr>
          <a:xfrm>
            <a:off x="777600" y="166680"/>
            <a:ext cx="1382040" cy="80460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44</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fr-FR</dc:language>
  <cp:lastModifiedBy/>
  <cp:lastPrinted>2026-06-25T17:15:13Z</cp:lastPrinted>
  <dcterms:modified xsi:type="dcterms:W3CDTF">2026-06-26T09:58:47Z</dcterms:modified>
  <cp:revision>14</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