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3.png" ContentType="image/png"/>
  <Override PartName="/ppt/media/image4.png" ContentType="image/png"/>
  <Override PartName="/ppt/media/image9.png" ContentType="image/png"/>
  <Override PartName="/ppt/media/image18.png" ContentType="image/png"/>
  <Override PartName="/ppt/media/image20.png" ContentType="image/png"/>
  <Override PartName="/ppt/media/image12.png" ContentType="image/png"/>
  <Override PartName="/ppt/media/image3.png" ContentType="image/png"/>
  <Override PartName="/ppt/media/image8.png" ContentType="image/png"/>
  <Override PartName="/ppt/media/image17.png" ContentType="image/png"/>
  <Override PartName="/ppt/media/image23.png" ContentType="image/png"/>
  <Override PartName="/ppt/media/image22.png" ContentType="image/png"/>
  <Override PartName="/ppt/media/image21.png" ContentType="image/png"/>
  <Override PartName="/ppt/media/image19.png" ContentType="image/png"/>
  <Override PartName="/ppt/media/image11.png" ContentType="image/png"/>
  <Override PartName="/ppt/media/image2.png" ContentType="image/png"/>
  <Override PartName="/ppt/media/image5.png" ContentType="image/png"/>
  <Override PartName="/ppt/media/image14.png" ContentType="image/png"/>
  <Override PartName="/ppt/media/image6.png" ContentType="image/png"/>
  <Override PartName="/ppt/media/image15.png" ContentType="image/png"/>
  <Override PartName="/ppt/media/image10.png" ContentType="image/png"/>
  <Override PartName="/ppt/media/image1.png" ContentType="image/png"/>
  <Override PartName="/ppt/media/image7.png" ContentType="image/png"/>
  <Override PartName="/ppt/media/image16.png" ContentType="image/png"/>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slide13.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_rels/notesSlide4.xml.rels" ContentType="application/vnd.openxmlformats-package.relationships+xml"/>
  <Override PartName="/ppt/notesSlides/_rels/notesSlide11.xml.rels" ContentType="application/vnd.openxmlformats-package.relationships+xml"/>
  <Override PartName="/ppt/notesSlides/_rels/notesSlide5.xml.rels" ContentType="application/vnd.openxmlformats-package.relationships+xml"/>
  <Override PartName="/ppt/notesSlides/_rels/notesSlide12.xml.rels" ContentType="application/vnd.openxmlformats-package.relationships+xml"/>
  <Override PartName="/ppt/notesSlides/_rels/notesSlide8.xml.rels" ContentType="application/vnd.openxmlformats-package.relationship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Cliquez pour déplacer la diapo</a:t>
            </a:r>
            <a:endParaRPr b="0" lang="en-US" sz="1800" spc="-1" strike="noStrike">
              <a:solidFill>
                <a:schemeClr val="dk1"/>
              </a:solidFill>
              <a:latin typeface="Calibri"/>
            </a:endParaRPr>
          </a:p>
        </p:txBody>
      </p:sp>
      <p:sp>
        <p:nvSpPr>
          <p:cNvPr id="6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fr-FR" sz="2000" spc="-1" strike="noStrike">
                <a:solidFill>
                  <a:srgbClr val="000000"/>
                </a:solidFill>
                <a:latin typeface="Arial"/>
              </a:rPr>
              <a:t>Cliquez pour modifier le format des notes</a:t>
            </a:r>
            <a:endParaRPr b="0" lang="fr-FR" sz="2000" spc="-1" strike="noStrike">
              <a:solidFill>
                <a:srgbClr val="000000"/>
              </a:solidFill>
              <a:latin typeface="Arial"/>
            </a:endParaRPr>
          </a:p>
        </p:txBody>
      </p:sp>
      <p:sp>
        <p:nvSpPr>
          <p:cNvPr id="6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fr-FR" sz="1400" spc="-1" strike="noStrike">
                <a:solidFill>
                  <a:srgbClr val="000000"/>
                </a:solidFill>
                <a:latin typeface="Times New Roman"/>
              </a:rPr>
              <a:t>&lt;en-tête&gt;</a:t>
            </a:r>
            <a:endParaRPr b="0" lang="fr-FR" sz="1400" spc="-1" strike="noStrike">
              <a:solidFill>
                <a:srgbClr val="000000"/>
              </a:solidFill>
              <a:latin typeface="Times New Roman"/>
            </a:endParaRPr>
          </a:p>
        </p:txBody>
      </p:sp>
      <p:sp>
        <p:nvSpPr>
          <p:cNvPr id="70"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fr-FR" sz="1400" spc="-1" strike="noStrike">
                <a:solidFill>
                  <a:srgbClr val="000000"/>
                </a:solidFill>
                <a:latin typeface="Times New Roman"/>
              </a:defRPr>
            </a:lvl1pPr>
          </a:lstStyle>
          <a:p>
            <a:pPr indent="0" algn="r">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
        <p:nvSpPr>
          <p:cNvPr id="71"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72"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fr-FR" sz="1400" spc="-1" strike="noStrike">
                <a:solidFill>
                  <a:srgbClr val="000000"/>
                </a:solidFill>
                <a:latin typeface="Times New Roman"/>
              </a:defRPr>
            </a:lvl1pPr>
          </a:lstStyle>
          <a:p>
            <a:pPr indent="0" algn="r">
              <a:buNone/>
            </a:pPr>
            <a:fld id="{95AE5503-2DA8-43F9-A62B-30271365F7E6}" type="slidenum">
              <a:rPr b="0" lang="fr-FR" sz="1400" spc="-1" strike="noStrike">
                <a:solidFill>
                  <a:srgbClr val="000000"/>
                </a:solidFill>
                <a:latin typeface="Times New Roman"/>
              </a:rPr>
              <a:t>&lt;numéro&gt;</a:t>
            </a:fld>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sldImg"/>
          </p:nvPr>
        </p:nvSpPr>
        <p:spPr>
          <a:xfrm>
            <a:off x="1143000" y="685800"/>
            <a:ext cx="4571640" cy="3428640"/>
          </a:xfrm>
          <a:prstGeom prst="rect">
            <a:avLst/>
          </a:prstGeom>
          <a:ln w="0">
            <a:noFill/>
          </a:ln>
        </p:spPr>
      </p:sp>
      <p:sp>
        <p:nvSpPr>
          <p:cNvPr id="27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Point d'etape de la mission IA a la Direction du numerique des Ministeres Sociaux. Objectif du jour : partager ou en est la mission - enjeux, exploration menee, plan d'action sur 3 horizons. 10 min de presentation puis echange.</a:t>
            </a:r>
            <a:endParaRPr b="0" lang="fr-FR" sz="2000" spc="-1" strike="noStrike">
              <a:solidFill>
                <a:srgbClr val="000000"/>
              </a:solidFill>
              <a:latin typeface="Arial"/>
            </a:endParaRPr>
          </a:p>
        </p:txBody>
      </p:sp>
      <p:sp>
        <p:nvSpPr>
          <p:cNvPr id="275" name="PlaceHolder 3"/>
          <p:cNvSpPr>
            <a:spLocks noGrp="1"/>
          </p:cNvSpPr>
          <p:nvPr>
            <p:ph type="sldNum" idx="3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F7B6B23-A582-4BEA-BFBF-B55138AACB0F}"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sldImg"/>
          </p:nvPr>
        </p:nvSpPr>
        <p:spPr>
          <a:xfrm>
            <a:off x="1143000" y="685800"/>
            <a:ext cx="4571640" cy="3428640"/>
          </a:xfrm>
          <a:prstGeom prst="rect">
            <a:avLst/>
          </a:prstGeom>
          <a:ln w="0">
            <a:noFill/>
          </a:ln>
        </p:spPr>
      </p:sp>
      <p:sp>
        <p:nvSpPr>
          <p:cNvPr id="27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Trois temps : les enjeux (mon mandat), l'exploration (ce que j'ai fait pour comprendre), puis le plan d'action structure en trois horizons.</a:t>
            </a:r>
            <a:endParaRPr b="0" lang="fr-FR" sz="2000" spc="-1" strike="noStrike">
              <a:solidFill>
                <a:srgbClr val="000000"/>
              </a:solidFill>
              <a:latin typeface="Arial"/>
            </a:endParaRPr>
          </a:p>
        </p:txBody>
      </p:sp>
      <p:sp>
        <p:nvSpPr>
          <p:cNvPr id="278" name="PlaceHolder 3"/>
          <p:cNvSpPr>
            <a:spLocks noGrp="1"/>
          </p:cNvSpPr>
          <p:nvPr>
            <p:ph type="sldNum" idx="3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17DF3BB-CECD-4E8B-BDB4-E746BB23AE5E}"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PlaceHolder 1"/>
          <p:cNvSpPr>
            <a:spLocks noGrp="1"/>
          </p:cNvSpPr>
          <p:nvPr>
            <p:ph type="sldImg"/>
          </p:nvPr>
        </p:nvSpPr>
        <p:spPr>
          <a:xfrm>
            <a:off x="1143000" y="685800"/>
            <a:ext cx="4571640" cy="3428640"/>
          </a:xfrm>
          <a:prstGeom prst="rect">
            <a:avLst/>
          </a:prstGeom>
          <a:ln w="0">
            <a:noFill/>
          </a:ln>
        </p:spPr>
      </p:sp>
      <p:sp>
        <p:nvSpPr>
          <p:cNvPr id="28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Mon mandat sur cette mission, en trois enjeux.</a:t>
            </a:r>
            <a:endParaRPr b="0" lang="fr-FR" sz="2000" spc="-1" strike="noStrike">
              <a:solidFill>
                <a:srgbClr val="000000"/>
              </a:solidFill>
              <a:latin typeface="Arial"/>
            </a:endParaRPr>
          </a:p>
        </p:txBody>
      </p:sp>
      <p:sp>
        <p:nvSpPr>
          <p:cNvPr id="281" name="PlaceHolder 3"/>
          <p:cNvSpPr>
            <a:spLocks noGrp="1"/>
          </p:cNvSpPr>
          <p:nvPr>
            <p:ph type="sldNum" idx="3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7A5018E3-EBF2-4503-9DA7-5578948B8356}"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sldImg"/>
          </p:nvPr>
        </p:nvSpPr>
        <p:spPr>
          <a:xfrm>
            <a:off x="1143000" y="685800"/>
            <a:ext cx="4571640" cy="3428640"/>
          </a:xfrm>
          <a:prstGeom prst="rect">
            <a:avLst/>
          </a:prstGeom>
          <a:ln w="0">
            <a:noFill/>
          </a:ln>
        </p:spPr>
      </p:sp>
      <p:sp>
        <p:nvSpPr>
          <p:cNvPr id="28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Mon mandat tient en trois enjeux : identifier les usages pertinents par metier, accompagner la montee en maitrise sur des cas concrets, et evangeliser pour diffuser la culture IA. Au service de quatre metiers : architectes, chefs de projet, designers, developpeurs.</a:t>
            </a:r>
            <a:endParaRPr b="0" lang="fr-FR" sz="2000" spc="-1" strike="noStrike">
              <a:solidFill>
                <a:srgbClr val="000000"/>
              </a:solidFill>
              <a:latin typeface="Arial"/>
            </a:endParaRPr>
          </a:p>
        </p:txBody>
      </p:sp>
      <p:sp>
        <p:nvSpPr>
          <p:cNvPr id="284" name="PlaceHolder 3"/>
          <p:cNvSpPr>
            <a:spLocks noGrp="1"/>
          </p:cNvSpPr>
          <p:nvPr>
            <p:ph type="sldNum" idx="4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49FF6D0-22B7-4061-9F19-CFA0185CB321}"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type="sldImg"/>
          </p:nvPr>
        </p:nvSpPr>
        <p:spPr>
          <a:xfrm>
            <a:off x="1143000" y="685800"/>
            <a:ext cx="4571640" cy="3428640"/>
          </a:xfrm>
          <a:prstGeom prst="rect">
            <a:avLst/>
          </a:prstGeom>
          <a:ln w="0">
            <a:noFill/>
          </a:ln>
        </p:spPr>
      </p:sp>
      <p:sp>
        <p:nvSpPr>
          <p:cNvPr id="28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Comment j'ai pris la mesure du terrain et des usages en place.</a:t>
            </a:r>
            <a:endParaRPr b="0" lang="fr-FR" sz="2000" spc="-1" strike="noStrike">
              <a:solidFill>
                <a:srgbClr val="000000"/>
              </a:solidFill>
              <a:latin typeface="Arial"/>
            </a:endParaRPr>
          </a:p>
        </p:txBody>
      </p:sp>
      <p:sp>
        <p:nvSpPr>
          <p:cNvPr id="287" name="PlaceHolder 3"/>
          <p:cNvSpPr>
            <a:spLocks noGrp="1"/>
          </p:cNvSpPr>
          <p:nvPr>
            <p:ph type="sldNum" idx="4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D8969B2-1DCA-492D-AEC0-94CA07C9D9B9}"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sldImg"/>
          </p:nvPr>
        </p:nvSpPr>
        <p:spPr>
          <a:xfrm>
            <a:off x="1143000" y="685800"/>
            <a:ext cx="4571640" cy="3428640"/>
          </a:xfrm>
          <a:prstGeom prst="rect">
            <a:avLst/>
          </a:prstGeom>
          <a:ln w="0">
            <a:noFill/>
          </a:ln>
        </p:spPr>
      </p:sp>
      <p:sp>
        <p:nvSpPr>
          <p:cNvPr id="28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Premier reflexe : aller voir les gens. J'ai rencontre cinq equipes produit (SRDT, DACCORD, Egapro, DomiFA, SIRENA) pour comprendre leur quotidien et garder un acces au contexte. J'ai croise les quatre metiers, et securise deux sujets cles : l'accessibilite/RGAA avec Dominique, et la strategie d'outillage des internes avec Victor Degliame.</a:t>
            </a:r>
            <a:endParaRPr b="0" lang="fr-FR" sz="2000" spc="-1" strike="noStrike">
              <a:solidFill>
                <a:srgbClr val="000000"/>
              </a:solidFill>
              <a:latin typeface="Arial"/>
            </a:endParaRPr>
          </a:p>
        </p:txBody>
      </p:sp>
      <p:sp>
        <p:nvSpPr>
          <p:cNvPr id="290" name="PlaceHolder 3"/>
          <p:cNvSpPr>
            <a:spLocks noGrp="1"/>
          </p:cNvSpPr>
          <p:nvPr>
            <p:ph type="sldNum" idx="4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7832E78F-40CE-447A-9656-1C5D0DC8DBE2}"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sldImg"/>
          </p:nvPr>
        </p:nvSpPr>
        <p:spPr>
          <a:xfrm>
            <a:off x="1143000" y="685800"/>
            <a:ext cx="4571640" cy="3428640"/>
          </a:xfrm>
          <a:prstGeom prst="rect">
            <a:avLst/>
          </a:prstGeom>
          <a:ln w="0">
            <a:noFill/>
          </a:ln>
        </p:spPr>
      </p:sp>
      <p:sp>
        <p:nvSpPr>
          <p:cNvPr id="29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Egapro est une des equipes : Claude y est DEJA fortement exploite, avec une orchestration ambitieuse mise en place avant mon arrivee. Mon role est d'explorer cet usage en developpant dessus. Ce que j'observe : un usage avance deja en place. Ce que je propose a partir de la : des optimisations, et l'integration d'estimations par taille de T-shirt (aujourd'hui en experimentation). C'est de l'exploration et des pistes, pas un livrable abouti.</a:t>
            </a:r>
            <a:endParaRPr b="0" lang="fr-FR" sz="2000" spc="-1" strike="noStrike">
              <a:solidFill>
                <a:srgbClr val="000000"/>
              </a:solidFill>
              <a:latin typeface="Arial"/>
            </a:endParaRPr>
          </a:p>
        </p:txBody>
      </p:sp>
      <p:sp>
        <p:nvSpPr>
          <p:cNvPr id="293" name="PlaceHolder 3"/>
          <p:cNvSpPr>
            <a:spLocks noGrp="1"/>
          </p:cNvSpPr>
          <p:nvPr>
            <p:ph type="sldNum" idx="4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BD35759-4323-4C22-84BD-E8C37F76F124}"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type="sldImg"/>
          </p:nvPr>
        </p:nvSpPr>
        <p:spPr>
          <a:xfrm>
            <a:off x="1143000" y="685800"/>
            <a:ext cx="4571640" cy="3428640"/>
          </a:xfrm>
          <a:prstGeom prst="rect">
            <a:avLst/>
          </a:prstGeom>
          <a:ln w="0">
            <a:noFill/>
          </a:ln>
        </p:spPr>
      </p:sp>
      <p:sp>
        <p:nvSpPr>
          <p:cNvPr id="29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Ce que je propose, sequence du court au long terme.</a:t>
            </a:r>
            <a:endParaRPr b="0" lang="fr-FR" sz="2000" spc="-1" strike="noStrike">
              <a:solidFill>
                <a:srgbClr val="000000"/>
              </a:solidFill>
              <a:latin typeface="Arial"/>
            </a:endParaRPr>
          </a:p>
        </p:txBody>
      </p:sp>
      <p:sp>
        <p:nvSpPr>
          <p:cNvPr id="296" name="PlaceHolder 3"/>
          <p:cNvSpPr>
            <a:spLocks noGrp="1"/>
          </p:cNvSpPr>
          <p:nvPr>
            <p:ph type="sldNum" idx="4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BB83083-1E73-4C97-AC18-3FC0B0E90E4D}"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type="sldImg"/>
          </p:nvPr>
        </p:nvSpPr>
        <p:spPr>
          <a:xfrm>
            <a:off x="1143000" y="685800"/>
            <a:ext cx="4571640" cy="3428640"/>
          </a:xfrm>
          <a:prstGeom prst="rect">
            <a:avLst/>
          </a:prstGeom>
          <a:ln w="0">
            <a:noFill/>
          </a:ln>
        </p:spPr>
      </p:sp>
      <p:sp>
        <p:nvSpPr>
          <p:cNvPr id="29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Le plan se lit sur trois horizons. Court terme : des quick wins par metier. Moyen terme : industrialiser (CI/CD, deploiement, dev agentique, observabilite) et animer une communaute de champions. Long terme : un harness maison pour la souverainete et la conformite. Je detaille ensuite.</a:t>
            </a:r>
            <a:endParaRPr b="0" lang="fr-FR" sz="2000" spc="-1" strike="noStrike">
              <a:solidFill>
                <a:srgbClr val="000000"/>
              </a:solidFill>
              <a:latin typeface="Arial"/>
            </a:endParaRPr>
          </a:p>
        </p:txBody>
      </p:sp>
      <p:sp>
        <p:nvSpPr>
          <p:cNvPr id="299" name="PlaceHolder 3"/>
          <p:cNvSpPr>
            <a:spLocks noGrp="1"/>
          </p:cNvSpPr>
          <p:nvPr>
            <p:ph type="sldNum" idx="4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EA53251-9D6D-42BA-A7E4-AD9685515495}"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sldImg"/>
          </p:nvPr>
        </p:nvSpPr>
        <p:spPr>
          <a:xfrm>
            <a:off x="1143000" y="685800"/>
            <a:ext cx="4571640" cy="3428640"/>
          </a:xfrm>
          <a:prstGeom prst="rect">
            <a:avLst/>
          </a:prstGeom>
          <a:ln w="0">
            <a:noFill/>
          </a:ln>
        </p:spPr>
      </p:sp>
      <p:sp>
        <p:nvSpPr>
          <p:cNvPr id="30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Court terme, metier par metier. Architectes : generer les dossiers d'architecture avec l'IA. Chefs de projet : un pre-audit d'homologation continu et l'enjeu de pilotage des projets faits avec l'IA (estimations T-shirt experimentees sur Egapro). Designers : des skills d'UX et d'audit pour prototyper et challenger vite. Developpeurs : accompagner ceux qui peinent a s'approprier l'IA.</a:t>
            </a:r>
            <a:endParaRPr b="0" lang="fr-FR" sz="2000" spc="-1" strike="noStrike">
              <a:solidFill>
                <a:srgbClr val="000000"/>
              </a:solidFill>
              <a:latin typeface="Arial"/>
            </a:endParaRPr>
          </a:p>
        </p:txBody>
      </p:sp>
      <p:sp>
        <p:nvSpPr>
          <p:cNvPr id="302" name="PlaceHolder 3"/>
          <p:cNvSpPr>
            <a:spLocks noGrp="1"/>
          </p:cNvSpPr>
          <p:nvPr>
            <p:ph type="sldNum" idx="4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044FE10D-BB23-4702-9C4B-01F98AE4F07D}"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type="sldImg"/>
          </p:nvPr>
        </p:nvSpPr>
        <p:spPr>
          <a:xfrm>
            <a:off x="1143000" y="685800"/>
            <a:ext cx="4571640" cy="3428640"/>
          </a:xfrm>
          <a:prstGeom prst="rect">
            <a:avLst/>
          </a:prstGeom>
          <a:ln w="0">
            <a:noFill/>
          </a:ln>
        </p:spPr>
      </p:sp>
      <p:sp>
        <p:nvSpPr>
          <p:cNvPr id="30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Moyen terme, deux volets. Animer : identifier et faire vivre une communaute de champions par metier. Cote developpeurs : fiabiliser la CI/CD avec des bots de review, activer le deploiement des qu'on aura les licences Claude internes, ouvrir le dev agentique avec la DINUM, mettre en place l'observabilite.</a:t>
            </a:r>
            <a:endParaRPr b="0" lang="fr-FR" sz="2000" spc="-1" strike="noStrike">
              <a:solidFill>
                <a:srgbClr val="000000"/>
              </a:solidFill>
              <a:latin typeface="Arial"/>
            </a:endParaRPr>
          </a:p>
        </p:txBody>
      </p:sp>
      <p:sp>
        <p:nvSpPr>
          <p:cNvPr id="305" name="PlaceHolder 3"/>
          <p:cNvSpPr>
            <a:spLocks noGrp="1"/>
          </p:cNvSpPr>
          <p:nvPr>
            <p:ph type="sldNum" idx="4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64F725D-F512-4CE3-836F-FF6003551D91}"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sldImg"/>
          </p:nvPr>
        </p:nvSpPr>
        <p:spPr>
          <a:xfrm>
            <a:off x="1143000" y="685800"/>
            <a:ext cx="4571640" cy="3428640"/>
          </a:xfrm>
          <a:prstGeom prst="rect">
            <a:avLst/>
          </a:prstGeom>
          <a:ln w="0">
            <a:noFill/>
          </a:ln>
        </p:spPr>
      </p:sp>
      <p:sp>
        <p:nvSpPr>
          <p:cNvPr id="30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L'horizon cible : un harness maison, notre propre environnement IA. Quatre benefices : une experience maitrisee pour embarquer les moins technophiles, un perimetre maitrise sur les besoins couverts, la conformite (accessibilite) integree des la conception, et la souverainete - l'independance vis-a-vis des fournisseurs.</a:t>
            </a:r>
            <a:endParaRPr b="0" lang="fr-FR" sz="2000" spc="-1" strike="noStrike">
              <a:solidFill>
                <a:srgbClr val="000000"/>
              </a:solidFill>
              <a:latin typeface="Arial"/>
            </a:endParaRPr>
          </a:p>
        </p:txBody>
      </p:sp>
      <p:sp>
        <p:nvSpPr>
          <p:cNvPr id="308" name="PlaceHolder 3"/>
          <p:cNvSpPr>
            <a:spLocks noGrp="1"/>
          </p:cNvSpPr>
          <p:nvPr>
            <p:ph type="sldNum" idx="4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E8BB027-36C9-438D-88AC-3230796E56D0}"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sldImg"/>
          </p:nvPr>
        </p:nvSpPr>
        <p:spPr>
          <a:xfrm>
            <a:off x="1143000" y="685800"/>
            <a:ext cx="4571640" cy="3428640"/>
          </a:xfrm>
          <a:prstGeom prst="rect">
            <a:avLst/>
          </a:prstGeom>
          <a:ln w="0">
            <a:noFill/>
          </a:ln>
        </p:spPr>
      </p:sp>
      <p:sp>
        <p:nvSpPr>
          <p:cNvPr id="31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En synthese : l'exploration donne deja une vision des usages par metier, j'ai observe un usage avance de Claude sur Egapro, et le plan est sequence sur trois horizons. Prochaines etapes : voir plus de chefs de projet, lancer les skills designers, preparer la communaute de champions, anticiper les licences Claude et le lien DINUM. Place a vos questions.</a:t>
            </a:r>
            <a:endParaRPr b="0" lang="fr-FR" sz="2000" spc="-1" strike="noStrike">
              <a:solidFill>
                <a:srgbClr val="000000"/>
              </a:solidFill>
              <a:latin typeface="Arial"/>
            </a:endParaRPr>
          </a:p>
        </p:txBody>
      </p:sp>
      <p:sp>
        <p:nvSpPr>
          <p:cNvPr id="311" name="PlaceHolder 3"/>
          <p:cNvSpPr>
            <a:spLocks noGrp="1"/>
          </p:cNvSpPr>
          <p:nvPr>
            <p:ph type="sldNum" idx="4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444A26A-6A2C-4657-B368-B37C43A68422}"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sldImg"/>
          </p:nvPr>
        </p:nvSpPr>
        <p:spPr>
          <a:xfrm>
            <a:off x="1143000" y="685800"/>
            <a:ext cx="4571640" cy="3428640"/>
          </a:xfrm>
          <a:prstGeom prst="rect">
            <a:avLst/>
          </a:prstGeom>
          <a:ln w="0">
            <a:noFill/>
          </a:ln>
        </p:spPr>
      </p:sp>
      <p:sp>
        <p:nvSpPr>
          <p:cNvPr id="31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fr-FR" sz="2000" spc="-1" strike="noStrike">
                <a:solidFill>
                  <a:srgbClr val="000000"/>
                </a:solidFill>
                <a:latin typeface="Arial"/>
              </a:rPr>
              <a:t>Transition vers les 35 min d'echange : questions, retours, arbitrages eventuels (licences, lien DINUM, priorisation des horizons).</a:t>
            </a:r>
            <a:endParaRPr b="0" lang="fr-FR" sz="2000" spc="-1" strike="noStrike">
              <a:solidFill>
                <a:srgbClr val="000000"/>
              </a:solidFill>
              <a:latin typeface="Arial"/>
            </a:endParaRPr>
          </a:p>
        </p:txBody>
      </p:sp>
      <p:sp>
        <p:nvSpPr>
          <p:cNvPr id="314" name="PlaceHolder 3"/>
          <p:cNvSpPr>
            <a:spLocks noGrp="1"/>
          </p:cNvSpPr>
          <p:nvPr>
            <p:ph type="sldNum" idx="5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28A2CCD-94F5-48FD-BC04-E16C5F5C3954}" type="slidenum">
              <a:rPr b="0" lang="en-US" sz="1200" spc="-1" strike="noStrike">
                <a:solidFill>
                  <a:srgbClr val="000000"/>
                </a:solidFill>
                <a:latin typeface="Times New Roman"/>
              </a:rPr>
              <a:t>&lt;numéro&gt;</a:t>
            </a:fld>
            <a:endParaRPr b="0" lang="fr-FR"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080" cy="3977280"/>
          </a:xfrm>
          <a:prstGeom prst="rect">
            <a:avLst/>
          </a:prstGeom>
          <a:noFill/>
          <a:ln w="0">
            <a:noFill/>
          </a:ln>
        </p:spPr>
        <p:txBody>
          <a:bodyPr lIns="0" rIns="0" tIns="0" bIns="0" anchor="ctr">
            <a:noAutofit/>
          </a:bodyPr>
          <a:p>
            <a:pPr indent="0" algn="ctr">
              <a:buNone/>
            </a:pPr>
            <a:endParaRPr b="0" lang="fr-FR"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21D559E3-3B14-4A84-8D4B-2B9B38BF4E1A}" type="slidenum">
              <a:t>&lt;#&gt;</a:t>
            </a:fld>
          </a:p>
        </p:txBody>
      </p:sp>
      <p:sp>
        <p:nvSpPr>
          <p:cNvPr id="6" name="PlaceHolder 5"/>
          <p:cNvSpPr>
            <a:spLocks noGrp="1"/>
          </p:cNvSpPr>
          <p:nvPr>
            <p:ph type="dt" idx="1"/>
          </p:nvPr>
        </p:nvSpPr>
        <p:spPr/>
        <p:txBody>
          <a:bodyPr/>
          <a:p>
            <a:r>
              <a:rPr lang="fr-FR"/>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2D11CE2F-856D-45D8-9608-B2252398230E}" type="slidenum">
              <a:t>&lt;#&gt;</a:t>
            </a:fld>
          </a:p>
        </p:txBody>
      </p:sp>
      <p:sp>
        <p:nvSpPr>
          <p:cNvPr id="4" name="PlaceHolder 3"/>
          <p:cNvSpPr>
            <a:spLocks noGrp="1"/>
          </p:cNvSpPr>
          <p:nvPr>
            <p:ph type="dt" idx="4"/>
          </p:nvPr>
        </p:nvSpPr>
        <p:spPr/>
        <p:txBody>
          <a:bodyPr/>
          <a:p>
            <a:r>
              <a:rPr lang="fr-FR"/>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29E9A4D1-58FA-4AAB-A797-8E9360A2D1B1}" type="slidenum">
              <a:t>&lt;#&gt;</a:t>
            </a:fld>
          </a:p>
        </p:txBody>
      </p:sp>
      <p:sp>
        <p:nvSpPr>
          <p:cNvPr id="4" name="PlaceHolder 3"/>
          <p:cNvSpPr>
            <a:spLocks noGrp="1"/>
          </p:cNvSpPr>
          <p:nvPr>
            <p:ph type="dt" idx="7"/>
          </p:nvPr>
        </p:nvSpPr>
        <p:spPr/>
        <p:txBody>
          <a:bodyPr/>
          <a:p>
            <a:r>
              <a:rPr lang="fr-FR"/>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40E4C969-D029-482D-85D5-4CCADC8AEEBD}" type="slidenum">
              <a:t>&lt;#&gt;</a:t>
            </a:fld>
          </a:p>
        </p:txBody>
      </p:sp>
      <p:sp>
        <p:nvSpPr>
          <p:cNvPr id="6" name="PlaceHolder 5"/>
          <p:cNvSpPr>
            <a:spLocks noGrp="1"/>
          </p:cNvSpPr>
          <p:nvPr>
            <p:ph type="dt" idx="10"/>
          </p:nvPr>
        </p:nvSpPr>
        <p:spPr/>
        <p:txBody>
          <a:bodyPr/>
          <a:p>
            <a:r>
              <a:rPr lang="fr-FR"/>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5A059525-62FB-4FE9-9442-C6D140B2D1AC}" type="slidenum">
              <a:t>&lt;#&gt;</a:t>
            </a:fld>
          </a:p>
        </p:txBody>
      </p:sp>
      <p:sp>
        <p:nvSpPr>
          <p:cNvPr id="4" name="PlaceHolder 3"/>
          <p:cNvSpPr>
            <a:spLocks noGrp="1"/>
          </p:cNvSpPr>
          <p:nvPr>
            <p:ph type="dt" idx="13"/>
          </p:nvPr>
        </p:nvSpPr>
        <p:spPr/>
        <p:txBody>
          <a:bodyPr/>
          <a:p>
            <a:r>
              <a:rPr lang="fr-FR"/>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E4673B4D-8E02-4766-9536-C50144B9BD6C}" type="slidenum">
              <a:t>&lt;#&gt;</a:t>
            </a:fld>
          </a:p>
        </p:txBody>
      </p:sp>
      <p:sp>
        <p:nvSpPr>
          <p:cNvPr id="7" name="PlaceHolder 6"/>
          <p:cNvSpPr>
            <a:spLocks noGrp="1"/>
          </p:cNvSpPr>
          <p:nvPr>
            <p:ph type="dt" idx="16"/>
          </p:nvPr>
        </p:nvSpPr>
        <p:spPr/>
        <p:txBody>
          <a:bodyPr/>
          <a:p>
            <a:r>
              <a:rPr lang="fr-FR"/>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CEE62A3C-167E-4FBE-8123-4C7FEF5CAD38}" type="slidenum">
              <a:t>&lt;#&gt;</a:t>
            </a:fld>
          </a:p>
        </p:txBody>
      </p:sp>
      <p:sp>
        <p:nvSpPr>
          <p:cNvPr id="4" name="PlaceHolder 3"/>
          <p:cNvSpPr>
            <a:spLocks noGrp="1"/>
          </p:cNvSpPr>
          <p:nvPr>
            <p:ph type="dt" idx="19"/>
          </p:nvPr>
        </p:nvSpPr>
        <p:spPr/>
        <p:txBody>
          <a:bodyPr/>
          <a:p>
            <a:r>
              <a:rPr lang="fr-FR"/>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8571CD90-5A97-498F-B162-55C274C3D708}" type="slidenum">
              <a:t>&lt;#&gt;</a:t>
            </a:fld>
          </a:p>
        </p:txBody>
      </p:sp>
      <p:sp>
        <p:nvSpPr>
          <p:cNvPr id="5" name="PlaceHolder 4"/>
          <p:cNvSpPr>
            <a:spLocks noGrp="1"/>
          </p:cNvSpPr>
          <p:nvPr>
            <p:ph type="dt" idx="22"/>
          </p:nvPr>
        </p:nvSpPr>
        <p:spPr/>
        <p:txBody>
          <a:bodyPr/>
          <a:p>
            <a:r>
              <a:rPr lang="fr-FR"/>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A7659991-9887-4741-AC04-3E66AC7BCA34}" type="slidenum">
              <a:t>&lt;#&gt;</a:t>
            </a:fld>
          </a:p>
        </p:txBody>
      </p:sp>
      <p:sp>
        <p:nvSpPr>
          <p:cNvPr id="4" name="PlaceHolder 3"/>
          <p:cNvSpPr>
            <a:spLocks noGrp="1"/>
          </p:cNvSpPr>
          <p:nvPr>
            <p:ph type="dt" idx="25"/>
          </p:nvPr>
        </p:nvSpPr>
        <p:spPr/>
        <p:txBody>
          <a:bodyPr/>
          <a:p>
            <a:r>
              <a:rPr lang="fr-FR"/>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2AB69876-28B8-4567-8ABE-FC740DCE1D9B}" type="slidenum">
              <a:t>&lt;#&gt;</a:t>
            </a:fld>
          </a:p>
        </p:txBody>
      </p:sp>
      <p:sp>
        <p:nvSpPr>
          <p:cNvPr id="4" name="PlaceHolder 3"/>
          <p:cNvSpPr>
            <a:spLocks noGrp="1"/>
          </p:cNvSpPr>
          <p:nvPr>
            <p:ph type="dt" idx="28"/>
          </p:nvPr>
        </p:nvSpPr>
        <p:spPr/>
        <p:txBody>
          <a:bodyPr/>
          <a:p>
            <a:r>
              <a:rPr lang="fr-FR"/>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CA931F3F-6EC5-4A11-800C-F1B7BB6546B9}" type="slidenum">
              <a:t>&lt;#&gt;</a:t>
            </a:fld>
          </a:p>
        </p:txBody>
      </p:sp>
      <p:sp>
        <p:nvSpPr>
          <p:cNvPr id="4" name="PlaceHolder 3"/>
          <p:cNvSpPr>
            <a:spLocks noGrp="1"/>
          </p:cNvSpPr>
          <p:nvPr>
            <p:ph type="dt" idx="31"/>
          </p:nvPr>
        </p:nvSpPr>
        <p:spPr/>
        <p:txBody>
          <a:bodyPr/>
          <a:p>
            <a:r>
              <a:rPr lang="fr-FR"/>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a:t>
            </a:r>
            <a:r>
              <a:rPr b="0" lang="en-US" sz="4400" spc="-1" strike="noStrike">
                <a:solidFill>
                  <a:schemeClr val="dk1"/>
                </a:solidFill>
                <a:latin typeface="Calibri"/>
              </a:rPr>
              <a:t>ck </a:t>
            </a:r>
            <a:r>
              <a:rPr b="0" lang="en-US" sz="4400" spc="-1" strike="noStrike">
                <a:solidFill>
                  <a:schemeClr val="dk1"/>
                </a:solidFill>
                <a:latin typeface="Calibri"/>
              </a:rPr>
              <a:t>to </a:t>
            </a:r>
            <a:r>
              <a:rPr b="0" lang="en-US" sz="4400" spc="-1" strike="noStrike">
                <a:solidFill>
                  <a:schemeClr val="dk1"/>
                </a:solidFill>
                <a:latin typeface="Calibri"/>
              </a:rPr>
              <a:t>ed</a:t>
            </a:r>
            <a:r>
              <a:rPr b="0" lang="en-US" sz="4400" spc="-1" strike="noStrike">
                <a:solidFill>
                  <a:schemeClr val="dk1"/>
                </a:solidFill>
                <a:latin typeface="Calibri"/>
              </a:rPr>
              <a:t>it </a:t>
            </a:r>
            <a:r>
              <a:rPr b="0" lang="en-US" sz="4400" spc="-1" strike="noStrike">
                <a:solidFill>
                  <a:schemeClr val="dk1"/>
                </a:solidFill>
                <a:latin typeface="Calibri"/>
              </a:rPr>
              <a:t>M</a:t>
            </a:r>
            <a:r>
              <a:rPr b="0" lang="en-US" sz="4400" spc="-1" strike="noStrike">
                <a:solidFill>
                  <a:schemeClr val="dk1"/>
                </a:solidFill>
                <a:latin typeface="Calibri"/>
              </a:rPr>
              <a:t>as</a:t>
            </a:r>
            <a:r>
              <a:rPr b="0" lang="en-US" sz="4400" spc="-1" strike="noStrike">
                <a:solidFill>
                  <a:schemeClr val="dk1"/>
                </a:solidFill>
                <a:latin typeface="Calibri"/>
              </a:rPr>
              <a:t>te</a:t>
            </a:r>
            <a:r>
              <a:rPr b="0" lang="en-US" sz="4400" spc="-1" strike="noStrike">
                <a:solidFill>
                  <a:schemeClr val="dk1"/>
                </a:solidFill>
                <a:latin typeface="Calibri"/>
              </a:rPr>
              <a:t>r </a:t>
            </a:r>
            <a:r>
              <a:rPr b="0" lang="en-US" sz="4400" spc="-1" strike="noStrike">
                <a:solidFill>
                  <a:schemeClr val="dk1"/>
                </a:solidFill>
                <a:latin typeface="Calibri"/>
              </a:rPr>
              <a:t>titl</a:t>
            </a:r>
            <a:r>
              <a:rPr b="0" lang="en-US" sz="4400" spc="-1" strike="noStrike">
                <a:solidFill>
                  <a:schemeClr val="dk1"/>
                </a:solidFill>
                <a:latin typeface="Calibri"/>
              </a:rPr>
              <a:t>e </a:t>
            </a:r>
            <a:r>
              <a:rPr b="0" lang="en-US" sz="4400" spc="-1" strike="noStrike">
                <a:solidFill>
                  <a:schemeClr val="dk1"/>
                </a:solidFill>
                <a:latin typeface="Calibri"/>
              </a:rPr>
              <a:t>st</a:t>
            </a:r>
            <a:r>
              <a:rPr b="0" lang="en-US" sz="4400" spc="-1" strike="noStrike">
                <a:solidFill>
                  <a:schemeClr val="dk1"/>
                </a:solidFill>
                <a:latin typeface="Calibri"/>
              </a:rPr>
              <a:t>yl</a:t>
            </a:r>
            <a:r>
              <a:rPr b="0" lang="en-US" sz="4400" spc="-1" strike="noStrike">
                <a:solidFill>
                  <a:schemeClr val="dk1"/>
                </a:solidFill>
                <a:latin typeface="Calibri"/>
              </a:rPr>
              <a:t>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7A5503C8-9059-4AF3-81C2-63F206849252}"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3D3E520B-2BFD-4AD2-98D5-3FC80CA013E0}"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3ECA4066-16B4-404A-845C-B3FCCB24FD01}"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589EFCD4-E2A5-4D2E-A8F4-254492A5F241}"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cap="all">
                <a:solidFill>
                  <a:schemeClr val="dk1"/>
                </a:solidFill>
                <a:latin typeface="Calibri"/>
              </a:rPr>
              <a:t>Click to edit Master title 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91378A54-0976-4898-89F8-DFC3DD560023}"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6EF713F6-9B98-429C-B77E-37E6CC86DFBC}"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476C1C39-15E9-4019-AA18-F82844FBF065}"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EAF43FAF-1C88-44DE-A05D-51462A1357ED}"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A88A4F5D-F69F-4B83-A3C4-F7801E741DB1}"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53"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Cliquez pour éditer le format du texte-titre</a:t>
            </a:r>
            <a:endParaRPr b="0" lang="en-US" sz="1800" spc="-1" strike="noStrike">
              <a:solidFill>
                <a:schemeClr val="dk1"/>
              </a:solidFill>
              <a:latin typeface="Calibri"/>
            </a:endParaRPr>
          </a:p>
        </p:txBody>
      </p:sp>
      <p:sp>
        <p:nvSpPr>
          <p:cNvPr id="54"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Cliquez pour éditer le format du plan de texte</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niveau de plan</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Troisième niveau de plan</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Quatrième niveau de plan</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Cinquième niveau de plan</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Sixième niveau de plan</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Septième niveau de plan</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6B7D69C3-2379-4CBD-9E3A-49AD7548584D}"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Cliquez pour éditer le format du plan de texte</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niveau de plan</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Troisième niveau de plan</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Quatrième niveau de plan</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Cinquième niveau de plan</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Sixième niveau de plan</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Septième niveau de plan</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&lt;date/heure&gt;</a:t>
            </a:r>
            <a:endParaRPr b="0" lang="fr-FR"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pc="-1" strike="noStrike">
                <a:solidFill>
                  <a:srgbClr val="000000"/>
                </a:solidFill>
                <a:latin typeface="Times New Roman"/>
              </a:defRPr>
            </a:lvl1pPr>
          </a:lstStyle>
          <a:p>
            <a:pPr indent="0" algn="ctr">
              <a:buNone/>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9A984443-B459-4C3D-99B9-9AA89943164A}"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9.xml"/><Relationship Id="rId5"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slideLayout" Target="../slideLayouts/slideLayout9.xml"/><Relationship Id="rId6"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slideLayout" Target="../slideLayouts/slideLayout9.xml"/><Relationship Id="rId6"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slideLayout" Target="../slideLayouts/slideLayout9.xml"/><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9.xml"/><Relationship Id="rId6"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slideLayout" Target="../slideLayouts/slideLayout9.xml"/><Relationship Id="rId7"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3.png"/><Relationship Id="rId8" Type="http://schemas.openxmlformats.org/officeDocument/2006/relationships/slideLayout" Target="../slideLayouts/slideLayout9.xml"/><Relationship Id="rId9"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9.xml"/><Relationship Id="rId4" Type="http://schemas.openxmlformats.org/officeDocument/2006/relationships/notesSlide" Target="../notesSlides/notesSlide1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74" name="Picture 2" descr="logo.png"/>
          <p:cNvPicPr/>
          <p:nvPr/>
        </p:nvPicPr>
        <p:blipFill>
          <a:blip r:embed="rId1"/>
          <a:stretch/>
        </p:blipFill>
        <p:spPr>
          <a:xfrm>
            <a:off x="777240" y="274320"/>
            <a:ext cx="987480" cy="676440"/>
          </a:xfrm>
          <a:prstGeom prst="rect">
            <a:avLst/>
          </a:prstGeom>
          <a:ln w="0">
            <a:noFill/>
          </a:ln>
        </p:spPr>
      </p:pic>
      <p:sp>
        <p:nvSpPr>
          <p:cNvPr id="75" name="TextBox 3"/>
          <p:cNvSpPr/>
          <p:nvPr/>
        </p:nvSpPr>
        <p:spPr>
          <a:xfrm>
            <a:off x="7574040" y="274320"/>
            <a:ext cx="3840120" cy="43596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6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sp>
        <p:nvSpPr>
          <p:cNvPr id="76" name="Rectangle 4"/>
          <p:cNvSpPr/>
          <p:nvPr/>
        </p:nvSpPr>
        <p:spPr>
          <a:xfrm>
            <a:off x="777240" y="1234440"/>
            <a:ext cx="10926720" cy="5257440"/>
          </a:xfrm>
          <a:prstGeom prst="rect">
            <a:avLst/>
          </a:prstGeom>
          <a:solidFill>
            <a:srgbClr val="00009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77" name="Picture 5" descr="stripes.png"/>
          <p:cNvPicPr/>
          <p:nvPr/>
        </p:nvPicPr>
        <p:blipFill>
          <a:blip r:embed="rId2"/>
          <a:stretch/>
        </p:blipFill>
        <p:spPr>
          <a:xfrm>
            <a:off x="9326880" y="5081400"/>
            <a:ext cx="2377080" cy="1410480"/>
          </a:xfrm>
          <a:prstGeom prst="rect">
            <a:avLst/>
          </a:prstGeom>
          <a:ln w="0">
            <a:noFill/>
          </a:ln>
        </p:spPr>
      </p:pic>
      <p:pic>
        <p:nvPicPr>
          <p:cNvPr id="78" name="Picture 6" descr="sparkle.png"/>
          <p:cNvPicPr/>
          <p:nvPr/>
        </p:nvPicPr>
        <p:blipFill>
          <a:blip r:embed="rId3"/>
          <a:stretch/>
        </p:blipFill>
        <p:spPr>
          <a:xfrm>
            <a:off x="1417320" y="2468880"/>
            <a:ext cx="1051200" cy="1051200"/>
          </a:xfrm>
          <a:prstGeom prst="rect">
            <a:avLst/>
          </a:prstGeom>
          <a:ln w="0">
            <a:noFill/>
          </a:ln>
        </p:spPr>
      </p:pic>
      <p:sp>
        <p:nvSpPr>
          <p:cNvPr id="79" name="TextBox 7"/>
          <p:cNvSpPr/>
          <p:nvPr/>
        </p:nvSpPr>
        <p:spPr>
          <a:xfrm>
            <a:off x="1371600" y="3840480"/>
            <a:ext cx="9875160" cy="1341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4400" spc="-1" strike="noStrike">
                <a:solidFill>
                  <a:srgbClr val="ffffff"/>
                </a:solidFill>
                <a:latin typeface="Marianne"/>
              </a:rPr>
              <a:t>Accompagner l’adoption</a:t>
            </a:r>
            <a:endParaRPr b="0" lang="fr-FR" sz="4400" spc="-1" strike="noStrike">
              <a:solidFill>
                <a:srgbClr val="000000"/>
              </a:solidFill>
              <a:latin typeface="Arial"/>
            </a:endParaRPr>
          </a:p>
          <a:p>
            <a:pPr defTabSz="457200">
              <a:lnSpc>
                <a:spcPct val="100000"/>
              </a:lnSpc>
            </a:pPr>
            <a:r>
              <a:rPr b="1" lang="en-US" sz="4400" spc="-1" strike="noStrike">
                <a:solidFill>
                  <a:srgbClr val="ffffff"/>
                </a:solidFill>
                <a:latin typeface="Marianne"/>
              </a:rPr>
              <a:t>de l’IA</a:t>
            </a:r>
            <a:endParaRPr b="0" lang="fr-FR" sz="4400" spc="-1" strike="noStrike">
              <a:solidFill>
                <a:srgbClr val="000000"/>
              </a:solidFill>
              <a:latin typeface="Arial"/>
            </a:endParaRPr>
          </a:p>
        </p:txBody>
      </p:sp>
      <p:sp>
        <p:nvSpPr>
          <p:cNvPr id="80" name="TextBox 8"/>
          <p:cNvSpPr/>
          <p:nvPr/>
        </p:nvSpPr>
        <p:spPr>
          <a:xfrm>
            <a:off x="1398960" y="5349240"/>
            <a:ext cx="9509400" cy="32328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2000" spc="-1" strike="noStrike">
                <a:solidFill>
                  <a:srgbClr val="ffffff"/>
                </a:solidFill>
                <a:latin typeface="Marianne"/>
              </a:rPr>
              <a:t>Point d’étape — enjeux, exploration et plan d’action</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82" name="Picture 2" descr="logo.png"/>
          <p:cNvPicPr/>
          <p:nvPr/>
        </p:nvPicPr>
        <p:blipFill>
          <a:blip r:embed="rId1"/>
          <a:stretch/>
        </p:blipFill>
        <p:spPr>
          <a:xfrm>
            <a:off x="777240" y="274320"/>
            <a:ext cx="987480" cy="676440"/>
          </a:xfrm>
          <a:prstGeom prst="rect">
            <a:avLst/>
          </a:prstGeom>
          <a:ln w="0">
            <a:noFill/>
          </a:ln>
        </p:spPr>
      </p:pic>
      <p:sp>
        <p:nvSpPr>
          <p:cNvPr id="83"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84" name="Connector 4"/>
          <p:cNvCxnSpPr/>
          <p:nvPr/>
        </p:nvCxnSpPr>
        <p:spPr>
          <a:xfrm>
            <a:off x="0" y="1005840"/>
            <a:ext cx="12191760" cy="360"/>
          </a:xfrm>
          <a:prstGeom prst="straightConnector1">
            <a:avLst/>
          </a:prstGeom>
          <a:ln w="9525">
            <a:solidFill>
              <a:srgbClr val="dddddd"/>
            </a:solidFill>
            <a:round/>
          </a:ln>
        </p:spPr>
      </p:cxnSp>
      <p:sp>
        <p:nvSpPr>
          <p:cNvPr id="85"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86" name="TextBox 6"/>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2</a:t>
            </a:r>
            <a:endParaRPr b="0" lang="fr-FR" sz="1100" spc="-1" strike="noStrike">
              <a:solidFill>
                <a:srgbClr val="000000"/>
              </a:solidFill>
              <a:latin typeface="Arial"/>
            </a:endParaRPr>
          </a:p>
        </p:txBody>
      </p:sp>
      <p:sp>
        <p:nvSpPr>
          <p:cNvPr id="87" name="TextBox 7"/>
          <p:cNvSpPr/>
          <p:nvPr/>
        </p:nvSpPr>
        <p:spPr>
          <a:xfrm>
            <a:off x="777240" y="1325880"/>
            <a:ext cx="10636920" cy="5130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300" spc="-1" strike="noStrike">
                <a:solidFill>
                  <a:srgbClr val="161616"/>
                </a:solidFill>
                <a:latin typeface="Marianne"/>
              </a:rPr>
              <a:t>Au programme</a:t>
            </a:r>
            <a:endParaRPr b="0" lang="fr-FR" sz="3300" spc="-1" strike="noStrike">
              <a:solidFill>
                <a:srgbClr val="000000"/>
              </a:solidFill>
              <a:latin typeface="Arial"/>
            </a:endParaRPr>
          </a:p>
        </p:txBody>
      </p:sp>
      <p:sp>
        <p:nvSpPr>
          <p:cNvPr id="88" name="Rounded Rectangle 8"/>
          <p:cNvSpPr/>
          <p:nvPr/>
        </p:nvSpPr>
        <p:spPr>
          <a:xfrm>
            <a:off x="777240" y="2468880"/>
            <a:ext cx="566640" cy="56664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9" name="TextBox 9"/>
          <p:cNvSpPr/>
          <p:nvPr/>
        </p:nvSpPr>
        <p:spPr>
          <a:xfrm>
            <a:off x="777240" y="2574360"/>
            <a:ext cx="566640" cy="35568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2200" spc="-1" strike="noStrike">
                <a:solidFill>
                  <a:srgbClr val="ffffff"/>
                </a:solidFill>
                <a:latin typeface="Marianne"/>
              </a:rPr>
              <a:t>1</a:t>
            </a:r>
            <a:endParaRPr b="0" lang="fr-FR" sz="2200" spc="-1" strike="noStrike">
              <a:solidFill>
                <a:srgbClr val="000000"/>
              </a:solidFill>
              <a:latin typeface="Arial"/>
            </a:endParaRPr>
          </a:p>
        </p:txBody>
      </p:sp>
      <p:sp>
        <p:nvSpPr>
          <p:cNvPr id="90" name="TextBox 10"/>
          <p:cNvSpPr/>
          <p:nvPr/>
        </p:nvSpPr>
        <p:spPr>
          <a:xfrm>
            <a:off x="1645920" y="2609640"/>
            <a:ext cx="9143640" cy="33984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2100" spc="-1" strike="noStrike">
                <a:solidFill>
                  <a:srgbClr val="161616"/>
                </a:solidFill>
                <a:latin typeface="Marianne"/>
              </a:rPr>
              <a:t>Les enjeux de la mission</a:t>
            </a:r>
            <a:endParaRPr b="0" lang="fr-FR" sz="2100" spc="-1" strike="noStrike">
              <a:solidFill>
                <a:srgbClr val="000000"/>
              </a:solidFill>
              <a:latin typeface="Arial"/>
            </a:endParaRPr>
          </a:p>
        </p:txBody>
      </p:sp>
      <p:sp>
        <p:nvSpPr>
          <p:cNvPr id="91" name="Rounded Rectangle 11"/>
          <p:cNvSpPr/>
          <p:nvPr/>
        </p:nvSpPr>
        <p:spPr>
          <a:xfrm>
            <a:off x="777240" y="3547800"/>
            <a:ext cx="566640" cy="56664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2" name="TextBox 12"/>
          <p:cNvSpPr/>
          <p:nvPr/>
        </p:nvSpPr>
        <p:spPr>
          <a:xfrm>
            <a:off x="777240" y="3653280"/>
            <a:ext cx="566640" cy="35568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2200" spc="-1" strike="noStrike">
                <a:solidFill>
                  <a:srgbClr val="ffffff"/>
                </a:solidFill>
                <a:latin typeface="Marianne"/>
              </a:rPr>
              <a:t>2</a:t>
            </a:r>
            <a:endParaRPr b="0" lang="fr-FR" sz="2200" spc="-1" strike="noStrike">
              <a:solidFill>
                <a:srgbClr val="000000"/>
              </a:solidFill>
              <a:latin typeface="Arial"/>
            </a:endParaRPr>
          </a:p>
        </p:txBody>
      </p:sp>
      <p:sp>
        <p:nvSpPr>
          <p:cNvPr id="93" name="TextBox 13"/>
          <p:cNvSpPr/>
          <p:nvPr/>
        </p:nvSpPr>
        <p:spPr>
          <a:xfrm>
            <a:off x="1645920" y="3688560"/>
            <a:ext cx="9143640" cy="33984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2100" spc="-1" strike="noStrike">
                <a:solidFill>
                  <a:srgbClr val="161616"/>
                </a:solidFill>
                <a:latin typeface="Marianne"/>
              </a:rPr>
              <a:t>La phase d’exploration</a:t>
            </a:r>
            <a:endParaRPr b="0" lang="fr-FR" sz="2100" spc="-1" strike="noStrike">
              <a:solidFill>
                <a:srgbClr val="000000"/>
              </a:solidFill>
              <a:latin typeface="Arial"/>
            </a:endParaRPr>
          </a:p>
        </p:txBody>
      </p:sp>
      <p:sp>
        <p:nvSpPr>
          <p:cNvPr id="94" name="Rounded Rectangle 14"/>
          <p:cNvSpPr/>
          <p:nvPr/>
        </p:nvSpPr>
        <p:spPr>
          <a:xfrm>
            <a:off x="777240" y="4626720"/>
            <a:ext cx="566640" cy="56664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5" name="TextBox 15"/>
          <p:cNvSpPr/>
          <p:nvPr/>
        </p:nvSpPr>
        <p:spPr>
          <a:xfrm>
            <a:off x="777240" y="4732200"/>
            <a:ext cx="566640" cy="35568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2200" spc="-1" strike="noStrike">
                <a:solidFill>
                  <a:srgbClr val="ffffff"/>
                </a:solidFill>
                <a:latin typeface="Marianne"/>
              </a:rPr>
              <a:t>3</a:t>
            </a:r>
            <a:endParaRPr b="0" lang="fr-FR" sz="2200" spc="-1" strike="noStrike">
              <a:solidFill>
                <a:srgbClr val="000000"/>
              </a:solidFill>
              <a:latin typeface="Arial"/>
            </a:endParaRPr>
          </a:p>
        </p:txBody>
      </p:sp>
      <p:sp>
        <p:nvSpPr>
          <p:cNvPr id="96" name="TextBox 16"/>
          <p:cNvSpPr/>
          <p:nvPr/>
        </p:nvSpPr>
        <p:spPr>
          <a:xfrm>
            <a:off x="1645920" y="4767480"/>
            <a:ext cx="9143640" cy="33984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2100" spc="-1" strike="noStrike">
                <a:solidFill>
                  <a:srgbClr val="161616"/>
                </a:solidFill>
                <a:latin typeface="Marianne"/>
              </a:rPr>
              <a:t>Le plan d’action</a:t>
            </a:r>
            <a:endParaRPr b="0" lang="fr-FR"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98" name="Picture 2" descr="logo.png"/>
          <p:cNvPicPr/>
          <p:nvPr/>
        </p:nvPicPr>
        <p:blipFill>
          <a:blip r:embed="rId1"/>
          <a:stretch/>
        </p:blipFill>
        <p:spPr>
          <a:xfrm>
            <a:off x="777240" y="274320"/>
            <a:ext cx="987480" cy="676440"/>
          </a:xfrm>
          <a:prstGeom prst="rect">
            <a:avLst/>
          </a:prstGeom>
          <a:ln w="0">
            <a:noFill/>
          </a:ln>
        </p:spPr>
      </p:pic>
      <p:sp>
        <p:nvSpPr>
          <p:cNvPr id="99"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00" name="Connector 4"/>
          <p:cNvCxnSpPr/>
          <p:nvPr/>
        </p:nvCxnSpPr>
        <p:spPr>
          <a:xfrm>
            <a:off x="0" y="1005840"/>
            <a:ext cx="12191760" cy="360"/>
          </a:xfrm>
          <a:prstGeom prst="straightConnector1">
            <a:avLst/>
          </a:prstGeom>
          <a:ln w="9525">
            <a:solidFill>
              <a:srgbClr val="dddddd"/>
            </a:solidFill>
            <a:round/>
          </a:ln>
        </p:spPr>
      </p:cxnSp>
      <p:sp>
        <p:nvSpPr>
          <p:cNvPr id="101"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102" name="TextBox 6"/>
          <p:cNvSpPr/>
          <p:nvPr/>
        </p:nvSpPr>
        <p:spPr>
          <a:xfrm>
            <a:off x="777240" y="3056040"/>
            <a:ext cx="10636920" cy="12027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spcAft>
                <a:spcPts val="1400"/>
              </a:spcAft>
            </a:pPr>
            <a:r>
              <a:rPr b="1" lang="en-US" sz="2000" spc="-1" strike="noStrike">
                <a:solidFill>
                  <a:srgbClr val="6a6af4"/>
                </a:solidFill>
                <a:latin typeface="Marianne"/>
              </a:rPr>
              <a:t>01</a:t>
            </a:r>
            <a:endParaRPr b="0" lang="fr-FR" sz="2000" spc="-1" strike="noStrike">
              <a:solidFill>
                <a:srgbClr val="000000"/>
              </a:solidFill>
              <a:latin typeface="Arial"/>
            </a:endParaRPr>
          </a:p>
          <a:p>
            <a:pPr algn="ctr" defTabSz="457200">
              <a:lnSpc>
                <a:spcPct val="100000"/>
              </a:lnSpc>
            </a:pPr>
            <a:r>
              <a:rPr b="1" lang="en-US" sz="4600" spc="-1" strike="noStrike">
                <a:solidFill>
                  <a:srgbClr val="161616"/>
                </a:solidFill>
                <a:latin typeface="Marianne"/>
              </a:rPr>
              <a:t>Les enjeux</a:t>
            </a:r>
            <a:endParaRPr b="0" lang="fr-FR" sz="4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04" name="Picture 2" descr="logo.png"/>
          <p:cNvPicPr/>
          <p:nvPr/>
        </p:nvPicPr>
        <p:blipFill>
          <a:blip r:embed="rId1"/>
          <a:stretch/>
        </p:blipFill>
        <p:spPr>
          <a:xfrm>
            <a:off x="777240" y="274320"/>
            <a:ext cx="987480" cy="676440"/>
          </a:xfrm>
          <a:prstGeom prst="rect">
            <a:avLst/>
          </a:prstGeom>
          <a:ln w="0">
            <a:noFill/>
          </a:ln>
        </p:spPr>
      </p:pic>
      <p:sp>
        <p:nvSpPr>
          <p:cNvPr id="105"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06" name="Connector 4"/>
          <p:cNvCxnSpPr/>
          <p:nvPr/>
        </p:nvCxnSpPr>
        <p:spPr>
          <a:xfrm>
            <a:off x="0" y="1005840"/>
            <a:ext cx="12191760" cy="360"/>
          </a:xfrm>
          <a:prstGeom prst="straightConnector1">
            <a:avLst/>
          </a:prstGeom>
          <a:ln w="9525">
            <a:solidFill>
              <a:srgbClr val="dddddd"/>
            </a:solidFill>
            <a:round/>
          </a:ln>
        </p:spPr>
      </p:cxnSp>
      <p:sp>
        <p:nvSpPr>
          <p:cNvPr id="107"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108" name="TextBox 6"/>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4</a:t>
            </a:r>
            <a:endParaRPr b="0" lang="fr-FR" sz="1100" spc="-1" strike="noStrike">
              <a:solidFill>
                <a:srgbClr val="000000"/>
              </a:solidFill>
              <a:latin typeface="Arial"/>
            </a:endParaRPr>
          </a:p>
        </p:txBody>
      </p:sp>
      <p:sp>
        <p:nvSpPr>
          <p:cNvPr id="109" name="TextBox 7"/>
          <p:cNvSpPr/>
          <p:nvPr/>
        </p:nvSpPr>
        <p:spPr>
          <a:xfrm>
            <a:off x="777240" y="1325880"/>
            <a:ext cx="10636920" cy="5130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300" spc="-1" strike="noStrike">
                <a:solidFill>
                  <a:srgbClr val="161616"/>
                </a:solidFill>
                <a:latin typeface="Marianne"/>
              </a:rPr>
              <a:t>Les enjeux</a:t>
            </a:r>
            <a:endParaRPr b="0" lang="fr-FR" sz="3300" spc="-1" strike="noStrike">
              <a:solidFill>
                <a:srgbClr val="000000"/>
              </a:solidFill>
              <a:latin typeface="Arial"/>
            </a:endParaRPr>
          </a:p>
        </p:txBody>
      </p:sp>
      <p:sp>
        <p:nvSpPr>
          <p:cNvPr id="110" name="TextBox 8"/>
          <p:cNvSpPr/>
          <p:nvPr/>
        </p:nvSpPr>
        <p:spPr>
          <a:xfrm>
            <a:off x="777240" y="1993320"/>
            <a:ext cx="10636920" cy="26640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650" spc="-1" strike="noStrike">
                <a:solidFill>
                  <a:srgbClr val="3a3a3a"/>
                </a:solidFill>
                <a:latin typeface="Marianne"/>
              </a:rPr>
              <a:t>Faire de l’IA un levier concret pour les métiers du numérique.</a:t>
            </a:r>
            <a:endParaRPr b="0" lang="fr-FR" sz="1650" spc="-1" strike="noStrike">
              <a:solidFill>
                <a:srgbClr val="000000"/>
              </a:solidFill>
              <a:latin typeface="Arial"/>
            </a:endParaRPr>
          </a:p>
        </p:txBody>
      </p:sp>
      <p:sp>
        <p:nvSpPr>
          <p:cNvPr id="111" name="Rounded Rectangle 9"/>
          <p:cNvSpPr/>
          <p:nvPr/>
        </p:nvSpPr>
        <p:spPr>
          <a:xfrm>
            <a:off x="777240" y="2651760"/>
            <a:ext cx="3270960" cy="251424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12" name="Picture 10" descr="search-eye.png"/>
          <p:cNvPicPr/>
          <p:nvPr/>
        </p:nvPicPr>
        <p:blipFill>
          <a:blip r:embed="rId2"/>
          <a:stretch/>
        </p:blipFill>
        <p:spPr>
          <a:xfrm>
            <a:off x="1088280" y="2962800"/>
            <a:ext cx="548280" cy="548280"/>
          </a:xfrm>
          <a:prstGeom prst="rect">
            <a:avLst/>
          </a:prstGeom>
          <a:ln w="0">
            <a:noFill/>
          </a:ln>
        </p:spPr>
      </p:pic>
      <p:sp>
        <p:nvSpPr>
          <p:cNvPr id="113" name="TextBox 11"/>
          <p:cNvSpPr/>
          <p:nvPr/>
        </p:nvSpPr>
        <p:spPr>
          <a:xfrm>
            <a:off x="1088280" y="3694320"/>
            <a:ext cx="2685960" cy="85032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601"/>
              </a:spcAft>
            </a:pPr>
            <a:r>
              <a:rPr b="1" lang="en-US" sz="1850" spc="-1" strike="noStrike">
                <a:solidFill>
                  <a:srgbClr val="000091"/>
                </a:solidFill>
                <a:latin typeface="Marianne"/>
              </a:rPr>
              <a:t>Identifier les usages</a:t>
            </a:r>
            <a:endParaRPr b="0" lang="fr-FR" sz="1850" spc="-1" strike="noStrike">
              <a:solidFill>
                <a:srgbClr val="000000"/>
              </a:solidFill>
              <a:latin typeface="Arial"/>
            </a:endParaRPr>
          </a:p>
          <a:p>
            <a:pPr defTabSz="457200">
              <a:lnSpc>
                <a:spcPct val="110000"/>
              </a:lnSpc>
            </a:pPr>
            <a:r>
              <a:rPr b="0" lang="en-US" sz="1450" spc="-1" strike="noStrike">
                <a:solidFill>
                  <a:srgbClr val="3a3a3a"/>
                </a:solidFill>
                <a:latin typeface="Marianne"/>
              </a:rPr>
              <a:t>Repérer les cas d’usage IA pour chaque métier.</a:t>
            </a:r>
            <a:endParaRPr b="0" lang="fr-FR" sz="1450" spc="-1" strike="noStrike">
              <a:solidFill>
                <a:srgbClr val="000000"/>
              </a:solidFill>
              <a:latin typeface="Arial"/>
            </a:endParaRPr>
          </a:p>
        </p:txBody>
      </p:sp>
      <p:sp>
        <p:nvSpPr>
          <p:cNvPr id="114" name="Rounded Rectangle 12"/>
          <p:cNvSpPr/>
          <p:nvPr/>
        </p:nvSpPr>
        <p:spPr>
          <a:xfrm>
            <a:off x="4460040" y="2651760"/>
            <a:ext cx="3270960" cy="251424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15" name="Picture 13" descr="user-follow.png"/>
          <p:cNvPicPr/>
          <p:nvPr/>
        </p:nvPicPr>
        <p:blipFill>
          <a:blip r:embed="rId3"/>
          <a:stretch/>
        </p:blipFill>
        <p:spPr>
          <a:xfrm>
            <a:off x="4771080" y="2962800"/>
            <a:ext cx="548280" cy="548280"/>
          </a:xfrm>
          <a:prstGeom prst="rect">
            <a:avLst/>
          </a:prstGeom>
          <a:ln w="0">
            <a:noFill/>
          </a:ln>
        </p:spPr>
      </p:pic>
      <p:sp>
        <p:nvSpPr>
          <p:cNvPr id="116" name="TextBox 14"/>
          <p:cNvSpPr/>
          <p:nvPr/>
        </p:nvSpPr>
        <p:spPr>
          <a:xfrm>
            <a:off x="4771080" y="3694320"/>
            <a:ext cx="2685960" cy="113796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601"/>
              </a:spcAft>
            </a:pPr>
            <a:r>
              <a:rPr b="1" lang="en-US" sz="1850" spc="-1" strike="noStrike">
                <a:solidFill>
                  <a:srgbClr val="000091"/>
                </a:solidFill>
                <a:latin typeface="Marianne"/>
              </a:rPr>
              <a:t>Accompagner la maîtrise</a:t>
            </a:r>
            <a:endParaRPr b="0" lang="fr-FR" sz="1850" spc="-1" strike="noStrike">
              <a:solidFill>
                <a:srgbClr val="000000"/>
              </a:solidFill>
              <a:latin typeface="Arial"/>
            </a:endParaRPr>
          </a:p>
          <a:p>
            <a:pPr defTabSz="457200">
              <a:lnSpc>
                <a:spcPct val="110000"/>
              </a:lnSpc>
            </a:pPr>
            <a:r>
              <a:rPr b="0" lang="en-US" sz="1450" spc="-1" strike="noStrike">
                <a:solidFill>
                  <a:srgbClr val="3a3a3a"/>
                </a:solidFill>
                <a:latin typeface="Marianne"/>
              </a:rPr>
              <a:t>Aider les équipes à s’approprier des cas concrets.</a:t>
            </a:r>
            <a:endParaRPr b="0" lang="fr-FR" sz="1450" spc="-1" strike="noStrike">
              <a:solidFill>
                <a:srgbClr val="000000"/>
              </a:solidFill>
              <a:latin typeface="Arial"/>
            </a:endParaRPr>
          </a:p>
        </p:txBody>
      </p:sp>
      <p:sp>
        <p:nvSpPr>
          <p:cNvPr id="117" name="Rounded Rectangle 15"/>
          <p:cNvSpPr/>
          <p:nvPr/>
        </p:nvSpPr>
        <p:spPr>
          <a:xfrm>
            <a:off x="8143200" y="2651760"/>
            <a:ext cx="3270960" cy="251424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18" name="Picture 16" descr="megaphone.png"/>
          <p:cNvPicPr/>
          <p:nvPr/>
        </p:nvPicPr>
        <p:blipFill>
          <a:blip r:embed="rId4"/>
          <a:stretch/>
        </p:blipFill>
        <p:spPr>
          <a:xfrm>
            <a:off x="8453880" y="2962800"/>
            <a:ext cx="548280" cy="548280"/>
          </a:xfrm>
          <a:prstGeom prst="rect">
            <a:avLst/>
          </a:prstGeom>
          <a:ln w="0">
            <a:noFill/>
          </a:ln>
        </p:spPr>
      </p:pic>
      <p:sp>
        <p:nvSpPr>
          <p:cNvPr id="119" name="TextBox 17"/>
          <p:cNvSpPr/>
          <p:nvPr/>
        </p:nvSpPr>
        <p:spPr>
          <a:xfrm>
            <a:off x="8453880" y="3694320"/>
            <a:ext cx="2685960" cy="85032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601"/>
              </a:spcAft>
            </a:pPr>
            <a:r>
              <a:rPr b="1" lang="en-US" sz="1850" spc="-1" strike="noStrike">
                <a:solidFill>
                  <a:srgbClr val="000091"/>
                </a:solidFill>
                <a:latin typeface="Marianne"/>
              </a:rPr>
              <a:t>Évangéliser</a:t>
            </a:r>
            <a:endParaRPr b="0" lang="fr-FR" sz="1850" spc="-1" strike="noStrike">
              <a:solidFill>
                <a:srgbClr val="000000"/>
              </a:solidFill>
              <a:latin typeface="Arial"/>
            </a:endParaRPr>
          </a:p>
          <a:p>
            <a:pPr defTabSz="457200">
              <a:lnSpc>
                <a:spcPct val="110000"/>
              </a:lnSpc>
            </a:pPr>
            <a:r>
              <a:rPr b="0" lang="en-US" sz="1450" spc="-1" strike="noStrike">
                <a:solidFill>
                  <a:srgbClr val="3a3a3a"/>
                </a:solidFill>
                <a:latin typeface="Marianne"/>
              </a:rPr>
              <a:t>Diffuser la culture et les bons réflexes de l’IA.</a:t>
            </a:r>
            <a:endParaRPr b="0" lang="fr-FR" sz="1450" spc="-1" strike="noStrike">
              <a:solidFill>
                <a:srgbClr val="000000"/>
              </a:solidFill>
              <a:latin typeface="Arial"/>
            </a:endParaRPr>
          </a:p>
        </p:txBody>
      </p:sp>
      <p:sp>
        <p:nvSpPr>
          <p:cNvPr id="120" name="TextBox 18"/>
          <p:cNvSpPr/>
          <p:nvPr/>
        </p:nvSpPr>
        <p:spPr>
          <a:xfrm>
            <a:off x="777240" y="5573880"/>
            <a:ext cx="2011320" cy="22680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1400" spc="-1" strike="noStrike">
                <a:solidFill>
                  <a:srgbClr val="161616"/>
                </a:solidFill>
                <a:latin typeface="Marianne"/>
              </a:rPr>
              <a:t>Pour 4 métiers :</a:t>
            </a:r>
            <a:endParaRPr b="0" lang="fr-FR" sz="1400" spc="-1" strike="noStrike">
              <a:solidFill>
                <a:srgbClr val="000000"/>
              </a:solidFill>
              <a:latin typeface="Arial"/>
            </a:endParaRPr>
          </a:p>
        </p:txBody>
      </p:sp>
      <p:sp>
        <p:nvSpPr>
          <p:cNvPr id="121" name="Rounded Rectangle 19"/>
          <p:cNvSpPr/>
          <p:nvPr/>
        </p:nvSpPr>
        <p:spPr>
          <a:xfrm>
            <a:off x="2834640" y="5477400"/>
            <a:ext cx="1330200" cy="420120"/>
          </a:xfrm>
          <a:prstGeom prst="roundRect">
            <a:avLst>
              <a:gd name="adj" fmla="val 50000"/>
            </a:avLst>
          </a:prstGeom>
          <a:noFill/>
          <a:ln w="12700">
            <a:solidFill>
              <a:srgbClr val="6a6af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2" name="TextBox 20"/>
          <p:cNvSpPr/>
          <p:nvPr/>
        </p:nvSpPr>
        <p:spPr>
          <a:xfrm>
            <a:off x="2834640" y="5581800"/>
            <a:ext cx="1330200" cy="2109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000091"/>
                </a:solidFill>
                <a:latin typeface="Marianne"/>
              </a:rPr>
              <a:t>Architectes</a:t>
            </a:r>
            <a:endParaRPr b="0" lang="fr-FR" sz="1300" spc="-1" strike="noStrike">
              <a:solidFill>
                <a:srgbClr val="000000"/>
              </a:solidFill>
              <a:latin typeface="Arial"/>
            </a:endParaRPr>
          </a:p>
        </p:txBody>
      </p:sp>
      <p:sp>
        <p:nvSpPr>
          <p:cNvPr id="123" name="Rounded Rectangle 21"/>
          <p:cNvSpPr/>
          <p:nvPr/>
        </p:nvSpPr>
        <p:spPr>
          <a:xfrm>
            <a:off x="4366440" y="5477400"/>
            <a:ext cx="1714320" cy="420120"/>
          </a:xfrm>
          <a:prstGeom prst="roundRect">
            <a:avLst>
              <a:gd name="adj" fmla="val 50000"/>
            </a:avLst>
          </a:prstGeom>
          <a:noFill/>
          <a:ln w="12700">
            <a:solidFill>
              <a:srgbClr val="6a6af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4" name="TextBox 22"/>
          <p:cNvSpPr/>
          <p:nvPr/>
        </p:nvSpPr>
        <p:spPr>
          <a:xfrm>
            <a:off x="4366440" y="5581800"/>
            <a:ext cx="1714320" cy="2109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000091"/>
                </a:solidFill>
                <a:latin typeface="Marianne"/>
              </a:rPr>
              <a:t>Chefs de projet</a:t>
            </a:r>
            <a:endParaRPr b="0" lang="fr-FR" sz="1300" spc="-1" strike="noStrike">
              <a:solidFill>
                <a:srgbClr val="000000"/>
              </a:solidFill>
              <a:latin typeface="Arial"/>
            </a:endParaRPr>
          </a:p>
        </p:txBody>
      </p:sp>
      <p:sp>
        <p:nvSpPr>
          <p:cNvPr id="125" name="Rounded Rectangle 23"/>
          <p:cNvSpPr/>
          <p:nvPr/>
        </p:nvSpPr>
        <p:spPr>
          <a:xfrm>
            <a:off x="6282000" y="5477400"/>
            <a:ext cx="1137960" cy="420120"/>
          </a:xfrm>
          <a:prstGeom prst="roundRect">
            <a:avLst>
              <a:gd name="adj" fmla="val 50000"/>
            </a:avLst>
          </a:prstGeom>
          <a:noFill/>
          <a:ln w="12700">
            <a:solidFill>
              <a:srgbClr val="6a6af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6" name="TextBox 24"/>
          <p:cNvSpPr/>
          <p:nvPr/>
        </p:nvSpPr>
        <p:spPr>
          <a:xfrm>
            <a:off x="6282000" y="5581800"/>
            <a:ext cx="1137960" cy="2109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000091"/>
                </a:solidFill>
                <a:latin typeface="Marianne"/>
              </a:rPr>
              <a:t>Designers</a:t>
            </a:r>
            <a:endParaRPr b="0" lang="fr-FR" sz="1300" spc="-1" strike="noStrike">
              <a:solidFill>
                <a:srgbClr val="000000"/>
              </a:solidFill>
              <a:latin typeface="Arial"/>
            </a:endParaRPr>
          </a:p>
        </p:txBody>
      </p:sp>
      <p:sp>
        <p:nvSpPr>
          <p:cNvPr id="127" name="Rounded Rectangle 25"/>
          <p:cNvSpPr/>
          <p:nvPr/>
        </p:nvSpPr>
        <p:spPr>
          <a:xfrm>
            <a:off x="7621560" y="5477400"/>
            <a:ext cx="1425960" cy="420120"/>
          </a:xfrm>
          <a:prstGeom prst="roundRect">
            <a:avLst>
              <a:gd name="adj" fmla="val 50000"/>
            </a:avLst>
          </a:prstGeom>
          <a:noFill/>
          <a:ln w="12700">
            <a:solidFill>
              <a:srgbClr val="6a6af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8" name="TextBox 26"/>
          <p:cNvSpPr/>
          <p:nvPr/>
        </p:nvSpPr>
        <p:spPr>
          <a:xfrm>
            <a:off x="7621560" y="5581800"/>
            <a:ext cx="1425960" cy="2109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000091"/>
                </a:solidFill>
                <a:latin typeface="Marianne"/>
              </a:rPr>
              <a:t>Développeurs</a:t>
            </a:r>
            <a:endParaRPr b="0" lang="fr-FR"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30" name="Picture 2" descr="logo.png"/>
          <p:cNvPicPr/>
          <p:nvPr/>
        </p:nvPicPr>
        <p:blipFill>
          <a:blip r:embed="rId1"/>
          <a:stretch/>
        </p:blipFill>
        <p:spPr>
          <a:xfrm>
            <a:off x="777240" y="274320"/>
            <a:ext cx="987480" cy="676440"/>
          </a:xfrm>
          <a:prstGeom prst="rect">
            <a:avLst/>
          </a:prstGeom>
          <a:ln w="0">
            <a:noFill/>
          </a:ln>
        </p:spPr>
      </p:pic>
      <p:sp>
        <p:nvSpPr>
          <p:cNvPr id="131"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32" name="Connector 4"/>
          <p:cNvCxnSpPr/>
          <p:nvPr/>
        </p:nvCxnSpPr>
        <p:spPr>
          <a:xfrm>
            <a:off x="0" y="1005840"/>
            <a:ext cx="12191760" cy="360"/>
          </a:xfrm>
          <a:prstGeom prst="straightConnector1">
            <a:avLst/>
          </a:prstGeom>
          <a:ln w="9525">
            <a:solidFill>
              <a:srgbClr val="dddddd"/>
            </a:solidFill>
            <a:round/>
          </a:ln>
        </p:spPr>
      </p:cxnSp>
      <p:sp>
        <p:nvSpPr>
          <p:cNvPr id="133"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134" name="TextBox 6"/>
          <p:cNvSpPr/>
          <p:nvPr/>
        </p:nvSpPr>
        <p:spPr>
          <a:xfrm>
            <a:off x="777240" y="3056040"/>
            <a:ext cx="10636920" cy="12027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spcAft>
                <a:spcPts val="1400"/>
              </a:spcAft>
            </a:pPr>
            <a:r>
              <a:rPr b="1" lang="en-US" sz="2000" spc="-1" strike="noStrike">
                <a:solidFill>
                  <a:srgbClr val="6a6af4"/>
                </a:solidFill>
                <a:latin typeface="Marianne"/>
              </a:rPr>
              <a:t>02</a:t>
            </a:r>
            <a:endParaRPr b="0" lang="fr-FR" sz="2000" spc="-1" strike="noStrike">
              <a:solidFill>
                <a:srgbClr val="000000"/>
              </a:solidFill>
              <a:latin typeface="Arial"/>
            </a:endParaRPr>
          </a:p>
          <a:p>
            <a:pPr algn="ctr" defTabSz="457200">
              <a:lnSpc>
                <a:spcPct val="100000"/>
              </a:lnSpc>
            </a:pPr>
            <a:r>
              <a:rPr b="1" lang="en-US" sz="4600" spc="-1" strike="noStrike">
                <a:solidFill>
                  <a:srgbClr val="161616"/>
                </a:solidFill>
                <a:latin typeface="Marianne"/>
              </a:rPr>
              <a:t>L’exploration</a:t>
            </a:r>
            <a:endParaRPr b="0" lang="fr-FR" sz="4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36" name="Picture 2" descr="logo.png"/>
          <p:cNvPicPr/>
          <p:nvPr/>
        </p:nvPicPr>
        <p:blipFill>
          <a:blip r:embed="rId1"/>
          <a:stretch/>
        </p:blipFill>
        <p:spPr>
          <a:xfrm>
            <a:off x="777240" y="274320"/>
            <a:ext cx="987480" cy="676440"/>
          </a:xfrm>
          <a:prstGeom prst="rect">
            <a:avLst/>
          </a:prstGeom>
          <a:ln w="0">
            <a:noFill/>
          </a:ln>
        </p:spPr>
      </p:pic>
      <p:sp>
        <p:nvSpPr>
          <p:cNvPr id="137"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38" name="Connector 4"/>
          <p:cNvCxnSpPr/>
          <p:nvPr/>
        </p:nvCxnSpPr>
        <p:spPr>
          <a:xfrm>
            <a:off x="0" y="1005840"/>
            <a:ext cx="12191760" cy="360"/>
          </a:xfrm>
          <a:prstGeom prst="straightConnector1">
            <a:avLst/>
          </a:prstGeom>
          <a:ln w="9525">
            <a:solidFill>
              <a:srgbClr val="dddddd"/>
            </a:solidFill>
            <a:round/>
          </a:ln>
        </p:spPr>
      </p:cxnSp>
      <p:sp>
        <p:nvSpPr>
          <p:cNvPr id="139"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140" name="TextBox 6"/>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6</a:t>
            </a:r>
            <a:endParaRPr b="0" lang="fr-FR" sz="1100" spc="-1" strike="noStrike">
              <a:solidFill>
                <a:srgbClr val="000000"/>
              </a:solidFill>
              <a:latin typeface="Arial"/>
            </a:endParaRPr>
          </a:p>
        </p:txBody>
      </p:sp>
      <p:sp>
        <p:nvSpPr>
          <p:cNvPr id="141" name="TextBox 7"/>
          <p:cNvSpPr/>
          <p:nvPr/>
        </p:nvSpPr>
        <p:spPr>
          <a:xfrm>
            <a:off x="777240" y="1325880"/>
            <a:ext cx="10636920" cy="5130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300" spc="-1" strike="noStrike">
                <a:solidFill>
                  <a:srgbClr val="161616"/>
                </a:solidFill>
                <a:latin typeface="Marianne"/>
              </a:rPr>
              <a:t>Aller à la rencontre du terrain</a:t>
            </a:r>
            <a:endParaRPr b="0" lang="fr-FR" sz="3300" spc="-1" strike="noStrike">
              <a:solidFill>
                <a:srgbClr val="000000"/>
              </a:solidFill>
              <a:latin typeface="Arial"/>
            </a:endParaRPr>
          </a:p>
        </p:txBody>
      </p:sp>
      <p:sp>
        <p:nvSpPr>
          <p:cNvPr id="142" name="Rounded Rectangle 8"/>
          <p:cNvSpPr/>
          <p:nvPr/>
        </p:nvSpPr>
        <p:spPr>
          <a:xfrm>
            <a:off x="777240" y="2148840"/>
            <a:ext cx="3270960" cy="361152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43" name="Picture 9" descr="team.png"/>
          <p:cNvPicPr/>
          <p:nvPr/>
        </p:nvPicPr>
        <p:blipFill>
          <a:blip r:embed="rId2"/>
          <a:stretch/>
        </p:blipFill>
        <p:spPr>
          <a:xfrm>
            <a:off x="1088280" y="2387880"/>
            <a:ext cx="511560" cy="511560"/>
          </a:xfrm>
          <a:prstGeom prst="rect">
            <a:avLst/>
          </a:prstGeom>
          <a:ln w="0">
            <a:noFill/>
          </a:ln>
        </p:spPr>
      </p:pic>
      <p:sp>
        <p:nvSpPr>
          <p:cNvPr id="144" name="TextBox 10"/>
          <p:cNvSpPr/>
          <p:nvPr/>
        </p:nvSpPr>
        <p:spPr>
          <a:xfrm>
            <a:off x="1088280" y="3036960"/>
            <a:ext cx="2649240" cy="265716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901"/>
              </a:spcAft>
            </a:pPr>
            <a:r>
              <a:rPr b="1" lang="en-US" sz="1800" spc="-1" strike="noStrike">
                <a:solidFill>
                  <a:srgbClr val="000091"/>
                </a:solidFill>
                <a:latin typeface="Marianne"/>
              </a:rPr>
              <a:t>Les équipes</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SRDT</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DACCORD</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Egapro</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DomiFA</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SIRENA</a:t>
            </a:r>
            <a:endParaRPr b="0" lang="fr-FR" sz="1450" spc="-1" strike="noStrike">
              <a:solidFill>
                <a:srgbClr val="000000"/>
              </a:solidFill>
              <a:latin typeface="Arial"/>
            </a:endParaRPr>
          </a:p>
          <a:p>
            <a:pPr defTabSz="457200">
              <a:lnSpc>
                <a:spcPct val="110000"/>
              </a:lnSpc>
              <a:spcBef>
                <a:spcPts val="901"/>
              </a:spcBef>
              <a:tabLst>
                <a:tab algn="l" pos="0"/>
              </a:tabLst>
            </a:pPr>
            <a:r>
              <a:rPr b="0" i="1" lang="en-US" sz="1350" spc="-1" strike="noStrike">
                <a:solidFill>
                  <a:srgbClr val="3a3a3a"/>
                </a:solidFill>
                <a:latin typeface="Marianne"/>
              </a:rPr>
              <a:t>Avoir un point d’entrée dans ces équipes afin d’itérer avec elles lors d’une phase d’action.</a:t>
            </a:r>
            <a:endParaRPr b="0" lang="fr-FR" sz="1350" spc="-1" strike="noStrike">
              <a:solidFill>
                <a:srgbClr val="000000"/>
              </a:solidFill>
              <a:latin typeface="Arial"/>
            </a:endParaRPr>
          </a:p>
        </p:txBody>
      </p:sp>
      <p:sp>
        <p:nvSpPr>
          <p:cNvPr id="145" name="Rounded Rectangle 11"/>
          <p:cNvSpPr/>
          <p:nvPr/>
        </p:nvSpPr>
        <p:spPr>
          <a:xfrm>
            <a:off x="4460040" y="2148840"/>
            <a:ext cx="3270960" cy="361152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46" name="Picture 12" descr="briefcase.png"/>
          <p:cNvPicPr/>
          <p:nvPr/>
        </p:nvPicPr>
        <p:blipFill>
          <a:blip r:embed="rId3"/>
          <a:stretch/>
        </p:blipFill>
        <p:spPr>
          <a:xfrm>
            <a:off x="4771080" y="2387880"/>
            <a:ext cx="511560" cy="511560"/>
          </a:xfrm>
          <a:prstGeom prst="rect">
            <a:avLst/>
          </a:prstGeom>
          <a:ln w="0">
            <a:noFill/>
          </a:ln>
        </p:spPr>
      </p:pic>
      <p:sp>
        <p:nvSpPr>
          <p:cNvPr id="147" name="TextBox 13"/>
          <p:cNvSpPr/>
          <p:nvPr/>
        </p:nvSpPr>
        <p:spPr>
          <a:xfrm>
            <a:off x="4771080" y="3036960"/>
            <a:ext cx="2649240" cy="21358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901"/>
              </a:spcAft>
            </a:pPr>
            <a:r>
              <a:rPr b="1" lang="en-US" sz="1800" spc="-1" strike="noStrike">
                <a:solidFill>
                  <a:srgbClr val="000091"/>
                </a:solidFill>
                <a:latin typeface="Marianne"/>
              </a:rPr>
              <a:t>Les métiers</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Architectes</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Products</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Designers</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Développeurs</a:t>
            </a:r>
            <a:endParaRPr b="0" lang="fr-FR" sz="1450" spc="-1" strike="noStrike">
              <a:solidFill>
                <a:srgbClr val="000000"/>
              </a:solidFill>
              <a:latin typeface="Arial"/>
            </a:endParaRPr>
          </a:p>
          <a:p>
            <a:pPr defTabSz="457200">
              <a:lnSpc>
                <a:spcPct val="110000"/>
              </a:lnSpc>
              <a:spcBef>
                <a:spcPts val="901"/>
              </a:spcBef>
              <a:tabLst>
                <a:tab algn="l" pos="0"/>
              </a:tabLst>
            </a:pPr>
            <a:r>
              <a:rPr b="0" i="1" lang="en-US" sz="1350" spc="-1" strike="noStrike">
                <a:solidFill>
                  <a:srgbClr val="3a3a3a"/>
                </a:solidFill>
                <a:latin typeface="Marianne"/>
              </a:rPr>
              <a:t>Cerner les besoins propres à chaque rôle.</a:t>
            </a:r>
            <a:endParaRPr b="0" lang="fr-FR" sz="1350" spc="-1" strike="noStrike">
              <a:solidFill>
                <a:srgbClr val="000000"/>
              </a:solidFill>
              <a:latin typeface="Arial"/>
            </a:endParaRPr>
          </a:p>
        </p:txBody>
      </p:sp>
      <p:sp>
        <p:nvSpPr>
          <p:cNvPr id="148" name="Rounded Rectangle 14"/>
          <p:cNvSpPr/>
          <p:nvPr/>
        </p:nvSpPr>
        <p:spPr>
          <a:xfrm>
            <a:off x="8143200" y="2148840"/>
            <a:ext cx="3270960" cy="361152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49" name="Picture 15" descr="discuss.png"/>
          <p:cNvPicPr/>
          <p:nvPr/>
        </p:nvPicPr>
        <p:blipFill>
          <a:blip r:embed="rId4"/>
          <a:stretch/>
        </p:blipFill>
        <p:spPr>
          <a:xfrm>
            <a:off x="8453880" y="2387880"/>
            <a:ext cx="511560" cy="511560"/>
          </a:xfrm>
          <a:prstGeom prst="rect">
            <a:avLst/>
          </a:prstGeom>
          <a:ln w="0">
            <a:noFill/>
          </a:ln>
        </p:spPr>
      </p:pic>
      <p:sp>
        <p:nvSpPr>
          <p:cNvPr id="150" name="TextBox 16"/>
          <p:cNvSpPr/>
          <p:nvPr/>
        </p:nvSpPr>
        <p:spPr>
          <a:xfrm>
            <a:off x="8453880" y="3036960"/>
            <a:ext cx="2649240" cy="200988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901"/>
              </a:spcAft>
            </a:pPr>
            <a:r>
              <a:rPr b="1" lang="en-US" sz="1800" spc="-1" strike="noStrike">
                <a:solidFill>
                  <a:srgbClr val="000091"/>
                </a:solidFill>
                <a:latin typeface="Marianne"/>
              </a:rPr>
              <a:t>D’autres échanges clés</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Dominique — RGAA / accessibilité</a:t>
            </a:r>
            <a:endParaRPr b="0" lang="fr-FR" sz="145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50" spc="-1" strike="noStrike">
                <a:solidFill>
                  <a:srgbClr val="161616"/>
                </a:solidFill>
                <a:latin typeface="Marianne"/>
              </a:rPr>
              <a:t>Victor Degliame — outillage interne</a:t>
            </a:r>
            <a:endParaRPr b="0" lang="fr-FR" sz="1450" spc="-1" strike="noStrike">
              <a:solidFill>
                <a:srgbClr val="000000"/>
              </a:solidFill>
              <a:latin typeface="Arial"/>
            </a:endParaRPr>
          </a:p>
          <a:p>
            <a:pPr defTabSz="457200">
              <a:lnSpc>
                <a:spcPct val="110000"/>
              </a:lnSpc>
              <a:spcBef>
                <a:spcPts val="901"/>
              </a:spcBef>
              <a:tabLst>
                <a:tab algn="l" pos="0"/>
              </a:tabLst>
            </a:pPr>
            <a:r>
              <a:rPr b="0" i="1" lang="en-US" sz="1350" spc="-1" strike="noStrike">
                <a:solidFill>
                  <a:srgbClr val="3a3a3a"/>
                </a:solidFill>
                <a:latin typeface="Marianne"/>
              </a:rPr>
              <a:t>Sécuriser conformité et stratégie d’outillage.</a:t>
            </a:r>
            <a:endParaRPr b="0" lang="fr-FR" sz="1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52" name="Picture 2" descr="logo.png"/>
          <p:cNvPicPr/>
          <p:nvPr/>
        </p:nvPicPr>
        <p:blipFill>
          <a:blip r:embed="rId1"/>
          <a:stretch/>
        </p:blipFill>
        <p:spPr>
          <a:xfrm>
            <a:off x="777240" y="274320"/>
            <a:ext cx="987480" cy="676440"/>
          </a:xfrm>
          <a:prstGeom prst="rect">
            <a:avLst/>
          </a:prstGeom>
          <a:ln w="0">
            <a:noFill/>
          </a:ln>
        </p:spPr>
      </p:pic>
      <p:sp>
        <p:nvSpPr>
          <p:cNvPr id="153"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54" name="Connector 4"/>
          <p:cNvCxnSpPr/>
          <p:nvPr/>
        </p:nvCxnSpPr>
        <p:spPr>
          <a:xfrm>
            <a:off x="0" y="1005840"/>
            <a:ext cx="12191760" cy="360"/>
          </a:xfrm>
          <a:prstGeom prst="straightConnector1">
            <a:avLst/>
          </a:prstGeom>
          <a:ln w="9525">
            <a:solidFill>
              <a:srgbClr val="dddddd"/>
            </a:solidFill>
            <a:round/>
          </a:ln>
        </p:spPr>
      </p:cxnSp>
      <p:sp>
        <p:nvSpPr>
          <p:cNvPr id="155"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156" name="TextBox 6"/>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7</a:t>
            </a:r>
            <a:endParaRPr b="0" lang="fr-FR" sz="1100" spc="-1" strike="noStrike">
              <a:solidFill>
                <a:srgbClr val="000000"/>
              </a:solidFill>
              <a:latin typeface="Arial"/>
            </a:endParaRPr>
          </a:p>
        </p:txBody>
      </p:sp>
      <p:sp>
        <p:nvSpPr>
          <p:cNvPr id="157" name="TextBox 7"/>
          <p:cNvSpPr/>
          <p:nvPr/>
        </p:nvSpPr>
        <p:spPr>
          <a:xfrm>
            <a:off x="777240" y="1325880"/>
            <a:ext cx="10636920" cy="4824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100" spc="-1" strike="noStrike">
                <a:solidFill>
                  <a:srgbClr val="161616"/>
                </a:solidFill>
                <a:latin typeface="Marianne"/>
              </a:rPr>
              <a:t>Egapro : un usage de l’IA déjà avancé</a:t>
            </a:r>
            <a:endParaRPr b="0" lang="fr-FR" sz="3100" spc="-1" strike="noStrike">
              <a:solidFill>
                <a:srgbClr val="000000"/>
              </a:solidFill>
              <a:latin typeface="Arial"/>
            </a:endParaRPr>
          </a:p>
        </p:txBody>
      </p:sp>
      <p:sp>
        <p:nvSpPr>
          <p:cNvPr id="158" name="TextBox 8"/>
          <p:cNvSpPr/>
          <p:nvPr/>
        </p:nvSpPr>
        <p:spPr>
          <a:xfrm>
            <a:off x="777240" y="2011680"/>
            <a:ext cx="10636920" cy="276480"/>
          </a:xfrm>
          <a:prstGeom prst="rect">
            <a:avLst/>
          </a:prstGeom>
          <a:noFill/>
          <a:ln w="0">
            <a:noFill/>
          </a:ln>
        </p:spPr>
        <p:style>
          <a:lnRef idx="0"/>
          <a:fillRef idx="0"/>
          <a:effectRef idx="0"/>
          <a:fontRef idx="minor"/>
        </p:style>
        <p:txBody>
          <a:bodyPr lIns="0" rIns="0" tIns="0" bIns="0" anchor="t">
            <a:spAutoFit/>
          </a:bodyPr>
          <a:p>
            <a:pPr defTabSz="457200">
              <a:lnSpc>
                <a:spcPct val="110000"/>
              </a:lnSpc>
            </a:pPr>
            <a:r>
              <a:rPr b="0" lang="en-US" sz="1650" spc="-1" strike="noStrike">
                <a:solidFill>
                  <a:srgbClr val="3a3a3a"/>
                </a:solidFill>
                <a:latin typeface="Marianne"/>
              </a:rPr>
              <a:t>Une équipe qui exploite déjà Claude — j’ai exploré cet usage en développant dessus.</a:t>
            </a:r>
            <a:endParaRPr b="0" lang="fr-FR" sz="1650" spc="-1" strike="noStrike">
              <a:solidFill>
                <a:srgbClr val="000000"/>
              </a:solidFill>
              <a:latin typeface="Arial"/>
            </a:endParaRPr>
          </a:p>
        </p:txBody>
      </p:sp>
      <p:sp>
        <p:nvSpPr>
          <p:cNvPr id="159" name="Rounded Rectangle 9"/>
          <p:cNvSpPr/>
          <p:nvPr/>
        </p:nvSpPr>
        <p:spPr>
          <a:xfrm>
            <a:off x="777240" y="2788920"/>
            <a:ext cx="5089680" cy="297144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60" name="Picture 10" descr="terminal-box.png"/>
          <p:cNvPicPr/>
          <p:nvPr/>
        </p:nvPicPr>
        <p:blipFill>
          <a:blip r:embed="rId2"/>
          <a:stretch/>
        </p:blipFill>
        <p:spPr>
          <a:xfrm>
            <a:off x="1106280" y="3099960"/>
            <a:ext cx="511560" cy="511560"/>
          </a:xfrm>
          <a:prstGeom prst="rect">
            <a:avLst/>
          </a:prstGeom>
          <a:ln w="0">
            <a:noFill/>
          </a:ln>
        </p:spPr>
      </p:pic>
      <p:sp>
        <p:nvSpPr>
          <p:cNvPr id="161" name="TextBox 11"/>
          <p:cNvSpPr/>
          <p:nvPr/>
        </p:nvSpPr>
        <p:spPr>
          <a:xfrm>
            <a:off x="1106280" y="3749040"/>
            <a:ext cx="4431240" cy="222228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1001"/>
              </a:spcAft>
            </a:pPr>
            <a:r>
              <a:rPr b="1" lang="en-US" sz="1800" spc="-1" strike="noStrike">
                <a:solidFill>
                  <a:srgbClr val="000091"/>
                </a:solidFill>
                <a:latin typeface="Marianne"/>
              </a:rPr>
              <a:t>Ce que j’ai observé</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500" spc="-1" strike="noStrike">
                <a:solidFill>
                  <a:srgbClr val="161616"/>
                </a:solidFill>
                <a:latin typeface="Marianne"/>
              </a:rPr>
              <a:t>Une orchestration ambitieuse, impactant positivement la qualité des tickets et la vélocité des développeurs.</a:t>
            </a:r>
            <a:endParaRPr b="0" lang="fr-FR" sz="15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500" spc="-1" strike="noStrike">
                <a:solidFill>
                  <a:srgbClr val="161616"/>
                </a:solidFill>
                <a:latin typeface="Marianne"/>
              </a:rPr>
              <a:t>Des difficultés à piloter un projet avec un usage aussi mature de l’IA par les développeurs.</a:t>
            </a:r>
            <a:endParaRPr b="0" lang="fr-FR" sz="1500" spc="-1" strike="noStrike">
              <a:solidFill>
                <a:srgbClr val="000000"/>
              </a:solidFill>
              <a:latin typeface="Arial"/>
            </a:endParaRPr>
          </a:p>
          <a:p>
            <a:pPr marL="201240" indent="-201240" defTabSz="457200">
              <a:lnSpc>
                <a:spcPct val="105000"/>
              </a:lnSpc>
              <a:spcAft>
                <a:spcPts val="499"/>
              </a:spcAft>
              <a:tabLst>
                <a:tab algn="l" pos="0"/>
              </a:tabLst>
            </a:pPr>
            <a:endParaRPr b="0" lang="fr-FR" sz="1500" spc="-1" strike="noStrike">
              <a:solidFill>
                <a:srgbClr val="000000"/>
              </a:solidFill>
              <a:latin typeface="Arial"/>
            </a:endParaRPr>
          </a:p>
        </p:txBody>
      </p:sp>
      <p:sp>
        <p:nvSpPr>
          <p:cNvPr id="162" name="Rounded Rectangle 12"/>
          <p:cNvSpPr/>
          <p:nvPr/>
        </p:nvSpPr>
        <p:spPr>
          <a:xfrm>
            <a:off x="6324480" y="2788920"/>
            <a:ext cx="5089680" cy="297144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63" name="Picture 13" descr="settings-3.png"/>
          <p:cNvPicPr/>
          <p:nvPr/>
        </p:nvPicPr>
        <p:blipFill>
          <a:blip r:embed="rId3"/>
          <a:stretch/>
        </p:blipFill>
        <p:spPr>
          <a:xfrm>
            <a:off x="6653520" y="3099960"/>
            <a:ext cx="511560" cy="511560"/>
          </a:xfrm>
          <a:prstGeom prst="rect">
            <a:avLst/>
          </a:prstGeom>
          <a:ln w="0">
            <a:noFill/>
          </a:ln>
        </p:spPr>
      </p:pic>
      <p:sp>
        <p:nvSpPr>
          <p:cNvPr id="164" name="TextBox 14"/>
          <p:cNvSpPr/>
          <p:nvPr/>
        </p:nvSpPr>
        <p:spPr>
          <a:xfrm>
            <a:off x="6653520" y="3749040"/>
            <a:ext cx="4431240" cy="144036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1001"/>
              </a:spcAft>
            </a:pPr>
            <a:r>
              <a:rPr b="1" lang="en-US" sz="1800" spc="-1" strike="noStrike">
                <a:solidFill>
                  <a:srgbClr val="000091"/>
                </a:solidFill>
                <a:latin typeface="Marianne"/>
              </a:rPr>
              <a:t>Ce que j’ai proposé</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500" spc="-1" strike="noStrike">
                <a:solidFill>
                  <a:srgbClr val="161616"/>
                </a:solidFill>
                <a:latin typeface="Marianne"/>
              </a:rPr>
              <a:t>Des optimisations sur la façon dont l’IA est mobilisée.</a:t>
            </a:r>
            <a:endParaRPr b="0" lang="fr-FR" sz="15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500" spc="-1" strike="noStrike">
                <a:solidFill>
                  <a:srgbClr val="161616"/>
                </a:solidFill>
                <a:latin typeface="Marianne"/>
              </a:rPr>
              <a:t>Intégrer des estimations par taille de « T-shirt » — aujourd’hui en expérimentation.</a:t>
            </a:r>
            <a:endParaRPr b="0" lang="fr-FR"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66" name="Picture 2" descr="logo.png"/>
          <p:cNvPicPr/>
          <p:nvPr/>
        </p:nvPicPr>
        <p:blipFill>
          <a:blip r:embed="rId1"/>
          <a:stretch/>
        </p:blipFill>
        <p:spPr>
          <a:xfrm>
            <a:off x="777240" y="274320"/>
            <a:ext cx="987480" cy="676440"/>
          </a:xfrm>
          <a:prstGeom prst="rect">
            <a:avLst/>
          </a:prstGeom>
          <a:ln w="0">
            <a:noFill/>
          </a:ln>
        </p:spPr>
      </p:pic>
      <p:sp>
        <p:nvSpPr>
          <p:cNvPr id="167"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68" name="Connector 4"/>
          <p:cNvCxnSpPr/>
          <p:nvPr/>
        </p:nvCxnSpPr>
        <p:spPr>
          <a:xfrm>
            <a:off x="0" y="1005840"/>
            <a:ext cx="12191760" cy="360"/>
          </a:xfrm>
          <a:prstGeom prst="straightConnector1">
            <a:avLst/>
          </a:prstGeom>
          <a:ln w="9525">
            <a:solidFill>
              <a:srgbClr val="dddddd"/>
            </a:solidFill>
            <a:round/>
          </a:ln>
        </p:spPr>
      </p:cxnSp>
      <p:sp>
        <p:nvSpPr>
          <p:cNvPr id="169"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170" name="TextBox 6"/>
          <p:cNvSpPr/>
          <p:nvPr/>
        </p:nvSpPr>
        <p:spPr>
          <a:xfrm>
            <a:off x="777240" y="3056040"/>
            <a:ext cx="10636920" cy="12027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spcAft>
                <a:spcPts val="1400"/>
              </a:spcAft>
            </a:pPr>
            <a:r>
              <a:rPr b="1" lang="en-US" sz="2000" spc="-1" strike="noStrike">
                <a:solidFill>
                  <a:srgbClr val="6a6af4"/>
                </a:solidFill>
                <a:latin typeface="Marianne"/>
              </a:rPr>
              <a:t>03</a:t>
            </a:r>
            <a:endParaRPr b="0" lang="fr-FR" sz="2000" spc="-1" strike="noStrike">
              <a:solidFill>
                <a:srgbClr val="000000"/>
              </a:solidFill>
              <a:latin typeface="Arial"/>
            </a:endParaRPr>
          </a:p>
          <a:p>
            <a:pPr algn="ctr" defTabSz="457200">
              <a:lnSpc>
                <a:spcPct val="100000"/>
              </a:lnSpc>
            </a:pPr>
            <a:r>
              <a:rPr b="1" lang="en-US" sz="4600" spc="-1" strike="noStrike">
                <a:solidFill>
                  <a:srgbClr val="161616"/>
                </a:solidFill>
                <a:latin typeface="Marianne"/>
              </a:rPr>
              <a:t>Le plan d’action</a:t>
            </a:r>
            <a:endParaRPr b="0" lang="fr-FR" sz="4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72" name="Picture 2" descr="logo.png"/>
          <p:cNvPicPr/>
          <p:nvPr/>
        </p:nvPicPr>
        <p:blipFill>
          <a:blip r:embed="rId1"/>
          <a:stretch/>
        </p:blipFill>
        <p:spPr>
          <a:xfrm>
            <a:off x="777240" y="274320"/>
            <a:ext cx="987480" cy="676440"/>
          </a:xfrm>
          <a:prstGeom prst="rect">
            <a:avLst/>
          </a:prstGeom>
          <a:ln w="0">
            <a:noFill/>
          </a:ln>
        </p:spPr>
      </p:pic>
      <p:sp>
        <p:nvSpPr>
          <p:cNvPr id="173"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74" name="Connector 4"/>
          <p:cNvCxnSpPr/>
          <p:nvPr/>
        </p:nvCxnSpPr>
        <p:spPr>
          <a:xfrm>
            <a:off x="0" y="1005840"/>
            <a:ext cx="12191760" cy="360"/>
          </a:xfrm>
          <a:prstGeom prst="straightConnector1">
            <a:avLst/>
          </a:prstGeom>
          <a:ln w="9525">
            <a:solidFill>
              <a:srgbClr val="dddddd"/>
            </a:solidFill>
            <a:round/>
          </a:ln>
        </p:spPr>
      </p:cxnSp>
      <p:sp>
        <p:nvSpPr>
          <p:cNvPr id="175"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176" name="TextBox 6"/>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9</a:t>
            </a:r>
            <a:endParaRPr b="0" lang="fr-FR" sz="1100" spc="-1" strike="noStrike">
              <a:solidFill>
                <a:srgbClr val="000000"/>
              </a:solidFill>
              <a:latin typeface="Arial"/>
            </a:endParaRPr>
          </a:p>
        </p:txBody>
      </p:sp>
      <p:sp>
        <p:nvSpPr>
          <p:cNvPr id="177" name="TextBox 7"/>
          <p:cNvSpPr/>
          <p:nvPr/>
        </p:nvSpPr>
        <p:spPr>
          <a:xfrm>
            <a:off x="777240" y="1325880"/>
            <a:ext cx="10636920" cy="5130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300" spc="-1" strike="noStrike">
                <a:solidFill>
                  <a:srgbClr val="161616"/>
                </a:solidFill>
                <a:latin typeface="Marianne"/>
              </a:rPr>
              <a:t>Trois horizons</a:t>
            </a:r>
            <a:endParaRPr b="0" lang="fr-FR" sz="3300" spc="-1" strike="noStrike">
              <a:solidFill>
                <a:srgbClr val="000000"/>
              </a:solidFill>
              <a:latin typeface="Arial"/>
            </a:endParaRPr>
          </a:p>
        </p:txBody>
      </p:sp>
      <p:sp>
        <p:nvSpPr>
          <p:cNvPr id="178" name="TextBox 8"/>
          <p:cNvSpPr/>
          <p:nvPr/>
        </p:nvSpPr>
        <p:spPr>
          <a:xfrm>
            <a:off x="777240" y="1974960"/>
            <a:ext cx="10636920" cy="25848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600" spc="-1" strike="noStrike">
                <a:solidFill>
                  <a:srgbClr val="3a3a3a"/>
                </a:solidFill>
                <a:latin typeface="Marianne"/>
              </a:rPr>
              <a:t>Une trajectoire progressive, du quick win à la cible souveraine.</a:t>
            </a:r>
            <a:endParaRPr b="0" lang="fr-FR" sz="1600" spc="-1" strike="noStrike">
              <a:solidFill>
                <a:srgbClr val="000000"/>
              </a:solidFill>
              <a:latin typeface="Arial"/>
            </a:endParaRPr>
          </a:p>
        </p:txBody>
      </p:sp>
      <p:cxnSp>
        <p:nvCxnSpPr>
          <p:cNvPr id="179" name="Connector 9"/>
          <p:cNvCxnSpPr/>
          <p:nvPr/>
        </p:nvCxnSpPr>
        <p:spPr>
          <a:xfrm>
            <a:off x="2360880" y="3035520"/>
            <a:ext cx="7972920" cy="360"/>
          </a:xfrm>
          <a:prstGeom prst="straightConnector1">
            <a:avLst/>
          </a:prstGeom>
          <a:ln w="22225">
            <a:solidFill>
              <a:srgbClr val="6a6af4"/>
            </a:solidFill>
            <a:round/>
            <a:tailEnd len="med" type="triangle" w="med"/>
          </a:ln>
        </p:spPr>
      </p:cxnSp>
      <p:sp>
        <p:nvSpPr>
          <p:cNvPr id="180" name="TextBox 10"/>
          <p:cNvSpPr/>
          <p:nvPr/>
        </p:nvSpPr>
        <p:spPr>
          <a:xfrm>
            <a:off x="777240" y="2591640"/>
            <a:ext cx="3167280" cy="2109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6a6af4"/>
                </a:solidFill>
                <a:latin typeface="Marianne"/>
              </a:rPr>
              <a:t>COURT TERME</a:t>
            </a:r>
            <a:endParaRPr b="0" lang="fr-FR" sz="1300" spc="-1" strike="noStrike">
              <a:solidFill>
                <a:srgbClr val="000000"/>
              </a:solidFill>
              <a:latin typeface="Arial"/>
            </a:endParaRPr>
          </a:p>
        </p:txBody>
      </p:sp>
      <p:sp>
        <p:nvSpPr>
          <p:cNvPr id="181" name="Rounded Rectangle 11"/>
          <p:cNvSpPr/>
          <p:nvPr/>
        </p:nvSpPr>
        <p:spPr>
          <a:xfrm>
            <a:off x="2123280" y="2797920"/>
            <a:ext cx="475200" cy="47520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82" name="Picture 12" descr="rocket_w.png"/>
          <p:cNvPicPr/>
          <p:nvPr/>
        </p:nvPicPr>
        <p:blipFill>
          <a:blip r:embed="rId2"/>
          <a:stretch/>
        </p:blipFill>
        <p:spPr>
          <a:xfrm>
            <a:off x="2232720" y="2907360"/>
            <a:ext cx="256320" cy="256320"/>
          </a:xfrm>
          <a:prstGeom prst="rect">
            <a:avLst/>
          </a:prstGeom>
          <a:ln w="0">
            <a:noFill/>
          </a:ln>
        </p:spPr>
      </p:pic>
      <p:sp>
        <p:nvSpPr>
          <p:cNvPr id="183" name="TextBox 13"/>
          <p:cNvSpPr/>
          <p:nvPr/>
        </p:nvSpPr>
        <p:spPr>
          <a:xfrm>
            <a:off x="4511880" y="2591640"/>
            <a:ext cx="3167280" cy="2109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6a6af4"/>
                </a:solidFill>
                <a:latin typeface="Marianne"/>
              </a:rPr>
              <a:t>MOYEN TERME</a:t>
            </a:r>
            <a:endParaRPr b="0" lang="fr-FR" sz="1300" spc="-1" strike="noStrike">
              <a:solidFill>
                <a:srgbClr val="000000"/>
              </a:solidFill>
              <a:latin typeface="Arial"/>
            </a:endParaRPr>
          </a:p>
        </p:txBody>
      </p:sp>
      <p:sp>
        <p:nvSpPr>
          <p:cNvPr id="184" name="Rounded Rectangle 14"/>
          <p:cNvSpPr/>
          <p:nvPr/>
        </p:nvSpPr>
        <p:spPr>
          <a:xfrm>
            <a:off x="5858280" y="2797920"/>
            <a:ext cx="475200" cy="47520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85" name="Picture 15" descr="settings-3_w.png"/>
          <p:cNvPicPr/>
          <p:nvPr/>
        </p:nvPicPr>
        <p:blipFill>
          <a:blip r:embed="rId3"/>
          <a:stretch/>
        </p:blipFill>
        <p:spPr>
          <a:xfrm>
            <a:off x="5967360" y="2907360"/>
            <a:ext cx="256320" cy="256320"/>
          </a:xfrm>
          <a:prstGeom prst="rect">
            <a:avLst/>
          </a:prstGeom>
          <a:ln w="0">
            <a:noFill/>
          </a:ln>
        </p:spPr>
      </p:pic>
      <p:sp>
        <p:nvSpPr>
          <p:cNvPr id="186" name="TextBox 16"/>
          <p:cNvSpPr/>
          <p:nvPr/>
        </p:nvSpPr>
        <p:spPr>
          <a:xfrm>
            <a:off x="8246520" y="2591640"/>
            <a:ext cx="3167280" cy="210960"/>
          </a:xfrm>
          <a:prstGeom prst="rect">
            <a:avLst/>
          </a:prstGeom>
          <a:noFill/>
          <a:ln w="0">
            <a:noFill/>
          </a:ln>
        </p:spPr>
        <p:style>
          <a:lnRef idx="0"/>
          <a:fillRef idx="0"/>
          <a:effectRef idx="0"/>
          <a:fontRef idx="minor"/>
        </p:style>
        <p:txBody>
          <a:bodyPr lIns="0" rIns="0" tIns="0" bIns="0" anchor="ctr">
            <a:spAutoFit/>
          </a:bodyPr>
          <a:p>
            <a:pPr algn="ctr" defTabSz="457200">
              <a:lnSpc>
                <a:spcPct val="106000"/>
              </a:lnSpc>
            </a:pPr>
            <a:r>
              <a:rPr b="1" lang="en-US" sz="1300" spc="-1" strike="noStrike">
                <a:solidFill>
                  <a:srgbClr val="6a6af4"/>
                </a:solidFill>
                <a:latin typeface="Marianne"/>
              </a:rPr>
              <a:t>LONG TERME</a:t>
            </a:r>
            <a:endParaRPr b="0" lang="fr-FR" sz="1300" spc="-1" strike="noStrike">
              <a:solidFill>
                <a:srgbClr val="000000"/>
              </a:solidFill>
              <a:latin typeface="Arial"/>
            </a:endParaRPr>
          </a:p>
        </p:txBody>
      </p:sp>
      <p:sp>
        <p:nvSpPr>
          <p:cNvPr id="187" name="Rounded Rectangle 17"/>
          <p:cNvSpPr/>
          <p:nvPr/>
        </p:nvSpPr>
        <p:spPr>
          <a:xfrm>
            <a:off x="9592920" y="2797920"/>
            <a:ext cx="475200" cy="47520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88" name="Picture 18" descr="government_w.png"/>
          <p:cNvPicPr/>
          <p:nvPr/>
        </p:nvPicPr>
        <p:blipFill>
          <a:blip r:embed="rId4"/>
          <a:stretch/>
        </p:blipFill>
        <p:spPr>
          <a:xfrm>
            <a:off x="9702360" y="2907360"/>
            <a:ext cx="256320" cy="256320"/>
          </a:xfrm>
          <a:prstGeom prst="rect">
            <a:avLst/>
          </a:prstGeom>
          <a:ln w="0">
            <a:noFill/>
          </a:ln>
        </p:spPr>
      </p:pic>
      <p:sp>
        <p:nvSpPr>
          <p:cNvPr id="189" name="Rounded Rectangle 19"/>
          <p:cNvSpPr/>
          <p:nvPr/>
        </p:nvSpPr>
        <p:spPr>
          <a:xfrm>
            <a:off x="777240" y="3456360"/>
            <a:ext cx="3167280" cy="228564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0" name="TextBox 20"/>
          <p:cNvSpPr/>
          <p:nvPr/>
        </p:nvSpPr>
        <p:spPr>
          <a:xfrm>
            <a:off x="1069920" y="3730680"/>
            <a:ext cx="2582280" cy="17618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001"/>
              </a:spcAft>
            </a:pPr>
            <a:r>
              <a:rPr b="1" lang="en-US" sz="1800" spc="-1" strike="noStrike">
                <a:solidFill>
                  <a:srgbClr val="000091"/>
                </a:solidFill>
                <a:latin typeface="Marianne"/>
              </a:rPr>
              <a:t>Outiller chaque métier</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Architectes</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Chefs de projet</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Designers</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Développeurs</a:t>
            </a:r>
            <a:endParaRPr b="0" lang="fr-FR" sz="1400" spc="-1" strike="noStrike">
              <a:solidFill>
                <a:srgbClr val="000000"/>
              </a:solidFill>
              <a:latin typeface="Arial"/>
            </a:endParaRPr>
          </a:p>
        </p:txBody>
      </p:sp>
      <p:sp>
        <p:nvSpPr>
          <p:cNvPr id="191" name="Rounded Rectangle 21"/>
          <p:cNvSpPr/>
          <p:nvPr/>
        </p:nvSpPr>
        <p:spPr>
          <a:xfrm>
            <a:off x="4511880" y="3456360"/>
            <a:ext cx="3167280" cy="228564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2" name="TextBox 22"/>
          <p:cNvSpPr/>
          <p:nvPr/>
        </p:nvSpPr>
        <p:spPr>
          <a:xfrm>
            <a:off x="4804560" y="3730680"/>
            <a:ext cx="2582280" cy="19850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001"/>
              </a:spcAft>
            </a:pPr>
            <a:r>
              <a:rPr b="1" lang="en-US" sz="1800" spc="-1" strike="noStrike">
                <a:solidFill>
                  <a:srgbClr val="000091"/>
                </a:solidFill>
                <a:latin typeface="Marianne"/>
              </a:rPr>
              <a:t>Industrialiser &amp; animer</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Communauté de champions</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CI/CD &amp; déploiement</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Dev agentique</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Observabilité</a:t>
            </a:r>
            <a:endParaRPr b="0" lang="fr-FR" sz="1400" spc="-1" strike="noStrike">
              <a:solidFill>
                <a:srgbClr val="000000"/>
              </a:solidFill>
              <a:latin typeface="Arial"/>
            </a:endParaRPr>
          </a:p>
        </p:txBody>
      </p:sp>
      <p:sp>
        <p:nvSpPr>
          <p:cNvPr id="193" name="Rounded Rectangle 23"/>
          <p:cNvSpPr/>
          <p:nvPr/>
        </p:nvSpPr>
        <p:spPr>
          <a:xfrm>
            <a:off x="8246520" y="3456360"/>
            <a:ext cx="3167280" cy="2285640"/>
          </a:xfrm>
          <a:prstGeom prst="roundRect">
            <a:avLst>
              <a:gd name="adj" fmla="val 5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4" name="TextBox 24"/>
          <p:cNvSpPr/>
          <p:nvPr/>
        </p:nvSpPr>
        <p:spPr>
          <a:xfrm>
            <a:off x="8539200" y="3730680"/>
            <a:ext cx="2582280" cy="1200240"/>
          </a:xfrm>
          <a:prstGeom prst="rect">
            <a:avLst/>
          </a:prstGeom>
          <a:noFill/>
          <a:ln w="0">
            <a:noFill/>
          </a:ln>
        </p:spPr>
        <p:style>
          <a:lnRef idx="0"/>
          <a:fillRef idx="0"/>
          <a:effectRef idx="0"/>
          <a:fontRef idx="minor"/>
        </p:style>
        <p:txBody>
          <a:bodyPr lIns="0" rIns="0" tIns="0" bIns="0" anchor="t">
            <a:spAutoFit/>
          </a:bodyPr>
          <a:p>
            <a:pPr defTabSz="457200">
              <a:lnSpc>
                <a:spcPct val="100000"/>
              </a:lnSpc>
              <a:spcAft>
                <a:spcPts val="1001"/>
              </a:spcAft>
            </a:pPr>
            <a:r>
              <a:rPr b="1" lang="en-US" sz="1800" spc="-1" strike="noStrike">
                <a:solidFill>
                  <a:srgbClr val="000091"/>
                </a:solidFill>
                <a:latin typeface="Marianne"/>
              </a:rPr>
              <a:t>Un harness maison</a:t>
            </a:r>
            <a:endParaRPr b="0" lang="fr-FR" sz="18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Souveraineté</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Conformité intégrée</a:t>
            </a:r>
            <a:endParaRPr b="0" lang="fr-FR" sz="1400" spc="-1" strike="noStrike">
              <a:solidFill>
                <a:srgbClr val="000000"/>
              </a:solidFill>
              <a:latin typeface="Arial"/>
            </a:endParaRPr>
          </a:p>
          <a:p>
            <a:pPr marL="201240" indent="-201240" defTabSz="457200">
              <a:lnSpc>
                <a:spcPct val="105000"/>
              </a:lnSpc>
              <a:spcAft>
                <a:spcPts val="499"/>
              </a:spcAft>
              <a:tabLst>
                <a:tab algn="l" pos="0"/>
              </a:tabLst>
            </a:pPr>
            <a:r>
              <a:rPr b="0" lang="en-US" sz="1200" spc="-1" strike="noStrike">
                <a:solidFill>
                  <a:srgbClr val="6a6af4"/>
                </a:solidFill>
                <a:latin typeface="Marianne"/>
              </a:rPr>
              <a:t>▪  </a:t>
            </a:r>
            <a:r>
              <a:rPr b="0" lang="en-US" sz="1400" spc="-1" strike="noStrike">
                <a:solidFill>
                  <a:srgbClr val="161616"/>
                </a:solidFill>
                <a:latin typeface="Marianne"/>
              </a:rPr>
              <a:t>Expérience maîtrisée</a:t>
            </a:r>
            <a:endParaRPr b="0" lang="fr-F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96" name="Picture 2" descr="logo.png"/>
          <p:cNvPicPr/>
          <p:nvPr/>
        </p:nvPicPr>
        <p:blipFill>
          <a:blip r:embed="rId1"/>
          <a:stretch/>
        </p:blipFill>
        <p:spPr>
          <a:xfrm>
            <a:off x="777240" y="274320"/>
            <a:ext cx="987480" cy="676440"/>
          </a:xfrm>
          <a:prstGeom prst="rect">
            <a:avLst/>
          </a:prstGeom>
          <a:ln w="0">
            <a:noFill/>
          </a:ln>
        </p:spPr>
      </p:pic>
      <p:sp>
        <p:nvSpPr>
          <p:cNvPr id="197"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198" name="Connector 4"/>
          <p:cNvCxnSpPr/>
          <p:nvPr/>
        </p:nvCxnSpPr>
        <p:spPr>
          <a:xfrm>
            <a:off x="0" y="1005840"/>
            <a:ext cx="12191760" cy="360"/>
          </a:xfrm>
          <a:prstGeom prst="straightConnector1">
            <a:avLst/>
          </a:prstGeom>
          <a:ln w="9525">
            <a:solidFill>
              <a:srgbClr val="dddddd"/>
            </a:solidFill>
            <a:round/>
          </a:ln>
        </p:spPr>
      </p:cxnSp>
      <p:sp>
        <p:nvSpPr>
          <p:cNvPr id="199"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200" name="TextBox 6"/>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10</a:t>
            </a:r>
            <a:endParaRPr b="0" lang="fr-FR" sz="1100" spc="-1" strike="noStrike">
              <a:solidFill>
                <a:srgbClr val="000000"/>
              </a:solidFill>
              <a:latin typeface="Arial"/>
            </a:endParaRPr>
          </a:p>
        </p:txBody>
      </p:sp>
      <p:sp>
        <p:nvSpPr>
          <p:cNvPr id="201" name="TextBox 7"/>
          <p:cNvSpPr/>
          <p:nvPr/>
        </p:nvSpPr>
        <p:spPr>
          <a:xfrm>
            <a:off x="777240" y="1325880"/>
            <a:ext cx="10636920" cy="4824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100" spc="-1" strike="noStrike">
                <a:solidFill>
                  <a:srgbClr val="161616"/>
                </a:solidFill>
                <a:latin typeface="Marianne"/>
              </a:rPr>
              <a:t>Court terme : outiller chaque métier</a:t>
            </a:r>
            <a:endParaRPr b="0" lang="fr-FR" sz="3100" spc="-1" strike="noStrike">
              <a:solidFill>
                <a:srgbClr val="000000"/>
              </a:solidFill>
              <a:latin typeface="Arial"/>
            </a:endParaRPr>
          </a:p>
        </p:txBody>
      </p:sp>
      <p:sp>
        <p:nvSpPr>
          <p:cNvPr id="202" name="Rounded Rectangle 8"/>
          <p:cNvSpPr/>
          <p:nvPr/>
        </p:nvSpPr>
        <p:spPr>
          <a:xfrm>
            <a:off x="777240" y="2358000"/>
            <a:ext cx="5112360" cy="155412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03" name="Picture 9" descr="compasses-2.png"/>
          <p:cNvPicPr/>
          <p:nvPr/>
        </p:nvPicPr>
        <p:blipFill>
          <a:blip r:embed="rId2"/>
          <a:stretch/>
        </p:blipFill>
        <p:spPr>
          <a:xfrm>
            <a:off x="1088280" y="2560320"/>
            <a:ext cx="456840" cy="456840"/>
          </a:xfrm>
          <a:prstGeom prst="rect">
            <a:avLst/>
          </a:prstGeom>
          <a:ln w="0">
            <a:noFill/>
          </a:ln>
        </p:spPr>
      </p:pic>
      <p:sp>
        <p:nvSpPr>
          <p:cNvPr id="204" name="TextBox 10"/>
          <p:cNvSpPr/>
          <p:nvPr/>
        </p:nvSpPr>
        <p:spPr>
          <a:xfrm>
            <a:off x="1691640" y="2647080"/>
            <a:ext cx="3923640" cy="28296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1750" spc="-1" strike="noStrike">
                <a:solidFill>
                  <a:srgbClr val="000091"/>
                </a:solidFill>
                <a:latin typeface="Marianne"/>
              </a:rPr>
              <a:t>Architectes</a:t>
            </a:r>
            <a:endParaRPr b="0" lang="fr-FR" sz="1750" spc="-1" strike="noStrike">
              <a:solidFill>
                <a:srgbClr val="000000"/>
              </a:solidFill>
              <a:latin typeface="Arial"/>
            </a:endParaRPr>
          </a:p>
        </p:txBody>
      </p:sp>
      <p:sp>
        <p:nvSpPr>
          <p:cNvPr id="205" name="TextBox 11"/>
          <p:cNvSpPr/>
          <p:nvPr/>
        </p:nvSpPr>
        <p:spPr>
          <a:xfrm>
            <a:off x="1088280" y="3127320"/>
            <a:ext cx="4490640" cy="230760"/>
          </a:xfrm>
          <a:prstGeom prst="rect">
            <a:avLst/>
          </a:prstGeom>
          <a:noFill/>
          <a:ln w="0">
            <a:noFill/>
          </a:ln>
        </p:spPr>
        <p:style>
          <a:lnRef idx="0"/>
          <a:fillRef idx="0"/>
          <a:effectRef idx="0"/>
          <a:fontRef idx="minor"/>
        </p:style>
        <p:txBody>
          <a:bodyPr lIns="0" rIns="0" tIns="0" bIns="0" anchor="t">
            <a:spAutoFit/>
          </a:bodyPr>
          <a:p>
            <a:pPr defTabSz="457200">
              <a:lnSpc>
                <a:spcPct val="108000"/>
              </a:lnSpc>
            </a:pPr>
            <a:r>
              <a:rPr b="0" lang="en-US" sz="1400" spc="-1" strike="noStrike">
                <a:solidFill>
                  <a:srgbClr val="3a3a3a"/>
                </a:solidFill>
                <a:latin typeface="Marianne"/>
              </a:rPr>
              <a:t>Générer des Dossiers d’Architecture (DA) avec l’IA.</a:t>
            </a:r>
            <a:endParaRPr b="0" lang="fr-FR" sz="1400" spc="-1" strike="noStrike">
              <a:solidFill>
                <a:srgbClr val="000000"/>
              </a:solidFill>
              <a:latin typeface="Arial"/>
            </a:endParaRPr>
          </a:p>
        </p:txBody>
      </p:sp>
      <p:sp>
        <p:nvSpPr>
          <p:cNvPr id="206" name="Rounded Rectangle 12"/>
          <p:cNvSpPr/>
          <p:nvPr/>
        </p:nvSpPr>
        <p:spPr>
          <a:xfrm>
            <a:off x="6301440" y="2358000"/>
            <a:ext cx="5112360" cy="155412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07" name="Picture 13" descr="clipboard.png"/>
          <p:cNvPicPr/>
          <p:nvPr/>
        </p:nvPicPr>
        <p:blipFill>
          <a:blip r:embed="rId3"/>
          <a:stretch/>
        </p:blipFill>
        <p:spPr>
          <a:xfrm>
            <a:off x="6612480" y="2560320"/>
            <a:ext cx="456840" cy="456840"/>
          </a:xfrm>
          <a:prstGeom prst="rect">
            <a:avLst/>
          </a:prstGeom>
          <a:ln w="0">
            <a:noFill/>
          </a:ln>
        </p:spPr>
      </p:pic>
      <p:sp>
        <p:nvSpPr>
          <p:cNvPr id="208" name="TextBox 14"/>
          <p:cNvSpPr/>
          <p:nvPr/>
        </p:nvSpPr>
        <p:spPr>
          <a:xfrm>
            <a:off x="7215840" y="2647080"/>
            <a:ext cx="3923640" cy="28296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1750" spc="-1" strike="noStrike">
                <a:solidFill>
                  <a:srgbClr val="000091"/>
                </a:solidFill>
                <a:latin typeface="Marianne"/>
              </a:rPr>
              <a:t>Chefs de projet</a:t>
            </a:r>
            <a:endParaRPr b="0" lang="fr-FR" sz="1750" spc="-1" strike="noStrike">
              <a:solidFill>
                <a:srgbClr val="000000"/>
              </a:solidFill>
              <a:latin typeface="Arial"/>
            </a:endParaRPr>
          </a:p>
        </p:txBody>
      </p:sp>
      <p:sp>
        <p:nvSpPr>
          <p:cNvPr id="209" name="TextBox 15"/>
          <p:cNvSpPr/>
          <p:nvPr/>
        </p:nvSpPr>
        <p:spPr>
          <a:xfrm>
            <a:off x="6612480" y="3127320"/>
            <a:ext cx="4490640" cy="690840"/>
          </a:xfrm>
          <a:prstGeom prst="rect">
            <a:avLst/>
          </a:prstGeom>
          <a:noFill/>
          <a:ln w="0">
            <a:noFill/>
          </a:ln>
        </p:spPr>
        <p:style>
          <a:lnRef idx="0"/>
          <a:fillRef idx="0"/>
          <a:effectRef idx="0"/>
          <a:fontRef idx="minor"/>
        </p:style>
        <p:txBody>
          <a:bodyPr lIns="0" rIns="0" tIns="0" bIns="0" anchor="t">
            <a:spAutoFit/>
          </a:bodyPr>
          <a:p>
            <a:pPr defTabSz="457200">
              <a:lnSpc>
                <a:spcPct val="108000"/>
              </a:lnSpc>
            </a:pPr>
            <a:r>
              <a:rPr b="0" lang="en-US" sz="1400" spc="-1" strike="noStrike">
                <a:solidFill>
                  <a:srgbClr val="3a3a3a"/>
                </a:solidFill>
                <a:latin typeface="Marianne"/>
              </a:rPr>
              <a:t>Pré-audit d’homologation continu et meilleur pilotage des projets faits avec l’IA.</a:t>
            </a:r>
            <a:br>
              <a:rPr sz="1400"/>
            </a:br>
            <a:r>
              <a:rPr b="0" lang="en-US" sz="1400" spc="-1" strike="noStrike">
                <a:solidFill>
                  <a:srgbClr val="3a3a3a"/>
                </a:solidFill>
                <a:latin typeface="Marianne"/>
              </a:rPr>
              <a:t>Récupérer plus de besoins dans les jours à venir.</a:t>
            </a:r>
            <a:endParaRPr b="0" lang="fr-FR" sz="1400" spc="-1" strike="noStrike">
              <a:solidFill>
                <a:srgbClr val="000000"/>
              </a:solidFill>
              <a:latin typeface="Arial"/>
            </a:endParaRPr>
          </a:p>
        </p:txBody>
      </p:sp>
      <p:sp>
        <p:nvSpPr>
          <p:cNvPr id="210" name="Rounded Rectangle 16"/>
          <p:cNvSpPr/>
          <p:nvPr/>
        </p:nvSpPr>
        <p:spPr>
          <a:xfrm>
            <a:off x="777240" y="4186800"/>
            <a:ext cx="5112360" cy="155412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11" name="Picture 17" descr="palette.png"/>
          <p:cNvPicPr/>
          <p:nvPr/>
        </p:nvPicPr>
        <p:blipFill>
          <a:blip r:embed="rId4"/>
          <a:stretch/>
        </p:blipFill>
        <p:spPr>
          <a:xfrm>
            <a:off x="1088280" y="4389120"/>
            <a:ext cx="456840" cy="456840"/>
          </a:xfrm>
          <a:prstGeom prst="rect">
            <a:avLst/>
          </a:prstGeom>
          <a:ln w="0">
            <a:noFill/>
          </a:ln>
        </p:spPr>
      </p:pic>
      <p:sp>
        <p:nvSpPr>
          <p:cNvPr id="212" name="TextBox 18"/>
          <p:cNvSpPr/>
          <p:nvPr/>
        </p:nvSpPr>
        <p:spPr>
          <a:xfrm>
            <a:off x="1691640" y="4475880"/>
            <a:ext cx="3923640" cy="28296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1750" spc="-1" strike="noStrike">
                <a:solidFill>
                  <a:srgbClr val="000091"/>
                </a:solidFill>
                <a:latin typeface="Marianne"/>
              </a:rPr>
              <a:t>Designers</a:t>
            </a:r>
            <a:endParaRPr b="0" lang="fr-FR" sz="1750" spc="-1" strike="noStrike">
              <a:solidFill>
                <a:srgbClr val="000000"/>
              </a:solidFill>
              <a:latin typeface="Arial"/>
            </a:endParaRPr>
          </a:p>
        </p:txBody>
      </p:sp>
      <p:sp>
        <p:nvSpPr>
          <p:cNvPr id="213" name="TextBox 19"/>
          <p:cNvSpPr/>
          <p:nvPr/>
        </p:nvSpPr>
        <p:spPr>
          <a:xfrm>
            <a:off x="1088280" y="4956120"/>
            <a:ext cx="4490640" cy="461160"/>
          </a:xfrm>
          <a:prstGeom prst="rect">
            <a:avLst/>
          </a:prstGeom>
          <a:noFill/>
          <a:ln w="0">
            <a:noFill/>
          </a:ln>
        </p:spPr>
        <p:style>
          <a:lnRef idx="0"/>
          <a:fillRef idx="0"/>
          <a:effectRef idx="0"/>
          <a:fontRef idx="minor"/>
        </p:style>
        <p:txBody>
          <a:bodyPr lIns="0" rIns="0" tIns="0" bIns="0" anchor="t">
            <a:spAutoFit/>
          </a:bodyPr>
          <a:p>
            <a:pPr defTabSz="457200">
              <a:lnSpc>
                <a:spcPct val="108000"/>
              </a:lnSpc>
            </a:pPr>
            <a:r>
              <a:rPr b="0" lang="en-US" sz="1400" spc="-1" strike="noStrike">
                <a:solidFill>
                  <a:srgbClr val="3a3a3a"/>
                </a:solidFill>
                <a:latin typeface="Marianne"/>
              </a:rPr>
              <a:t>Créer et utiliser des skills d’UX et d’audit UX pour générer et challenger des prototypes rapidement.</a:t>
            </a:r>
            <a:endParaRPr b="0" lang="fr-FR" sz="1400" spc="-1" strike="noStrike">
              <a:solidFill>
                <a:srgbClr val="000000"/>
              </a:solidFill>
              <a:latin typeface="Arial"/>
            </a:endParaRPr>
          </a:p>
        </p:txBody>
      </p:sp>
      <p:sp>
        <p:nvSpPr>
          <p:cNvPr id="214" name="Rounded Rectangle 20"/>
          <p:cNvSpPr/>
          <p:nvPr/>
        </p:nvSpPr>
        <p:spPr>
          <a:xfrm>
            <a:off x="6301440" y="4186800"/>
            <a:ext cx="5112360" cy="155412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15" name="Picture 21" descr="code-s-slash.png"/>
          <p:cNvPicPr/>
          <p:nvPr/>
        </p:nvPicPr>
        <p:blipFill>
          <a:blip r:embed="rId5"/>
          <a:stretch/>
        </p:blipFill>
        <p:spPr>
          <a:xfrm>
            <a:off x="6612480" y="4389120"/>
            <a:ext cx="456840" cy="456840"/>
          </a:xfrm>
          <a:prstGeom prst="rect">
            <a:avLst/>
          </a:prstGeom>
          <a:ln w="0">
            <a:noFill/>
          </a:ln>
        </p:spPr>
      </p:pic>
      <p:sp>
        <p:nvSpPr>
          <p:cNvPr id="216" name="TextBox 22"/>
          <p:cNvSpPr/>
          <p:nvPr/>
        </p:nvSpPr>
        <p:spPr>
          <a:xfrm>
            <a:off x="7215840" y="4475880"/>
            <a:ext cx="3923640" cy="282960"/>
          </a:xfrm>
          <a:prstGeom prst="rect">
            <a:avLst/>
          </a:prstGeom>
          <a:noFill/>
          <a:ln w="0">
            <a:noFill/>
          </a:ln>
        </p:spPr>
        <p:style>
          <a:lnRef idx="0"/>
          <a:fillRef idx="0"/>
          <a:effectRef idx="0"/>
          <a:fontRef idx="minor"/>
        </p:style>
        <p:txBody>
          <a:bodyPr lIns="0" rIns="0" tIns="0" bIns="0" anchor="ctr">
            <a:spAutoFit/>
          </a:bodyPr>
          <a:p>
            <a:pPr defTabSz="457200">
              <a:lnSpc>
                <a:spcPct val="106000"/>
              </a:lnSpc>
            </a:pPr>
            <a:r>
              <a:rPr b="1" lang="en-US" sz="1750" spc="-1" strike="noStrike">
                <a:solidFill>
                  <a:srgbClr val="000091"/>
                </a:solidFill>
                <a:latin typeface="Marianne"/>
              </a:rPr>
              <a:t>Développeurs</a:t>
            </a:r>
            <a:endParaRPr b="0" lang="fr-FR" sz="1750" spc="-1" strike="noStrike">
              <a:solidFill>
                <a:srgbClr val="000000"/>
              </a:solidFill>
              <a:latin typeface="Arial"/>
            </a:endParaRPr>
          </a:p>
        </p:txBody>
      </p:sp>
      <p:sp>
        <p:nvSpPr>
          <p:cNvPr id="217" name="TextBox 23"/>
          <p:cNvSpPr/>
          <p:nvPr/>
        </p:nvSpPr>
        <p:spPr>
          <a:xfrm>
            <a:off x="6612480" y="4956120"/>
            <a:ext cx="4490640" cy="230760"/>
          </a:xfrm>
          <a:prstGeom prst="rect">
            <a:avLst/>
          </a:prstGeom>
          <a:noFill/>
          <a:ln w="0">
            <a:noFill/>
          </a:ln>
        </p:spPr>
        <p:style>
          <a:lnRef idx="0"/>
          <a:fillRef idx="0"/>
          <a:effectRef idx="0"/>
          <a:fontRef idx="minor"/>
        </p:style>
        <p:txBody>
          <a:bodyPr lIns="0" rIns="0" tIns="0" bIns="0" anchor="t">
            <a:spAutoFit/>
          </a:bodyPr>
          <a:p>
            <a:pPr defTabSz="457200">
              <a:lnSpc>
                <a:spcPct val="108000"/>
              </a:lnSpc>
            </a:pPr>
            <a:r>
              <a:rPr b="0" lang="en-US" sz="1400" spc="-1" strike="noStrike">
                <a:solidFill>
                  <a:srgbClr val="3a3a3a"/>
                </a:solidFill>
                <a:latin typeface="Marianne"/>
              </a:rPr>
              <a:t>Aller vers ceux en difficulté avec l’IA et les guider.</a:t>
            </a:r>
            <a:endParaRPr b="0" lang="fr-F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19" name="Picture 2" descr="logo.png"/>
          <p:cNvPicPr/>
          <p:nvPr/>
        </p:nvPicPr>
        <p:blipFill>
          <a:blip r:embed="rId1"/>
          <a:stretch/>
        </p:blipFill>
        <p:spPr>
          <a:xfrm>
            <a:off x="777240" y="274320"/>
            <a:ext cx="987480" cy="676440"/>
          </a:xfrm>
          <a:prstGeom prst="rect">
            <a:avLst/>
          </a:prstGeom>
          <a:ln w="0">
            <a:noFill/>
          </a:ln>
        </p:spPr>
      </p:pic>
      <p:sp>
        <p:nvSpPr>
          <p:cNvPr id="220"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221" name="Connector 4"/>
          <p:cNvCxnSpPr/>
          <p:nvPr/>
        </p:nvCxnSpPr>
        <p:spPr>
          <a:xfrm>
            <a:off x="0" y="1005840"/>
            <a:ext cx="12191760" cy="360"/>
          </a:xfrm>
          <a:prstGeom prst="straightConnector1">
            <a:avLst/>
          </a:prstGeom>
          <a:ln w="9525">
            <a:solidFill>
              <a:srgbClr val="dddddd"/>
            </a:solidFill>
            <a:round/>
          </a:ln>
        </p:spPr>
      </p:cxnSp>
      <p:sp>
        <p:nvSpPr>
          <p:cNvPr id="222"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223" name="TextBox 6"/>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11</a:t>
            </a:r>
            <a:endParaRPr b="0" lang="fr-FR" sz="1100" spc="-1" strike="noStrike">
              <a:solidFill>
                <a:srgbClr val="000000"/>
              </a:solidFill>
              <a:latin typeface="Arial"/>
            </a:endParaRPr>
          </a:p>
        </p:txBody>
      </p:sp>
      <p:sp>
        <p:nvSpPr>
          <p:cNvPr id="224" name="TextBox 7"/>
          <p:cNvSpPr/>
          <p:nvPr/>
        </p:nvSpPr>
        <p:spPr>
          <a:xfrm>
            <a:off x="777240" y="1325880"/>
            <a:ext cx="10636920" cy="4824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100" spc="-1" strike="noStrike">
                <a:solidFill>
                  <a:srgbClr val="161616"/>
                </a:solidFill>
                <a:latin typeface="Marianne"/>
              </a:rPr>
              <a:t>Moyen terme : industrialiser &amp; animer</a:t>
            </a:r>
            <a:endParaRPr b="0" lang="fr-FR" sz="3100" spc="-1" strike="noStrike">
              <a:solidFill>
                <a:srgbClr val="000000"/>
              </a:solidFill>
              <a:latin typeface="Arial"/>
            </a:endParaRPr>
          </a:p>
        </p:txBody>
      </p:sp>
      <p:sp>
        <p:nvSpPr>
          <p:cNvPr id="225" name="Rounded Rectangle 8"/>
          <p:cNvSpPr/>
          <p:nvPr/>
        </p:nvSpPr>
        <p:spPr>
          <a:xfrm>
            <a:off x="777240" y="2331720"/>
            <a:ext cx="3520080" cy="3382920"/>
          </a:xfrm>
          <a:prstGeom prst="roundRect">
            <a:avLst>
              <a:gd name="adj" fmla="val 5000"/>
            </a:avLst>
          </a:prstGeom>
          <a:solidFill>
            <a:srgbClr val="00009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6" name="TextBox 9"/>
          <p:cNvSpPr/>
          <p:nvPr/>
        </p:nvSpPr>
        <p:spPr>
          <a:xfrm>
            <a:off x="1143000" y="2743200"/>
            <a:ext cx="2788560" cy="211176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799"/>
              </a:spcAft>
            </a:pPr>
            <a:r>
              <a:rPr b="1" lang="en-US" sz="2000" spc="-1" strike="noStrike">
                <a:solidFill>
                  <a:srgbClr val="ffffff"/>
                </a:solidFill>
                <a:latin typeface="Marianne"/>
              </a:rPr>
              <a:t>Créer et animer communauté de référents IA</a:t>
            </a:r>
            <a:endParaRPr b="0" lang="fr-FR" sz="2000" spc="-1" strike="noStrike">
              <a:solidFill>
                <a:srgbClr val="000000"/>
              </a:solidFill>
              <a:latin typeface="Arial"/>
            </a:endParaRPr>
          </a:p>
          <a:p>
            <a:pPr defTabSz="457200">
              <a:lnSpc>
                <a:spcPct val="118000"/>
              </a:lnSpc>
            </a:pPr>
            <a:r>
              <a:rPr b="0" lang="en-US" sz="1500" spc="-1" strike="noStrike">
                <a:solidFill>
                  <a:srgbClr val="e3e3fd"/>
                </a:solidFill>
                <a:latin typeface="Marianne"/>
              </a:rPr>
              <a:t>Identifier et préparer l’animation d’une communauté de référents IA pour chaque métier.</a:t>
            </a:r>
            <a:endParaRPr b="0" lang="fr-FR" sz="1500" spc="-1" strike="noStrike">
              <a:solidFill>
                <a:srgbClr val="000000"/>
              </a:solidFill>
              <a:latin typeface="Arial"/>
            </a:endParaRPr>
          </a:p>
        </p:txBody>
      </p:sp>
      <p:sp>
        <p:nvSpPr>
          <p:cNvPr id="227" name="TextBox 10"/>
          <p:cNvSpPr/>
          <p:nvPr/>
        </p:nvSpPr>
        <p:spPr>
          <a:xfrm>
            <a:off x="4754880" y="2350080"/>
            <a:ext cx="6659280" cy="29088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1" lang="en-US" sz="1800" spc="-1" strike="noStrike">
                <a:solidFill>
                  <a:srgbClr val="000091"/>
                </a:solidFill>
                <a:latin typeface="Marianne"/>
              </a:rPr>
              <a:t>Volet développeurs</a:t>
            </a:r>
            <a:endParaRPr b="0" lang="fr-FR" sz="1800" spc="-1" strike="noStrike">
              <a:solidFill>
                <a:srgbClr val="000000"/>
              </a:solidFill>
              <a:latin typeface="Arial"/>
            </a:endParaRPr>
          </a:p>
        </p:txBody>
      </p:sp>
      <p:sp>
        <p:nvSpPr>
          <p:cNvPr id="228" name="Rounded Rectangle 11"/>
          <p:cNvSpPr/>
          <p:nvPr/>
        </p:nvSpPr>
        <p:spPr>
          <a:xfrm>
            <a:off x="4754880" y="2990160"/>
            <a:ext cx="136800" cy="13680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9" name="TextBox 12"/>
          <p:cNvSpPr/>
          <p:nvPr/>
        </p:nvSpPr>
        <p:spPr>
          <a:xfrm>
            <a:off x="5047560" y="2935080"/>
            <a:ext cx="6366600" cy="2401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1500" spc="-1" strike="noStrike">
                <a:solidFill>
                  <a:srgbClr val="161616"/>
                </a:solidFill>
                <a:latin typeface="Marianne"/>
              </a:rPr>
              <a:t>CI/CD — </a:t>
            </a:r>
            <a:r>
              <a:rPr b="0" lang="en-US" sz="1450" spc="-1" strike="noStrike">
                <a:solidFill>
                  <a:srgbClr val="3a3a3a"/>
                </a:solidFill>
                <a:latin typeface="Marianne"/>
              </a:rPr>
              <a:t>bots de revue de code automatiques.</a:t>
            </a:r>
            <a:endParaRPr b="0" lang="fr-FR" sz="1450" spc="-1" strike="noStrike">
              <a:solidFill>
                <a:srgbClr val="000000"/>
              </a:solidFill>
              <a:latin typeface="Arial"/>
            </a:endParaRPr>
          </a:p>
        </p:txBody>
      </p:sp>
      <p:sp>
        <p:nvSpPr>
          <p:cNvPr id="230" name="Rounded Rectangle 13"/>
          <p:cNvSpPr/>
          <p:nvPr/>
        </p:nvSpPr>
        <p:spPr>
          <a:xfrm>
            <a:off x="4754880" y="3758040"/>
            <a:ext cx="136800" cy="13680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1" name="TextBox 14"/>
          <p:cNvSpPr/>
          <p:nvPr/>
        </p:nvSpPr>
        <p:spPr>
          <a:xfrm>
            <a:off x="5047560" y="3703320"/>
            <a:ext cx="6366600" cy="471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1500" spc="-1" strike="noStrike">
                <a:solidFill>
                  <a:srgbClr val="161616"/>
                </a:solidFill>
                <a:latin typeface="Marianne"/>
              </a:rPr>
              <a:t>Déploiement des licences Claude — </a:t>
            </a:r>
            <a:r>
              <a:rPr b="0" lang="en-US" sz="1450" spc="-1" strike="noStrike">
                <a:solidFill>
                  <a:srgbClr val="3a3a3a"/>
                </a:solidFill>
                <a:latin typeface="Marianne"/>
              </a:rPr>
              <a:t>Permettre l’agentique en trouvant la bonne formule pour les PC internes, Se mettre en lien avec la DINUM.</a:t>
            </a:r>
            <a:endParaRPr b="0" lang="fr-FR" sz="1450" spc="-1" strike="noStrike">
              <a:solidFill>
                <a:srgbClr val="000000"/>
              </a:solidFill>
              <a:latin typeface="Arial"/>
            </a:endParaRPr>
          </a:p>
        </p:txBody>
      </p:sp>
      <p:sp>
        <p:nvSpPr>
          <p:cNvPr id="232" name="Rounded Rectangle 17"/>
          <p:cNvSpPr/>
          <p:nvPr/>
        </p:nvSpPr>
        <p:spPr>
          <a:xfrm>
            <a:off x="4754880" y="4610520"/>
            <a:ext cx="136800" cy="136800"/>
          </a:xfrm>
          <a:prstGeom prst="roundRect">
            <a:avLst>
              <a:gd name="adj" fmla="val 50000"/>
            </a:avLst>
          </a:prstGeom>
          <a:solidFill>
            <a:srgbClr val="6a6af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3" name="TextBox 18"/>
          <p:cNvSpPr/>
          <p:nvPr/>
        </p:nvSpPr>
        <p:spPr>
          <a:xfrm>
            <a:off x="5047560" y="4555440"/>
            <a:ext cx="6366600" cy="2401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1500" spc="-1" strike="noStrike">
                <a:solidFill>
                  <a:srgbClr val="161616"/>
                </a:solidFill>
                <a:latin typeface="Marianne"/>
              </a:rPr>
              <a:t>Observabilité — </a:t>
            </a:r>
            <a:r>
              <a:rPr b="0" lang="en-US" sz="1450" spc="-1" strike="noStrike">
                <a:solidFill>
                  <a:srgbClr val="3a3a3a"/>
                </a:solidFill>
                <a:latin typeface="Marianne"/>
              </a:rPr>
              <a:t>suivre les usages et la qualité.</a:t>
            </a:r>
            <a:endParaRPr b="0" lang="fr-FR" sz="14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35" name="Picture 2" descr="logo.png"/>
          <p:cNvPicPr/>
          <p:nvPr/>
        </p:nvPicPr>
        <p:blipFill>
          <a:blip r:embed="rId1"/>
          <a:stretch/>
        </p:blipFill>
        <p:spPr>
          <a:xfrm>
            <a:off x="777240" y="274320"/>
            <a:ext cx="987480" cy="676440"/>
          </a:xfrm>
          <a:prstGeom prst="rect">
            <a:avLst/>
          </a:prstGeom>
          <a:ln w="0">
            <a:noFill/>
          </a:ln>
        </p:spPr>
      </p:pic>
      <p:sp>
        <p:nvSpPr>
          <p:cNvPr id="236"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237" name="Connector 4"/>
          <p:cNvCxnSpPr/>
          <p:nvPr/>
        </p:nvCxnSpPr>
        <p:spPr>
          <a:xfrm>
            <a:off x="0" y="1005840"/>
            <a:ext cx="12191760" cy="360"/>
          </a:xfrm>
          <a:prstGeom prst="straightConnector1">
            <a:avLst/>
          </a:prstGeom>
          <a:ln w="9525">
            <a:solidFill>
              <a:srgbClr val="dddddd"/>
            </a:solidFill>
            <a:round/>
          </a:ln>
        </p:spPr>
      </p:cxnSp>
      <p:sp>
        <p:nvSpPr>
          <p:cNvPr id="238"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239" name="TextBox 6"/>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12</a:t>
            </a:r>
            <a:endParaRPr b="0" lang="fr-FR" sz="1100" spc="-1" strike="noStrike">
              <a:solidFill>
                <a:srgbClr val="000000"/>
              </a:solidFill>
              <a:latin typeface="Arial"/>
            </a:endParaRPr>
          </a:p>
        </p:txBody>
      </p:sp>
      <p:sp>
        <p:nvSpPr>
          <p:cNvPr id="240" name="TextBox 7"/>
          <p:cNvSpPr/>
          <p:nvPr/>
        </p:nvSpPr>
        <p:spPr>
          <a:xfrm>
            <a:off x="777240" y="1325880"/>
            <a:ext cx="10636920" cy="4824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100" spc="-1" strike="noStrike">
                <a:solidFill>
                  <a:srgbClr val="161616"/>
                </a:solidFill>
                <a:latin typeface="Marianne"/>
              </a:rPr>
              <a:t>Long terme : un harness maison</a:t>
            </a:r>
            <a:endParaRPr b="0" lang="fr-FR" sz="3100" spc="-1" strike="noStrike">
              <a:solidFill>
                <a:srgbClr val="000000"/>
              </a:solidFill>
              <a:latin typeface="Arial"/>
            </a:endParaRPr>
          </a:p>
        </p:txBody>
      </p:sp>
      <p:sp>
        <p:nvSpPr>
          <p:cNvPr id="241" name="TextBox 8"/>
          <p:cNvSpPr/>
          <p:nvPr/>
        </p:nvSpPr>
        <p:spPr>
          <a:xfrm>
            <a:off x="777240" y="1993320"/>
            <a:ext cx="10636920" cy="26640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650" spc="-1" strike="noStrike">
                <a:solidFill>
                  <a:srgbClr val="3a3a3a"/>
                </a:solidFill>
                <a:latin typeface="Marianne"/>
              </a:rPr>
              <a:t>Construire notre propre environnement IA, maîtrisé de bout en bout.</a:t>
            </a:r>
            <a:endParaRPr b="0" lang="fr-FR" sz="1650" spc="-1" strike="noStrike">
              <a:solidFill>
                <a:srgbClr val="000000"/>
              </a:solidFill>
              <a:latin typeface="Arial"/>
            </a:endParaRPr>
          </a:p>
        </p:txBody>
      </p:sp>
      <p:sp>
        <p:nvSpPr>
          <p:cNvPr id="242" name="Rounded Rectangle 9"/>
          <p:cNvSpPr/>
          <p:nvPr/>
        </p:nvSpPr>
        <p:spPr>
          <a:xfrm>
            <a:off x="777240" y="2697480"/>
            <a:ext cx="2384640" cy="242280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43" name="Picture 10" descr="user-smile.png"/>
          <p:cNvPicPr/>
          <p:nvPr/>
        </p:nvPicPr>
        <p:blipFill>
          <a:blip r:embed="rId2"/>
          <a:stretch/>
        </p:blipFill>
        <p:spPr>
          <a:xfrm>
            <a:off x="1051560" y="3008520"/>
            <a:ext cx="511560" cy="511560"/>
          </a:xfrm>
          <a:prstGeom prst="rect">
            <a:avLst/>
          </a:prstGeom>
          <a:ln w="0">
            <a:noFill/>
          </a:ln>
        </p:spPr>
      </p:pic>
      <p:sp>
        <p:nvSpPr>
          <p:cNvPr id="244" name="TextBox 11"/>
          <p:cNvSpPr/>
          <p:nvPr/>
        </p:nvSpPr>
        <p:spPr>
          <a:xfrm>
            <a:off x="1051560" y="3703320"/>
            <a:ext cx="1872720" cy="128808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799"/>
              </a:spcAft>
            </a:pPr>
            <a:r>
              <a:rPr b="1" lang="en-US" sz="1600" spc="-1" strike="noStrike">
                <a:solidFill>
                  <a:srgbClr val="000091"/>
                </a:solidFill>
                <a:latin typeface="Marianne"/>
              </a:rPr>
              <a:t>Expérience maîtrisée</a:t>
            </a:r>
            <a:endParaRPr b="0" lang="fr-FR" sz="1600" spc="-1" strike="noStrike">
              <a:solidFill>
                <a:srgbClr val="000000"/>
              </a:solidFill>
              <a:latin typeface="Arial"/>
            </a:endParaRPr>
          </a:p>
          <a:p>
            <a:pPr defTabSz="457200">
              <a:lnSpc>
                <a:spcPct val="112000"/>
              </a:lnSpc>
            </a:pPr>
            <a:r>
              <a:rPr b="0" lang="en-US" sz="1350" spc="-1" strike="noStrike">
                <a:solidFill>
                  <a:srgbClr val="3a3a3a"/>
                </a:solidFill>
                <a:latin typeface="Marianne"/>
              </a:rPr>
              <a:t>Embarquer les profils les moins technophiles.</a:t>
            </a:r>
            <a:endParaRPr b="0" lang="fr-FR" sz="1350" spc="-1" strike="noStrike">
              <a:solidFill>
                <a:srgbClr val="000000"/>
              </a:solidFill>
              <a:latin typeface="Arial"/>
            </a:endParaRPr>
          </a:p>
        </p:txBody>
      </p:sp>
      <p:sp>
        <p:nvSpPr>
          <p:cNvPr id="245" name="Rounded Rectangle 12"/>
          <p:cNvSpPr/>
          <p:nvPr/>
        </p:nvSpPr>
        <p:spPr>
          <a:xfrm>
            <a:off x="3528000" y="2697480"/>
            <a:ext cx="2384640" cy="242280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46" name="Picture 13" descr="focus-3.png"/>
          <p:cNvPicPr/>
          <p:nvPr/>
        </p:nvPicPr>
        <p:blipFill>
          <a:blip r:embed="rId3"/>
          <a:stretch/>
        </p:blipFill>
        <p:spPr>
          <a:xfrm>
            <a:off x="3802320" y="3008520"/>
            <a:ext cx="511560" cy="511560"/>
          </a:xfrm>
          <a:prstGeom prst="rect">
            <a:avLst/>
          </a:prstGeom>
          <a:ln w="0">
            <a:noFill/>
          </a:ln>
        </p:spPr>
      </p:pic>
      <p:sp>
        <p:nvSpPr>
          <p:cNvPr id="247" name="TextBox 14"/>
          <p:cNvSpPr/>
          <p:nvPr/>
        </p:nvSpPr>
        <p:spPr>
          <a:xfrm>
            <a:off x="3802320" y="3703320"/>
            <a:ext cx="1872720" cy="105876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799"/>
              </a:spcAft>
            </a:pPr>
            <a:r>
              <a:rPr b="1" lang="en-US" sz="1600" spc="-1" strike="noStrike">
                <a:solidFill>
                  <a:srgbClr val="000091"/>
                </a:solidFill>
                <a:latin typeface="Marianne"/>
              </a:rPr>
              <a:t>Périmètre maîtrisé</a:t>
            </a:r>
            <a:endParaRPr b="0" lang="fr-FR" sz="1600" spc="-1" strike="noStrike">
              <a:solidFill>
                <a:srgbClr val="000000"/>
              </a:solidFill>
              <a:latin typeface="Arial"/>
            </a:endParaRPr>
          </a:p>
          <a:p>
            <a:pPr defTabSz="457200">
              <a:lnSpc>
                <a:spcPct val="112000"/>
              </a:lnSpc>
            </a:pPr>
            <a:r>
              <a:rPr b="0" lang="en-US" sz="1350" spc="-1" strike="noStrike">
                <a:solidFill>
                  <a:srgbClr val="3a3a3a"/>
                </a:solidFill>
                <a:latin typeface="Marianne"/>
              </a:rPr>
              <a:t>Contrôler les besoins auxquels l’outil répond.</a:t>
            </a:r>
            <a:endParaRPr b="0" lang="fr-FR" sz="1350" spc="-1" strike="noStrike">
              <a:solidFill>
                <a:srgbClr val="000000"/>
              </a:solidFill>
              <a:latin typeface="Arial"/>
            </a:endParaRPr>
          </a:p>
        </p:txBody>
      </p:sp>
      <p:sp>
        <p:nvSpPr>
          <p:cNvPr id="248" name="Rounded Rectangle 15"/>
          <p:cNvSpPr/>
          <p:nvPr/>
        </p:nvSpPr>
        <p:spPr>
          <a:xfrm>
            <a:off x="6278760" y="2697480"/>
            <a:ext cx="2384640" cy="242280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49" name="Picture 16" descr="shield-check.png"/>
          <p:cNvPicPr/>
          <p:nvPr/>
        </p:nvPicPr>
        <p:blipFill>
          <a:blip r:embed="rId4"/>
          <a:stretch/>
        </p:blipFill>
        <p:spPr>
          <a:xfrm>
            <a:off x="6553080" y="3008520"/>
            <a:ext cx="511560" cy="511560"/>
          </a:xfrm>
          <a:prstGeom prst="rect">
            <a:avLst/>
          </a:prstGeom>
          <a:ln w="0">
            <a:noFill/>
          </a:ln>
        </p:spPr>
      </p:pic>
      <p:sp>
        <p:nvSpPr>
          <p:cNvPr id="250" name="TextBox 17"/>
          <p:cNvSpPr/>
          <p:nvPr/>
        </p:nvSpPr>
        <p:spPr>
          <a:xfrm>
            <a:off x="6553080" y="3703320"/>
            <a:ext cx="1872720" cy="128808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799"/>
              </a:spcAft>
            </a:pPr>
            <a:r>
              <a:rPr b="1" lang="en-US" sz="1600" spc="-1" strike="noStrike">
                <a:solidFill>
                  <a:srgbClr val="000091"/>
                </a:solidFill>
                <a:latin typeface="Marianne"/>
              </a:rPr>
              <a:t>Conformité intégrée</a:t>
            </a:r>
            <a:endParaRPr b="0" lang="fr-FR" sz="1600" spc="-1" strike="noStrike">
              <a:solidFill>
                <a:srgbClr val="000000"/>
              </a:solidFill>
              <a:latin typeface="Arial"/>
            </a:endParaRPr>
          </a:p>
          <a:p>
            <a:pPr defTabSz="457200">
              <a:lnSpc>
                <a:spcPct val="112000"/>
              </a:lnSpc>
            </a:pPr>
            <a:r>
              <a:rPr b="0" lang="en-US" sz="1350" spc="-1" strike="noStrike">
                <a:solidFill>
                  <a:srgbClr val="3a3a3a"/>
                </a:solidFill>
                <a:latin typeface="Marianne"/>
              </a:rPr>
              <a:t>Intégrer accessibilité et conformité dans les réalisations.</a:t>
            </a:r>
            <a:endParaRPr b="0" lang="fr-FR" sz="1350" spc="-1" strike="noStrike">
              <a:solidFill>
                <a:srgbClr val="000000"/>
              </a:solidFill>
              <a:latin typeface="Arial"/>
            </a:endParaRPr>
          </a:p>
        </p:txBody>
      </p:sp>
      <p:sp>
        <p:nvSpPr>
          <p:cNvPr id="251" name="Rounded Rectangle 18"/>
          <p:cNvSpPr/>
          <p:nvPr/>
        </p:nvSpPr>
        <p:spPr>
          <a:xfrm>
            <a:off x="9029520" y="2697480"/>
            <a:ext cx="2384640" cy="2422800"/>
          </a:xfrm>
          <a:prstGeom prst="roundRect">
            <a:avLst>
              <a:gd name="adj" fmla="val 6000"/>
            </a:avLst>
          </a:prstGeom>
          <a:solidFill>
            <a:srgbClr val="ececf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52" name="Picture 19" descr="bank.png"/>
          <p:cNvPicPr/>
          <p:nvPr/>
        </p:nvPicPr>
        <p:blipFill>
          <a:blip r:embed="rId5"/>
          <a:stretch/>
        </p:blipFill>
        <p:spPr>
          <a:xfrm>
            <a:off x="9303840" y="3008520"/>
            <a:ext cx="511560" cy="511560"/>
          </a:xfrm>
          <a:prstGeom prst="rect">
            <a:avLst/>
          </a:prstGeom>
          <a:ln w="0">
            <a:noFill/>
          </a:ln>
        </p:spPr>
      </p:pic>
      <p:sp>
        <p:nvSpPr>
          <p:cNvPr id="253" name="TextBox 20"/>
          <p:cNvSpPr/>
          <p:nvPr/>
        </p:nvSpPr>
        <p:spPr>
          <a:xfrm>
            <a:off x="9303840" y="3703320"/>
            <a:ext cx="1872720" cy="1058760"/>
          </a:xfrm>
          <a:prstGeom prst="rect">
            <a:avLst/>
          </a:prstGeom>
          <a:noFill/>
          <a:ln w="0">
            <a:noFill/>
          </a:ln>
        </p:spPr>
        <p:style>
          <a:lnRef idx="0"/>
          <a:fillRef idx="0"/>
          <a:effectRef idx="0"/>
          <a:fontRef idx="minor"/>
        </p:style>
        <p:txBody>
          <a:bodyPr lIns="0" rIns="0" tIns="0" bIns="0" anchor="t">
            <a:spAutoFit/>
          </a:bodyPr>
          <a:p>
            <a:pPr defTabSz="457200">
              <a:lnSpc>
                <a:spcPct val="102000"/>
              </a:lnSpc>
              <a:spcAft>
                <a:spcPts val="799"/>
              </a:spcAft>
            </a:pPr>
            <a:r>
              <a:rPr b="1" lang="en-US" sz="1600" spc="-1" strike="noStrike">
                <a:solidFill>
                  <a:srgbClr val="000091"/>
                </a:solidFill>
                <a:latin typeface="Marianne"/>
              </a:rPr>
              <a:t>Souveraineté &amp; stabilité</a:t>
            </a:r>
            <a:endParaRPr b="0" lang="fr-FR" sz="1600" spc="-1" strike="noStrike">
              <a:solidFill>
                <a:srgbClr val="000000"/>
              </a:solidFill>
              <a:latin typeface="Arial"/>
            </a:endParaRPr>
          </a:p>
          <a:p>
            <a:pPr defTabSz="457200">
              <a:lnSpc>
                <a:spcPct val="112000"/>
              </a:lnSpc>
            </a:pPr>
            <a:r>
              <a:rPr b="0" lang="en-US" sz="1350" spc="-1" strike="noStrike">
                <a:solidFill>
                  <a:srgbClr val="3a3a3a"/>
                </a:solidFill>
                <a:latin typeface="Marianne"/>
              </a:rPr>
              <a:t>Indépendance vis-à-vis des fournisseurs.</a:t>
            </a:r>
            <a:endParaRPr b="0" lang="fr-FR" sz="1350" spc="-1" strike="noStrike">
              <a:solidFill>
                <a:srgbClr val="000000"/>
              </a:solidFill>
              <a:latin typeface="Arial"/>
            </a:endParaRPr>
          </a:p>
        </p:txBody>
      </p:sp>
      <p:pic>
        <p:nvPicPr>
          <p:cNvPr id="254" name="" descr=""/>
          <p:cNvPicPr/>
          <p:nvPr/>
        </p:nvPicPr>
        <p:blipFill>
          <a:blip r:embed="rId6"/>
          <a:stretch/>
        </p:blipFill>
        <p:spPr>
          <a:xfrm>
            <a:off x="1219320" y="3144240"/>
            <a:ext cx="89280" cy="95760"/>
          </a:xfrm>
          <a:prstGeom prst="rect">
            <a:avLst/>
          </a:prstGeom>
          <a:ln w="0">
            <a:noFill/>
          </a:ln>
        </p:spPr>
      </p:pic>
      <p:pic>
        <p:nvPicPr>
          <p:cNvPr id="255" name="" descr=""/>
          <p:cNvPicPr/>
          <p:nvPr/>
        </p:nvPicPr>
        <p:blipFill>
          <a:blip r:embed="rId7"/>
          <a:stretch/>
        </p:blipFill>
        <p:spPr>
          <a:xfrm>
            <a:off x="1308600" y="3144240"/>
            <a:ext cx="89280" cy="9576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57" name="Picture 2" descr="logo.png"/>
          <p:cNvPicPr/>
          <p:nvPr/>
        </p:nvPicPr>
        <p:blipFill>
          <a:blip r:embed="rId1"/>
          <a:stretch/>
        </p:blipFill>
        <p:spPr>
          <a:xfrm>
            <a:off x="777240" y="274320"/>
            <a:ext cx="987480" cy="676440"/>
          </a:xfrm>
          <a:prstGeom prst="rect">
            <a:avLst/>
          </a:prstGeom>
          <a:ln w="0">
            <a:noFill/>
          </a:ln>
        </p:spPr>
      </p:pic>
      <p:sp>
        <p:nvSpPr>
          <p:cNvPr id="258" name="TextBox 3"/>
          <p:cNvSpPr/>
          <p:nvPr/>
        </p:nvSpPr>
        <p:spPr>
          <a:xfrm>
            <a:off x="7574040" y="274320"/>
            <a:ext cx="3840120" cy="431640"/>
          </a:xfrm>
          <a:prstGeom prst="rect">
            <a:avLst/>
          </a:prstGeom>
          <a:noFill/>
          <a:ln w="0">
            <a:noFill/>
          </a:ln>
        </p:spPr>
        <p:style>
          <a:lnRef idx="0"/>
          <a:fillRef idx="0"/>
          <a:effectRef idx="0"/>
          <a:fontRef idx="minor"/>
        </p:style>
        <p:txBody>
          <a:bodyPr lIns="0" rIns="0" tIns="0" bIns="0" anchor="t">
            <a:spAutoFit/>
          </a:bodyPr>
          <a:p>
            <a:pPr algn="r" defTabSz="457200">
              <a:lnSpc>
                <a:spcPct val="105000"/>
              </a:lnSpc>
            </a:pPr>
            <a:r>
              <a:rPr b="1" lang="en-US" sz="1350" spc="-1" strike="noStrike">
                <a:solidFill>
                  <a:srgbClr val="161616"/>
                </a:solidFill>
                <a:latin typeface="Marianne"/>
              </a:rPr>
              <a:t>Secrétariat général</a:t>
            </a:r>
            <a:endParaRPr b="0" lang="fr-FR" sz="1350" spc="-1" strike="noStrike">
              <a:solidFill>
                <a:srgbClr val="000000"/>
              </a:solidFill>
              <a:latin typeface="Arial"/>
            </a:endParaRPr>
          </a:p>
          <a:p>
            <a:pPr algn="r" defTabSz="457200">
              <a:lnSpc>
                <a:spcPct val="105000"/>
              </a:lnSpc>
            </a:pPr>
            <a:r>
              <a:rPr b="0" lang="en-US" sz="1350" spc="-1" strike="noStrike">
                <a:solidFill>
                  <a:srgbClr val="3a3a3a"/>
                </a:solidFill>
                <a:latin typeface="Marianne"/>
              </a:rPr>
              <a:t>Direction du numérique</a:t>
            </a:r>
            <a:endParaRPr b="0" lang="fr-FR" sz="1350" spc="-1" strike="noStrike">
              <a:solidFill>
                <a:srgbClr val="000000"/>
              </a:solidFill>
              <a:latin typeface="Arial"/>
            </a:endParaRPr>
          </a:p>
        </p:txBody>
      </p:sp>
      <p:cxnSp>
        <p:nvCxnSpPr>
          <p:cNvPr id="259" name="Connector 4"/>
          <p:cNvCxnSpPr/>
          <p:nvPr/>
        </p:nvCxnSpPr>
        <p:spPr>
          <a:xfrm>
            <a:off x="0" y="1005840"/>
            <a:ext cx="12191760" cy="360"/>
          </a:xfrm>
          <a:prstGeom prst="straightConnector1">
            <a:avLst/>
          </a:prstGeom>
          <a:ln w="9525">
            <a:solidFill>
              <a:srgbClr val="dddddd"/>
            </a:solidFill>
            <a:round/>
          </a:ln>
        </p:spPr>
      </p:cxnSp>
      <p:sp>
        <p:nvSpPr>
          <p:cNvPr id="260" name="TextBox 5"/>
          <p:cNvSpPr/>
          <p:nvPr/>
        </p:nvSpPr>
        <p:spPr>
          <a:xfrm>
            <a:off x="777240" y="6437520"/>
            <a:ext cx="5486040" cy="1778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00" spc="-1" strike="noStrike">
                <a:solidFill>
                  <a:srgbClr val="6a6a6a"/>
                </a:solidFill>
                <a:latin typeface="Marianne"/>
              </a:rPr>
              <a:t>Ministères Sociaux – 25/06/2026</a:t>
            </a:r>
            <a:endParaRPr b="0" lang="fr-FR" sz="1100" spc="-1" strike="noStrike">
              <a:solidFill>
                <a:srgbClr val="000000"/>
              </a:solidFill>
              <a:latin typeface="Arial"/>
            </a:endParaRPr>
          </a:p>
        </p:txBody>
      </p:sp>
      <p:sp>
        <p:nvSpPr>
          <p:cNvPr id="261" name="TextBox 6"/>
          <p:cNvSpPr/>
          <p:nvPr/>
        </p:nvSpPr>
        <p:spPr>
          <a:xfrm>
            <a:off x="10683000" y="6437520"/>
            <a:ext cx="731160" cy="177840"/>
          </a:xfrm>
          <a:prstGeom prst="rect">
            <a:avLst/>
          </a:prstGeom>
          <a:noFill/>
          <a:ln w="0">
            <a:noFill/>
          </a:ln>
        </p:spPr>
        <p:style>
          <a:lnRef idx="0"/>
          <a:fillRef idx="0"/>
          <a:effectRef idx="0"/>
          <a:fontRef idx="minor"/>
        </p:style>
        <p:txBody>
          <a:bodyPr lIns="0" rIns="0" tIns="0" bIns="0" anchor="t">
            <a:spAutoFit/>
          </a:bodyPr>
          <a:p>
            <a:pPr algn="r" defTabSz="457200">
              <a:lnSpc>
                <a:spcPct val="106000"/>
              </a:lnSpc>
            </a:pPr>
            <a:r>
              <a:rPr b="0" lang="en-US" sz="1100" spc="-1" strike="noStrike">
                <a:solidFill>
                  <a:srgbClr val="6a6a6a"/>
                </a:solidFill>
                <a:latin typeface="Marianne"/>
              </a:rPr>
              <a:t>13</a:t>
            </a:r>
            <a:endParaRPr b="0" lang="fr-FR" sz="1100" spc="-1" strike="noStrike">
              <a:solidFill>
                <a:srgbClr val="000000"/>
              </a:solidFill>
              <a:latin typeface="Arial"/>
            </a:endParaRPr>
          </a:p>
        </p:txBody>
      </p:sp>
      <p:sp>
        <p:nvSpPr>
          <p:cNvPr id="262" name="TextBox 7"/>
          <p:cNvSpPr/>
          <p:nvPr/>
        </p:nvSpPr>
        <p:spPr>
          <a:xfrm>
            <a:off x="777240" y="1325880"/>
            <a:ext cx="10636920" cy="5130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3300" spc="-1" strike="noStrike">
                <a:solidFill>
                  <a:srgbClr val="161616"/>
                </a:solidFill>
                <a:latin typeface="Marianne"/>
              </a:rPr>
              <a:t>Où nous en sommes</a:t>
            </a:r>
            <a:endParaRPr b="0" lang="fr-FR" sz="3300" spc="-1" strike="noStrike">
              <a:solidFill>
                <a:srgbClr val="000000"/>
              </a:solidFill>
              <a:latin typeface="Arial"/>
            </a:endParaRPr>
          </a:p>
        </p:txBody>
      </p:sp>
      <p:sp>
        <p:nvSpPr>
          <p:cNvPr id="263" name="TextBox 8"/>
          <p:cNvSpPr/>
          <p:nvPr/>
        </p:nvSpPr>
        <p:spPr>
          <a:xfrm>
            <a:off x="777240" y="2286000"/>
            <a:ext cx="5089680" cy="29088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1" lang="en-US" sz="1800" spc="-1" strike="noStrike">
                <a:solidFill>
                  <a:srgbClr val="000091"/>
                </a:solidFill>
                <a:latin typeface="Marianne"/>
              </a:rPr>
              <a:t>Ce qui est acquis</a:t>
            </a:r>
            <a:endParaRPr b="0" lang="fr-FR" sz="1800" spc="-1" strike="noStrike">
              <a:solidFill>
                <a:srgbClr val="000000"/>
              </a:solidFill>
              <a:latin typeface="Arial"/>
            </a:endParaRPr>
          </a:p>
        </p:txBody>
      </p:sp>
      <p:sp>
        <p:nvSpPr>
          <p:cNvPr id="264" name="TextBox 9"/>
          <p:cNvSpPr/>
          <p:nvPr/>
        </p:nvSpPr>
        <p:spPr>
          <a:xfrm>
            <a:off x="777240" y="2834640"/>
            <a:ext cx="5089680" cy="1575720"/>
          </a:xfrm>
          <a:prstGeom prst="rect">
            <a:avLst/>
          </a:prstGeom>
          <a:noFill/>
          <a:ln w="0">
            <a:noFill/>
          </a:ln>
        </p:spPr>
        <p:style>
          <a:lnRef idx="0"/>
          <a:fillRef idx="0"/>
          <a:effectRef idx="0"/>
          <a:fontRef idx="minor"/>
        </p:style>
        <p:txBody>
          <a:bodyPr lIns="0" rIns="0" tIns="0" bIns="0" anchor="t">
            <a:spAutoFit/>
          </a:bodyPr>
          <a:p>
            <a:pPr marL="201240" indent="-201240" defTabSz="457200">
              <a:lnSpc>
                <a:spcPct val="112000"/>
              </a:lnSpc>
              <a:spcAft>
                <a:spcPts val="1001"/>
              </a:spcAft>
              <a:tabLst>
                <a:tab algn="l" pos="0"/>
              </a:tabLst>
            </a:pPr>
            <a:r>
              <a:rPr b="0" lang="en-US" sz="1300" spc="-1" strike="noStrike">
                <a:solidFill>
                  <a:srgbClr val="6a6af4"/>
                </a:solidFill>
                <a:latin typeface="Marianne"/>
              </a:rPr>
              <a:t>▪  </a:t>
            </a:r>
            <a:r>
              <a:rPr b="0" lang="en-US" sz="1550" spc="-1" strike="noStrike">
                <a:solidFill>
                  <a:srgbClr val="3a3a3a"/>
                </a:solidFill>
                <a:latin typeface="Marianne"/>
              </a:rPr>
              <a:t>Exploration en cours : une vision qui se précise, métier par métier.</a:t>
            </a:r>
            <a:endParaRPr b="0" lang="fr-FR" sz="1550" spc="-1" strike="noStrike">
              <a:solidFill>
                <a:srgbClr val="000000"/>
              </a:solidFill>
              <a:latin typeface="Arial"/>
            </a:endParaRPr>
          </a:p>
          <a:p>
            <a:pPr marL="201240" indent="-201240" defTabSz="457200">
              <a:lnSpc>
                <a:spcPct val="112000"/>
              </a:lnSpc>
              <a:spcAft>
                <a:spcPts val="1001"/>
              </a:spcAft>
              <a:tabLst>
                <a:tab algn="l" pos="0"/>
              </a:tabLst>
            </a:pPr>
            <a:r>
              <a:rPr b="0" lang="en-US" sz="1300" spc="-1" strike="noStrike">
                <a:solidFill>
                  <a:srgbClr val="6a6af4"/>
                </a:solidFill>
                <a:latin typeface="Marianne"/>
              </a:rPr>
              <a:t>▪  </a:t>
            </a:r>
            <a:r>
              <a:rPr b="0" lang="en-US" sz="1550" spc="-1" strike="noStrike">
                <a:solidFill>
                  <a:srgbClr val="3a3a3a"/>
                </a:solidFill>
                <a:latin typeface="Marianne"/>
              </a:rPr>
              <a:t>Sur Egapro, un usage avancé de Claude déjà observé.</a:t>
            </a:r>
            <a:endParaRPr b="0" lang="fr-FR" sz="1550" spc="-1" strike="noStrike">
              <a:solidFill>
                <a:srgbClr val="000000"/>
              </a:solidFill>
              <a:latin typeface="Arial"/>
            </a:endParaRPr>
          </a:p>
          <a:p>
            <a:pPr marL="201240" indent="-201240" defTabSz="457200">
              <a:lnSpc>
                <a:spcPct val="112000"/>
              </a:lnSpc>
              <a:spcAft>
                <a:spcPts val="1001"/>
              </a:spcAft>
              <a:tabLst>
                <a:tab algn="l" pos="0"/>
              </a:tabLst>
            </a:pPr>
            <a:r>
              <a:rPr b="0" lang="en-US" sz="1300" spc="-1" strike="noStrike">
                <a:solidFill>
                  <a:srgbClr val="6a6af4"/>
                </a:solidFill>
                <a:latin typeface="Marianne"/>
              </a:rPr>
              <a:t>▪  </a:t>
            </a:r>
            <a:r>
              <a:rPr b="0" lang="en-US" sz="1550" spc="-1" strike="noStrike">
                <a:solidFill>
                  <a:srgbClr val="3a3a3a"/>
                </a:solidFill>
                <a:latin typeface="Marianne"/>
              </a:rPr>
              <a:t>Un plan d’action séquencé sur trois horizons.</a:t>
            </a:r>
            <a:endParaRPr b="0" lang="fr-FR" sz="1550" spc="-1" strike="noStrike">
              <a:solidFill>
                <a:srgbClr val="000000"/>
              </a:solidFill>
              <a:latin typeface="Arial"/>
            </a:endParaRPr>
          </a:p>
        </p:txBody>
      </p:sp>
      <p:sp>
        <p:nvSpPr>
          <p:cNvPr id="265" name="TextBox 10"/>
          <p:cNvSpPr/>
          <p:nvPr/>
        </p:nvSpPr>
        <p:spPr>
          <a:xfrm>
            <a:off x="6324480" y="2286000"/>
            <a:ext cx="5089680" cy="29088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1" lang="en-US" sz="1800" spc="-1" strike="noStrike">
                <a:solidFill>
                  <a:srgbClr val="000091"/>
                </a:solidFill>
                <a:latin typeface="Marianne"/>
              </a:rPr>
              <a:t>Prochaines étapes</a:t>
            </a:r>
            <a:endParaRPr b="0" lang="fr-FR" sz="1800" spc="-1" strike="noStrike">
              <a:solidFill>
                <a:srgbClr val="000000"/>
              </a:solidFill>
              <a:latin typeface="Arial"/>
            </a:endParaRPr>
          </a:p>
        </p:txBody>
      </p:sp>
      <p:sp>
        <p:nvSpPr>
          <p:cNvPr id="266" name="TextBox 11"/>
          <p:cNvSpPr/>
          <p:nvPr/>
        </p:nvSpPr>
        <p:spPr>
          <a:xfrm>
            <a:off x="6324480" y="2834640"/>
            <a:ext cx="5089680" cy="1702800"/>
          </a:xfrm>
          <a:prstGeom prst="rect">
            <a:avLst/>
          </a:prstGeom>
          <a:noFill/>
          <a:ln w="0">
            <a:noFill/>
          </a:ln>
        </p:spPr>
        <p:style>
          <a:lnRef idx="0"/>
          <a:fillRef idx="0"/>
          <a:effectRef idx="0"/>
          <a:fontRef idx="minor"/>
        </p:style>
        <p:txBody>
          <a:bodyPr lIns="0" rIns="0" tIns="0" bIns="0" anchor="t">
            <a:spAutoFit/>
          </a:bodyPr>
          <a:p>
            <a:pPr marL="201240" indent="-201240" defTabSz="457200">
              <a:lnSpc>
                <a:spcPct val="112000"/>
              </a:lnSpc>
              <a:spcAft>
                <a:spcPts val="1001"/>
              </a:spcAft>
              <a:tabLst>
                <a:tab algn="l" pos="0"/>
              </a:tabLst>
            </a:pPr>
            <a:r>
              <a:rPr b="0" lang="en-US" sz="1300" spc="-1" strike="noStrike">
                <a:solidFill>
                  <a:srgbClr val="6a6af4"/>
                </a:solidFill>
                <a:latin typeface="Marianne"/>
              </a:rPr>
              <a:t>▪  </a:t>
            </a:r>
            <a:r>
              <a:rPr b="0" lang="en-US" sz="1550" spc="-1" strike="noStrike">
                <a:solidFill>
                  <a:srgbClr val="3a3a3a"/>
                </a:solidFill>
                <a:latin typeface="Marianne"/>
              </a:rPr>
              <a:t>Rencontrer davantage de chefs de projet.</a:t>
            </a:r>
            <a:endParaRPr b="0" lang="fr-FR" sz="1550" spc="-1" strike="noStrike">
              <a:solidFill>
                <a:srgbClr val="000000"/>
              </a:solidFill>
              <a:latin typeface="Arial"/>
            </a:endParaRPr>
          </a:p>
          <a:p>
            <a:pPr marL="201240" indent="-201240" defTabSz="457200">
              <a:lnSpc>
                <a:spcPct val="112000"/>
              </a:lnSpc>
              <a:spcAft>
                <a:spcPts val="1001"/>
              </a:spcAft>
              <a:tabLst>
                <a:tab algn="l" pos="0"/>
              </a:tabLst>
            </a:pPr>
            <a:r>
              <a:rPr b="0" lang="en-US" sz="1300" spc="-1" strike="noStrike">
                <a:solidFill>
                  <a:srgbClr val="6a6af4"/>
                </a:solidFill>
                <a:latin typeface="Marianne"/>
              </a:rPr>
              <a:t>▪  </a:t>
            </a:r>
            <a:r>
              <a:rPr b="0" lang="en-US" sz="1550" spc="-1" strike="noStrike">
                <a:solidFill>
                  <a:srgbClr val="3a3a3a"/>
                </a:solidFill>
                <a:latin typeface="Marianne"/>
              </a:rPr>
              <a:t>Lancer les premiers skills côté designers.</a:t>
            </a:r>
            <a:endParaRPr b="0" lang="fr-FR" sz="1550" spc="-1" strike="noStrike">
              <a:solidFill>
                <a:srgbClr val="000000"/>
              </a:solidFill>
              <a:latin typeface="Arial"/>
            </a:endParaRPr>
          </a:p>
          <a:p>
            <a:pPr marL="201240" indent="-201240" defTabSz="457200">
              <a:lnSpc>
                <a:spcPct val="112000"/>
              </a:lnSpc>
              <a:spcAft>
                <a:spcPts val="1001"/>
              </a:spcAft>
              <a:tabLst>
                <a:tab algn="l" pos="0"/>
              </a:tabLst>
            </a:pPr>
            <a:r>
              <a:rPr b="0" lang="en-US" sz="1300" spc="-1" strike="noStrike">
                <a:solidFill>
                  <a:srgbClr val="6a6af4"/>
                </a:solidFill>
                <a:latin typeface="Marianne"/>
              </a:rPr>
              <a:t>▪  </a:t>
            </a:r>
            <a:r>
              <a:rPr b="0" lang="en-US" sz="1550" spc="-1" strike="noStrike">
                <a:solidFill>
                  <a:srgbClr val="3a3a3a"/>
                </a:solidFill>
                <a:latin typeface="Marianne"/>
              </a:rPr>
              <a:t>Préparer la communauté de champions.</a:t>
            </a:r>
            <a:endParaRPr b="0" lang="fr-FR" sz="1550" spc="-1" strike="noStrike">
              <a:solidFill>
                <a:srgbClr val="000000"/>
              </a:solidFill>
              <a:latin typeface="Arial"/>
            </a:endParaRPr>
          </a:p>
          <a:p>
            <a:pPr marL="201240" indent="-201240" defTabSz="457200">
              <a:lnSpc>
                <a:spcPct val="112000"/>
              </a:lnSpc>
              <a:spcAft>
                <a:spcPts val="1001"/>
              </a:spcAft>
              <a:tabLst>
                <a:tab algn="l" pos="0"/>
              </a:tabLst>
            </a:pPr>
            <a:r>
              <a:rPr b="0" lang="en-US" sz="1300" spc="-1" strike="noStrike">
                <a:solidFill>
                  <a:srgbClr val="6a6af4"/>
                </a:solidFill>
                <a:latin typeface="Marianne"/>
              </a:rPr>
              <a:t>▪  </a:t>
            </a:r>
            <a:r>
              <a:rPr b="0" lang="en-US" sz="1550" spc="-1" strike="noStrike">
                <a:solidFill>
                  <a:srgbClr val="3a3a3a"/>
                </a:solidFill>
                <a:latin typeface="Marianne"/>
              </a:rPr>
              <a:t>Anticiper les licences Claude internes &amp; le lien DINUM.</a:t>
            </a:r>
            <a:endParaRPr b="0" lang="fr-FR" sz="1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Rectangle 1"/>
          <p:cNvSpPr/>
          <p:nvPr/>
        </p:nvSpPr>
        <p:spPr>
          <a:xfrm>
            <a:off x="0" y="0"/>
            <a:ext cx="12191400" cy="6857640"/>
          </a:xfrm>
          <a:prstGeom prst="rect">
            <a:avLst/>
          </a:prstGeom>
          <a:solidFill>
            <a:srgbClr val="ffff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68" name="Picture 2" descr="logo.png"/>
          <p:cNvPicPr/>
          <p:nvPr/>
        </p:nvPicPr>
        <p:blipFill>
          <a:blip r:embed="rId1"/>
          <a:stretch/>
        </p:blipFill>
        <p:spPr>
          <a:xfrm>
            <a:off x="777240" y="274320"/>
            <a:ext cx="987480" cy="676440"/>
          </a:xfrm>
          <a:prstGeom prst="rect">
            <a:avLst/>
          </a:prstGeom>
          <a:ln w="0">
            <a:noFill/>
          </a:ln>
        </p:spPr>
      </p:pic>
      <p:sp>
        <p:nvSpPr>
          <p:cNvPr id="269" name="Rectangle 3"/>
          <p:cNvSpPr/>
          <p:nvPr/>
        </p:nvSpPr>
        <p:spPr>
          <a:xfrm>
            <a:off x="777240" y="1234440"/>
            <a:ext cx="10926720" cy="5257440"/>
          </a:xfrm>
          <a:prstGeom prst="rect">
            <a:avLst/>
          </a:prstGeom>
          <a:solidFill>
            <a:srgbClr val="00009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70" name="Picture 4" descr="stripes.png"/>
          <p:cNvPicPr/>
          <p:nvPr/>
        </p:nvPicPr>
        <p:blipFill>
          <a:blip r:embed="rId2"/>
          <a:stretch/>
        </p:blipFill>
        <p:spPr>
          <a:xfrm>
            <a:off x="8869680" y="4810320"/>
            <a:ext cx="2834280" cy="1681560"/>
          </a:xfrm>
          <a:prstGeom prst="rect">
            <a:avLst/>
          </a:prstGeom>
          <a:ln w="0">
            <a:noFill/>
          </a:ln>
        </p:spPr>
      </p:pic>
      <p:sp>
        <p:nvSpPr>
          <p:cNvPr id="271" name="TextBox 5"/>
          <p:cNvSpPr/>
          <p:nvPr/>
        </p:nvSpPr>
        <p:spPr>
          <a:xfrm>
            <a:off x="1371600" y="3108960"/>
            <a:ext cx="8777880" cy="7624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5000" spc="-1" strike="noStrike">
                <a:solidFill>
                  <a:srgbClr val="ffffff"/>
                </a:solidFill>
                <a:latin typeface="Marianne"/>
              </a:rPr>
              <a:t>Place à l’échange</a:t>
            </a:r>
            <a:endParaRPr b="0" lang="fr-FR" sz="5000" spc="-1" strike="noStrike">
              <a:solidFill>
                <a:srgbClr val="000000"/>
              </a:solidFill>
              <a:latin typeface="Arial"/>
            </a:endParaRPr>
          </a:p>
        </p:txBody>
      </p:sp>
      <p:sp>
        <p:nvSpPr>
          <p:cNvPr id="272" name="TextBox 6"/>
          <p:cNvSpPr/>
          <p:nvPr/>
        </p:nvSpPr>
        <p:spPr>
          <a:xfrm>
            <a:off x="1398960" y="4114800"/>
            <a:ext cx="8960760" cy="35532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2200" spc="-1" strike="noStrike">
                <a:solidFill>
                  <a:srgbClr val="ffffff"/>
                </a:solidFill>
                <a:latin typeface="Marianne"/>
              </a:rPr>
              <a:t>Vos questions, vos retours, vos arbitrages.</a:t>
            </a:r>
            <a:endParaRPr b="0" lang="fr-FR"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13</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fr-FR</dc:language>
  <cp:lastModifiedBy/>
  <dcterms:modified xsi:type="dcterms:W3CDTF">2026-06-25T16:58:31Z</dcterms:modified>
  <cp:revision>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