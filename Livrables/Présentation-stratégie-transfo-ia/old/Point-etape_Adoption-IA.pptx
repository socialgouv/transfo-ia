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3.png" ContentType="image/png"/>
  <Override PartName="/ppt/media/image22.png" ContentType="image/png"/>
  <Override PartName="/ppt/media/image21.png" ContentType="image/png"/>
  <Override PartName="/ppt/media/image19.png" ContentType="image/png"/>
  <Override PartName="/ppt/media/image11.png" ContentType="image/png"/>
  <Override PartName="/ppt/media/image2.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media/image16.png" ContentType="image/pn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Cliquez pour déplacer la diapo</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50F8D00A-0B62-42B6-9CF3-164E3425ECE4}"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1143000" y="685800"/>
            <a:ext cx="4571640" cy="3428640"/>
          </a:xfrm>
          <a:prstGeom prst="rect">
            <a:avLst/>
          </a:prstGeom>
          <a:ln w="0">
            <a:noFill/>
          </a:ln>
        </p:spPr>
      </p:sp>
      <p:sp>
        <p:nvSpPr>
          <p:cNvPr id="26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Point d'etape de la mission IA a la Direction du numerique des Ministeres Sociaux. Objectif du jour : partager ou en est la mission - enjeux, exploration menee, plan d'action sur 3 horizons. 10 min de presentation puis echange.</a:t>
            </a:r>
            <a:endParaRPr b="0" lang="fr-FR" sz="2000" spc="-1" strike="noStrike">
              <a:solidFill>
                <a:srgbClr val="000000"/>
              </a:solidFill>
              <a:latin typeface="Arial"/>
            </a:endParaRPr>
          </a:p>
        </p:txBody>
      </p:sp>
      <p:sp>
        <p:nvSpPr>
          <p:cNvPr id="269"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1CECA4F-B797-4F45-8877-024E9DFC7BA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1143000" y="685800"/>
            <a:ext cx="4571640" cy="3428640"/>
          </a:xfrm>
          <a:prstGeom prst="rect">
            <a:avLst/>
          </a:prstGeom>
          <a:ln w="0">
            <a:noFill/>
          </a:ln>
        </p:spPr>
      </p:sp>
      <p:sp>
        <p:nvSpPr>
          <p:cNvPr id="27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Trois temps : les enjeux (mon mandat), l'exploration (ce que j'ai fait pour comprendre), puis le plan d'action structure en trois horizons.</a:t>
            </a:r>
            <a:endParaRPr b="0" lang="fr-FR" sz="2000" spc="-1" strike="noStrike">
              <a:solidFill>
                <a:srgbClr val="000000"/>
              </a:solidFill>
              <a:latin typeface="Arial"/>
            </a:endParaRPr>
          </a:p>
        </p:txBody>
      </p:sp>
      <p:sp>
        <p:nvSpPr>
          <p:cNvPr id="272"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3AD9A63-8C4B-4C94-87B8-9CC24FFF2C76}"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143000" y="685800"/>
            <a:ext cx="4571640" cy="3428640"/>
          </a:xfrm>
          <a:prstGeom prst="rect">
            <a:avLst/>
          </a:prstGeom>
          <a:ln w="0">
            <a:noFill/>
          </a:ln>
        </p:spPr>
      </p:sp>
      <p:sp>
        <p:nvSpPr>
          <p:cNvPr id="2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Mon mandat sur cette mission, en trois enjeux.</a:t>
            </a:r>
            <a:endParaRPr b="0" lang="fr-FR" sz="2000" spc="-1" strike="noStrike">
              <a:solidFill>
                <a:srgbClr val="000000"/>
              </a:solidFill>
              <a:latin typeface="Arial"/>
            </a:endParaRPr>
          </a:p>
        </p:txBody>
      </p:sp>
      <p:sp>
        <p:nvSpPr>
          <p:cNvPr id="275"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5C38D12-90BA-4CD8-AB4E-0DB5FE022CC7}"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43000" y="685800"/>
            <a:ext cx="4571640" cy="3428640"/>
          </a:xfrm>
          <a:prstGeom prst="rect">
            <a:avLst/>
          </a:prstGeom>
          <a:ln w="0">
            <a:noFill/>
          </a:ln>
        </p:spPr>
      </p:sp>
      <p:sp>
        <p:nvSpPr>
          <p:cNvPr id="27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Mon mandat tient en trois enjeux : identifier les usages pertinents par metier, accompagner la montee en maitrise sur des cas concrets, et evangeliser pour diffuser la culture IA. Au service de quatre metiers : architectes, chefs de projet, designers, developpeurs.</a:t>
            </a:r>
            <a:endParaRPr b="0" lang="fr-FR" sz="2000" spc="-1" strike="noStrike">
              <a:solidFill>
                <a:srgbClr val="000000"/>
              </a:solidFill>
              <a:latin typeface="Arial"/>
            </a:endParaRPr>
          </a:p>
        </p:txBody>
      </p:sp>
      <p:sp>
        <p:nvSpPr>
          <p:cNvPr id="278"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86477E4-E379-44E5-A0B3-2C4D17597FB8}"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1143000" y="685800"/>
            <a:ext cx="4571640" cy="3428640"/>
          </a:xfrm>
          <a:prstGeom prst="rect">
            <a:avLst/>
          </a:prstGeom>
          <a:ln w="0">
            <a:noFill/>
          </a:ln>
        </p:spPr>
      </p:sp>
      <p:sp>
        <p:nvSpPr>
          <p:cNvPr id="28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Comment j'ai pris la mesure du terrain et des usages en place.</a:t>
            </a:r>
            <a:endParaRPr b="0" lang="fr-FR" sz="2000" spc="-1" strike="noStrike">
              <a:solidFill>
                <a:srgbClr val="000000"/>
              </a:solidFill>
              <a:latin typeface="Arial"/>
            </a:endParaRPr>
          </a:p>
        </p:txBody>
      </p:sp>
      <p:sp>
        <p:nvSpPr>
          <p:cNvPr id="281"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1F708C0-63A6-45D2-B717-0DEF94C56770}"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1143000" y="685800"/>
            <a:ext cx="4571640" cy="3428640"/>
          </a:xfrm>
          <a:prstGeom prst="rect">
            <a:avLst/>
          </a:prstGeom>
          <a:ln w="0">
            <a:noFill/>
          </a:ln>
        </p:spPr>
      </p:sp>
      <p:sp>
        <p:nvSpPr>
          <p:cNvPr id="28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Premier reflexe : aller voir les gens. J'ai rencontre cinq equipes produit (SRDT, DACCORD, Egapro, DomiFA, SIRENA) pour comprendre leur quotidien et garder un acces au contexte. J'ai croise les quatre metiers, et securise deux sujets cles : l'accessibilite/RGAA avec Dominique, et la strategie d'outillage des internes avec Victor Degliame.</a:t>
            </a:r>
            <a:endParaRPr b="0" lang="fr-FR" sz="2000" spc="-1" strike="noStrike">
              <a:solidFill>
                <a:srgbClr val="000000"/>
              </a:solidFill>
              <a:latin typeface="Arial"/>
            </a:endParaRPr>
          </a:p>
        </p:txBody>
      </p:sp>
      <p:sp>
        <p:nvSpPr>
          <p:cNvPr id="284"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DAF2E76-5A05-4931-AD55-07F8395D37CB}"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1143000" y="685800"/>
            <a:ext cx="4571640" cy="3428640"/>
          </a:xfrm>
          <a:prstGeom prst="rect">
            <a:avLst/>
          </a:prstGeom>
          <a:ln w="0">
            <a:noFill/>
          </a:ln>
        </p:spPr>
      </p:sp>
      <p:sp>
        <p:nvSpPr>
          <p:cNvPr id="28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Egapro est une des equipes : Claude y est DEJA fortement exploite, avec une orchestration ambitieuse mise en place avant mon arrivee. Mon role est d'explorer cet usage en developpant dessus. Ce que j'observe : un usage avance deja en place. Ce que je propose a partir de la : des optimisations, et l'integration d'estimations par taille de T-shirt (aujourd'hui en experimentation). C'est de l'exploration et des pistes, pas un livrable abouti.</a:t>
            </a:r>
            <a:endParaRPr b="0" lang="fr-FR" sz="2000" spc="-1" strike="noStrike">
              <a:solidFill>
                <a:srgbClr val="000000"/>
              </a:solidFill>
              <a:latin typeface="Arial"/>
            </a:endParaRPr>
          </a:p>
        </p:txBody>
      </p:sp>
      <p:sp>
        <p:nvSpPr>
          <p:cNvPr id="287"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877DF77-4AA4-49DA-81E2-3D87F08B14D2}"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43000" y="685800"/>
            <a:ext cx="4571640" cy="3428640"/>
          </a:xfrm>
          <a:prstGeom prst="rect">
            <a:avLst/>
          </a:prstGeom>
          <a:ln w="0">
            <a:noFill/>
          </a:ln>
        </p:spPr>
      </p:sp>
      <p:sp>
        <p:nvSpPr>
          <p:cNvPr id="2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Ce que je propose, sequence du court au long terme.</a:t>
            </a:r>
            <a:endParaRPr b="0" lang="fr-FR" sz="2000" spc="-1" strike="noStrike">
              <a:solidFill>
                <a:srgbClr val="000000"/>
              </a:solidFill>
              <a:latin typeface="Arial"/>
            </a:endParaRPr>
          </a:p>
        </p:txBody>
      </p:sp>
      <p:sp>
        <p:nvSpPr>
          <p:cNvPr id="290"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0759EC8-53AC-4315-9893-D9E0B5B4475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1143000" y="685800"/>
            <a:ext cx="4571640" cy="3428640"/>
          </a:xfrm>
          <a:prstGeom prst="rect">
            <a:avLst/>
          </a:prstGeom>
          <a:ln w="0">
            <a:noFill/>
          </a:ln>
        </p:spPr>
      </p:sp>
      <p:sp>
        <p:nvSpPr>
          <p:cNvPr id="2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Le plan se lit sur trois horizons. Court terme : des quick wins par metier. Moyen terme : industrialiser (CI/CD, deploiement, dev agentique, observabilite) et animer une communaute de champions. Long terme : un harness maison pour la souverainete et la conformite. Je detaille ensuite.</a:t>
            </a:r>
            <a:endParaRPr b="0" lang="fr-FR" sz="2000" spc="-1" strike="noStrike">
              <a:solidFill>
                <a:srgbClr val="000000"/>
              </a:solidFill>
              <a:latin typeface="Arial"/>
            </a:endParaRPr>
          </a:p>
        </p:txBody>
      </p:sp>
      <p:sp>
        <p:nvSpPr>
          <p:cNvPr id="293"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73FA20E-6D66-43BA-9351-02CEB6D8115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1143000" y="685800"/>
            <a:ext cx="4571640" cy="3428640"/>
          </a:xfrm>
          <a:prstGeom prst="rect">
            <a:avLst/>
          </a:prstGeom>
          <a:ln w="0">
            <a:noFill/>
          </a:ln>
        </p:spPr>
      </p:sp>
      <p:sp>
        <p:nvSpPr>
          <p:cNvPr id="2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Court terme, metier par metier. Architectes : generer les dossiers d'architecture avec l'IA. Chefs de projet : un pre-audit d'homologation continu et l'enjeu de pilotage des projets faits avec l'IA (estimations T-shirt experimentees sur Egapro). Designers : des skills d'UX et d'audit pour prototyper et challenger vite. Developpeurs : accompagner ceux qui peinent a s'approprier l'IA.</a:t>
            </a:r>
            <a:endParaRPr b="0" lang="fr-FR" sz="2000" spc="-1" strike="noStrike">
              <a:solidFill>
                <a:srgbClr val="000000"/>
              </a:solidFill>
              <a:latin typeface="Arial"/>
            </a:endParaRPr>
          </a:p>
        </p:txBody>
      </p:sp>
      <p:sp>
        <p:nvSpPr>
          <p:cNvPr id="296"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641E8B3-304D-4FAE-A39D-3726DC01AC4C}"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1143000" y="685800"/>
            <a:ext cx="4571640" cy="3428640"/>
          </a:xfrm>
          <a:prstGeom prst="rect">
            <a:avLst/>
          </a:prstGeom>
          <a:ln w="0">
            <a:noFill/>
          </a:ln>
        </p:spPr>
      </p:sp>
      <p:sp>
        <p:nvSpPr>
          <p:cNvPr id="2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Moyen terme, deux volets. Animer : identifier et faire vivre une communaute de champions par metier. Cote developpeurs : fiabiliser la CI/CD avec des bots de review, activer le deploiement des qu'on aura les licences Claude internes, ouvrir le dev agentique avec la DINUM, mettre en place l'observabilite.</a:t>
            </a:r>
            <a:endParaRPr b="0" lang="fr-FR" sz="2000" spc="-1" strike="noStrike">
              <a:solidFill>
                <a:srgbClr val="000000"/>
              </a:solidFill>
              <a:latin typeface="Arial"/>
            </a:endParaRPr>
          </a:p>
        </p:txBody>
      </p:sp>
      <p:sp>
        <p:nvSpPr>
          <p:cNvPr id="299"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26B9C1A-17FD-4FE2-8FA5-29844EA75209}"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43000" y="685800"/>
            <a:ext cx="4571640" cy="3428640"/>
          </a:xfrm>
          <a:prstGeom prst="rect">
            <a:avLst/>
          </a:prstGeom>
          <a:ln w="0">
            <a:noFill/>
          </a:ln>
        </p:spPr>
      </p:sp>
      <p:sp>
        <p:nvSpPr>
          <p:cNvPr id="30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L'horizon cible : un harness maison, notre propre environnement IA. Quatre benefices : une experience maitrisee pour embarquer les moins technophiles, un perimetre maitrise sur les besoins couverts, la conformite (accessibilite) integree des la conception, et la souverainete - l'independance vis-a-vis des fournisseurs.</a:t>
            </a:r>
            <a:endParaRPr b="0" lang="fr-FR" sz="2000" spc="-1" strike="noStrike">
              <a:solidFill>
                <a:srgbClr val="000000"/>
              </a:solidFill>
              <a:latin typeface="Arial"/>
            </a:endParaRPr>
          </a:p>
        </p:txBody>
      </p:sp>
      <p:sp>
        <p:nvSpPr>
          <p:cNvPr id="302"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F55C54E-0CBB-4A59-AB73-100BA03DCD3B}"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1143000" y="685800"/>
            <a:ext cx="4571640" cy="3428640"/>
          </a:xfrm>
          <a:prstGeom prst="rect">
            <a:avLst/>
          </a:prstGeom>
          <a:ln w="0">
            <a:noFill/>
          </a:ln>
        </p:spPr>
      </p:sp>
      <p:sp>
        <p:nvSpPr>
          <p:cNvPr id="30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Synthese. Ce qui est acquis : les cinq equipes rencontrees (SRDT, DACCORD, Egapro, DomiFA, SIRENA), les metiers rencontres (architectes, products, designers, developpeurs), les echanges sur le RGAA avec Dominique et l'outillage interne avec Victor Degliame, l'usage avance de Claude observe sur Egapro avec de premieres pistes, et un plan structure sur 3 horizons. Prochaines etapes, surtout court terme : DA pour les architectes ; rencontrer plus de CDP et lancer le pre-audit d'homologation continu ; premiers skills UX/audit cote designers ; accompagner les developpeurs en difficulte. Puis preparer la communaute de champions et anticiper les licences Claude et le lien DINUM. Place a vos questions.</a:t>
            </a:r>
            <a:endParaRPr b="0" lang="fr-FR" sz="2000" spc="-1" strike="noStrike">
              <a:solidFill>
                <a:srgbClr val="000000"/>
              </a:solidFill>
              <a:latin typeface="Arial"/>
            </a:endParaRPr>
          </a:p>
        </p:txBody>
      </p:sp>
      <p:sp>
        <p:nvSpPr>
          <p:cNvPr id="305"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FEFB141-5020-4436-A18B-010C42C9A8C2}"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812E384-7FB5-45F5-9F58-125C4EDB5D26}"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C143CE8-C7DB-4628-BA47-9EE4EC464ACA}" type="slidenum">
              <a:t>&lt;#&gt;</a:t>
            </a:fld>
          </a:p>
        </p:txBody>
      </p:sp>
      <p:sp>
        <p:nvSpPr>
          <p:cNvPr id="4" name="PlaceHolder 3"/>
          <p:cNvSpPr>
            <a:spLocks noGrp="1"/>
          </p:cNvSpPr>
          <p:nvPr>
            <p:ph type="dt" idx="4"/>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DDBC7E56-1BC3-4382-B370-E867F19C667F}" type="slidenum">
              <a:t>&lt;#&gt;</a:t>
            </a:fld>
          </a:p>
        </p:txBody>
      </p:sp>
      <p:sp>
        <p:nvSpPr>
          <p:cNvPr id="4" name="PlaceHolder 3"/>
          <p:cNvSpPr>
            <a:spLocks noGrp="1"/>
          </p:cNvSpPr>
          <p:nvPr>
            <p:ph type="dt" idx="7"/>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7630DCF-2A4A-40A6-A35A-75ECDBF7C555}"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8BF2EED-8BFA-419A-9A70-A2A02F6D7B44}" type="slidenum">
              <a:t>&lt;#&gt;</a:t>
            </a:fld>
          </a:p>
        </p:txBody>
      </p:sp>
      <p:sp>
        <p:nvSpPr>
          <p:cNvPr id="4" name="PlaceHolder 3"/>
          <p:cNvSpPr>
            <a:spLocks noGrp="1"/>
          </p:cNvSpPr>
          <p:nvPr>
            <p:ph type="dt" idx="13"/>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81E7E4EF-2D94-46BD-B595-624CB69972CC}" type="slidenum">
              <a:t>&lt;#&gt;</a:t>
            </a:fld>
          </a:p>
        </p:txBody>
      </p:sp>
      <p:sp>
        <p:nvSpPr>
          <p:cNvPr id="7" name="PlaceHolder 6"/>
          <p:cNvSpPr>
            <a:spLocks noGrp="1"/>
          </p:cNvSpPr>
          <p:nvPr>
            <p:ph type="dt" idx="16"/>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C0315642-EFF9-4B39-B745-5ECC4A4EDDA5}" type="slidenum">
              <a:t>&lt;#&gt;</a:t>
            </a:fld>
          </a:p>
        </p:txBody>
      </p:sp>
      <p:sp>
        <p:nvSpPr>
          <p:cNvPr id="4" name="PlaceHolder 3"/>
          <p:cNvSpPr>
            <a:spLocks noGrp="1"/>
          </p:cNvSpPr>
          <p:nvPr>
            <p:ph type="dt" idx="19"/>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AB5957BD-C573-4E98-A4D2-6499E265259D}" type="slidenum">
              <a:t>&lt;#&gt;</a:t>
            </a:fld>
          </a:p>
        </p:txBody>
      </p:sp>
      <p:sp>
        <p:nvSpPr>
          <p:cNvPr id="5" name="PlaceHolder 4"/>
          <p:cNvSpPr>
            <a:spLocks noGrp="1"/>
          </p:cNvSpPr>
          <p:nvPr>
            <p:ph type="dt" idx="22"/>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CC9AEC3E-227B-4906-95D3-68887F807ABC}" type="slidenum">
              <a:t>&lt;#&gt;</a:t>
            </a:fld>
          </a:p>
        </p:txBody>
      </p:sp>
      <p:sp>
        <p:nvSpPr>
          <p:cNvPr id="4" name="PlaceHolder 3"/>
          <p:cNvSpPr>
            <a:spLocks noGrp="1"/>
          </p:cNvSpPr>
          <p:nvPr>
            <p:ph type="dt" idx="25"/>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2893BFE6-7BC5-434C-BD63-56FEE3162B64}" type="slidenum">
              <a:t>&lt;#&gt;</a:t>
            </a:fld>
          </a:p>
        </p:txBody>
      </p:sp>
      <p:sp>
        <p:nvSpPr>
          <p:cNvPr id="4" name="PlaceHolder 3"/>
          <p:cNvSpPr>
            <a:spLocks noGrp="1"/>
          </p:cNvSpPr>
          <p:nvPr>
            <p:ph type="dt" idx="28"/>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C34E6A8-3FFF-46FD-8101-FD992A657DE3}" type="slidenum">
              <a:t>&lt;#&gt;</a:t>
            </a:fld>
          </a:p>
        </p:txBody>
      </p:sp>
      <p:sp>
        <p:nvSpPr>
          <p:cNvPr id="4" name="PlaceHolder 3"/>
          <p:cNvSpPr>
            <a:spLocks noGrp="1"/>
          </p:cNvSpPr>
          <p:nvPr>
            <p:ph type="dt" idx="31"/>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85AEBF4-3326-4895-A69D-39096FE09B2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5C05AF7-8421-43B2-905D-9EAFE8C8D3A0}"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F78529E-C086-44A8-A48C-ECAB656B9918}"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D5A89E0-5ABD-449D-929F-3F63753C9D5A}"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5095352-8020-4AEA-85C7-C2B166E3C63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44EF434-8C85-4685-A094-13A2C23C9F3C}"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178F84E-EADC-4A69-A67D-F225264FC330}"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83721D5-CEA3-4B20-BAC5-1B6A9071A9B5}"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9738B99-CAC2-4963-8181-B27B8CE244E8}"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Cliquez pour éditer le format du texte-titre</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niveau de plan</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Troisième niveau de plan</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Quatrième niveau de plan</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Cinquième niveau de plan</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Sixième niveau de plan</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Septième niveau de plan</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ABAB3BC-EC36-4BC5-A64C-10C878757AD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niveau de plan</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Troisième niveau de plan</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Quatrième niveau de plan</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Cinquième niveau de plan</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Sixième niveau de plan</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Septième niveau de plan</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7A4389E-969C-4810-940C-701C3A615B1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9.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9.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9.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9.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9.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9.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slideLayout" Target="../slideLayouts/slideLayout9.xml"/><Relationship Id="rId9"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4" name="Picture 2" descr="logo.png"/>
          <p:cNvPicPr/>
          <p:nvPr/>
        </p:nvPicPr>
        <p:blipFill>
          <a:blip r:embed="rId1"/>
          <a:stretch/>
        </p:blipFill>
        <p:spPr>
          <a:xfrm>
            <a:off x="777240" y="274320"/>
            <a:ext cx="987480" cy="676440"/>
          </a:xfrm>
          <a:prstGeom prst="rect">
            <a:avLst/>
          </a:prstGeom>
          <a:ln w="0">
            <a:noFill/>
          </a:ln>
        </p:spPr>
      </p:pic>
      <p:sp>
        <p:nvSpPr>
          <p:cNvPr id="75" name="TextBox 3"/>
          <p:cNvSpPr/>
          <p:nvPr/>
        </p:nvSpPr>
        <p:spPr>
          <a:xfrm>
            <a:off x="7574040" y="274320"/>
            <a:ext cx="3840120" cy="43596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6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sp>
        <p:nvSpPr>
          <p:cNvPr id="76" name="Rectangle 4"/>
          <p:cNvSpPr/>
          <p:nvPr/>
        </p:nvSpPr>
        <p:spPr>
          <a:xfrm>
            <a:off x="777240" y="1234440"/>
            <a:ext cx="10926720" cy="5257440"/>
          </a:xfrm>
          <a:prstGeom prst="rect">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7" name="Picture 5" descr="stripes.png"/>
          <p:cNvPicPr/>
          <p:nvPr/>
        </p:nvPicPr>
        <p:blipFill>
          <a:blip r:embed="rId2"/>
          <a:stretch/>
        </p:blipFill>
        <p:spPr>
          <a:xfrm>
            <a:off x="9326880" y="5081400"/>
            <a:ext cx="2377080" cy="1410480"/>
          </a:xfrm>
          <a:prstGeom prst="rect">
            <a:avLst/>
          </a:prstGeom>
          <a:ln w="0">
            <a:noFill/>
          </a:ln>
        </p:spPr>
      </p:pic>
      <p:pic>
        <p:nvPicPr>
          <p:cNvPr id="78" name="Picture 6" descr="sparkle.png"/>
          <p:cNvPicPr/>
          <p:nvPr/>
        </p:nvPicPr>
        <p:blipFill>
          <a:blip r:embed="rId3"/>
          <a:stretch/>
        </p:blipFill>
        <p:spPr>
          <a:xfrm>
            <a:off x="1417320" y="2468880"/>
            <a:ext cx="1051200" cy="1051200"/>
          </a:xfrm>
          <a:prstGeom prst="rect">
            <a:avLst/>
          </a:prstGeom>
          <a:ln w="0">
            <a:noFill/>
          </a:ln>
        </p:spPr>
      </p:pic>
      <p:sp>
        <p:nvSpPr>
          <p:cNvPr id="79" name="TextBox 7"/>
          <p:cNvSpPr/>
          <p:nvPr/>
        </p:nvSpPr>
        <p:spPr>
          <a:xfrm>
            <a:off x="1371600" y="3840480"/>
            <a:ext cx="9875160" cy="1341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400" spc="-1" strike="noStrike">
                <a:solidFill>
                  <a:srgbClr val="ffffff"/>
                </a:solidFill>
                <a:latin typeface="Marianne"/>
              </a:rPr>
              <a:t>Accompagner l’adoption</a:t>
            </a:r>
            <a:endParaRPr b="0" lang="fr-FR" sz="4400" spc="-1" strike="noStrike">
              <a:solidFill>
                <a:srgbClr val="000000"/>
              </a:solidFill>
              <a:latin typeface="Arial"/>
            </a:endParaRPr>
          </a:p>
          <a:p>
            <a:pPr defTabSz="457200">
              <a:lnSpc>
                <a:spcPct val="100000"/>
              </a:lnSpc>
            </a:pPr>
            <a:r>
              <a:rPr b="1" lang="en-US" sz="4400" spc="-1" strike="noStrike">
                <a:solidFill>
                  <a:srgbClr val="ffffff"/>
                </a:solidFill>
                <a:latin typeface="Marianne"/>
              </a:rPr>
              <a:t>de l’IA</a:t>
            </a:r>
            <a:endParaRPr b="0" lang="fr-FR" sz="4400" spc="-1" strike="noStrike">
              <a:solidFill>
                <a:srgbClr val="000000"/>
              </a:solidFill>
              <a:latin typeface="Arial"/>
            </a:endParaRPr>
          </a:p>
        </p:txBody>
      </p:sp>
      <p:sp>
        <p:nvSpPr>
          <p:cNvPr id="80" name="TextBox 8"/>
          <p:cNvSpPr/>
          <p:nvPr/>
        </p:nvSpPr>
        <p:spPr>
          <a:xfrm>
            <a:off x="1398960" y="5349240"/>
            <a:ext cx="9509400" cy="3232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2000" spc="-1" strike="noStrike">
                <a:solidFill>
                  <a:srgbClr val="ffffff"/>
                </a:solidFill>
                <a:latin typeface="Marianne"/>
              </a:rPr>
              <a:t>Point d’étape — enjeux, exploration et plan d’action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82" name="Picture 2" descr="logo.png"/>
          <p:cNvPicPr/>
          <p:nvPr/>
        </p:nvPicPr>
        <p:blipFill>
          <a:blip r:embed="rId1"/>
          <a:stretch/>
        </p:blipFill>
        <p:spPr>
          <a:xfrm>
            <a:off x="777240" y="274320"/>
            <a:ext cx="987480" cy="676440"/>
          </a:xfrm>
          <a:prstGeom prst="rect">
            <a:avLst/>
          </a:prstGeom>
          <a:ln w="0">
            <a:noFill/>
          </a:ln>
        </p:spPr>
      </p:pic>
      <p:sp>
        <p:nvSpPr>
          <p:cNvPr id="8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84" name="Connector 4"/>
          <p:cNvCxnSpPr/>
          <p:nvPr/>
        </p:nvCxnSpPr>
        <p:spPr>
          <a:xfrm>
            <a:off x="0" y="1005840"/>
            <a:ext cx="12191760" cy="360"/>
          </a:xfrm>
          <a:prstGeom prst="straightConnector1">
            <a:avLst/>
          </a:prstGeom>
          <a:ln w="9525">
            <a:solidFill>
              <a:srgbClr val="dddddd"/>
            </a:solidFill>
            <a:round/>
          </a:ln>
        </p:spPr>
      </p:cxnSp>
      <p:sp>
        <p:nvSpPr>
          <p:cNvPr id="8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8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2</a:t>
            </a:r>
            <a:endParaRPr b="0" lang="fr-FR" sz="1100" spc="-1" strike="noStrike">
              <a:solidFill>
                <a:srgbClr val="000000"/>
              </a:solidFill>
              <a:latin typeface="Arial"/>
            </a:endParaRPr>
          </a:p>
        </p:txBody>
      </p:sp>
      <p:sp>
        <p:nvSpPr>
          <p:cNvPr id="87"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Au programme</a:t>
            </a:r>
            <a:endParaRPr b="0" lang="fr-FR" sz="3300" spc="-1" strike="noStrike">
              <a:solidFill>
                <a:srgbClr val="000000"/>
              </a:solidFill>
              <a:latin typeface="Arial"/>
            </a:endParaRPr>
          </a:p>
        </p:txBody>
      </p:sp>
      <p:sp>
        <p:nvSpPr>
          <p:cNvPr id="88" name="Rounded Rectangle 8"/>
          <p:cNvSpPr/>
          <p:nvPr/>
        </p:nvSpPr>
        <p:spPr>
          <a:xfrm>
            <a:off x="777240" y="246888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TextBox 9"/>
          <p:cNvSpPr/>
          <p:nvPr/>
        </p:nvSpPr>
        <p:spPr>
          <a:xfrm>
            <a:off x="777240" y="257436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1</a:t>
            </a:r>
            <a:endParaRPr b="0" lang="fr-FR" sz="2200" spc="-1" strike="noStrike">
              <a:solidFill>
                <a:srgbClr val="000000"/>
              </a:solidFill>
              <a:latin typeface="Arial"/>
            </a:endParaRPr>
          </a:p>
        </p:txBody>
      </p:sp>
      <p:sp>
        <p:nvSpPr>
          <p:cNvPr id="90" name="TextBox 10"/>
          <p:cNvSpPr/>
          <p:nvPr/>
        </p:nvSpPr>
        <p:spPr>
          <a:xfrm>
            <a:off x="1645920" y="260964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Les enjeux de la mission</a:t>
            </a:r>
            <a:endParaRPr b="0" lang="fr-FR" sz="2100" spc="-1" strike="noStrike">
              <a:solidFill>
                <a:srgbClr val="000000"/>
              </a:solidFill>
              <a:latin typeface="Arial"/>
            </a:endParaRPr>
          </a:p>
        </p:txBody>
      </p:sp>
      <p:sp>
        <p:nvSpPr>
          <p:cNvPr id="91" name="Rounded Rectangle 11"/>
          <p:cNvSpPr/>
          <p:nvPr/>
        </p:nvSpPr>
        <p:spPr>
          <a:xfrm>
            <a:off x="777240" y="354780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TextBox 12"/>
          <p:cNvSpPr/>
          <p:nvPr/>
        </p:nvSpPr>
        <p:spPr>
          <a:xfrm>
            <a:off x="777240" y="365328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2</a:t>
            </a:r>
            <a:endParaRPr b="0" lang="fr-FR" sz="2200" spc="-1" strike="noStrike">
              <a:solidFill>
                <a:srgbClr val="000000"/>
              </a:solidFill>
              <a:latin typeface="Arial"/>
            </a:endParaRPr>
          </a:p>
        </p:txBody>
      </p:sp>
      <p:sp>
        <p:nvSpPr>
          <p:cNvPr id="93" name="TextBox 13"/>
          <p:cNvSpPr/>
          <p:nvPr/>
        </p:nvSpPr>
        <p:spPr>
          <a:xfrm>
            <a:off x="1645920" y="368856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La phase d’exploration</a:t>
            </a:r>
            <a:endParaRPr b="0" lang="fr-FR" sz="2100" spc="-1" strike="noStrike">
              <a:solidFill>
                <a:srgbClr val="000000"/>
              </a:solidFill>
              <a:latin typeface="Arial"/>
            </a:endParaRPr>
          </a:p>
        </p:txBody>
      </p:sp>
      <p:sp>
        <p:nvSpPr>
          <p:cNvPr id="94" name="Rounded Rectangle 14"/>
          <p:cNvSpPr/>
          <p:nvPr/>
        </p:nvSpPr>
        <p:spPr>
          <a:xfrm>
            <a:off x="777240" y="462672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 name="TextBox 15"/>
          <p:cNvSpPr/>
          <p:nvPr/>
        </p:nvSpPr>
        <p:spPr>
          <a:xfrm>
            <a:off x="777240" y="473220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3</a:t>
            </a:r>
            <a:endParaRPr b="0" lang="fr-FR" sz="2200" spc="-1" strike="noStrike">
              <a:solidFill>
                <a:srgbClr val="000000"/>
              </a:solidFill>
              <a:latin typeface="Arial"/>
            </a:endParaRPr>
          </a:p>
        </p:txBody>
      </p:sp>
      <p:sp>
        <p:nvSpPr>
          <p:cNvPr id="96" name="TextBox 16"/>
          <p:cNvSpPr/>
          <p:nvPr/>
        </p:nvSpPr>
        <p:spPr>
          <a:xfrm>
            <a:off x="1645920" y="476748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 plan d’action</a:t>
            </a:r>
            <a:endParaRPr b="0" lang="fr-F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8" name="Picture 2" descr="logo.png"/>
          <p:cNvPicPr/>
          <p:nvPr/>
        </p:nvPicPr>
        <p:blipFill>
          <a:blip r:embed="rId1"/>
          <a:stretch/>
        </p:blipFill>
        <p:spPr>
          <a:xfrm>
            <a:off x="777240" y="274320"/>
            <a:ext cx="987480" cy="676440"/>
          </a:xfrm>
          <a:prstGeom prst="rect">
            <a:avLst/>
          </a:prstGeom>
          <a:ln w="0">
            <a:noFill/>
          </a:ln>
        </p:spPr>
      </p:pic>
      <p:sp>
        <p:nvSpPr>
          <p:cNvPr id="99"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00" name="Connector 4"/>
          <p:cNvCxnSpPr/>
          <p:nvPr/>
        </p:nvCxnSpPr>
        <p:spPr>
          <a:xfrm>
            <a:off x="0" y="1005840"/>
            <a:ext cx="12191760" cy="360"/>
          </a:xfrm>
          <a:prstGeom prst="straightConnector1">
            <a:avLst/>
          </a:prstGeom>
          <a:ln w="9525">
            <a:solidFill>
              <a:srgbClr val="dddddd"/>
            </a:solidFill>
            <a:round/>
          </a:ln>
        </p:spPr>
      </p:cxnSp>
      <p:sp>
        <p:nvSpPr>
          <p:cNvPr id="101"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02"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01</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Les enjeux</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04" name="Picture 2" descr="logo.png"/>
          <p:cNvPicPr/>
          <p:nvPr/>
        </p:nvPicPr>
        <p:blipFill>
          <a:blip r:embed="rId1"/>
          <a:stretch/>
        </p:blipFill>
        <p:spPr>
          <a:xfrm>
            <a:off x="777240" y="274320"/>
            <a:ext cx="987480" cy="676440"/>
          </a:xfrm>
          <a:prstGeom prst="rect">
            <a:avLst/>
          </a:prstGeom>
          <a:ln w="0">
            <a:noFill/>
          </a:ln>
        </p:spPr>
      </p:pic>
      <p:sp>
        <p:nvSpPr>
          <p:cNvPr id="105"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06" name="Connector 4"/>
          <p:cNvCxnSpPr/>
          <p:nvPr/>
        </p:nvCxnSpPr>
        <p:spPr>
          <a:xfrm>
            <a:off x="0" y="1005840"/>
            <a:ext cx="12191760" cy="360"/>
          </a:xfrm>
          <a:prstGeom prst="straightConnector1">
            <a:avLst/>
          </a:prstGeom>
          <a:ln w="9525">
            <a:solidFill>
              <a:srgbClr val="dddddd"/>
            </a:solidFill>
            <a:round/>
          </a:ln>
        </p:spPr>
      </p:cxnSp>
      <p:sp>
        <p:nvSpPr>
          <p:cNvPr id="107"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08"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4</a:t>
            </a:r>
            <a:endParaRPr b="0" lang="fr-FR" sz="1100" spc="-1" strike="noStrike">
              <a:solidFill>
                <a:srgbClr val="000000"/>
              </a:solidFill>
              <a:latin typeface="Arial"/>
            </a:endParaRPr>
          </a:p>
        </p:txBody>
      </p:sp>
      <p:sp>
        <p:nvSpPr>
          <p:cNvPr id="109"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Les enjeux</a:t>
            </a:r>
            <a:endParaRPr b="0" lang="fr-FR" sz="3300" spc="-1" strike="noStrike">
              <a:solidFill>
                <a:srgbClr val="000000"/>
              </a:solidFill>
              <a:latin typeface="Arial"/>
            </a:endParaRPr>
          </a:p>
        </p:txBody>
      </p:sp>
      <p:sp>
        <p:nvSpPr>
          <p:cNvPr id="110" name="TextBox 8"/>
          <p:cNvSpPr/>
          <p:nvPr/>
        </p:nvSpPr>
        <p:spPr>
          <a:xfrm>
            <a:off x="777240" y="1993320"/>
            <a:ext cx="10636920" cy="266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Faire de l’IA un levier concret pour les métiers du numérique.</a:t>
            </a:r>
            <a:endParaRPr b="0" lang="fr-FR" sz="1650" spc="-1" strike="noStrike">
              <a:solidFill>
                <a:srgbClr val="000000"/>
              </a:solidFill>
              <a:latin typeface="Arial"/>
            </a:endParaRPr>
          </a:p>
        </p:txBody>
      </p:sp>
      <p:sp>
        <p:nvSpPr>
          <p:cNvPr id="111" name="Rounded Rectangle 9"/>
          <p:cNvSpPr/>
          <p:nvPr/>
        </p:nvSpPr>
        <p:spPr>
          <a:xfrm>
            <a:off x="77724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2" name="Picture 10" descr="search-eye.png"/>
          <p:cNvPicPr/>
          <p:nvPr/>
        </p:nvPicPr>
        <p:blipFill>
          <a:blip r:embed="rId2"/>
          <a:stretch/>
        </p:blipFill>
        <p:spPr>
          <a:xfrm>
            <a:off x="1088280" y="2962800"/>
            <a:ext cx="548280" cy="548280"/>
          </a:xfrm>
          <a:prstGeom prst="rect">
            <a:avLst/>
          </a:prstGeom>
          <a:ln w="0">
            <a:noFill/>
          </a:ln>
        </p:spPr>
      </p:pic>
      <p:sp>
        <p:nvSpPr>
          <p:cNvPr id="113" name="TextBox 11"/>
          <p:cNvSpPr/>
          <p:nvPr/>
        </p:nvSpPr>
        <p:spPr>
          <a:xfrm>
            <a:off x="1088280" y="3694320"/>
            <a:ext cx="2685960" cy="85032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Identifier les usages</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Repérer les cas d’usage IA pour chaque métier.</a:t>
            </a:r>
            <a:endParaRPr b="0" lang="fr-FR" sz="1450" spc="-1" strike="noStrike">
              <a:solidFill>
                <a:srgbClr val="000000"/>
              </a:solidFill>
              <a:latin typeface="Arial"/>
            </a:endParaRPr>
          </a:p>
        </p:txBody>
      </p:sp>
      <p:sp>
        <p:nvSpPr>
          <p:cNvPr id="114" name="Rounded Rectangle 12"/>
          <p:cNvSpPr/>
          <p:nvPr/>
        </p:nvSpPr>
        <p:spPr>
          <a:xfrm>
            <a:off x="446004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5" name="Picture 13" descr="user-follow.png"/>
          <p:cNvPicPr/>
          <p:nvPr/>
        </p:nvPicPr>
        <p:blipFill>
          <a:blip r:embed="rId3"/>
          <a:stretch/>
        </p:blipFill>
        <p:spPr>
          <a:xfrm>
            <a:off x="4771080" y="2962800"/>
            <a:ext cx="548280" cy="548280"/>
          </a:xfrm>
          <a:prstGeom prst="rect">
            <a:avLst/>
          </a:prstGeom>
          <a:ln w="0">
            <a:noFill/>
          </a:ln>
        </p:spPr>
      </p:pic>
      <p:sp>
        <p:nvSpPr>
          <p:cNvPr id="116" name="TextBox 14"/>
          <p:cNvSpPr/>
          <p:nvPr/>
        </p:nvSpPr>
        <p:spPr>
          <a:xfrm>
            <a:off x="4771080" y="3694320"/>
            <a:ext cx="2685960" cy="11379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Accompagner la maîtrise</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Aider les équipes à s’approprier des cas concrets.</a:t>
            </a:r>
            <a:endParaRPr b="0" lang="fr-FR" sz="1450" spc="-1" strike="noStrike">
              <a:solidFill>
                <a:srgbClr val="000000"/>
              </a:solidFill>
              <a:latin typeface="Arial"/>
            </a:endParaRPr>
          </a:p>
        </p:txBody>
      </p:sp>
      <p:sp>
        <p:nvSpPr>
          <p:cNvPr id="117" name="Rounded Rectangle 15"/>
          <p:cNvSpPr/>
          <p:nvPr/>
        </p:nvSpPr>
        <p:spPr>
          <a:xfrm>
            <a:off x="814320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8" name="Picture 16" descr="megaphone.png"/>
          <p:cNvPicPr/>
          <p:nvPr/>
        </p:nvPicPr>
        <p:blipFill>
          <a:blip r:embed="rId4"/>
          <a:stretch/>
        </p:blipFill>
        <p:spPr>
          <a:xfrm>
            <a:off x="8453880" y="2962800"/>
            <a:ext cx="548280" cy="548280"/>
          </a:xfrm>
          <a:prstGeom prst="rect">
            <a:avLst/>
          </a:prstGeom>
          <a:ln w="0">
            <a:noFill/>
          </a:ln>
        </p:spPr>
      </p:pic>
      <p:sp>
        <p:nvSpPr>
          <p:cNvPr id="119" name="TextBox 17"/>
          <p:cNvSpPr/>
          <p:nvPr/>
        </p:nvSpPr>
        <p:spPr>
          <a:xfrm>
            <a:off x="8453880" y="3694320"/>
            <a:ext cx="2685960" cy="85032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Évangéliser</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Diffuser la culture et les bons réflexes de l’IA.</a:t>
            </a:r>
            <a:endParaRPr b="0" lang="fr-FR" sz="1450" spc="-1" strike="noStrike">
              <a:solidFill>
                <a:srgbClr val="000000"/>
              </a:solidFill>
              <a:latin typeface="Arial"/>
            </a:endParaRPr>
          </a:p>
        </p:txBody>
      </p:sp>
      <p:sp>
        <p:nvSpPr>
          <p:cNvPr id="120" name="TextBox 18"/>
          <p:cNvSpPr/>
          <p:nvPr/>
        </p:nvSpPr>
        <p:spPr>
          <a:xfrm>
            <a:off x="777240" y="5573880"/>
            <a:ext cx="2011320" cy="22680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400" spc="-1" strike="noStrike">
                <a:solidFill>
                  <a:srgbClr val="161616"/>
                </a:solidFill>
                <a:latin typeface="Marianne"/>
              </a:rPr>
              <a:t>Pour 4 métiers :</a:t>
            </a:r>
            <a:endParaRPr b="0" lang="fr-FR" sz="1400" spc="-1" strike="noStrike">
              <a:solidFill>
                <a:srgbClr val="000000"/>
              </a:solidFill>
              <a:latin typeface="Arial"/>
            </a:endParaRPr>
          </a:p>
        </p:txBody>
      </p:sp>
      <p:sp>
        <p:nvSpPr>
          <p:cNvPr id="121" name="Rounded Rectangle 19"/>
          <p:cNvSpPr/>
          <p:nvPr/>
        </p:nvSpPr>
        <p:spPr>
          <a:xfrm>
            <a:off x="2834640" y="5477400"/>
            <a:ext cx="133020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 name="TextBox 20"/>
          <p:cNvSpPr/>
          <p:nvPr/>
        </p:nvSpPr>
        <p:spPr>
          <a:xfrm>
            <a:off x="2834640" y="5581800"/>
            <a:ext cx="133020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Architectes</a:t>
            </a:r>
            <a:endParaRPr b="0" lang="fr-FR" sz="1300" spc="-1" strike="noStrike">
              <a:solidFill>
                <a:srgbClr val="000000"/>
              </a:solidFill>
              <a:latin typeface="Arial"/>
            </a:endParaRPr>
          </a:p>
        </p:txBody>
      </p:sp>
      <p:sp>
        <p:nvSpPr>
          <p:cNvPr id="123" name="Rounded Rectangle 21"/>
          <p:cNvSpPr/>
          <p:nvPr/>
        </p:nvSpPr>
        <p:spPr>
          <a:xfrm>
            <a:off x="4366440" y="5477400"/>
            <a:ext cx="171432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22"/>
          <p:cNvSpPr/>
          <p:nvPr/>
        </p:nvSpPr>
        <p:spPr>
          <a:xfrm>
            <a:off x="4366440" y="5581800"/>
            <a:ext cx="171432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Chefs de projet</a:t>
            </a:r>
            <a:endParaRPr b="0" lang="fr-FR" sz="1300" spc="-1" strike="noStrike">
              <a:solidFill>
                <a:srgbClr val="000000"/>
              </a:solidFill>
              <a:latin typeface="Arial"/>
            </a:endParaRPr>
          </a:p>
        </p:txBody>
      </p:sp>
      <p:sp>
        <p:nvSpPr>
          <p:cNvPr id="125" name="Rounded Rectangle 23"/>
          <p:cNvSpPr/>
          <p:nvPr/>
        </p:nvSpPr>
        <p:spPr>
          <a:xfrm>
            <a:off x="6282000" y="5477400"/>
            <a:ext cx="113796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TextBox 24"/>
          <p:cNvSpPr/>
          <p:nvPr/>
        </p:nvSpPr>
        <p:spPr>
          <a:xfrm>
            <a:off x="6282000" y="5581800"/>
            <a:ext cx="113796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Designers</a:t>
            </a:r>
            <a:endParaRPr b="0" lang="fr-FR" sz="1300" spc="-1" strike="noStrike">
              <a:solidFill>
                <a:srgbClr val="000000"/>
              </a:solidFill>
              <a:latin typeface="Arial"/>
            </a:endParaRPr>
          </a:p>
        </p:txBody>
      </p:sp>
      <p:sp>
        <p:nvSpPr>
          <p:cNvPr id="127" name="Rounded Rectangle 25"/>
          <p:cNvSpPr/>
          <p:nvPr/>
        </p:nvSpPr>
        <p:spPr>
          <a:xfrm>
            <a:off x="7621560" y="5477400"/>
            <a:ext cx="142596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TextBox 26"/>
          <p:cNvSpPr/>
          <p:nvPr/>
        </p:nvSpPr>
        <p:spPr>
          <a:xfrm>
            <a:off x="7621560" y="5581800"/>
            <a:ext cx="142596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Développeurs</a:t>
            </a:r>
            <a:endParaRPr b="0" lang="fr-FR"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0" name="Picture 2" descr="logo.png"/>
          <p:cNvPicPr/>
          <p:nvPr/>
        </p:nvPicPr>
        <p:blipFill>
          <a:blip r:embed="rId1"/>
          <a:stretch/>
        </p:blipFill>
        <p:spPr>
          <a:xfrm>
            <a:off x="777240" y="274320"/>
            <a:ext cx="987480" cy="676440"/>
          </a:xfrm>
          <a:prstGeom prst="rect">
            <a:avLst/>
          </a:prstGeom>
          <a:ln w="0">
            <a:noFill/>
          </a:ln>
        </p:spPr>
      </p:pic>
      <p:sp>
        <p:nvSpPr>
          <p:cNvPr id="131"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2" name="Connector 4"/>
          <p:cNvCxnSpPr/>
          <p:nvPr/>
        </p:nvCxnSpPr>
        <p:spPr>
          <a:xfrm>
            <a:off x="0" y="1005840"/>
            <a:ext cx="12191760" cy="360"/>
          </a:xfrm>
          <a:prstGeom prst="straightConnector1">
            <a:avLst/>
          </a:prstGeom>
          <a:ln w="9525">
            <a:solidFill>
              <a:srgbClr val="dddddd"/>
            </a:solidFill>
            <a:round/>
          </a:ln>
        </p:spPr>
      </p:cxnSp>
      <p:sp>
        <p:nvSpPr>
          <p:cNvPr id="133"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34"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02</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L’exploration</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6" name="Picture 2" descr="logo.png"/>
          <p:cNvPicPr/>
          <p:nvPr/>
        </p:nvPicPr>
        <p:blipFill>
          <a:blip r:embed="rId1"/>
          <a:stretch/>
        </p:blipFill>
        <p:spPr>
          <a:xfrm>
            <a:off x="777240" y="274320"/>
            <a:ext cx="987480" cy="676440"/>
          </a:xfrm>
          <a:prstGeom prst="rect">
            <a:avLst/>
          </a:prstGeom>
          <a:ln w="0">
            <a:noFill/>
          </a:ln>
        </p:spPr>
      </p:pic>
      <p:sp>
        <p:nvSpPr>
          <p:cNvPr id="13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8" name="Connector 4"/>
          <p:cNvCxnSpPr/>
          <p:nvPr/>
        </p:nvCxnSpPr>
        <p:spPr>
          <a:xfrm>
            <a:off x="0" y="1005840"/>
            <a:ext cx="12191760" cy="360"/>
          </a:xfrm>
          <a:prstGeom prst="straightConnector1">
            <a:avLst/>
          </a:prstGeom>
          <a:ln w="9525">
            <a:solidFill>
              <a:srgbClr val="dddddd"/>
            </a:solidFill>
            <a:round/>
          </a:ln>
        </p:spPr>
      </p:cxnSp>
      <p:sp>
        <p:nvSpPr>
          <p:cNvPr id="13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40"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6</a:t>
            </a:r>
            <a:endParaRPr b="0" lang="fr-FR" sz="1100" spc="-1" strike="noStrike">
              <a:solidFill>
                <a:srgbClr val="000000"/>
              </a:solidFill>
              <a:latin typeface="Arial"/>
            </a:endParaRPr>
          </a:p>
        </p:txBody>
      </p:sp>
      <p:sp>
        <p:nvSpPr>
          <p:cNvPr id="141"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Aller à la rencontre du terrain</a:t>
            </a:r>
            <a:endParaRPr b="0" lang="fr-FR" sz="3300" spc="-1" strike="noStrike">
              <a:solidFill>
                <a:srgbClr val="000000"/>
              </a:solidFill>
              <a:latin typeface="Arial"/>
            </a:endParaRPr>
          </a:p>
        </p:txBody>
      </p:sp>
      <p:sp>
        <p:nvSpPr>
          <p:cNvPr id="142" name="Rounded Rectangle 8"/>
          <p:cNvSpPr/>
          <p:nvPr/>
        </p:nvSpPr>
        <p:spPr>
          <a:xfrm>
            <a:off x="77724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3" name="Picture 9" descr="team.png"/>
          <p:cNvPicPr/>
          <p:nvPr/>
        </p:nvPicPr>
        <p:blipFill>
          <a:blip r:embed="rId2"/>
          <a:stretch/>
        </p:blipFill>
        <p:spPr>
          <a:xfrm>
            <a:off x="1088280" y="2387880"/>
            <a:ext cx="511560" cy="511560"/>
          </a:xfrm>
          <a:prstGeom prst="rect">
            <a:avLst/>
          </a:prstGeom>
          <a:ln w="0">
            <a:noFill/>
          </a:ln>
        </p:spPr>
      </p:pic>
      <p:sp>
        <p:nvSpPr>
          <p:cNvPr id="144" name="TextBox 10"/>
          <p:cNvSpPr/>
          <p:nvPr/>
        </p:nvSpPr>
        <p:spPr>
          <a:xfrm>
            <a:off x="1088280" y="3036960"/>
            <a:ext cx="2649240" cy="26571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équipes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SRDT</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DACCORD</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Egapro</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DomiFA</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SIRENA</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Avoir un point d’entrée dans ces équipes afin d’itérer avec elles lors d’une phase d’action.</a:t>
            </a:r>
            <a:endParaRPr b="0" lang="fr-FR" sz="1350" spc="-1" strike="noStrike">
              <a:solidFill>
                <a:srgbClr val="000000"/>
              </a:solidFill>
              <a:latin typeface="Arial"/>
            </a:endParaRPr>
          </a:p>
        </p:txBody>
      </p:sp>
      <p:sp>
        <p:nvSpPr>
          <p:cNvPr id="145" name="Rounded Rectangle 11"/>
          <p:cNvSpPr/>
          <p:nvPr/>
        </p:nvSpPr>
        <p:spPr>
          <a:xfrm>
            <a:off x="446004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6" name="Picture 12" descr="briefcase.png"/>
          <p:cNvPicPr/>
          <p:nvPr/>
        </p:nvPicPr>
        <p:blipFill>
          <a:blip r:embed="rId3"/>
          <a:stretch/>
        </p:blipFill>
        <p:spPr>
          <a:xfrm>
            <a:off x="4771080" y="2387880"/>
            <a:ext cx="511560" cy="511560"/>
          </a:xfrm>
          <a:prstGeom prst="rect">
            <a:avLst/>
          </a:prstGeom>
          <a:ln w="0">
            <a:noFill/>
          </a:ln>
        </p:spPr>
      </p:pic>
      <p:sp>
        <p:nvSpPr>
          <p:cNvPr id="147" name="TextBox 13"/>
          <p:cNvSpPr/>
          <p:nvPr/>
        </p:nvSpPr>
        <p:spPr>
          <a:xfrm>
            <a:off x="4771080" y="3036960"/>
            <a:ext cx="2649240" cy="2135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métiers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Architectes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Products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Designers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Développeurs</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Cerner les besoins propres à chaque rôle.</a:t>
            </a:r>
            <a:endParaRPr b="0" lang="fr-FR" sz="1350" spc="-1" strike="noStrike">
              <a:solidFill>
                <a:srgbClr val="000000"/>
              </a:solidFill>
              <a:latin typeface="Arial"/>
            </a:endParaRPr>
          </a:p>
        </p:txBody>
      </p:sp>
      <p:sp>
        <p:nvSpPr>
          <p:cNvPr id="148" name="Rounded Rectangle 14"/>
          <p:cNvSpPr/>
          <p:nvPr/>
        </p:nvSpPr>
        <p:spPr>
          <a:xfrm>
            <a:off x="814320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9" name="Picture 15" descr="discuss.png"/>
          <p:cNvPicPr/>
          <p:nvPr/>
        </p:nvPicPr>
        <p:blipFill>
          <a:blip r:embed="rId4"/>
          <a:stretch/>
        </p:blipFill>
        <p:spPr>
          <a:xfrm>
            <a:off x="8453880" y="2387880"/>
            <a:ext cx="511560" cy="511560"/>
          </a:xfrm>
          <a:prstGeom prst="rect">
            <a:avLst/>
          </a:prstGeom>
          <a:ln w="0">
            <a:noFill/>
          </a:ln>
        </p:spPr>
      </p:pic>
      <p:sp>
        <p:nvSpPr>
          <p:cNvPr id="150" name="TextBox 16"/>
          <p:cNvSpPr/>
          <p:nvPr/>
        </p:nvSpPr>
        <p:spPr>
          <a:xfrm>
            <a:off x="8453880" y="3036960"/>
            <a:ext cx="2649240" cy="2009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D’autres échanges clés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Dominique — RGAA / accessibilité</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Victor Degliame — outillage interne</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Sécuriser conformité et stratégie d’outillage.</a:t>
            </a:r>
            <a:endParaRPr b="0" lang="fr-FR"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2" name="Picture 2" descr="logo.png"/>
          <p:cNvPicPr/>
          <p:nvPr/>
        </p:nvPicPr>
        <p:blipFill>
          <a:blip r:embed="rId1"/>
          <a:stretch/>
        </p:blipFill>
        <p:spPr>
          <a:xfrm>
            <a:off x="777240" y="274320"/>
            <a:ext cx="987480" cy="676440"/>
          </a:xfrm>
          <a:prstGeom prst="rect">
            <a:avLst/>
          </a:prstGeom>
          <a:ln w="0">
            <a:noFill/>
          </a:ln>
        </p:spPr>
      </p:pic>
      <p:sp>
        <p:nvSpPr>
          <p:cNvPr id="15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54" name="Connector 4"/>
          <p:cNvCxnSpPr/>
          <p:nvPr/>
        </p:nvCxnSpPr>
        <p:spPr>
          <a:xfrm>
            <a:off x="0" y="1005840"/>
            <a:ext cx="12191760" cy="360"/>
          </a:xfrm>
          <a:prstGeom prst="straightConnector1">
            <a:avLst/>
          </a:prstGeom>
          <a:ln w="9525">
            <a:solidFill>
              <a:srgbClr val="dddddd"/>
            </a:solidFill>
            <a:round/>
          </a:ln>
        </p:spPr>
      </p:cxnSp>
      <p:sp>
        <p:nvSpPr>
          <p:cNvPr id="15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5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7</a:t>
            </a:r>
            <a:endParaRPr b="0" lang="fr-FR" sz="1100" spc="-1" strike="noStrike">
              <a:solidFill>
                <a:srgbClr val="000000"/>
              </a:solidFill>
              <a:latin typeface="Arial"/>
            </a:endParaRPr>
          </a:p>
        </p:txBody>
      </p:sp>
      <p:sp>
        <p:nvSpPr>
          <p:cNvPr id="157"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Egapro : un usage de l’IA déjà avancé</a:t>
            </a:r>
            <a:endParaRPr b="0" lang="fr-FR" sz="3100" spc="-1" strike="noStrike">
              <a:solidFill>
                <a:srgbClr val="000000"/>
              </a:solidFill>
              <a:latin typeface="Arial"/>
            </a:endParaRPr>
          </a:p>
        </p:txBody>
      </p:sp>
      <p:sp>
        <p:nvSpPr>
          <p:cNvPr id="158" name="TextBox 8"/>
          <p:cNvSpPr/>
          <p:nvPr/>
        </p:nvSpPr>
        <p:spPr>
          <a:xfrm>
            <a:off x="777240" y="2011680"/>
            <a:ext cx="10636920" cy="2764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0" lang="en-US" sz="1650" spc="-1" strike="noStrike">
                <a:solidFill>
                  <a:srgbClr val="3a3a3a"/>
                </a:solidFill>
                <a:latin typeface="Marianne"/>
              </a:rPr>
              <a:t>Une équipe qui exploite déjà Claude — j’ai exploré cet usage en développant dessus.</a:t>
            </a:r>
            <a:endParaRPr b="0" lang="fr-FR" sz="1650" spc="-1" strike="noStrike">
              <a:solidFill>
                <a:srgbClr val="000000"/>
              </a:solidFill>
              <a:latin typeface="Arial"/>
            </a:endParaRPr>
          </a:p>
        </p:txBody>
      </p:sp>
      <p:sp>
        <p:nvSpPr>
          <p:cNvPr id="159" name="Rounded Rectangle 9"/>
          <p:cNvSpPr/>
          <p:nvPr/>
        </p:nvSpPr>
        <p:spPr>
          <a:xfrm>
            <a:off x="777240" y="2788920"/>
            <a:ext cx="5089680" cy="29714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0" name="Picture 10" descr="terminal-box.png"/>
          <p:cNvPicPr/>
          <p:nvPr/>
        </p:nvPicPr>
        <p:blipFill>
          <a:blip r:embed="rId2"/>
          <a:stretch/>
        </p:blipFill>
        <p:spPr>
          <a:xfrm>
            <a:off x="1106280" y="3099960"/>
            <a:ext cx="511560" cy="511560"/>
          </a:xfrm>
          <a:prstGeom prst="rect">
            <a:avLst/>
          </a:prstGeom>
          <a:ln w="0">
            <a:noFill/>
          </a:ln>
        </p:spPr>
      </p:pic>
      <p:sp>
        <p:nvSpPr>
          <p:cNvPr id="161" name="TextBox 11"/>
          <p:cNvSpPr/>
          <p:nvPr/>
        </p:nvSpPr>
        <p:spPr>
          <a:xfrm>
            <a:off x="1106280" y="3749040"/>
            <a:ext cx="4431240" cy="22222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j’ai observé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Une orchestration ambitieuse, impactant positivement la qualité des tickets et la vélocité des développeurs.</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difficultés à piloter un projet avec un usage aussi mature de l’IA par les développeurs.</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endParaRPr b="0" lang="fr-FR" sz="1500" spc="-1" strike="noStrike">
              <a:solidFill>
                <a:srgbClr val="000000"/>
              </a:solidFill>
              <a:latin typeface="Arial"/>
            </a:endParaRPr>
          </a:p>
        </p:txBody>
      </p:sp>
      <p:sp>
        <p:nvSpPr>
          <p:cNvPr id="162" name="Rounded Rectangle 12"/>
          <p:cNvSpPr/>
          <p:nvPr/>
        </p:nvSpPr>
        <p:spPr>
          <a:xfrm>
            <a:off x="6324480" y="2788920"/>
            <a:ext cx="5089680" cy="29714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3" name="Picture 13" descr="settings-3.png"/>
          <p:cNvPicPr/>
          <p:nvPr/>
        </p:nvPicPr>
        <p:blipFill>
          <a:blip r:embed="rId3"/>
          <a:stretch/>
        </p:blipFill>
        <p:spPr>
          <a:xfrm>
            <a:off x="6653520" y="3099960"/>
            <a:ext cx="511560" cy="511560"/>
          </a:xfrm>
          <a:prstGeom prst="rect">
            <a:avLst/>
          </a:prstGeom>
          <a:ln w="0">
            <a:noFill/>
          </a:ln>
        </p:spPr>
      </p:pic>
      <p:sp>
        <p:nvSpPr>
          <p:cNvPr id="164" name="TextBox 14"/>
          <p:cNvSpPr/>
          <p:nvPr/>
        </p:nvSpPr>
        <p:spPr>
          <a:xfrm>
            <a:off x="6653520" y="3749040"/>
            <a:ext cx="4431240" cy="14403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j’ai proposé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optimisations sur la façon dont l’IA est mobilisée.</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Intégrer des estimations par taille de « T-shirt » — aujourd’hui en expérimentation.</a:t>
            </a:r>
            <a:endParaRPr b="0" lang="fr-F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6" name="Picture 2" descr="logo.png"/>
          <p:cNvPicPr/>
          <p:nvPr/>
        </p:nvPicPr>
        <p:blipFill>
          <a:blip r:embed="rId1"/>
          <a:stretch/>
        </p:blipFill>
        <p:spPr>
          <a:xfrm>
            <a:off x="777240" y="274320"/>
            <a:ext cx="987480" cy="676440"/>
          </a:xfrm>
          <a:prstGeom prst="rect">
            <a:avLst/>
          </a:prstGeom>
          <a:ln w="0">
            <a:noFill/>
          </a:ln>
        </p:spPr>
      </p:pic>
      <p:sp>
        <p:nvSpPr>
          <p:cNvPr id="16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68" name="Connector 4"/>
          <p:cNvCxnSpPr/>
          <p:nvPr/>
        </p:nvCxnSpPr>
        <p:spPr>
          <a:xfrm>
            <a:off x="0" y="1005840"/>
            <a:ext cx="12191760" cy="360"/>
          </a:xfrm>
          <a:prstGeom prst="straightConnector1">
            <a:avLst/>
          </a:prstGeom>
          <a:ln w="9525">
            <a:solidFill>
              <a:srgbClr val="dddddd"/>
            </a:solidFill>
            <a:round/>
          </a:ln>
        </p:spPr>
      </p:cxnSp>
      <p:sp>
        <p:nvSpPr>
          <p:cNvPr id="16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70"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03</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 plan d’action</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72" name="Picture 2" descr="logo.png"/>
          <p:cNvPicPr/>
          <p:nvPr/>
        </p:nvPicPr>
        <p:blipFill>
          <a:blip r:embed="rId1"/>
          <a:stretch/>
        </p:blipFill>
        <p:spPr>
          <a:xfrm>
            <a:off x="777240" y="274320"/>
            <a:ext cx="987480" cy="676440"/>
          </a:xfrm>
          <a:prstGeom prst="rect">
            <a:avLst/>
          </a:prstGeom>
          <a:ln w="0">
            <a:noFill/>
          </a:ln>
        </p:spPr>
      </p:pic>
      <p:sp>
        <p:nvSpPr>
          <p:cNvPr id="17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74" name="Connector 4"/>
          <p:cNvCxnSpPr/>
          <p:nvPr/>
        </p:nvCxnSpPr>
        <p:spPr>
          <a:xfrm>
            <a:off x="0" y="1005840"/>
            <a:ext cx="12191760" cy="360"/>
          </a:xfrm>
          <a:prstGeom prst="straightConnector1">
            <a:avLst/>
          </a:prstGeom>
          <a:ln w="9525">
            <a:solidFill>
              <a:srgbClr val="dddddd"/>
            </a:solidFill>
            <a:round/>
          </a:ln>
        </p:spPr>
      </p:cxnSp>
      <p:sp>
        <p:nvSpPr>
          <p:cNvPr id="17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7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9</a:t>
            </a:r>
            <a:endParaRPr b="0" lang="fr-FR" sz="1100" spc="-1" strike="noStrike">
              <a:solidFill>
                <a:srgbClr val="000000"/>
              </a:solidFill>
              <a:latin typeface="Arial"/>
            </a:endParaRPr>
          </a:p>
        </p:txBody>
      </p:sp>
      <p:sp>
        <p:nvSpPr>
          <p:cNvPr id="177"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Trois horizons</a:t>
            </a:r>
            <a:endParaRPr b="0" lang="fr-FR" sz="3300" spc="-1" strike="noStrike">
              <a:solidFill>
                <a:srgbClr val="000000"/>
              </a:solidFill>
              <a:latin typeface="Arial"/>
            </a:endParaRPr>
          </a:p>
        </p:txBody>
      </p:sp>
      <p:sp>
        <p:nvSpPr>
          <p:cNvPr id="178" name="TextBox 8"/>
          <p:cNvSpPr/>
          <p:nvPr/>
        </p:nvSpPr>
        <p:spPr>
          <a:xfrm>
            <a:off x="777240" y="1974960"/>
            <a:ext cx="10636920" cy="2584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00" spc="-1" strike="noStrike">
                <a:solidFill>
                  <a:srgbClr val="3a3a3a"/>
                </a:solidFill>
                <a:latin typeface="Marianne"/>
              </a:rPr>
              <a:t>Une trajectoire progressive, du quick win à la cible souveraine.</a:t>
            </a:r>
            <a:endParaRPr b="0" lang="fr-FR" sz="1600" spc="-1" strike="noStrike">
              <a:solidFill>
                <a:srgbClr val="000000"/>
              </a:solidFill>
              <a:latin typeface="Arial"/>
            </a:endParaRPr>
          </a:p>
        </p:txBody>
      </p:sp>
      <p:cxnSp>
        <p:nvCxnSpPr>
          <p:cNvPr id="179" name="Connector 9"/>
          <p:cNvCxnSpPr/>
          <p:nvPr/>
        </p:nvCxnSpPr>
        <p:spPr>
          <a:xfrm>
            <a:off x="2360880" y="3035520"/>
            <a:ext cx="7972920" cy="360"/>
          </a:xfrm>
          <a:prstGeom prst="straightConnector1">
            <a:avLst/>
          </a:prstGeom>
          <a:ln w="22225">
            <a:solidFill>
              <a:srgbClr val="6a6af4"/>
            </a:solidFill>
            <a:round/>
            <a:tailEnd len="med" type="triangle" w="med"/>
          </a:ln>
        </p:spPr>
      </p:cxnSp>
      <p:sp>
        <p:nvSpPr>
          <p:cNvPr id="180" name="TextBox 10"/>
          <p:cNvSpPr/>
          <p:nvPr/>
        </p:nvSpPr>
        <p:spPr>
          <a:xfrm>
            <a:off x="77724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COURT TERME</a:t>
            </a:r>
            <a:endParaRPr b="0" lang="fr-FR" sz="1300" spc="-1" strike="noStrike">
              <a:solidFill>
                <a:srgbClr val="000000"/>
              </a:solidFill>
              <a:latin typeface="Arial"/>
            </a:endParaRPr>
          </a:p>
        </p:txBody>
      </p:sp>
      <p:sp>
        <p:nvSpPr>
          <p:cNvPr id="181" name="Rounded Rectangle 11"/>
          <p:cNvSpPr/>
          <p:nvPr/>
        </p:nvSpPr>
        <p:spPr>
          <a:xfrm>
            <a:off x="212328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2" name="Picture 12" descr="rocket_w.png"/>
          <p:cNvPicPr/>
          <p:nvPr/>
        </p:nvPicPr>
        <p:blipFill>
          <a:blip r:embed="rId2"/>
          <a:stretch/>
        </p:blipFill>
        <p:spPr>
          <a:xfrm>
            <a:off x="2232720" y="2907360"/>
            <a:ext cx="256320" cy="256320"/>
          </a:xfrm>
          <a:prstGeom prst="rect">
            <a:avLst/>
          </a:prstGeom>
          <a:ln w="0">
            <a:noFill/>
          </a:ln>
        </p:spPr>
      </p:pic>
      <p:sp>
        <p:nvSpPr>
          <p:cNvPr id="183" name="TextBox 13"/>
          <p:cNvSpPr/>
          <p:nvPr/>
        </p:nvSpPr>
        <p:spPr>
          <a:xfrm>
            <a:off x="451188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MOYEN TERME</a:t>
            </a:r>
            <a:endParaRPr b="0" lang="fr-FR" sz="1300" spc="-1" strike="noStrike">
              <a:solidFill>
                <a:srgbClr val="000000"/>
              </a:solidFill>
              <a:latin typeface="Arial"/>
            </a:endParaRPr>
          </a:p>
        </p:txBody>
      </p:sp>
      <p:sp>
        <p:nvSpPr>
          <p:cNvPr id="184" name="Rounded Rectangle 14"/>
          <p:cNvSpPr/>
          <p:nvPr/>
        </p:nvSpPr>
        <p:spPr>
          <a:xfrm>
            <a:off x="585828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5" name="Picture 15" descr="settings-3_w.png"/>
          <p:cNvPicPr/>
          <p:nvPr/>
        </p:nvPicPr>
        <p:blipFill>
          <a:blip r:embed="rId3"/>
          <a:stretch/>
        </p:blipFill>
        <p:spPr>
          <a:xfrm>
            <a:off x="5967360" y="2907360"/>
            <a:ext cx="256320" cy="256320"/>
          </a:xfrm>
          <a:prstGeom prst="rect">
            <a:avLst/>
          </a:prstGeom>
          <a:ln w="0">
            <a:noFill/>
          </a:ln>
        </p:spPr>
      </p:pic>
      <p:sp>
        <p:nvSpPr>
          <p:cNvPr id="186" name="TextBox 16"/>
          <p:cNvSpPr/>
          <p:nvPr/>
        </p:nvSpPr>
        <p:spPr>
          <a:xfrm>
            <a:off x="824652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LONG TERME</a:t>
            </a:r>
            <a:endParaRPr b="0" lang="fr-FR" sz="1300" spc="-1" strike="noStrike">
              <a:solidFill>
                <a:srgbClr val="000000"/>
              </a:solidFill>
              <a:latin typeface="Arial"/>
            </a:endParaRPr>
          </a:p>
        </p:txBody>
      </p:sp>
      <p:sp>
        <p:nvSpPr>
          <p:cNvPr id="187" name="Rounded Rectangle 17"/>
          <p:cNvSpPr/>
          <p:nvPr/>
        </p:nvSpPr>
        <p:spPr>
          <a:xfrm>
            <a:off x="959292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8" name="Picture 18" descr="government_w.png"/>
          <p:cNvPicPr/>
          <p:nvPr/>
        </p:nvPicPr>
        <p:blipFill>
          <a:blip r:embed="rId4"/>
          <a:stretch/>
        </p:blipFill>
        <p:spPr>
          <a:xfrm>
            <a:off x="9702360" y="2907360"/>
            <a:ext cx="256320" cy="256320"/>
          </a:xfrm>
          <a:prstGeom prst="rect">
            <a:avLst/>
          </a:prstGeom>
          <a:ln w="0">
            <a:noFill/>
          </a:ln>
        </p:spPr>
      </p:pic>
      <p:sp>
        <p:nvSpPr>
          <p:cNvPr id="189" name="Rounded Rectangle 19"/>
          <p:cNvSpPr/>
          <p:nvPr/>
        </p:nvSpPr>
        <p:spPr>
          <a:xfrm>
            <a:off x="77724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TextBox 20"/>
          <p:cNvSpPr/>
          <p:nvPr/>
        </p:nvSpPr>
        <p:spPr>
          <a:xfrm>
            <a:off x="1069920" y="3730680"/>
            <a:ext cx="2582280" cy="1761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Outiller chaque métier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Architectes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Chefs de projet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Designers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Développeurs</a:t>
            </a:r>
            <a:endParaRPr b="0" lang="fr-FR" sz="1400" spc="-1" strike="noStrike">
              <a:solidFill>
                <a:srgbClr val="000000"/>
              </a:solidFill>
              <a:latin typeface="Arial"/>
            </a:endParaRPr>
          </a:p>
        </p:txBody>
      </p:sp>
      <p:sp>
        <p:nvSpPr>
          <p:cNvPr id="191" name="Rounded Rectangle 21"/>
          <p:cNvSpPr/>
          <p:nvPr/>
        </p:nvSpPr>
        <p:spPr>
          <a:xfrm>
            <a:off x="451188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 name="TextBox 22"/>
          <p:cNvSpPr/>
          <p:nvPr/>
        </p:nvSpPr>
        <p:spPr>
          <a:xfrm>
            <a:off x="4804560" y="3730680"/>
            <a:ext cx="2582280" cy="1985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Industrialiser &amp; animer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Communauté de champions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CI/CD &amp; déploiement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Dev agentique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Observabilité</a:t>
            </a:r>
            <a:endParaRPr b="0" lang="fr-FR" sz="1400" spc="-1" strike="noStrike">
              <a:solidFill>
                <a:srgbClr val="000000"/>
              </a:solidFill>
              <a:latin typeface="Arial"/>
            </a:endParaRPr>
          </a:p>
        </p:txBody>
      </p:sp>
      <p:sp>
        <p:nvSpPr>
          <p:cNvPr id="193" name="Rounded Rectangle 23"/>
          <p:cNvSpPr/>
          <p:nvPr/>
        </p:nvSpPr>
        <p:spPr>
          <a:xfrm>
            <a:off x="824652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 name="TextBox 24"/>
          <p:cNvSpPr/>
          <p:nvPr/>
        </p:nvSpPr>
        <p:spPr>
          <a:xfrm>
            <a:off x="8539200" y="3730680"/>
            <a:ext cx="2582280" cy="1200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Un harness maison</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Souveraineté</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Conformité intégrée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Expérience maîtrisée</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96" name="Picture 2" descr="logo.png"/>
          <p:cNvPicPr/>
          <p:nvPr/>
        </p:nvPicPr>
        <p:blipFill>
          <a:blip r:embed="rId1"/>
          <a:stretch/>
        </p:blipFill>
        <p:spPr>
          <a:xfrm>
            <a:off x="777240" y="274320"/>
            <a:ext cx="987480" cy="676440"/>
          </a:xfrm>
          <a:prstGeom prst="rect">
            <a:avLst/>
          </a:prstGeom>
          <a:ln w="0">
            <a:noFill/>
          </a:ln>
        </p:spPr>
      </p:pic>
      <p:sp>
        <p:nvSpPr>
          <p:cNvPr id="19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98" name="Connector 4"/>
          <p:cNvCxnSpPr/>
          <p:nvPr/>
        </p:nvCxnSpPr>
        <p:spPr>
          <a:xfrm>
            <a:off x="0" y="1005840"/>
            <a:ext cx="12191760" cy="360"/>
          </a:xfrm>
          <a:prstGeom prst="straightConnector1">
            <a:avLst/>
          </a:prstGeom>
          <a:ln w="9525">
            <a:solidFill>
              <a:srgbClr val="dddddd"/>
            </a:solidFill>
            <a:round/>
          </a:ln>
        </p:spPr>
      </p:cxnSp>
      <p:sp>
        <p:nvSpPr>
          <p:cNvPr id="19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00"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10</a:t>
            </a:r>
            <a:endParaRPr b="0" lang="fr-FR" sz="1100" spc="-1" strike="noStrike">
              <a:solidFill>
                <a:srgbClr val="000000"/>
              </a:solidFill>
              <a:latin typeface="Arial"/>
            </a:endParaRPr>
          </a:p>
        </p:txBody>
      </p:sp>
      <p:sp>
        <p:nvSpPr>
          <p:cNvPr id="201"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Court terme : outiller chaque métier</a:t>
            </a:r>
            <a:endParaRPr b="0" lang="fr-FR" sz="3100" spc="-1" strike="noStrike">
              <a:solidFill>
                <a:srgbClr val="000000"/>
              </a:solidFill>
              <a:latin typeface="Arial"/>
            </a:endParaRPr>
          </a:p>
        </p:txBody>
      </p:sp>
      <p:sp>
        <p:nvSpPr>
          <p:cNvPr id="202" name="Rounded Rectangle 8"/>
          <p:cNvSpPr/>
          <p:nvPr/>
        </p:nvSpPr>
        <p:spPr>
          <a:xfrm>
            <a:off x="777240" y="23580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03" name="Picture 9" descr="compasses-2.png"/>
          <p:cNvPicPr/>
          <p:nvPr/>
        </p:nvPicPr>
        <p:blipFill>
          <a:blip r:embed="rId2"/>
          <a:stretch/>
        </p:blipFill>
        <p:spPr>
          <a:xfrm>
            <a:off x="1088280" y="2560320"/>
            <a:ext cx="456840" cy="456840"/>
          </a:xfrm>
          <a:prstGeom prst="rect">
            <a:avLst/>
          </a:prstGeom>
          <a:ln w="0">
            <a:noFill/>
          </a:ln>
        </p:spPr>
      </p:pic>
      <p:sp>
        <p:nvSpPr>
          <p:cNvPr id="204" name="TextBox 10"/>
          <p:cNvSpPr/>
          <p:nvPr/>
        </p:nvSpPr>
        <p:spPr>
          <a:xfrm>
            <a:off x="1691640" y="26470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Architectes</a:t>
            </a:r>
            <a:endParaRPr b="0" lang="fr-FR" sz="1750" spc="-1" strike="noStrike">
              <a:solidFill>
                <a:srgbClr val="000000"/>
              </a:solidFill>
              <a:latin typeface="Arial"/>
            </a:endParaRPr>
          </a:p>
        </p:txBody>
      </p:sp>
      <p:sp>
        <p:nvSpPr>
          <p:cNvPr id="205" name="TextBox 11"/>
          <p:cNvSpPr/>
          <p:nvPr/>
        </p:nvSpPr>
        <p:spPr>
          <a:xfrm>
            <a:off x="1088280" y="3127320"/>
            <a:ext cx="4490640" cy="2307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Générer des Dossiers d’Architecture (DA) avec l’IA.</a:t>
            </a:r>
            <a:endParaRPr b="0" lang="fr-FR" sz="1400" spc="-1" strike="noStrike">
              <a:solidFill>
                <a:srgbClr val="000000"/>
              </a:solidFill>
              <a:latin typeface="Arial"/>
            </a:endParaRPr>
          </a:p>
        </p:txBody>
      </p:sp>
      <p:sp>
        <p:nvSpPr>
          <p:cNvPr id="206" name="Rounded Rectangle 12"/>
          <p:cNvSpPr/>
          <p:nvPr/>
        </p:nvSpPr>
        <p:spPr>
          <a:xfrm>
            <a:off x="6301440" y="23580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07" name="Picture 13" descr="clipboard.png"/>
          <p:cNvPicPr/>
          <p:nvPr/>
        </p:nvPicPr>
        <p:blipFill>
          <a:blip r:embed="rId3"/>
          <a:stretch/>
        </p:blipFill>
        <p:spPr>
          <a:xfrm>
            <a:off x="6612480" y="2560320"/>
            <a:ext cx="456840" cy="456840"/>
          </a:xfrm>
          <a:prstGeom prst="rect">
            <a:avLst/>
          </a:prstGeom>
          <a:ln w="0">
            <a:noFill/>
          </a:ln>
        </p:spPr>
      </p:pic>
      <p:sp>
        <p:nvSpPr>
          <p:cNvPr id="208" name="TextBox 14"/>
          <p:cNvSpPr/>
          <p:nvPr/>
        </p:nvSpPr>
        <p:spPr>
          <a:xfrm>
            <a:off x="7215840" y="26470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Chefs de projet</a:t>
            </a:r>
            <a:endParaRPr b="0" lang="fr-FR" sz="1750" spc="-1" strike="noStrike">
              <a:solidFill>
                <a:srgbClr val="000000"/>
              </a:solidFill>
              <a:latin typeface="Arial"/>
            </a:endParaRPr>
          </a:p>
        </p:txBody>
      </p:sp>
      <p:sp>
        <p:nvSpPr>
          <p:cNvPr id="209" name="TextBox 15"/>
          <p:cNvSpPr/>
          <p:nvPr/>
        </p:nvSpPr>
        <p:spPr>
          <a:xfrm>
            <a:off x="6612480" y="3127320"/>
            <a:ext cx="4490640" cy="69084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Pré-audit d’homologation continu et meilleur pilotage des projets faits avec l’IA.</a:t>
            </a:r>
            <a:br>
              <a:rPr sz="1400"/>
            </a:br>
            <a:r>
              <a:rPr b="0" lang="en-US" sz="1400" spc="-1" strike="noStrike">
                <a:solidFill>
                  <a:srgbClr val="3a3a3a"/>
                </a:solidFill>
                <a:latin typeface="Marianne"/>
              </a:rPr>
              <a:t>Récupérer plus de besoins dans les jours à venir.</a:t>
            </a:r>
            <a:endParaRPr b="0" lang="fr-FR" sz="1400" spc="-1" strike="noStrike">
              <a:solidFill>
                <a:srgbClr val="000000"/>
              </a:solidFill>
              <a:latin typeface="Arial"/>
            </a:endParaRPr>
          </a:p>
        </p:txBody>
      </p:sp>
      <p:sp>
        <p:nvSpPr>
          <p:cNvPr id="210" name="Rounded Rectangle 16"/>
          <p:cNvSpPr/>
          <p:nvPr/>
        </p:nvSpPr>
        <p:spPr>
          <a:xfrm>
            <a:off x="777240" y="41868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1" name="Picture 17" descr="palette.png"/>
          <p:cNvPicPr/>
          <p:nvPr/>
        </p:nvPicPr>
        <p:blipFill>
          <a:blip r:embed="rId4"/>
          <a:stretch/>
        </p:blipFill>
        <p:spPr>
          <a:xfrm>
            <a:off x="1088280" y="4389120"/>
            <a:ext cx="456840" cy="456840"/>
          </a:xfrm>
          <a:prstGeom prst="rect">
            <a:avLst/>
          </a:prstGeom>
          <a:ln w="0">
            <a:noFill/>
          </a:ln>
        </p:spPr>
      </p:pic>
      <p:sp>
        <p:nvSpPr>
          <p:cNvPr id="212" name="TextBox 18"/>
          <p:cNvSpPr/>
          <p:nvPr/>
        </p:nvSpPr>
        <p:spPr>
          <a:xfrm>
            <a:off x="1691640" y="44758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Designers</a:t>
            </a:r>
            <a:endParaRPr b="0" lang="fr-FR" sz="1750" spc="-1" strike="noStrike">
              <a:solidFill>
                <a:srgbClr val="000000"/>
              </a:solidFill>
              <a:latin typeface="Arial"/>
            </a:endParaRPr>
          </a:p>
        </p:txBody>
      </p:sp>
      <p:sp>
        <p:nvSpPr>
          <p:cNvPr id="213" name="TextBox 19"/>
          <p:cNvSpPr/>
          <p:nvPr/>
        </p:nvSpPr>
        <p:spPr>
          <a:xfrm>
            <a:off x="1088280" y="4956120"/>
            <a:ext cx="4490640" cy="4611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Créer et utiliser des skills d’UX et d’audit UX pour générer et challenger des prototypes rapidement.</a:t>
            </a:r>
            <a:endParaRPr b="0" lang="fr-FR" sz="1400" spc="-1" strike="noStrike">
              <a:solidFill>
                <a:srgbClr val="000000"/>
              </a:solidFill>
              <a:latin typeface="Arial"/>
            </a:endParaRPr>
          </a:p>
        </p:txBody>
      </p:sp>
      <p:sp>
        <p:nvSpPr>
          <p:cNvPr id="214" name="Rounded Rectangle 20"/>
          <p:cNvSpPr/>
          <p:nvPr/>
        </p:nvSpPr>
        <p:spPr>
          <a:xfrm>
            <a:off x="6301440" y="41868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5" name="Picture 21" descr="code-s-slash.png"/>
          <p:cNvPicPr/>
          <p:nvPr/>
        </p:nvPicPr>
        <p:blipFill>
          <a:blip r:embed="rId5"/>
          <a:stretch/>
        </p:blipFill>
        <p:spPr>
          <a:xfrm>
            <a:off x="6612480" y="4389120"/>
            <a:ext cx="456840" cy="456840"/>
          </a:xfrm>
          <a:prstGeom prst="rect">
            <a:avLst/>
          </a:prstGeom>
          <a:ln w="0">
            <a:noFill/>
          </a:ln>
        </p:spPr>
      </p:pic>
      <p:sp>
        <p:nvSpPr>
          <p:cNvPr id="216" name="TextBox 22"/>
          <p:cNvSpPr/>
          <p:nvPr/>
        </p:nvSpPr>
        <p:spPr>
          <a:xfrm>
            <a:off x="7215840" y="44758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Développeurs</a:t>
            </a:r>
            <a:endParaRPr b="0" lang="fr-FR" sz="1750" spc="-1" strike="noStrike">
              <a:solidFill>
                <a:srgbClr val="000000"/>
              </a:solidFill>
              <a:latin typeface="Arial"/>
            </a:endParaRPr>
          </a:p>
        </p:txBody>
      </p:sp>
      <p:sp>
        <p:nvSpPr>
          <p:cNvPr id="217" name="TextBox 23"/>
          <p:cNvSpPr/>
          <p:nvPr/>
        </p:nvSpPr>
        <p:spPr>
          <a:xfrm>
            <a:off x="6612480" y="4956120"/>
            <a:ext cx="4490640" cy="2307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Aller vers ceux en difficulté avec l’IA et les guider.</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9" name="Picture 2" descr="logo.png"/>
          <p:cNvPicPr/>
          <p:nvPr/>
        </p:nvPicPr>
        <p:blipFill>
          <a:blip r:embed="rId1"/>
          <a:stretch/>
        </p:blipFill>
        <p:spPr>
          <a:xfrm>
            <a:off x="777240" y="274320"/>
            <a:ext cx="987480" cy="676440"/>
          </a:xfrm>
          <a:prstGeom prst="rect">
            <a:avLst/>
          </a:prstGeom>
          <a:ln w="0">
            <a:noFill/>
          </a:ln>
        </p:spPr>
      </p:pic>
      <p:sp>
        <p:nvSpPr>
          <p:cNvPr id="220"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21" name="Connector 4"/>
          <p:cNvCxnSpPr/>
          <p:nvPr/>
        </p:nvCxnSpPr>
        <p:spPr>
          <a:xfrm>
            <a:off x="0" y="1005840"/>
            <a:ext cx="12191760" cy="360"/>
          </a:xfrm>
          <a:prstGeom prst="straightConnector1">
            <a:avLst/>
          </a:prstGeom>
          <a:ln w="9525">
            <a:solidFill>
              <a:srgbClr val="dddddd"/>
            </a:solidFill>
            <a:round/>
          </a:ln>
        </p:spPr>
      </p:cxnSp>
      <p:sp>
        <p:nvSpPr>
          <p:cNvPr id="222"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23"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11</a:t>
            </a:r>
            <a:endParaRPr b="0" lang="fr-FR" sz="1100" spc="-1" strike="noStrike">
              <a:solidFill>
                <a:srgbClr val="000000"/>
              </a:solidFill>
              <a:latin typeface="Arial"/>
            </a:endParaRPr>
          </a:p>
        </p:txBody>
      </p:sp>
      <p:sp>
        <p:nvSpPr>
          <p:cNvPr id="224"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Moyen terme : industrialiser &amp; animer</a:t>
            </a:r>
            <a:endParaRPr b="0" lang="fr-FR" sz="3100" spc="-1" strike="noStrike">
              <a:solidFill>
                <a:srgbClr val="000000"/>
              </a:solidFill>
              <a:latin typeface="Arial"/>
            </a:endParaRPr>
          </a:p>
        </p:txBody>
      </p:sp>
      <p:sp>
        <p:nvSpPr>
          <p:cNvPr id="225" name="Rounded Rectangle 8"/>
          <p:cNvSpPr/>
          <p:nvPr/>
        </p:nvSpPr>
        <p:spPr>
          <a:xfrm>
            <a:off x="777240" y="2331720"/>
            <a:ext cx="3520080" cy="3382920"/>
          </a:xfrm>
          <a:prstGeom prst="roundRect">
            <a:avLst>
              <a:gd name="adj" fmla="val 5000"/>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6" name="TextBox 9"/>
          <p:cNvSpPr/>
          <p:nvPr/>
        </p:nvSpPr>
        <p:spPr>
          <a:xfrm>
            <a:off x="1143000" y="2743200"/>
            <a:ext cx="2788560" cy="2111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2000" spc="-1" strike="noStrike">
                <a:solidFill>
                  <a:srgbClr val="ffffff"/>
                </a:solidFill>
                <a:latin typeface="Marianne"/>
              </a:rPr>
              <a:t>Créer et animer communauté de référents IA</a:t>
            </a:r>
            <a:endParaRPr b="0" lang="fr-FR" sz="2000" spc="-1" strike="noStrike">
              <a:solidFill>
                <a:srgbClr val="000000"/>
              </a:solidFill>
              <a:latin typeface="Arial"/>
            </a:endParaRPr>
          </a:p>
          <a:p>
            <a:pPr defTabSz="457200">
              <a:lnSpc>
                <a:spcPct val="118000"/>
              </a:lnSpc>
            </a:pPr>
            <a:r>
              <a:rPr b="0" lang="en-US" sz="1500" spc="-1" strike="noStrike">
                <a:solidFill>
                  <a:srgbClr val="e3e3fd"/>
                </a:solidFill>
                <a:latin typeface="Marianne"/>
              </a:rPr>
              <a:t>Identifier et préparer l’animation d’une communauté de référents IA pour chaque métier.</a:t>
            </a:r>
            <a:endParaRPr b="0" lang="fr-FR" sz="1500" spc="-1" strike="noStrike">
              <a:solidFill>
                <a:srgbClr val="000000"/>
              </a:solidFill>
              <a:latin typeface="Arial"/>
            </a:endParaRPr>
          </a:p>
        </p:txBody>
      </p:sp>
      <p:sp>
        <p:nvSpPr>
          <p:cNvPr id="227" name="TextBox 10"/>
          <p:cNvSpPr/>
          <p:nvPr/>
        </p:nvSpPr>
        <p:spPr>
          <a:xfrm>
            <a:off x="4754880" y="2350080"/>
            <a:ext cx="66592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Volet développeurs</a:t>
            </a:r>
            <a:endParaRPr b="0" lang="fr-FR" sz="1800" spc="-1" strike="noStrike">
              <a:solidFill>
                <a:srgbClr val="000000"/>
              </a:solidFill>
              <a:latin typeface="Arial"/>
            </a:endParaRPr>
          </a:p>
        </p:txBody>
      </p:sp>
      <p:sp>
        <p:nvSpPr>
          <p:cNvPr id="228" name="Rounded Rectangle 11"/>
          <p:cNvSpPr/>
          <p:nvPr/>
        </p:nvSpPr>
        <p:spPr>
          <a:xfrm>
            <a:off x="4754880" y="299016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TextBox 12"/>
          <p:cNvSpPr/>
          <p:nvPr/>
        </p:nvSpPr>
        <p:spPr>
          <a:xfrm>
            <a:off x="5047560" y="293508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CI/CD — </a:t>
            </a:r>
            <a:r>
              <a:rPr b="0" lang="en-US" sz="1450" spc="-1" strike="noStrike">
                <a:solidFill>
                  <a:srgbClr val="3a3a3a"/>
                </a:solidFill>
                <a:latin typeface="Marianne"/>
              </a:rPr>
              <a:t>bots de revue de code automatiques.</a:t>
            </a:r>
            <a:endParaRPr b="0" lang="fr-FR" sz="1450" spc="-1" strike="noStrike">
              <a:solidFill>
                <a:srgbClr val="000000"/>
              </a:solidFill>
              <a:latin typeface="Arial"/>
            </a:endParaRPr>
          </a:p>
        </p:txBody>
      </p:sp>
      <p:sp>
        <p:nvSpPr>
          <p:cNvPr id="230" name="Rounded Rectangle 13"/>
          <p:cNvSpPr/>
          <p:nvPr/>
        </p:nvSpPr>
        <p:spPr>
          <a:xfrm>
            <a:off x="4754880" y="375804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TextBox 14"/>
          <p:cNvSpPr/>
          <p:nvPr/>
        </p:nvSpPr>
        <p:spPr>
          <a:xfrm>
            <a:off x="5047560" y="3703320"/>
            <a:ext cx="6366600" cy="471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Déploiement des licences Claude — </a:t>
            </a:r>
            <a:r>
              <a:rPr b="0" lang="en-US" sz="1450" spc="-1" strike="noStrike">
                <a:solidFill>
                  <a:srgbClr val="3a3a3a"/>
                </a:solidFill>
                <a:latin typeface="Marianne"/>
              </a:rPr>
              <a:t>Permettre l’agentique en trouvant la bonne formule pour les PC internes, Se mettre en lien avec la DINUM.</a:t>
            </a:r>
            <a:endParaRPr b="0" lang="fr-FR" sz="1450" spc="-1" strike="noStrike">
              <a:solidFill>
                <a:srgbClr val="000000"/>
              </a:solidFill>
              <a:latin typeface="Arial"/>
            </a:endParaRPr>
          </a:p>
        </p:txBody>
      </p:sp>
      <p:sp>
        <p:nvSpPr>
          <p:cNvPr id="232" name="Rounded Rectangle 17"/>
          <p:cNvSpPr/>
          <p:nvPr/>
        </p:nvSpPr>
        <p:spPr>
          <a:xfrm>
            <a:off x="4754880" y="461052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TextBox 18"/>
          <p:cNvSpPr/>
          <p:nvPr/>
        </p:nvSpPr>
        <p:spPr>
          <a:xfrm>
            <a:off x="5047560" y="455544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Observabilité — </a:t>
            </a:r>
            <a:r>
              <a:rPr b="0" lang="en-US" sz="1450" spc="-1" strike="noStrike">
                <a:solidFill>
                  <a:srgbClr val="3a3a3a"/>
                </a:solidFill>
                <a:latin typeface="Marianne"/>
              </a:rPr>
              <a:t>suivre les usages et la qualité.</a:t>
            </a:r>
            <a:endParaRPr b="0" lang="fr-FR"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35" name="Picture 2" descr="logo.png"/>
          <p:cNvPicPr/>
          <p:nvPr/>
        </p:nvPicPr>
        <p:blipFill>
          <a:blip r:embed="rId1"/>
          <a:stretch/>
        </p:blipFill>
        <p:spPr>
          <a:xfrm>
            <a:off x="777240" y="274320"/>
            <a:ext cx="987480" cy="676440"/>
          </a:xfrm>
          <a:prstGeom prst="rect">
            <a:avLst/>
          </a:prstGeom>
          <a:ln w="0">
            <a:noFill/>
          </a:ln>
        </p:spPr>
      </p:pic>
      <p:sp>
        <p:nvSpPr>
          <p:cNvPr id="236"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37" name="Connector 4"/>
          <p:cNvCxnSpPr/>
          <p:nvPr/>
        </p:nvCxnSpPr>
        <p:spPr>
          <a:xfrm>
            <a:off x="0" y="1005840"/>
            <a:ext cx="12191760" cy="360"/>
          </a:xfrm>
          <a:prstGeom prst="straightConnector1">
            <a:avLst/>
          </a:prstGeom>
          <a:ln w="9525">
            <a:solidFill>
              <a:srgbClr val="dddddd"/>
            </a:solidFill>
            <a:round/>
          </a:ln>
        </p:spPr>
      </p:cxnSp>
      <p:sp>
        <p:nvSpPr>
          <p:cNvPr id="238"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39"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12</a:t>
            </a:r>
            <a:endParaRPr b="0" lang="fr-FR" sz="1100" spc="-1" strike="noStrike">
              <a:solidFill>
                <a:srgbClr val="000000"/>
              </a:solidFill>
              <a:latin typeface="Arial"/>
            </a:endParaRPr>
          </a:p>
        </p:txBody>
      </p:sp>
      <p:sp>
        <p:nvSpPr>
          <p:cNvPr id="240"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Long terme : un harness maison</a:t>
            </a:r>
            <a:endParaRPr b="0" lang="fr-FR" sz="3100" spc="-1" strike="noStrike">
              <a:solidFill>
                <a:srgbClr val="000000"/>
              </a:solidFill>
              <a:latin typeface="Arial"/>
            </a:endParaRPr>
          </a:p>
        </p:txBody>
      </p:sp>
      <p:sp>
        <p:nvSpPr>
          <p:cNvPr id="241" name="TextBox 8"/>
          <p:cNvSpPr/>
          <p:nvPr/>
        </p:nvSpPr>
        <p:spPr>
          <a:xfrm>
            <a:off x="777240" y="1993320"/>
            <a:ext cx="10636920" cy="266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Construire notre propre environnement IA, maîtrisé de bout en bout.</a:t>
            </a:r>
            <a:endParaRPr b="0" lang="fr-FR" sz="1650" spc="-1" strike="noStrike">
              <a:solidFill>
                <a:srgbClr val="000000"/>
              </a:solidFill>
              <a:latin typeface="Arial"/>
            </a:endParaRPr>
          </a:p>
        </p:txBody>
      </p:sp>
      <p:sp>
        <p:nvSpPr>
          <p:cNvPr id="242" name="Rounded Rectangle 9"/>
          <p:cNvSpPr/>
          <p:nvPr/>
        </p:nvSpPr>
        <p:spPr>
          <a:xfrm>
            <a:off x="77724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3" name="Picture 10" descr="user-smile.png"/>
          <p:cNvPicPr/>
          <p:nvPr/>
        </p:nvPicPr>
        <p:blipFill>
          <a:blip r:embed="rId2"/>
          <a:stretch/>
        </p:blipFill>
        <p:spPr>
          <a:xfrm>
            <a:off x="1051560" y="3008520"/>
            <a:ext cx="511560" cy="511560"/>
          </a:xfrm>
          <a:prstGeom prst="rect">
            <a:avLst/>
          </a:prstGeom>
          <a:ln w="0">
            <a:noFill/>
          </a:ln>
        </p:spPr>
      </p:pic>
      <p:sp>
        <p:nvSpPr>
          <p:cNvPr id="244" name="TextBox 11"/>
          <p:cNvSpPr/>
          <p:nvPr/>
        </p:nvSpPr>
        <p:spPr>
          <a:xfrm>
            <a:off x="1051560" y="3703320"/>
            <a:ext cx="187272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Expérience maîtrisée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Embarquer les profils les moins technophiles.</a:t>
            </a:r>
            <a:endParaRPr b="0" lang="fr-FR" sz="1350" spc="-1" strike="noStrike">
              <a:solidFill>
                <a:srgbClr val="000000"/>
              </a:solidFill>
              <a:latin typeface="Arial"/>
            </a:endParaRPr>
          </a:p>
        </p:txBody>
      </p:sp>
      <p:sp>
        <p:nvSpPr>
          <p:cNvPr id="245" name="Rounded Rectangle 12"/>
          <p:cNvSpPr/>
          <p:nvPr/>
        </p:nvSpPr>
        <p:spPr>
          <a:xfrm>
            <a:off x="352800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6" name="Picture 13" descr="focus-3.png"/>
          <p:cNvPicPr/>
          <p:nvPr/>
        </p:nvPicPr>
        <p:blipFill>
          <a:blip r:embed="rId3"/>
          <a:stretch/>
        </p:blipFill>
        <p:spPr>
          <a:xfrm>
            <a:off x="3802320" y="3008520"/>
            <a:ext cx="511560" cy="511560"/>
          </a:xfrm>
          <a:prstGeom prst="rect">
            <a:avLst/>
          </a:prstGeom>
          <a:ln w="0">
            <a:noFill/>
          </a:ln>
        </p:spPr>
      </p:pic>
      <p:sp>
        <p:nvSpPr>
          <p:cNvPr id="247" name="TextBox 14"/>
          <p:cNvSpPr/>
          <p:nvPr/>
        </p:nvSpPr>
        <p:spPr>
          <a:xfrm>
            <a:off x="3802320" y="3703320"/>
            <a:ext cx="1872720" cy="1058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Périmètre maîtrisé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Contrôler les besoins auxquels l’outil répond.</a:t>
            </a:r>
            <a:endParaRPr b="0" lang="fr-FR" sz="1350" spc="-1" strike="noStrike">
              <a:solidFill>
                <a:srgbClr val="000000"/>
              </a:solidFill>
              <a:latin typeface="Arial"/>
            </a:endParaRPr>
          </a:p>
        </p:txBody>
      </p:sp>
      <p:sp>
        <p:nvSpPr>
          <p:cNvPr id="248" name="Rounded Rectangle 15"/>
          <p:cNvSpPr/>
          <p:nvPr/>
        </p:nvSpPr>
        <p:spPr>
          <a:xfrm>
            <a:off x="627876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9" name="Picture 16" descr="shield-check.png"/>
          <p:cNvPicPr/>
          <p:nvPr/>
        </p:nvPicPr>
        <p:blipFill>
          <a:blip r:embed="rId4"/>
          <a:stretch/>
        </p:blipFill>
        <p:spPr>
          <a:xfrm>
            <a:off x="6553080" y="3008520"/>
            <a:ext cx="511560" cy="511560"/>
          </a:xfrm>
          <a:prstGeom prst="rect">
            <a:avLst/>
          </a:prstGeom>
          <a:ln w="0">
            <a:noFill/>
          </a:ln>
        </p:spPr>
      </p:pic>
      <p:sp>
        <p:nvSpPr>
          <p:cNvPr id="250" name="TextBox 17"/>
          <p:cNvSpPr/>
          <p:nvPr/>
        </p:nvSpPr>
        <p:spPr>
          <a:xfrm>
            <a:off x="6553080" y="3703320"/>
            <a:ext cx="187272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Conformité intégrée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Intégrer accessibilité et conformité dans les réalisations.</a:t>
            </a:r>
            <a:endParaRPr b="0" lang="fr-FR" sz="1350" spc="-1" strike="noStrike">
              <a:solidFill>
                <a:srgbClr val="000000"/>
              </a:solidFill>
              <a:latin typeface="Arial"/>
            </a:endParaRPr>
          </a:p>
        </p:txBody>
      </p:sp>
      <p:sp>
        <p:nvSpPr>
          <p:cNvPr id="251" name="Rounded Rectangle 18"/>
          <p:cNvSpPr/>
          <p:nvPr/>
        </p:nvSpPr>
        <p:spPr>
          <a:xfrm>
            <a:off x="902952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52" name="Picture 19" descr="bank.png"/>
          <p:cNvPicPr/>
          <p:nvPr/>
        </p:nvPicPr>
        <p:blipFill>
          <a:blip r:embed="rId5"/>
          <a:stretch/>
        </p:blipFill>
        <p:spPr>
          <a:xfrm>
            <a:off x="9303840" y="3008520"/>
            <a:ext cx="511560" cy="511560"/>
          </a:xfrm>
          <a:prstGeom prst="rect">
            <a:avLst/>
          </a:prstGeom>
          <a:ln w="0">
            <a:noFill/>
          </a:ln>
        </p:spPr>
      </p:pic>
      <p:sp>
        <p:nvSpPr>
          <p:cNvPr id="253" name="TextBox 20"/>
          <p:cNvSpPr/>
          <p:nvPr/>
        </p:nvSpPr>
        <p:spPr>
          <a:xfrm>
            <a:off x="9303840" y="3703320"/>
            <a:ext cx="1872720" cy="1058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Souveraineté &amp; stabilité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Indépendance vis-à-vis des fournisseurs.</a:t>
            </a:r>
            <a:endParaRPr b="0" lang="fr-FR" sz="1350" spc="-1" strike="noStrike">
              <a:solidFill>
                <a:srgbClr val="000000"/>
              </a:solidFill>
              <a:latin typeface="Arial"/>
            </a:endParaRPr>
          </a:p>
        </p:txBody>
      </p:sp>
      <p:pic>
        <p:nvPicPr>
          <p:cNvPr id="254" name="" descr=""/>
          <p:cNvPicPr/>
          <p:nvPr/>
        </p:nvPicPr>
        <p:blipFill>
          <a:blip r:embed="rId6"/>
          <a:stretch/>
        </p:blipFill>
        <p:spPr>
          <a:xfrm>
            <a:off x="1219320" y="3144240"/>
            <a:ext cx="89280" cy="95760"/>
          </a:xfrm>
          <a:prstGeom prst="rect">
            <a:avLst/>
          </a:prstGeom>
          <a:ln w="0">
            <a:noFill/>
          </a:ln>
        </p:spPr>
      </p:pic>
      <p:pic>
        <p:nvPicPr>
          <p:cNvPr id="255" name="" descr=""/>
          <p:cNvPicPr/>
          <p:nvPr/>
        </p:nvPicPr>
        <p:blipFill>
          <a:blip r:embed="rId7"/>
          <a:stretch/>
        </p:blipFill>
        <p:spPr>
          <a:xfrm>
            <a:off x="1308600" y="3144240"/>
            <a:ext cx="89280" cy="957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Rectangle 2"/>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pic>
        <p:nvPicPr>
          <p:cNvPr id="257" name="Picture 3" descr="logo.png"/>
          <p:cNvPicPr/>
          <p:nvPr/>
        </p:nvPicPr>
        <p:blipFill>
          <a:blip r:embed="rId1"/>
          <a:stretch/>
        </p:blipFill>
        <p:spPr>
          <a:xfrm>
            <a:off x="777240" y="274320"/>
            <a:ext cx="987480" cy="676440"/>
          </a:xfrm>
          <a:prstGeom prst="rect">
            <a:avLst/>
          </a:prstGeom>
          <a:ln w="0">
            <a:noFill/>
          </a:ln>
        </p:spPr>
      </p:pic>
      <p:sp>
        <p:nvSpPr>
          <p:cNvPr id="258" name="TextBox 21"/>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59" name="Connector 2"/>
          <p:cNvCxnSpPr/>
          <p:nvPr/>
        </p:nvCxnSpPr>
        <p:spPr>
          <a:xfrm>
            <a:off x="0" y="1005840"/>
            <a:ext cx="12191760" cy="360"/>
          </a:xfrm>
          <a:prstGeom prst="straightConnector1">
            <a:avLst/>
          </a:prstGeom>
          <a:ln w="9525">
            <a:solidFill>
              <a:srgbClr val="dddddd"/>
            </a:solidFill>
            <a:round/>
          </a:ln>
        </p:spPr>
      </p:cxnSp>
      <p:sp>
        <p:nvSpPr>
          <p:cNvPr id="260" name="TextBox 2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61" name="TextBox 27"/>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13</a:t>
            </a:r>
            <a:endParaRPr b="0" lang="fr-FR" sz="1100" spc="-1" strike="noStrike">
              <a:solidFill>
                <a:srgbClr val="000000"/>
              </a:solidFill>
              <a:latin typeface="Arial"/>
            </a:endParaRPr>
          </a:p>
        </p:txBody>
      </p:sp>
      <p:sp>
        <p:nvSpPr>
          <p:cNvPr id="262" name="TextBox 28"/>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Où nous en sommes</a:t>
            </a:r>
            <a:endParaRPr b="0" lang="fr-FR" sz="3300" spc="-1" strike="noStrike">
              <a:solidFill>
                <a:srgbClr val="000000"/>
              </a:solidFill>
              <a:latin typeface="Arial"/>
            </a:endParaRPr>
          </a:p>
        </p:txBody>
      </p:sp>
      <p:sp>
        <p:nvSpPr>
          <p:cNvPr id="263" name="TextBox 29"/>
          <p:cNvSpPr/>
          <p:nvPr/>
        </p:nvSpPr>
        <p:spPr>
          <a:xfrm>
            <a:off x="777240" y="2194560"/>
            <a:ext cx="50896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Ce qui est réalisé</a:t>
            </a:r>
            <a:endParaRPr b="0" lang="fr-FR" sz="1800" spc="-1" strike="noStrike">
              <a:solidFill>
                <a:srgbClr val="000000"/>
              </a:solidFill>
              <a:latin typeface="Arial"/>
            </a:endParaRPr>
          </a:p>
        </p:txBody>
      </p:sp>
      <p:sp>
        <p:nvSpPr>
          <p:cNvPr id="264" name="TextBox 30"/>
          <p:cNvSpPr/>
          <p:nvPr/>
        </p:nvSpPr>
        <p:spPr>
          <a:xfrm>
            <a:off x="777240" y="2724840"/>
            <a:ext cx="5089680" cy="266796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Cinq équipes rencontrées : SRDT, DACCORD, Egapro, DomiFA, SIRENA.</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Métiers rencontrés : architectes, products, designers, développeurs.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Échanges menés sur l’accessibilité/RGAA (Dominique) et l’outillage interne (V. Degliame).</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Egapro : usage avancé de Claude observé, premières pistes proposées.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Un plan d’action structuré sur trois horizons.</a:t>
            </a:r>
            <a:endParaRPr b="0" lang="fr-FR" sz="1500" spc="-1" strike="noStrike">
              <a:solidFill>
                <a:srgbClr val="000000"/>
              </a:solidFill>
              <a:latin typeface="Arial"/>
            </a:endParaRPr>
          </a:p>
        </p:txBody>
      </p:sp>
      <p:sp>
        <p:nvSpPr>
          <p:cNvPr id="265" name="TextBox 31"/>
          <p:cNvSpPr/>
          <p:nvPr/>
        </p:nvSpPr>
        <p:spPr>
          <a:xfrm>
            <a:off x="6324480" y="2194560"/>
            <a:ext cx="50896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Prochaines étapes</a:t>
            </a:r>
            <a:endParaRPr b="0" lang="fr-FR" sz="1800" spc="-1" strike="noStrike">
              <a:solidFill>
                <a:srgbClr val="000000"/>
              </a:solidFill>
              <a:latin typeface="Arial"/>
            </a:endParaRPr>
          </a:p>
        </p:txBody>
      </p:sp>
      <p:sp>
        <p:nvSpPr>
          <p:cNvPr id="266" name="TextBox 32"/>
          <p:cNvSpPr/>
          <p:nvPr/>
        </p:nvSpPr>
        <p:spPr>
          <a:xfrm>
            <a:off x="6324480" y="2724840"/>
            <a:ext cx="5089680" cy="302076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Architectes : outiller la génération de DA avec l’IA.</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Chefs de projet : en rencontrer plus, lancer le pré-audit d’homologation continu.</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Designers : créer les premiers skills d’UX et d’audit UX, analyser les autres besoins.</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Développeurs : aller vers ceux en difficulté avec l’IA et les guider.</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Préparer la communauté de référents IA ; anticiper licences Claude &amp; lien DINUM.</a:t>
            </a:r>
            <a:endParaRPr b="0" lang="fr-FR" sz="1500" spc="-1" strike="noStrike">
              <a:solidFill>
                <a:srgbClr val="000000"/>
              </a:solidFill>
              <a:latin typeface="Arial"/>
            </a:endParaRPr>
          </a:p>
          <a:p>
            <a:pPr marL="201240" indent="-201240" defTabSz="457200">
              <a:lnSpc>
                <a:spcPct val="110000"/>
              </a:lnSpc>
              <a:spcAft>
                <a:spcPts val="799"/>
              </a:spcAft>
              <a:tabLst>
                <a:tab algn="l" pos="0"/>
              </a:tabLst>
            </a:pPr>
            <a:r>
              <a:rPr b="0" lang="en-US" sz="1200" spc="-1" strike="noStrike">
                <a:solidFill>
                  <a:srgbClr val="6a6af4"/>
                </a:solidFill>
                <a:latin typeface="Marianne"/>
              </a:rPr>
              <a:t>▪  </a:t>
            </a:r>
            <a:r>
              <a:rPr b="0" lang="en-US" sz="1500" spc="-1" strike="noStrike">
                <a:solidFill>
                  <a:srgbClr val="3a3a3a"/>
                </a:solidFill>
                <a:latin typeface="Marianne"/>
              </a:rPr>
              <a:t>Poser les bases d’un Harness maison</a:t>
            </a:r>
            <a:endParaRPr b="0" lang="fr-F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dcterms:modified xsi:type="dcterms:W3CDTF">2026-06-25T17:08:01Z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