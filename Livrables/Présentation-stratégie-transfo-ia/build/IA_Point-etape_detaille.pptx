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d'etape de la mission IA a la Direction du numerique des Ministeres Sociaux. Objectif du jour : partager ou en est la mission - enjeux, exploration menee, plan d'action sur 3 horizons. 10 min de presentation puis echange.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temps : les enjeux (mon mandat), l'exploration (ce que j'ai fait pour comprendre), puis le plan d'action structure en trois horizons.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 mandat sur cette mission, en trois enjeux.</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 mandat tient en trois enjeux : identifier les usages pertinents par metier, accompagner la montee en maitrise sur des cas concrets, et evangeliser pour diffuser la culture IA. Au service de quatre metiers : architectes, chefs de projet, designers, developpeurs.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Comment j'ai pris la mesure du terrain et des usages en place.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Premier reflexe : aller voir les gens. J'ai rencontre cinq equipes produit (SRDT, DACCORD, Egapro, DomiFA, SIRENA) pour comprendre leur quotidien et garder un acces au contexte. J'ai croise les quatre metiers, et securise deux sujets cles : l'accessibilite/RGAA avec Dominique, et la strategie d'outillage des internes avec Victor Degliame.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Egapro est une des equipes : Claude y est DEJA fortement exploite, avec une orchestration ambitieuse mise en place avant mon arrivee. Mon role est d'explorer cet usage en developpant dessus. Ce que j'observe : un usage avance deja en place. Ce que je propose a partir de la : des optimisations, et l'integration d'estimations par taille de T-shirt (aujourd'hui en experimentation). C'est de l'exploration et des pistes, pas un livrable abouti.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que je propose, sequence du court au long terme.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plan se lit sur trois horizons. Court terme : des quick wins par metier. Moyen terme : industrialiser (CI/CD, deploiement, dev agentique, observabilite) et animer une communaute de champions. Long terme : un harness maison pour la souverainete et la conformite. Je detaille ensuite.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Court terme, metier par metier. Architectes : generer les dossiers d'architecture avec l'IA. Chefs de projet : un pre-audit d'homologation continu et l'enjeu de pilotage des projets faits avec l'IA (estimations T-shirt experimentees sur Egapro). Designers : des skills d'UX et d'audit pour prototyper et challenger vite. Developpeurs : accompagner ceux qui peinent a s'approprier l'IA.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Moyen terme, deux volets. Animer : identifier et faire vivre une communaute de champions par metier. Cote developpeurs : fiabiliser la CI/CD avec des bots de review, activer le deploiement des qu'on aura les licences Claude internes, ouvrir le dev agentique avec la DINUM, mettre en place l'observabilite.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L'horizon cible : un harness maison, notre propre environnement IA. Quatre benefices : une experience maitrisee pour embarquer les moins technophiles, un perimetre maitrise sur les besoins couverts, la conformite (accessibilite) integree des la conception, et la souverainete - l'independance vis-a-vis des fournisseurs.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Synthese. Ce qui est acquis : les cinq equipes rencontrees (SRDT, DACCORD, Egapro, DomiFA, SIRENA), les metiers rencontres (architectes, products, designers, developpeurs), les echanges sur le RGAA avec Dominique et l'outillage interne avec Victor Degliame, l'usage avance de Claude observe sur Egapro avec de premieres pistes, et un plan structure sur 3 horizons. Prochaines etapes, surtout court terme : DA pour les architectes ; rencontrer plus de CDP et lancer le pre-audit d'homologation continu ; premiers skills UX/audit cote designers ; accompagner les developpeurs en difficulte. Puis preparer la communaute de champions et anticiper les licences Claude et le lien DINUM. Place a vos questions.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vers les 35 min d'echange : questions, retours, arbitrages eventuels (licences, lien DINUM, priorisation des horizons).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777240" y="274320"/>
            <a:ext cx="987918" cy="676656"/>
          </a:xfrm>
          <a:prstGeom prst="rect">
            <a:avLst/>
          </a:prstGeom>
        </p:spPr>
      </p:pic>
      <p:sp>
        <p:nvSpPr>
          <p:cNvPr id="4" name="TextBox 3"/>
          <p:cNvSpPr txBox="1"/>
          <p:nvPr/>
        </p:nvSpPr>
        <p:spPr>
          <a:xfrm>
            <a:off x="7573975" y="274320"/>
            <a:ext cx="3840480" cy="640080"/>
          </a:xfrm>
          <a:prstGeom prst="rect">
            <a:avLst/>
          </a:prstGeom>
          <a:noFill/>
        </p:spPr>
        <p:txBody>
          <a:bodyPr wrap="square" lIns="0" rIns="0" tIns="0" bIns="0" anchor="t">
            <a:spAutoFit/>
          </a:bodyPr>
          <a:lstStyle/>
          <a:p>
            <a:pPr algn="r">
              <a:lnSpc>
                <a:spcPct val="106000"/>
              </a:lnSpc>
              <a:spcBef>
                <a:spcPts val="0"/>
              </a:spcBef>
              <a:spcAft>
                <a:spcPts val="0"/>
              </a:spcAft>
            </a:pPr>
            <a:r>
              <a:rPr sz="1350" b="1" i="0">
                <a:solidFill>
                  <a:srgbClr val="161616"/>
                </a:solidFill>
                <a:latin typeface="Marianne"/>
              </a:rPr>
              <a:t>Secrétariat général</a:t>
            </a:r>
          </a:p>
          <a:p>
            <a:pPr algn="r">
              <a:lnSpc>
                <a:spcPct val="106000"/>
              </a:lnSpc>
              <a:spcBef>
                <a:spcPts val="0"/>
              </a:spcBef>
              <a:spcAft>
                <a:spcPts val="0"/>
              </a:spcAft>
            </a:pPr>
            <a:r>
              <a:rPr sz="1350" b="0" i="0">
                <a:solidFill>
                  <a:srgbClr val="3A3A3A"/>
                </a:solidFill>
                <a:latin typeface="Marianne"/>
              </a:rPr>
              <a:t>Direction du numérique</a:t>
            </a:r>
          </a:p>
        </p:txBody>
      </p:sp>
      <p:sp>
        <p:nvSpPr>
          <p:cNvPr id="5" name="Rectangle 4"/>
          <p:cNvSpPr/>
          <p:nvPr/>
        </p:nvSpPr>
        <p:spPr>
          <a:xfrm>
            <a:off x="777240" y="1234440"/>
            <a:ext cx="10927080" cy="52578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tripes.png"/>
          <p:cNvPicPr>
            <a:picLocks noChangeAspect="1"/>
          </p:cNvPicPr>
          <p:nvPr/>
        </p:nvPicPr>
        <p:blipFill>
          <a:blip r:embed="rId3"/>
          <a:stretch>
            <a:fillRect/>
          </a:stretch>
        </p:blipFill>
        <p:spPr>
          <a:xfrm>
            <a:off x="9326880" y="5081451"/>
            <a:ext cx="2377440" cy="1410788"/>
          </a:xfrm>
          <a:prstGeom prst="rect">
            <a:avLst/>
          </a:prstGeom>
        </p:spPr>
      </p:pic>
      <p:pic>
        <p:nvPicPr>
          <p:cNvPr id="7" name="Picture 6" descr="sparkle.png"/>
          <p:cNvPicPr>
            <a:picLocks noChangeAspect="1"/>
          </p:cNvPicPr>
          <p:nvPr/>
        </p:nvPicPr>
        <p:blipFill>
          <a:blip r:embed="rId4"/>
          <a:stretch>
            <a:fillRect/>
          </a:stretch>
        </p:blipFill>
        <p:spPr>
          <a:xfrm>
            <a:off x="1417320" y="2468880"/>
            <a:ext cx="1051560" cy="1051560"/>
          </a:xfrm>
          <a:prstGeom prst="rect">
            <a:avLst/>
          </a:prstGeom>
        </p:spPr>
      </p:pic>
      <p:sp>
        <p:nvSpPr>
          <p:cNvPr id="8" name="TextBox 7"/>
          <p:cNvSpPr txBox="1"/>
          <p:nvPr/>
        </p:nvSpPr>
        <p:spPr>
          <a:xfrm>
            <a:off x="1371600" y="3840480"/>
            <a:ext cx="9875520" cy="1371600"/>
          </a:xfrm>
          <a:prstGeom prst="rect">
            <a:avLst/>
          </a:prstGeom>
          <a:noFill/>
        </p:spPr>
        <p:txBody>
          <a:bodyPr wrap="square" lIns="0" rIns="0" tIns="0" bIns="0" anchor="t">
            <a:spAutoFit/>
          </a:bodyPr>
          <a:lstStyle/>
          <a:p>
            <a:pPr algn="l">
              <a:lnSpc>
                <a:spcPct val="100000"/>
              </a:lnSpc>
              <a:spcBef>
                <a:spcPts val="0"/>
              </a:spcBef>
              <a:spcAft>
                <a:spcPts val="0"/>
              </a:spcAft>
            </a:pPr>
            <a:r>
              <a:rPr sz="4400" b="1" i="0">
                <a:solidFill>
                  <a:srgbClr val="FFFFFF"/>
                </a:solidFill>
                <a:latin typeface="Marianne"/>
              </a:rPr>
              <a:t>Accompagner l’adoption</a:t>
            </a:r>
          </a:p>
          <a:p>
            <a:pPr algn="l">
              <a:lnSpc>
                <a:spcPct val="100000"/>
              </a:lnSpc>
              <a:spcBef>
                <a:spcPts val="0"/>
              </a:spcBef>
              <a:spcAft>
                <a:spcPts val="0"/>
              </a:spcAft>
            </a:pPr>
            <a:r>
              <a:rPr sz="4400" b="1" i="0">
                <a:solidFill>
                  <a:srgbClr val="FFFFFF"/>
                </a:solidFill>
                <a:latin typeface="Marianne"/>
              </a:rPr>
              <a:t>de l’IA</a:t>
            </a:r>
          </a:p>
        </p:txBody>
      </p:sp>
      <p:sp>
        <p:nvSpPr>
          <p:cNvPr id="9" name="TextBox 8"/>
          <p:cNvSpPr txBox="1"/>
          <p:nvPr/>
        </p:nvSpPr>
        <p:spPr>
          <a:xfrm>
            <a:off x="1399032" y="5349240"/>
            <a:ext cx="9509760" cy="640080"/>
          </a:xfrm>
          <a:prstGeom prst="rect">
            <a:avLst/>
          </a:prstGeom>
          <a:noFill/>
        </p:spPr>
        <p:txBody>
          <a:bodyPr wrap="square" lIns="0" rIns="0" tIns="0" bIns="0" anchor="t">
            <a:spAutoFit/>
          </a:bodyPr>
          <a:lstStyle/>
          <a:p>
            <a:pPr algn="l">
              <a:lnSpc>
                <a:spcPct val="106000"/>
              </a:lnSpc>
              <a:spcBef>
                <a:spcPts val="0"/>
              </a:spcBef>
              <a:spcAft>
                <a:spcPts val="0"/>
              </a:spcAft>
            </a:pPr>
            <a:r>
              <a:rPr sz="2000" b="0" i="0">
                <a:solidFill>
                  <a:srgbClr val="FFFFFF"/>
                </a:solidFill>
                <a:latin typeface="Marianne"/>
              </a:rPr>
              <a:t>Point d’étape — enjeux, exploration et plan d’action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777240" y="274320"/>
            <a:ext cx="987918" cy="676656"/>
          </a:xfrm>
          <a:prstGeom prst="rect">
            <a:avLst/>
          </a:prstGeom>
        </p:spPr>
      </p:pic>
      <p:sp>
        <p:nvSpPr>
          <p:cNvPr id="4" name="TextBox 3"/>
          <p:cNvSpPr txBox="1"/>
          <p:nvPr/>
        </p:nvSpPr>
        <p:spPr>
          <a:xfrm>
            <a:off x="7573975" y="274320"/>
            <a:ext cx="3840480" cy="640080"/>
          </a:xfrm>
          <a:prstGeom prst="rect">
            <a:avLst/>
          </a:prstGeom>
          <a:noFill/>
        </p:spPr>
        <p:txBody>
          <a:bodyPr wrap="square" lIns="0" rIns="0" tIns="0" bIns="0" anchor="t">
            <a:spAutoFit/>
          </a:bodyPr>
          <a:lstStyle/>
          <a:p>
            <a:pPr algn="r">
              <a:lnSpc>
                <a:spcPct val="105000"/>
              </a:lnSpc>
              <a:spcBef>
                <a:spcPts val="0"/>
              </a:spcBef>
              <a:spcAft>
                <a:spcPts val="0"/>
              </a:spcAft>
            </a:pPr>
            <a:r>
              <a:rPr sz="1350" b="1" i="0">
                <a:solidFill>
                  <a:srgbClr val="161616"/>
                </a:solidFill>
                <a:latin typeface="Marianne"/>
              </a:rPr>
              <a:t>Secrétariat général</a:t>
            </a:r>
          </a:p>
          <a:p>
            <a:pPr algn="r">
              <a:lnSpc>
                <a:spcPct val="105000"/>
              </a:lnSpc>
              <a:spcBef>
                <a:spcPts val="0"/>
              </a:spcBef>
              <a:spcAft>
                <a:spcPts val="0"/>
              </a:spcAft>
            </a:pPr>
            <a:r>
              <a:rPr sz="1350" b="0" i="0">
                <a:solidFill>
                  <a:srgbClr val="3A3A3A"/>
                </a:solidFill>
                <a:latin typeface="Marianne"/>
              </a:rPr>
              <a:t>Direction du numérique</a:t>
            </a:r>
          </a:p>
        </p:txBody>
      </p:sp>
      <p:cxnSp>
        <p:nvCxnSpPr>
          <p:cNvPr id="5" name="Connector 4"/>
          <p:cNvCxnSpPr/>
          <p:nvPr/>
        </p:nvCxnSpPr>
        <p:spPr>
          <a:xfrm>
            <a:off x="0" y="1005840"/>
            <a:ext cx="12191695"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6437376"/>
            <a:ext cx="5486400" cy="274320"/>
          </a:xfrm>
          <a:prstGeom prst="rect">
            <a:avLst/>
          </a:prstGeom>
          <a:noFill/>
        </p:spPr>
        <p:txBody>
          <a:bodyPr wrap="square" lIns="0" rIns="0" tIns="0" bIns="0" anchor="t">
            <a:spAutoFit/>
          </a:bodyPr>
          <a:lstStyle/>
          <a:p>
            <a:pPr algn="l">
              <a:lnSpc>
                <a:spcPct val="106000"/>
              </a:lnSpc>
              <a:spcBef>
                <a:spcPts val="0"/>
              </a:spcBef>
              <a:spcAft>
                <a:spcPts val="0"/>
              </a:spcAft>
            </a:pPr>
            <a:r>
              <a:rPr sz="1100" b="0" i="0">
                <a:solidFill>
                  <a:srgbClr val="6A6A6A"/>
                </a:solidFill>
                <a:latin typeface="Marianne"/>
              </a:rPr>
              <a:t>Ministères Sociaux – 25/06/2026</a:t>
            </a:r>
          </a:p>
        </p:txBody>
      </p:sp>
      <p:sp>
        <p:nvSpPr>
          <p:cNvPr id="7" name="TextBox 6"/>
          <p:cNvSpPr txBox="1"/>
          <p:nvPr/>
        </p:nvSpPr>
        <p:spPr>
          <a:xfrm>
            <a:off x="10682935" y="6437376"/>
            <a:ext cx="731520" cy="274320"/>
          </a:xfrm>
          <a:prstGeom prst="rect">
            <a:avLst/>
          </a:prstGeom>
          <a:noFill/>
        </p:spPr>
        <p:txBody>
          <a:bodyPr wrap="square" lIns="0" rIns="0" tIns="0" bIns="0" anchor="t">
            <a:spAutoFit/>
          </a:bodyPr>
          <a:lstStyle/>
          <a:p>
            <a:pPr algn="r">
              <a:lnSpc>
                <a:spcPct val="106000"/>
              </a:lnSpc>
              <a:spcBef>
                <a:spcPts val="0"/>
              </a:spcBef>
              <a:spcAft>
                <a:spcPts val="0"/>
              </a:spcAft>
            </a:pPr>
            <a:r>
              <a:rPr sz="1100" b="0" i="0">
                <a:solidFill>
                  <a:srgbClr val="6A6A6A"/>
                </a:solidFill>
                <a:latin typeface="Marianne"/>
              </a:rPr>
              <a:t>2</a:t>
            </a:r>
          </a:p>
        </p:txBody>
      </p:sp>
      <p:sp>
        <p:nvSpPr>
          <p:cNvPr id="8" name="TextBox 7"/>
          <p:cNvSpPr txBox="1"/>
          <p:nvPr/>
        </p:nvSpPr>
        <p:spPr>
          <a:xfrm>
            <a:off x="777240" y="1325880"/>
            <a:ext cx="10637215" cy="1280160"/>
          </a:xfrm>
          <a:prstGeom prst="rect">
            <a:avLst/>
          </a:prstGeom>
          <a:noFill/>
        </p:spPr>
        <p:txBody>
          <a:bodyPr wrap="square" lIns="0" rIns="0" tIns="0" bIns="0" anchor="t">
            <a:spAutoFit/>
          </a:bodyPr>
          <a:lstStyle/>
          <a:p>
            <a:pPr algn="l">
              <a:lnSpc>
                <a:spcPct val="102000"/>
              </a:lnSpc>
              <a:spcBef>
                <a:spcPts val="0"/>
              </a:spcBef>
              <a:spcAft>
                <a:spcPts val="0"/>
              </a:spcAft>
            </a:pPr>
            <a:r>
              <a:rPr sz="3300" b="1" i="0">
                <a:solidFill>
                  <a:srgbClr val="161616"/>
                </a:solidFill>
                <a:latin typeface="Marianne"/>
              </a:rPr>
              <a:t>Au programme</a:t>
            </a:r>
          </a:p>
        </p:txBody>
      </p:sp>
      <p:sp>
        <p:nvSpPr>
          <p:cNvPr id="9" name="Rounded Rectangle 8"/>
          <p:cNvSpPr/>
          <p:nvPr/>
        </p:nvSpPr>
        <p:spPr>
          <a:xfrm>
            <a:off x="777240" y="2468880"/>
            <a:ext cx="566928" cy="566928"/>
          </a:xfrm>
          <a:prstGeom prst="roundRect">
            <a:avLst>
              <a:gd name="adj" fmla="val 50000"/>
            </a:avLst>
          </a:prstGeom>
          <a:solidFill>
            <a:srgbClr val="6A6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468880"/>
            <a:ext cx="566928" cy="566928"/>
          </a:xfrm>
          <a:prstGeom prst="rect">
            <a:avLst/>
          </a:prstGeom>
          <a:noFill/>
        </p:spPr>
        <p:txBody>
          <a:bodyPr wrap="square" lIns="0" rIns="0" tIns="0" bIns="0" anchor="ctr">
            <a:spAutoFit/>
          </a:bodyPr>
          <a:lstStyle/>
          <a:p>
            <a:pPr algn="ctr">
              <a:lnSpc>
                <a:spcPct val="106000"/>
              </a:lnSpc>
              <a:spcBef>
                <a:spcPts val="0"/>
              </a:spcBef>
              <a:spcAft>
                <a:spcPts val="0"/>
              </a:spcAft>
            </a:pPr>
            <a:r>
              <a:rPr sz="2200" b="1" i="0">
                <a:solidFill>
                  <a:srgbClr val="FFFFFF"/>
                </a:solidFill>
                <a:latin typeface="Marianne"/>
              </a:rPr>
              <a:t>1</a:t>
            </a:r>
          </a:p>
        </p:txBody>
      </p:sp>
      <p:sp>
        <p:nvSpPr>
          <p:cNvPr id="11" name="TextBox 10"/>
          <p:cNvSpPr txBox="1"/>
          <p:nvPr/>
        </p:nvSpPr>
        <p:spPr>
          <a:xfrm>
            <a:off x="1645919" y="2414016"/>
            <a:ext cx="9144000" cy="731520"/>
          </a:xfrm>
          <a:prstGeom prst="rect">
            <a:avLst/>
          </a:prstGeom>
          <a:noFill/>
        </p:spPr>
        <p:txBody>
          <a:bodyPr wrap="square" lIns="0" rIns="0" tIns="0" bIns="0" anchor="t">
            <a:spAutoFit/>
          </a:bodyPr>
          <a:lstStyle/>
          <a:p>
            <a:pPr algn="l">
              <a:lnSpc>
                <a:spcPct val="106000"/>
              </a:lnSpc>
              <a:spcBef>
                <a:spcPts val="0"/>
              </a:spcBef>
              <a:spcAft>
                <a:spcPts val="0"/>
              </a:spcAft>
            </a:pPr>
            <a:r>
              <a:rPr sz="2100" b="1" i="0">
                <a:solidFill>
                  <a:srgbClr val="161616"/>
                </a:solidFill>
                <a:latin typeface="Marianne"/>
              </a:rPr>
              <a:t>Les enjeux de la mission</a:t>
            </a:r>
          </a:p>
          <a:p>
            <a:pPr algn="l">
              <a:lnSpc>
                <a:spcPct val="106000"/>
              </a:lnSpc>
              <a:spcBef>
                <a:spcPts val="300"/>
              </a:spcBef>
              <a:spcAft>
                <a:spcPts val="0"/>
              </a:spcAft>
            </a:pPr>
            <a:r>
              <a:rPr sz="1450" b="0" i="0">
                <a:solidFill>
                  <a:srgbClr val="3A3A3A"/>
                </a:solidFill>
                <a:latin typeface="Marianne"/>
              </a:rPr>
              <a:t>Ce que je dois apporter aux équipes du numérique.</a:t>
            </a:r>
          </a:p>
        </p:txBody>
      </p:sp>
      <p:sp>
        <p:nvSpPr>
          <p:cNvPr id="12" name="Rounded Rectangle 11"/>
          <p:cNvSpPr/>
          <p:nvPr/>
        </p:nvSpPr>
        <p:spPr>
          <a:xfrm>
            <a:off x="777240" y="3639312"/>
            <a:ext cx="566928" cy="566928"/>
          </a:xfrm>
          <a:prstGeom prst="roundRect">
            <a:avLst>
              <a:gd name="adj" fmla="val 50000"/>
            </a:avLst>
          </a:prstGeom>
          <a:solidFill>
            <a:srgbClr val="6A6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639312"/>
            <a:ext cx="566928" cy="566928"/>
          </a:xfrm>
          <a:prstGeom prst="rect">
            <a:avLst/>
          </a:prstGeom>
          <a:noFill/>
        </p:spPr>
        <p:txBody>
          <a:bodyPr wrap="square" lIns="0" rIns="0" tIns="0" bIns="0" anchor="ctr">
            <a:spAutoFit/>
          </a:bodyPr>
          <a:lstStyle/>
          <a:p>
            <a:pPr algn="ctr">
              <a:lnSpc>
                <a:spcPct val="106000"/>
              </a:lnSpc>
              <a:spcBef>
                <a:spcPts val="0"/>
              </a:spcBef>
              <a:spcAft>
                <a:spcPts val="0"/>
              </a:spcAft>
            </a:pPr>
            <a:r>
              <a:rPr sz="2200" b="1" i="0">
                <a:solidFill>
                  <a:srgbClr val="FFFFFF"/>
                </a:solidFill>
                <a:latin typeface="Marianne"/>
              </a:rPr>
              <a:t>2</a:t>
            </a:r>
          </a:p>
        </p:txBody>
      </p:sp>
      <p:sp>
        <p:nvSpPr>
          <p:cNvPr id="14" name="TextBox 13"/>
          <p:cNvSpPr txBox="1"/>
          <p:nvPr/>
        </p:nvSpPr>
        <p:spPr>
          <a:xfrm>
            <a:off x="1645919" y="3584448"/>
            <a:ext cx="9144000" cy="731520"/>
          </a:xfrm>
          <a:prstGeom prst="rect">
            <a:avLst/>
          </a:prstGeom>
          <a:noFill/>
        </p:spPr>
        <p:txBody>
          <a:bodyPr wrap="square" lIns="0" rIns="0" tIns="0" bIns="0" anchor="t">
            <a:spAutoFit/>
          </a:bodyPr>
          <a:lstStyle/>
          <a:p>
            <a:pPr algn="l">
              <a:lnSpc>
                <a:spcPct val="106000"/>
              </a:lnSpc>
              <a:spcBef>
                <a:spcPts val="0"/>
              </a:spcBef>
              <a:spcAft>
                <a:spcPts val="0"/>
              </a:spcAft>
            </a:pPr>
            <a:r>
              <a:rPr sz="2100" b="1" i="0">
                <a:solidFill>
                  <a:srgbClr val="161616"/>
                </a:solidFill>
                <a:latin typeface="Marianne"/>
              </a:rPr>
              <a:t>La phase d’exploration</a:t>
            </a:r>
          </a:p>
          <a:p>
            <a:pPr algn="l">
              <a:lnSpc>
                <a:spcPct val="106000"/>
              </a:lnSpc>
              <a:spcBef>
                <a:spcPts val="300"/>
              </a:spcBef>
              <a:spcAft>
                <a:spcPts val="0"/>
              </a:spcAft>
            </a:pPr>
            <a:r>
              <a:rPr sz="1450" b="0" i="0">
                <a:solidFill>
                  <a:srgbClr val="3A3A3A"/>
                </a:solidFill>
                <a:latin typeface="Marianne"/>
              </a:rPr>
              <a:t>Comprendre le terrain et observer les usages de l’IA.</a:t>
            </a:r>
          </a:p>
        </p:txBody>
      </p:sp>
      <p:sp>
        <p:nvSpPr>
          <p:cNvPr id="15" name="Rounded Rectangle 14"/>
          <p:cNvSpPr/>
          <p:nvPr/>
        </p:nvSpPr>
        <p:spPr>
          <a:xfrm>
            <a:off x="777240" y="4809744"/>
            <a:ext cx="566928" cy="566928"/>
          </a:xfrm>
          <a:prstGeom prst="roundRect">
            <a:avLst>
              <a:gd name="adj" fmla="val 50000"/>
            </a:avLst>
          </a:prstGeom>
          <a:solidFill>
            <a:srgbClr val="6A6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4809744"/>
            <a:ext cx="566928" cy="566928"/>
          </a:xfrm>
          <a:prstGeom prst="rect">
            <a:avLst/>
          </a:prstGeom>
          <a:noFill/>
        </p:spPr>
        <p:txBody>
          <a:bodyPr wrap="square" lIns="0" rIns="0" tIns="0" bIns="0" anchor="ctr">
            <a:spAutoFit/>
          </a:bodyPr>
          <a:lstStyle/>
          <a:p>
            <a:pPr algn="ctr">
              <a:lnSpc>
                <a:spcPct val="106000"/>
              </a:lnSpc>
              <a:spcBef>
                <a:spcPts val="0"/>
              </a:spcBef>
              <a:spcAft>
                <a:spcPts val="0"/>
              </a:spcAft>
            </a:pPr>
            <a:r>
              <a:rPr sz="2200" b="1" i="0">
                <a:solidFill>
                  <a:srgbClr val="FFFFFF"/>
                </a:solidFill>
                <a:latin typeface="Marianne"/>
              </a:rPr>
              <a:t>3</a:t>
            </a:r>
          </a:p>
        </p:txBody>
      </p:sp>
      <p:sp>
        <p:nvSpPr>
          <p:cNvPr id="17" name="TextBox 16"/>
          <p:cNvSpPr txBox="1"/>
          <p:nvPr/>
        </p:nvSpPr>
        <p:spPr>
          <a:xfrm>
            <a:off x="1645919" y="4754880"/>
            <a:ext cx="9144000" cy="731520"/>
          </a:xfrm>
          <a:prstGeom prst="rect">
            <a:avLst/>
          </a:prstGeom>
          <a:noFill/>
        </p:spPr>
        <p:txBody>
          <a:bodyPr wrap="square" lIns="0" rIns="0" tIns="0" bIns="0" anchor="t">
            <a:spAutoFit/>
          </a:bodyPr>
          <a:lstStyle/>
          <a:p>
            <a:pPr algn="l">
              <a:lnSpc>
                <a:spcPct val="106000"/>
              </a:lnSpc>
              <a:spcBef>
                <a:spcPts val="0"/>
              </a:spcBef>
              <a:spcAft>
                <a:spcPts val="0"/>
              </a:spcAft>
            </a:pPr>
            <a:r>
              <a:rPr sz="2100" b="1" i="0">
                <a:solidFill>
                  <a:srgbClr val="161616"/>
                </a:solidFill>
                <a:latin typeface="Marianne"/>
              </a:rPr>
              <a:t>Le plan d’action</a:t>
            </a:r>
          </a:p>
          <a:p>
            <a:pPr algn="l">
              <a:lnSpc>
                <a:spcPct val="106000"/>
              </a:lnSpc>
              <a:spcBef>
                <a:spcPts val="300"/>
              </a:spcBef>
              <a:spcAft>
                <a:spcPts val="0"/>
              </a:spcAft>
            </a:pPr>
            <a:r>
              <a:rPr sz="1450" b="0" i="0">
                <a:solidFill>
                  <a:srgbClr val="3A3A3A"/>
                </a:solidFill>
                <a:latin typeface="Marianne"/>
              </a:rPr>
              <a:t>Trois horizons : court, moyen et long terme.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777240" y="274320"/>
            <a:ext cx="987918" cy="676656"/>
          </a:xfrm>
          <a:prstGeom prst="rect">
            <a:avLst/>
          </a:prstGeom>
        </p:spPr>
      </p:pic>
      <p:sp>
        <p:nvSpPr>
          <p:cNvPr id="4" name="TextBox 3"/>
          <p:cNvSpPr txBox="1"/>
          <p:nvPr/>
        </p:nvSpPr>
        <p:spPr>
          <a:xfrm>
            <a:off x="7573975" y="274320"/>
            <a:ext cx="3840480" cy="640080"/>
          </a:xfrm>
          <a:prstGeom prst="rect">
            <a:avLst/>
          </a:prstGeom>
          <a:noFill/>
        </p:spPr>
        <p:txBody>
          <a:bodyPr wrap="square" lIns="0" rIns="0" tIns="0" bIns="0" anchor="t">
            <a:spAutoFit/>
          </a:bodyPr>
          <a:lstStyle/>
          <a:p>
            <a:pPr algn="r">
              <a:lnSpc>
                <a:spcPct val="105000"/>
              </a:lnSpc>
              <a:spcBef>
                <a:spcPts val="0"/>
              </a:spcBef>
              <a:spcAft>
                <a:spcPts val="0"/>
              </a:spcAft>
            </a:pPr>
            <a:r>
              <a:rPr sz="1350" b="1" i="0">
                <a:solidFill>
                  <a:srgbClr val="161616"/>
                </a:solidFill>
                <a:latin typeface="Marianne"/>
              </a:rPr>
              <a:t>Secrétariat général</a:t>
            </a:r>
          </a:p>
          <a:p>
            <a:pPr algn="r">
              <a:lnSpc>
                <a:spcPct val="105000"/>
              </a:lnSpc>
              <a:spcBef>
                <a:spcPts val="0"/>
              </a:spcBef>
              <a:spcAft>
                <a:spcPts val="0"/>
              </a:spcAft>
            </a:pPr>
            <a:r>
              <a:rPr sz="1350" b="0" i="0">
                <a:solidFill>
                  <a:srgbClr val="3A3A3A"/>
                </a:solidFill>
                <a:latin typeface="Marianne"/>
              </a:rPr>
              <a:t>Direction du numérique</a:t>
            </a:r>
          </a:p>
        </p:txBody>
      </p:sp>
      <p:cxnSp>
        <p:nvCxnSpPr>
          <p:cNvPr id="5" name="Connector 4"/>
          <p:cNvCxnSpPr/>
          <p:nvPr/>
        </p:nvCxnSpPr>
        <p:spPr>
          <a:xfrm>
            <a:off x="0" y="1005840"/>
            <a:ext cx="12191695"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6437376"/>
            <a:ext cx="5486400" cy="274320"/>
          </a:xfrm>
          <a:prstGeom prst="rect">
            <a:avLst/>
          </a:prstGeom>
          <a:noFill/>
        </p:spPr>
        <p:txBody>
          <a:bodyPr wrap="square" lIns="0" rIns="0" tIns="0" bIns="0" anchor="t">
            <a:spAutoFit/>
          </a:bodyPr>
          <a:lstStyle/>
          <a:p>
            <a:pPr algn="l">
              <a:lnSpc>
                <a:spcPct val="106000"/>
              </a:lnSpc>
              <a:spcBef>
                <a:spcPts val="0"/>
              </a:spcBef>
              <a:spcAft>
                <a:spcPts val="0"/>
              </a:spcAft>
            </a:pPr>
            <a:r>
              <a:rPr sz="1100" b="0" i="0">
                <a:solidFill>
                  <a:srgbClr val="6A6A6A"/>
                </a:solidFill>
                <a:latin typeface="Marianne"/>
              </a:rPr>
              <a:t>Ministères Sociaux – 25/06/2026</a:t>
            </a:r>
          </a:p>
        </p:txBody>
      </p:sp>
      <p:sp>
        <p:nvSpPr>
          <p:cNvPr id="7" name="TextBox 6"/>
          <p:cNvSpPr txBox="1"/>
          <p:nvPr/>
        </p:nvSpPr>
        <p:spPr>
          <a:xfrm>
            <a:off x="777240" y="1188720"/>
            <a:ext cx="10637215" cy="4937760"/>
          </a:xfrm>
          <a:prstGeom prst="rect">
            <a:avLst/>
          </a:prstGeom>
          <a:noFill/>
        </p:spPr>
        <p:txBody>
          <a:bodyPr wrap="square" lIns="0" rIns="0" tIns="0" bIns="0" anchor="ctr">
            <a:spAutoFit/>
          </a:bodyPr>
          <a:lstStyle/>
          <a:p>
            <a:pPr algn="ctr">
              <a:lnSpc>
                <a:spcPct val="106000"/>
              </a:lnSpc>
              <a:spcBef>
                <a:spcPts val="0"/>
              </a:spcBef>
              <a:spcAft>
                <a:spcPts val="1400"/>
              </a:spcAft>
            </a:pPr>
            <a:r>
              <a:rPr sz="2000" b="1" i="0">
                <a:solidFill>
                  <a:srgbClr val="6A6AF4"/>
                </a:solidFill>
                <a:latin typeface="Marianne"/>
              </a:rPr>
              <a:t>01</a:t>
            </a:r>
          </a:p>
          <a:p>
            <a:pPr algn="ctr">
              <a:lnSpc>
                <a:spcPct val="100000"/>
              </a:lnSpc>
              <a:spcBef>
                <a:spcPts val="0"/>
              </a:spcBef>
              <a:spcAft>
                <a:spcPts val="0"/>
              </a:spcAft>
            </a:pPr>
            <a:r>
              <a:rPr sz="4600" b="1" i="0">
                <a:solidFill>
                  <a:srgbClr val="161616"/>
                </a:solidFill>
                <a:latin typeface="Marianne"/>
              </a:rPr>
              <a:t>Les enjeux</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777240" y="274320"/>
            <a:ext cx="987918" cy="676656"/>
          </a:xfrm>
          <a:prstGeom prst="rect">
            <a:avLst/>
          </a:prstGeom>
        </p:spPr>
      </p:pic>
      <p:sp>
        <p:nvSpPr>
          <p:cNvPr id="4" name="TextBox 3"/>
          <p:cNvSpPr txBox="1"/>
          <p:nvPr/>
        </p:nvSpPr>
        <p:spPr>
          <a:xfrm>
            <a:off x="7573975" y="274320"/>
            <a:ext cx="3840480" cy="640080"/>
          </a:xfrm>
          <a:prstGeom prst="rect">
            <a:avLst/>
          </a:prstGeom>
          <a:noFill/>
        </p:spPr>
        <p:txBody>
          <a:bodyPr wrap="square" lIns="0" rIns="0" tIns="0" bIns="0" anchor="t">
            <a:spAutoFit/>
          </a:bodyPr>
          <a:lstStyle/>
          <a:p>
            <a:pPr algn="r">
              <a:lnSpc>
                <a:spcPct val="105000"/>
              </a:lnSpc>
              <a:spcBef>
                <a:spcPts val="0"/>
              </a:spcBef>
              <a:spcAft>
                <a:spcPts val="0"/>
              </a:spcAft>
            </a:pPr>
            <a:r>
              <a:rPr sz="1350" b="1" i="0">
                <a:solidFill>
                  <a:srgbClr val="161616"/>
                </a:solidFill>
                <a:latin typeface="Marianne"/>
              </a:rPr>
              <a:t>Secrétariat général</a:t>
            </a:r>
          </a:p>
          <a:p>
            <a:pPr algn="r">
              <a:lnSpc>
                <a:spcPct val="105000"/>
              </a:lnSpc>
              <a:spcBef>
                <a:spcPts val="0"/>
              </a:spcBef>
              <a:spcAft>
                <a:spcPts val="0"/>
              </a:spcAft>
            </a:pPr>
            <a:r>
              <a:rPr sz="1350" b="0" i="0">
                <a:solidFill>
                  <a:srgbClr val="3A3A3A"/>
                </a:solidFill>
                <a:latin typeface="Marianne"/>
              </a:rPr>
              <a:t>Direction du numérique</a:t>
            </a:r>
          </a:p>
        </p:txBody>
      </p:sp>
      <p:cxnSp>
        <p:nvCxnSpPr>
          <p:cNvPr id="5" name="Connector 4"/>
          <p:cNvCxnSpPr/>
          <p:nvPr/>
        </p:nvCxnSpPr>
        <p:spPr>
          <a:xfrm>
            <a:off x="0" y="1005840"/>
            <a:ext cx="12191695"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6437376"/>
            <a:ext cx="5486400" cy="274320"/>
          </a:xfrm>
          <a:prstGeom prst="rect">
            <a:avLst/>
          </a:prstGeom>
          <a:noFill/>
        </p:spPr>
        <p:txBody>
          <a:bodyPr wrap="square" lIns="0" rIns="0" tIns="0" bIns="0" anchor="t">
            <a:spAutoFit/>
          </a:bodyPr>
          <a:lstStyle/>
          <a:p>
            <a:pPr algn="l">
              <a:lnSpc>
                <a:spcPct val="106000"/>
              </a:lnSpc>
              <a:spcBef>
                <a:spcPts val="0"/>
              </a:spcBef>
              <a:spcAft>
                <a:spcPts val="0"/>
              </a:spcAft>
            </a:pPr>
            <a:r>
              <a:rPr sz="1100" b="0" i="0">
                <a:solidFill>
                  <a:srgbClr val="6A6A6A"/>
                </a:solidFill>
                <a:latin typeface="Marianne"/>
              </a:rPr>
              <a:t>Ministères Sociaux – 25/06/2026</a:t>
            </a:r>
          </a:p>
        </p:txBody>
      </p:sp>
      <p:sp>
        <p:nvSpPr>
          <p:cNvPr id="7" name="TextBox 6"/>
          <p:cNvSpPr txBox="1"/>
          <p:nvPr/>
        </p:nvSpPr>
        <p:spPr>
          <a:xfrm>
            <a:off x="10682935" y="6437376"/>
            <a:ext cx="731520" cy="274320"/>
          </a:xfrm>
          <a:prstGeom prst="rect">
            <a:avLst/>
          </a:prstGeom>
          <a:noFill/>
        </p:spPr>
        <p:txBody>
          <a:bodyPr wrap="square" lIns="0" rIns="0" tIns="0" bIns="0" anchor="t">
            <a:spAutoFit/>
          </a:bodyPr>
          <a:lstStyle/>
          <a:p>
            <a:pPr algn="r">
              <a:lnSpc>
                <a:spcPct val="106000"/>
              </a:lnSpc>
              <a:spcBef>
                <a:spcPts val="0"/>
              </a:spcBef>
              <a:spcAft>
                <a:spcPts val="0"/>
              </a:spcAft>
            </a:pPr>
            <a:r>
              <a:rPr sz="1100" b="0" i="0">
                <a:solidFill>
                  <a:srgbClr val="6A6A6A"/>
                </a:solidFill>
                <a:latin typeface="Marianne"/>
              </a:rPr>
              <a:t>4</a:t>
            </a:r>
          </a:p>
        </p:txBody>
      </p:sp>
      <p:sp>
        <p:nvSpPr>
          <p:cNvPr id="8" name="TextBox 7"/>
          <p:cNvSpPr txBox="1"/>
          <p:nvPr/>
        </p:nvSpPr>
        <p:spPr>
          <a:xfrm>
            <a:off x="777240" y="1325880"/>
            <a:ext cx="10637215" cy="1280160"/>
          </a:xfrm>
          <a:prstGeom prst="rect">
            <a:avLst/>
          </a:prstGeom>
          <a:noFill/>
        </p:spPr>
        <p:txBody>
          <a:bodyPr wrap="square" lIns="0" rIns="0" tIns="0" bIns="0" anchor="t">
            <a:spAutoFit/>
          </a:bodyPr>
          <a:lstStyle/>
          <a:p>
            <a:pPr algn="l">
              <a:lnSpc>
                <a:spcPct val="102000"/>
              </a:lnSpc>
              <a:spcBef>
                <a:spcPts val="0"/>
              </a:spcBef>
              <a:spcAft>
                <a:spcPts val="0"/>
              </a:spcAft>
            </a:pPr>
            <a:r>
              <a:rPr sz="3300" b="1" i="0">
                <a:solidFill>
                  <a:srgbClr val="161616"/>
                </a:solidFill>
                <a:latin typeface="Marianne"/>
              </a:rPr>
              <a:t>Les enjeux</a:t>
            </a:r>
          </a:p>
        </p:txBody>
      </p:sp>
      <p:sp>
        <p:nvSpPr>
          <p:cNvPr id="9" name="TextBox 8"/>
          <p:cNvSpPr txBox="1"/>
          <p:nvPr/>
        </p:nvSpPr>
        <p:spPr>
          <a:xfrm>
            <a:off x="777240" y="1993392"/>
            <a:ext cx="10637215" cy="457200"/>
          </a:xfrm>
          <a:prstGeom prst="rect">
            <a:avLst/>
          </a:prstGeom>
          <a:noFill/>
        </p:spPr>
        <p:txBody>
          <a:bodyPr wrap="square" lIns="0" rIns="0" tIns="0" bIns="0" anchor="t">
            <a:spAutoFit/>
          </a:bodyPr>
          <a:lstStyle/>
          <a:p>
            <a:pPr algn="l">
              <a:lnSpc>
                <a:spcPct val="106000"/>
              </a:lnSpc>
              <a:spcBef>
                <a:spcPts val="0"/>
              </a:spcBef>
              <a:spcAft>
                <a:spcPts val="0"/>
              </a:spcAft>
            </a:pPr>
            <a:r>
              <a:rPr sz="1650" b="0" i="0">
                <a:solidFill>
                  <a:srgbClr val="3A3A3A"/>
                </a:solidFill>
                <a:latin typeface="Marianne"/>
              </a:rPr>
              <a:t>Faire de l’IA un levier concret pour les métiers du numérique.</a:t>
            </a:r>
          </a:p>
        </p:txBody>
      </p:sp>
      <p:sp>
        <p:nvSpPr>
          <p:cNvPr id="10" name="Rounded Rectangle 9"/>
          <p:cNvSpPr/>
          <p:nvPr/>
        </p:nvSpPr>
        <p:spPr>
          <a:xfrm>
            <a:off x="777240" y="2651760"/>
            <a:ext cx="3271418" cy="2697480"/>
          </a:xfrm>
          <a:prstGeom prst="roundRect">
            <a:avLst>
              <a:gd name="adj" fmla="val 5000"/>
            </a:avLst>
          </a:prstGeom>
          <a:solidFill>
            <a:srgbClr val="ECE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earch-eye.png"/>
          <p:cNvPicPr>
            <a:picLocks noChangeAspect="1"/>
          </p:cNvPicPr>
          <p:nvPr/>
        </p:nvPicPr>
        <p:blipFill>
          <a:blip r:embed="rId3"/>
          <a:stretch>
            <a:fillRect/>
          </a:stretch>
        </p:blipFill>
        <p:spPr>
          <a:xfrm>
            <a:off x="1088136" y="2962656"/>
            <a:ext cx="548640" cy="548640"/>
          </a:xfrm>
          <a:prstGeom prst="rect">
            <a:avLst/>
          </a:prstGeom>
        </p:spPr>
      </p:pic>
      <p:sp>
        <p:nvSpPr>
          <p:cNvPr id="12" name="TextBox 11"/>
          <p:cNvSpPr txBox="1"/>
          <p:nvPr/>
        </p:nvSpPr>
        <p:spPr>
          <a:xfrm>
            <a:off x="1088136" y="3694176"/>
            <a:ext cx="2686202" cy="1508760"/>
          </a:xfrm>
          <a:prstGeom prst="rect">
            <a:avLst/>
          </a:prstGeom>
          <a:noFill/>
        </p:spPr>
        <p:txBody>
          <a:bodyPr wrap="square" lIns="0" rIns="0" tIns="0" bIns="0" anchor="t">
            <a:spAutoFit/>
          </a:bodyPr>
          <a:lstStyle/>
          <a:p>
            <a:pPr algn="l">
              <a:lnSpc>
                <a:spcPct val="102000"/>
              </a:lnSpc>
              <a:spcBef>
                <a:spcPts val="0"/>
              </a:spcBef>
              <a:spcAft>
                <a:spcPts val="600"/>
              </a:spcAft>
            </a:pPr>
            <a:r>
              <a:rPr sz="1850" b="1" i="0">
                <a:solidFill>
                  <a:srgbClr val="000091"/>
                </a:solidFill>
                <a:latin typeface="Marianne"/>
              </a:rPr>
              <a:t>Identifier les usages</a:t>
            </a:r>
          </a:p>
          <a:p>
            <a:pPr algn="l">
              <a:lnSpc>
                <a:spcPct val="110000"/>
              </a:lnSpc>
              <a:spcBef>
                <a:spcPts val="0"/>
              </a:spcBef>
              <a:spcAft>
                <a:spcPts val="0"/>
              </a:spcAft>
            </a:pPr>
            <a:r>
              <a:rPr sz="1450" b="0" i="0">
                <a:solidFill>
                  <a:srgbClr val="3A3A3A"/>
                </a:solidFill>
                <a:latin typeface="Marianne"/>
              </a:rPr>
              <a:t>Repérer les cas d’usage IA pour chaque métier.</a:t>
            </a:r>
          </a:p>
          <a:p>
            <a:pPr algn="l">
              <a:lnSpc>
                <a:spcPct val="108000"/>
              </a:lnSpc>
              <a:spcBef>
                <a:spcPts val="600"/>
              </a:spcBef>
              <a:spcAft>
                <a:spcPts val="0"/>
              </a:spcAft>
            </a:pPr>
            <a:r>
              <a:rPr sz="1300" b="0" i="1">
                <a:solidFill>
                  <a:srgbClr val="6A6A6A"/>
                </a:solidFill>
                <a:latin typeface="Marianne"/>
              </a:rPr>
              <a:t>Architectes, chefs de projet, designers, développeurs.</a:t>
            </a:r>
          </a:p>
        </p:txBody>
      </p:sp>
      <p:sp>
        <p:nvSpPr>
          <p:cNvPr id="13" name="Rounded Rectangle 12"/>
          <p:cNvSpPr/>
          <p:nvPr/>
        </p:nvSpPr>
        <p:spPr>
          <a:xfrm>
            <a:off x="4460138" y="2651760"/>
            <a:ext cx="3271418" cy="2697480"/>
          </a:xfrm>
          <a:prstGeom prst="roundRect">
            <a:avLst>
              <a:gd name="adj" fmla="val 5000"/>
            </a:avLst>
          </a:prstGeom>
          <a:solidFill>
            <a:srgbClr val="ECE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user-follow.png"/>
          <p:cNvPicPr>
            <a:picLocks noChangeAspect="1"/>
          </p:cNvPicPr>
          <p:nvPr/>
        </p:nvPicPr>
        <p:blipFill>
          <a:blip r:embed="rId4"/>
          <a:stretch>
            <a:fillRect/>
          </a:stretch>
        </p:blipFill>
        <p:spPr>
          <a:xfrm>
            <a:off x="4771034" y="2962656"/>
            <a:ext cx="548640" cy="548640"/>
          </a:xfrm>
          <a:prstGeom prst="rect">
            <a:avLst/>
          </a:prstGeom>
        </p:spPr>
      </p:pic>
      <p:sp>
        <p:nvSpPr>
          <p:cNvPr id="15" name="TextBox 14"/>
          <p:cNvSpPr txBox="1"/>
          <p:nvPr/>
        </p:nvSpPr>
        <p:spPr>
          <a:xfrm>
            <a:off x="4771034" y="3694176"/>
            <a:ext cx="2686202" cy="1508760"/>
          </a:xfrm>
          <a:prstGeom prst="rect">
            <a:avLst/>
          </a:prstGeom>
          <a:noFill/>
        </p:spPr>
        <p:txBody>
          <a:bodyPr wrap="square" lIns="0" rIns="0" tIns="0" bIns="0" anchor="t">
            <a:spAutoFit/>
          </a:bodyPr>
          <a:lstStyle/>
          <a:p>
            <a:pPr algn="l">
              <a:lnSpc>
                <a:spcPct val="102000"/>
              </a:lnSpc>
              <a:spcBef>
                <a:spcPts val="0"/>
              </a:spcBef>
              <a:spcAft>
                <a:spcPts val="600"/>
              </a:spcAft>
            </a:pPr>
            <a:r>
              <a:rPr sz="1850" b="1" i="0">
                <a:solidFill>
                  <a:srgbClr val="000091"/>
                </a:solidFill>
                <a:latin typeface="Marianne"/>
              </a:rPr>
              <a:t>Accompagner la maîtrise</a:t>
            </a:r>
          </a:p>
          <a:p>
            <a:pPr algn="l">
              <a:lnSpc>
                <a:spcPct val="110000"/>
              </a:lnSpc>
              <a:spcBef>
                <a:spcPts val="0"/>
              </a:spcBef>
              <a:spcAft>
                <a:spcPts val="0"/>
              </a:spcAft>
            </a:pPr>
            <a:r>
              <a:rPr sz="1450" b="0" i="0">
                <a:solidFill>
                  <a:srgbClr val="3A3A3A"/>
                </a:solidFill>
                <a:latin typeface="Marianne"/>
              </a:rPr>
              <a:t>Aider les équipes à s’approprier des cas concrets.</a:t>
            </a:r>
          </a:p>
          <a:p>
            <a:pPr algn="l">
              <a:lnSpc>
                <a:spcPct val="108000"/>
              </a:lnSpc>
              <a:spcBef>
                <a:spcPts val="600"/>
              </a:spcBef>
              <a:spcAft>
                <a:spcPts val="0"/>
              </a:spcAft>
            </a:pPr>
            <a:r>
              <a:rPr sz="1300" b="0" i="1">
                <a:solidFill>
                  <a:srgbClr val="6A6A6A"/>
                </a:solidFill>
                <a:latin typeface="Marianne"/>
              </a:rPr>
              <a:t>Passer de l’essai isolé à une pratique maîtrisée.</a:t>
            </a:r>
          </a:p>
        </p:txBody>
      </p:sp>
      <p:sp>
        <p:nvSpPr>
          <p:cNvPr id="16" name="Rounded Rectangle 15"/>
          <p:cNvSpPr/>
          <p:nvPr/>
        </p:nvSpPr>
        <p:spPr>
          <a:xfrm>
            <a:off x="8143036" y="2651760"/>
            <a:ext cx="3271418" cy="2697480"/>
          </a:xfrm>
          <a:prstGeom prst="roundRect">
            <a:avLst>
              <a:gd name="adj" fmla="val 5000"/>
            </a:avLst>
          </a:prstGeom>
          <a:solidFill>
            <a:srgbClr val="ECE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megaphone.png"/>
          <p:cNvPicPr>
            <a:picLocks noChangeAspect="1"/>
          </p:cNvPicPr>
          <p:nvPr/>
        </p:nvPicPr>
        <p:blipFill>
          <a:blip r:embed="rId5"/>
          <a:stretch>
            <a:fillRect/>
          </a:stretch>
        </p:blipFill>
        <p:spPr>
          <a:xfrm>
            <a:off x="8453932" y="2962656"/>
            <a:ext cx="548640" cy="548640"/>
          </a:xfrm>
          <a:prstGeom prst="rect">
            <a:avLst/>
          </a:prstGeom>
        </p:spPr>
      </p:pic>
      <p:sp>
        <p:nvSpPr>
          <p:cNvPr id="18" name="TextBox 17"/>
          <p:cNvSpPr txBox="1"/>
          <p:nvPr/>
        </p:nvSpPr>
        <p:spPr>
          <a:xfrm>
            <a:off x="8453932" y="3694176"/>
            <a:ext cx="2686202" cy="1508760"/>
          </a:xfrm>
          <a:prstGeom prst="rect">
            <a:avLst/>
          </a:prstGeom>
          <a:noFill/>
        </p:spPr>
        <p:txBody>
          <a:bodyPr wrap="square" lIns="0" rIns="0" tIns="0" bIns="0" anchor="t">
            <a:spAutoFit/>
          </a:bodyPr>
          <a:lstStyle/>
          <a:p>
            <a:pPr algn="l">
              <a:lnSpc>
                <a:spcPct val="102000"/>
              </a:lnSpc>
              <a:spcBef>
                <a:spcPts val="0"/>
              </a:spcBef>
              <a:spcAft>
                <a:spcPts val="600"/>
              </a:spcAft>
            </a:pPr>
            <a:r>
              <a:rPr sz="1850" b="1" i="0">
                <a:solidFill>
                  <a:srgbClr val="000091"/>
                </a:solidFill>
                <a:latin typeface="Marianne"/>
              </a:rPr>
              <a:t>Évangéliser</a:t>
            </a:r>
          </a:p>
          <a:p>
            <a:pPr algn="l">
              <a:lnSpc>
                <a:spcPct val="110000"/>
              </a:lnSpc>
              <a:spcBef>
                <a:spcPts val="0"/>
              </a:spcBef>
              <a:spcAft>
                <a:spcPts val="0"/>
              </a:spcAft>
            </a:pPr>
            <a:r>
              <a:rPr sz="1450" b="0" i="0">
                <a:solidFill>
                  <a:srgbClr val="3A3A3A"/>
                </a:solidFill>
                <a:latin typeface="Marianne"/>
              </a:rPr>
              <a:t>Diffuser la culture et les bons réflexes de l’IA.</a:t>
            </a:r>
          </a:p>
          <a:p>
            <a:pPr algn="l">
              <a:lnSpc>
                <a:spcPct val="108000"/>
              </a:lnSpc>
              <a:spcBef>
                <a:spcPts val="600"/>
              </a:spcBef>
              <a:spcAft>
                <a:spcPts val="0"/>
              </a:spcAft>
            </a:pPr>
            <a:r>
              <a:rPr sz="1300" b="0" i="1">
                <a:solidFill>
                  <a:srgbClr val="6A6A6A"/>
                </a:solidFill>
                <a:latin typeface="Marianne"/>
              </a:rPr>
              <a:t>Créer l’adhésion et l’envie d’essayer.</a:t>
            </a:r>
          </a:p>
        </p:txBody>
      </p:sp>
      <p:sp>
        <p:nvSpPr>
          <p:cNvPr id="19" name="TextBox 18"/>
          <p:cNvSpPr txBox="1"/>
          <p:nvPr/>
        </p:nvSpPr>
        <p:spPr>
          <a:xfrm>
            <a:off x="777240" y="5641848"/>
            <a:ext cx="2011680" cy="457200"/>
          </a:xfrm>
          <a:prstGeom prst="rect">
            <a:avLst/>
          </a:prstGeom>
          <a:noFill/>
        </p:spPr>
        <p:txBody>
          <a:bodyPr wrap="square" lIns="0" rIns="0" tIns="0" bIns="0" anchor="ctr">
            <a:spAutoFit/>
          </a:bodyPr>
          <a:lstStyle/>
          <a:p>
            <a:pPr algn="l">
              <a:lnSpc>
                <a:spcPct val="106000"/>
              </a:lnSpc>
              <a:spcBef>
                <a:spcPts val="0"/>
              </a:spcBef>
              <a:spcAft>
                <a:spcPts val="0"/>
              </a:spcAft>
            </a:pPr>
            <a:r>
              <a:rPr sz="1400" b="1" i="0">
                <a:solidFill>
                  <a:srgbClr val="161616"/>
                </a:solidFill>
                <a:latin typeface="Marianne"/>
              </a:rPr>
              <a:t>Pour 4 métiers :</a:t>
            </a:r>
          </a:p>
        </p:txBody>
      </p:sp>
      <p:sp>
        <p:nvSpPr>
          <p:cNvPr id="20" name="Rounded Rectangle 19"/>
          <p:cNvSpPr/>
          <p:nvPr/>
        </p:nvSpPr>
        <p:spPr>
          <a:xfrm>
            <a:off x="2834640" y="5660136"/>
            <a:ext cx="1330452" cy="420624"/>
          </a:xfrm>
          <a:prstGeom prst="roundRect">
            <a:avLst>
              <a:gd name="adj" fmla="val 50000"/>
            </a:avLst>
          </a:prstGeom>
          <a:noFill/>
          <a:ln w="12700">
            <a:solidFill>
              <a:srgbClr val="6A6A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34640" y="5660136"/>
            <a:ext cx="1330452" cy="420624"/>
          </a:xfrm>
          <a:prstGeom prst="rect">
            <a:avLst/>
          </a:prstGeom>
          <a:noFill/>
        </p:spPr>
        <p:txBody>
          <a:bodyPr wrap="square" lIns="0" rIns="0" tIns="0" bIns="0" anchor="ctr">
            <a:spAutoFit/>
          </a:bodyPr>
          <a:lstStyle/>
          <a:p>
            <a:pPr algn="ctr">
              <a:lnSpc>
                <a:spcPct val="106000"/>
              </a:lnSpc>
              <a:spcBef>
                <a:spcPts val="0"/>
              </a:spcBef>
              <a:spcAft>
                <a:spcPts val="0"/>
              </a:spcAft>
            </a:pPr>
            <a:r>
              <a:rPr sz="1300" b="1" i="0">
                <a:solidFill>
                  <a:srgbClr val="000091"/>
                </a:solidFill>
                <a:latin typeface="Marianne"/>
              </a:rPr>
              <a:t>Architectes</a:t>
            </a:r>
          </a:p>
        </p:txBody>
      </p:sp>
      <p:sp>
        <p:nvSpPr>
          <p:cNvPr id="22" name="Rounded Rectangle 21"/>
          <p:cNvSpPr/>
          <p:nvPr/>
        </p:nvSpPr>
        <p:spPr>
          <a:xfrm>
            <a:off x="4366260" y="5660136"/>
            <a:ext cx="1714500" cy="420624"/>
          </a:xfrm>
          <a:prstGeom prst="roundRect">
            <a:avLst>
              <a:gd name="adj" fmla="val 50000"/>
            </a:avLst>
          </a:prstGeom>
          <a:noFill/>
          <a:ln w="12700">
            <a:solidFill>
              <a:srgbClr val="6A6A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66260" y="5660136"/>
            <a:ext cx="1714500" cy="420624"/>
          </a:xfrm>
          <a:prstGeom prst="rect">
            <a:avLst/>
          </a:prstGeom>
          <a:noFill/>
        </p:spPr>
        <p:txBody>
          <a:bodyPr wrap="square" lIns="0" rIns="0" tIns="0" bIns="0" anchor="ctr">
            <a:spAutoFit/>
          </a:bodyPr>
          <a:lstStyle/>
          <a:p>
            <a:pPr algn="ctr">
              <a:lnSpc>
                <a:spcPct val="106000"/>
              </a:lnSpc>
              <a:spcBef>
                <a:spcPts val="0"/>
              </a:spcBef>
              <a:spcAft>
                <a:spcPts val="0"/>
              </a:spcAft>
            </a:pPr>
            <a:r>
              <a:rPr sz="1300" b="1" i="0">
                <a:solidFill>
                  <a:srgbClr val="000091"/>
                </a:solidFill>
                <a:latin typeface="Marianne"/>
              </a:rPr>
              <a:t>Chefs de projet</a:t>
            </a:r>
          </a:p>
        </p:txBody>
      </p:sp>
      <p:sp>
        <p:nvSpPr>
          <p:cNvPr id="24" name="Rounded Rectangle 23"/>
          <p:cNvSpPr/>
          <p:nvPr/>
        </p:nvSpPr>
        <p:spPr>
          <a:xfrm>
            <a:off x="6281928" y="5660136"/>
            <a:ext cx="1138428" cy="420624"/>
          </a:xfrm>
          <a:prstGeom prst="roundRect">
            <a:avLst>
              <a:gd name="adj" fmla="val 50000"/>
            </a:avLst>
          </a:prstGeom>
          <a:noFill/>
          <a:ln w="12700">
            <a:solidFill>
              <a:srgbClr val="6A6A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81928" y="5660136"/>
            <a:ext cx="1138428" cy="420624"/>
          </a:xfrm>
          <a:prstGeom prst="rect">
            <a:avLst/>
          </a:prstGeom>
          <a:noFill/>
        </p:spPr>
        <p:txBody>
          <a:bodyPr wrap="square" lIns="0" rIns="0" tIns="0" bIns="0" anchor="ctr">
            <a:spAutoFit/>
          </a:bodyPr>
          <a:lstStyle/>
          <a:p>
            <a:pPr algn="ctr">
              <a:lnSpc>
                <a:spcPct val="106000"/>
              </a:lnSpc>
              <a:spcBef>
                <a:spcPts val="0"/>
              </a:spcBef>
              <a:spcAft>
                <a:spcPts val="0"/>
              </a:spcAft>
            </a:pPr>
            <a:r>
              <a:rPr sz="1300" b="1" i="0">
                <a:solidFill>
                  <a:srgbClr val="000091"/>
                </a:solidFill>
                <a:latin typeface="Marianne"/>
              </a:rPr>
              <a:t>Designers</a:t>
            </a:r>
          </a:p>
        </p:txBody>
      </p:sp>
      <p:sp>
        <p:nvSpPr>
          <p:cNvPr id="26" name="Rounded Rectangle 25"/>
          <p:cNvSpPr/>
          <p:nvPr/>
        </p:nvSpPr>
        <p:spPr>
          <a:xfrm>
            <a:off x="7621524" y="5660136"/>
            <a:ext cx="1426464" cy="420624"/>
          </a:xfrm>
          <a:prstGeom prst="roundRect">
            <a:avLst>
              <a:gd name="adj" fmla="val 50000"/>
            </a:avLst>
          </a:prstGeom>
          <a:noFill/>
          <a:ln w="12700">
            <a:solidFill>
              <a:srgbClr val="6A6A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21524" y="5660136"/>
            <a:ext cx="1426464" cy="420624"/>
          </a:xfrm>
          <a:prstGeom prst="rect">
            <a:avLst/>
          </a:prstGeom>
          <a:noFill/>
        </p:spPr>
        <p:txBody>
          <a:bodyPr wrap="square" lIns="0" rIns="0" tIns="0" bIns="0" anchor="ctr">
            <a:spAutoFit/>
          </a:bodyPr>
          <a:lstStyle/>
          <a:p>
            <a:pPr algn="ctr">
              <a:lnSpc>
                <a:spcPct val="106000"/>
              </a:lnSpc>
              <a:spcBef>
                <a:spcPts val="0"/>
              </a:spcBef>
              <a:spcAft>
                <a:spcPts val="0"/>
              </a:spcAft>
            </a:pPr>
            <a:r>
              <a:rPr sz="1300" b="1" i="0">
                <a:solidFill>
                  <a:srgbClr val="000091"/>
                </a:solidFill>
                <a:latin typeface="Marianne"/>
              </a:rPr>
              <a:t>Développeurs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777240" y="274320"/>
            <a:ext cx="987918" cy="676656"/>
          </a:xfrm>
          <a:prstGeom prst="rect">
            <a:avLst/>
          </a:prstGeom>
        </p:spPr>
      </p:pic>
      <p:sp>
        <p:nvSpPr>
          <p:cNvPr id="4" name="TextBox 3"/>
          <p:cNvSpPr txBox="1"/>
          <p:nvPr/>
        </p:nvSpPr>
        <p:spPr>
          <a:xfrm>
            <a:off x="7573975" y="274320"/>
            <a:ext cx="3840480" cy="640080"/>
          </a:xfrm>
          <a:prstGeom prst="rect">
            <a:avLst/>
          </a:prstGeom>
          <a:noFill/>
        </p:spPr>
        <p:txBody>
          <a:bodyPr wrap="square" lIns="0" rIns="0" tIns="0" bIns="0" anchor="t">
            <a:spAutoFit/>
          </a:bodyPr>
          <a:lstStyle/>
          <a:p>
            <a:pPr algn="r">
              <a:lnSpc>
                <a:spcPct val="105000"/>
              </a:lnSpc>
              <a:spcBef>
                <a:spcPts val="0"/>
              </a:spcBef>
              <a:spcAft>
                <a:spcPts val="0"/>
              </a:spcAft>
            </a:pPr>
            <a:r>
              <a:rPr sz="1350" b="1" i="0">
                <a:solidFill>
                  <a:srgbClr val="161616"/>
                </a:solidFill>
                <a:latin typeface="Marianne"/>
              </a:rPr>
              <a:t>Secrétariat général</a:t>
            </a:r>
          </a:p>
          <a:p>
            <a:pPr algn="r">
              <a:lnSpc>
                <a:spcPct val="105000"/>
              </a:lnSpc>
              <a:spcBef>
                <a:spcPts val="0"/>
              </a:spcBef>
              <a:spcAft>
                <a:spcPts val="0"/>
              </a:spcAft>
            </a:pPr>
            <a:r>
              <a:rPr sz="1350" b="0" i="0">
                <a:solidFill>
                  <a:srgbClr val="3A3A3A"/>
                </a:solidFill>
                <a:latin typeface="Marianne"/>
              </a:rPr>
              <a:t>Direction du numérique</a:t>
            </a:r>
          </a:p>
        </p:txBody>
      </p:sp>
      <p:cxnSp>
        <p:nvCxnSpPr>
          <p:cNvPr id="5" name="Connector 4"/>
          <p:cNvCxnSpPr/>
          <p:nvPr/>
        </p:nvCxnSpPr>
        <p:spPr>
          <a:xfrm>
            <a:off x="0" y="1005840"/>
            <a:ext cx="12191695"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6437376"/>
            <a:ext cx="5486400" cy="274320"/>
          </a:xfrm>
          <a:prstGeom prst="rect">
            <a:avLst/>
          </a:prstGeom>
          <a:noFill/>
        </p:spPr>
        <p:txBody>
          <a:bodyPr wrap="square" lIns="0" rIns="0" tIns="0" bIns="0" anchor="t">
            <a:spAutoFit/>
          </a:bodyPr>
          <a:lstStyle/>
          <a:p>
            <a:pPr algn="l">
              <a:lnSpc>
                <a:spcPct val="106000"/>
              </a:lnSpc>
              <a:spcBef>
                <a:spcPts val="0"/>
              </a:spcBef>
              <a:spcAft>
                <a:spcPts val="0"/>
              </a:spcAft>
            </a:pPr>
            <a:r>
              <a:rPr sz="1100" b="0" i="0">
                <a:solidFill>
                  <a:srgbClr val="6A6A6A"/>
                </a:solidFill>
                <a:latin typeface="Marianne"/>
              </a:rPr>
              <a:t>Ministères Sociaux – 25/06/2026</a:t>
            </a:r>
          </a:p>
        </p:txBody>
      </p:sp>
      <p:sp>
        <p:nvSpPr>
          <p:cNvPr id="7" name="TextBox 6"/>
          <p:cNvSpPr txBox="1"/>
          <p:nvPr/>
        </p:nvSpPr>
        <p:spPr>
          <a:xfrm>
            <a:off x="777240" y="1188720"/>
            <a:ext cx="10637215" cy="4937760"/>
          </a:xfrm>
          <a:prstGeom prst="rect">
            <a:avLst/>
          </a:prstGeom>
          <a:noFill/>
        </p:spPr>
        <p:txBody>
          <a:bodyPr wrap="square" lIns="0" rIns="0" tIns="0" bIns="0" anchor="ctr">
            <a:spAutoFit/>
          </a:bodyPr>
          <a:lstStyle/>
          <a:p>
            <a:pPr algn="ctr">
              <a:lnSpc>
                <a:spcPct val="106000"/>
              </a:lnSpc>
              <a:spcBef>
                <a:spcPts val="0"/>
              </a:spcBef>
              <a:spcAft>
                <a:spcPts val="1400"/>
              </a:spcAft>
            </a:pPr>
            <a:r>
              <a:rPr sz="2000" b="1" i="0">
                <a:solidFill>
                  <a:srgbClr val="6A6AF4"/>
                </a:solidFill>
                <a:latin typeface="Marianne"/>
              </a:rPr>
              <a:t>02</a:t>
            </a:r>
          </a:p>
          <a:p>
            <a:pPr algn="ctr">
              <a:lnSpc>
                <a:spcPct val="100000"/>
              </a:lnSpc>
              <a:spcBef>
                <a:spcPts val="0"/>
              </a:spcBef>
              <a:spcAft>
                <a:spcPts val="0"/>
              </a:spcAft>
            </a:pPr>
            <a:r>
              <a:rPr sz="4600" b="1" i="0">
                <a:solidFill>
                  <a:srgbClr val="161616"/>
                </a:solidFill>
                <a:latin typeface="Marianne"/>
              </a:rPr>
              <a:t>L’exploration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777240" y="274320"/>
            <a:ext cx="987918" cy="676656"/>
          </a:xfrm>
          <a:prstGeom prst="rect">
            <a:avLst/>
          </a:prstGeom>
        </p:spPr>
      </p:pic>
      <p:sp>
        <p:nvSpPr>
          <p:cNvPr id="4" name="TextBox 3"/>
          <p:cNvSpPr txBox="1"/>
          <p:nvPr/>
        </p:nvSpPr>
        <p:spPr>
          <a:xfrm>
            <a:off x="7573975" y="274320"/>
            <a:ext cx="3840480" cy="640080"/>
          </a:xfrm>
          <a:prstGeom prst="rect">
            <a:avLst/>
          </a:prstGeom>
          <a:noFill/>
        </p:spPr>
        <p:txBody>
          <a:bodyPr wrap="square" lIns="0" rIns="0" tIns="0" bIns="0" anchor="t">
            <a:spAutoFit/>
          </a:bodyPr>
          <a:lstStyle/>
          <a:p>
            <a:pPr algn="r">
              <a:lnSpc>
                <a:spcPct val="105000"/>
              </a:lnSpc>
              <a:spcBef>
                <a:spcPts val="0"/>
              </a:spcBef>
              <a:spcAft>
                <a:spcPts val="0"/>
              </a:spcAft>
            </a:pPr>
            <a:r>
              <a:rPr sz="1350" b="1" i="0">
                <a:solidFill>
                  <a:srgbClr val="161616"/>
                </a:solidFill>
                <a:latin typeface="Marianne"/>
              </a:rPr>
              <a:t>Secrétariat général</a:t>
            </a:r>
          </a:p>
          <a:p>
            <a:pPr algn="r">
              <a:lnSpc>
                <a:spcPct val="105000"/>
              </a:lnSpc>
              <a:spcBef>
                <a:spcPts val="0"/>
              </a:spcBef>
              <a:spcAft>
                <a:spcPts val="0"/>
              </a:spcAft>
            </a:pPr>
            <a:r>
              <a:rPr sz="1350" b="0" i="0">
                <a:solidFill>
                  <a:srgbClr val="3A3A3A"/>
                </a:solidFill>
                <a:latin typeface="Marianne"/>
              </a:rPr>
              <a:t>Direction du numérique</a:t>
            </a:r>
          </a:p>
        </p:txBody>
      </p:sp>
      <p:cxnSp>
        <p:nvCxnSpPr>
          <p:cNvPr id="5" name="Connector 4"/>
          <p:cNvCxnSpPr/>
          <p:nvPr/>
        </p:nvCxnSpPr>
        <p:spPr>
          <a:xfrm>
            <a:off x="0" y="1005840"/>
            <a:ext cx="12191695"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6437376"/>
            <a:ext cx="5486400" cy="274320"/>
          </a:xfrm>
          <a:prstGeom prst="rect">
            <a:avLst/>
          </a:prstGeom>
          <a:noFill/>
        </p:spPr>
        <p:txBody>
          <a:bodyPr wrap="square" lIns="0" rIns="0" tIns="0" bIns="0" anchor="t">
            <a:spAutoFit/>
          </a:bodyPr>
          <a:lstStyle/>
          <a:p>
            <a:pPr algn="l">
              <a:lnSpc>
                <a:spcPct val="106000"/>
              </a:lnSpc>
              <a:spcBef>
                <a:spcPts val="0"/>
              </a:spcBef>
              <a:spcAft>
                <a:spcPts val="0"/>
              </a:spcAft>
            </a:pPr>
            <a:r>
              <a:rPr sz="1100" b="0" i="0">
                <a:solidFill>
                  <a:srgbClr val="6A6A6A"/>
                </a:solidFill>
                <a:latin typeface="Marianne"/>
              </a:rPr>
              <a:t>Ministères Sociaux – 25/06/2026</a:t>
            </a:r>
          </a:p>
        </p:txBody>
      </p:sp>
      <p:sp>
        <p:nvSpPr>
          <p:cNvPr id="7" name="TextBox 6"/>
          <p:cNvSpPr txBox="1"/>
          <p:nvPr/>
        </p:nvSpPr>
        <p:spPr>
          <a:xfrm>
            <a:off x="10682935" y="6437376"/>
            <a:ext cx="731520" cy="274320"/>
          </a:xfrm>
          <a:prstGeom prst="rect">
            <a:avLst/>
          </a:prstGeom>
          <a:noFill/>
        </p:spPr>
        <p:txBody>
          <a:bodyPr wrap="square" lIns="0" rIns="0" tIns="0" bIns="0" anchor="t">
            <a:spAutoFit/>
          </a:bodyPr>
          <a:lstStyle/>
          <a:p>
            <a:pPr algn="r">
              <a:lnSpc>
                <a:spcPct val="106000"/>
              </a:lnSpc>
              <a:spcBef>
                <a:spcPts val="0"/>
              </a:spcBef>
              <a:spcAft>
                <a:spcPts val="0"/>
              </a:spcAft>
            </a:pPr>
            <a:r>
              <a:rPr sz="1100" b="0" i="0">
                <a:solidFill>
                  <a:srgbClr val="6A6A6A"/>
                </a:solidFill>
                <a:latin typeface="Marianne"/>
              </a:rPr>
              <a:t>6</a:t>
            </a:r>
          </a:p>
        </p:txBody>
      </p:sp>
      <p:sp>
        <p:nvSpPr>
          <p:cNvPr id="8" name="TextBox 7"/>
          <p:cNvSpPr txBox="1"/>
          <p:nvPr/>
        </p:nvSpPr>
        <p:spPr>
          <a:xfrm>
            <a:off x="777240" y="1325880"/>
            <a:ext cx="10637215" cy="1280160"/>
          </a:xfrm>
          <a:prstGeom prst="rect">
            <a:avLst/>
          </a:prstGeom>
          <a:noFill/>
        </p:spPr>
        <p:txBody>
          <a:bodyPr wrap="square" lIns="0" rIns="0" tIns="0" bIns="0" anchor="t">
            <a:spAutoFit/>
          </a:bodyPr>
          <a:lstStyle/>
          <a:p>
            <a:pPr algn="l">
              <a:lnSpc>
                <a:spcPct val="102000"/>
              </a:lnSpc>
              <a:spcBef>
                <a:spcPts val="0"/>
              </a:spcBef>
              <a:spcAft>
                <a:spcPts val="0"/>
              </a:spcAft>
            </a:pPr>
            <a:r>
              <a:rPr sz="3300" b="1" i="0">
                <a:solidFill>
                  <a:srgbClr val="161616"/>
                </a:solidFill>
                <a:latin typeface="Marianne"/>
              </a:rPr>
              <a:t>Aller à la rencontre du terrain</a:t>
            </a:r>
          </a:p>
        </p:txBody>
      </p:sp>
      <p:sp>
        <p:nvSpPr>
          <p:cNvPr id="9" name="Rounded Rectangle 8"/>
          <p:cNvSpPr/>
          <p:nvPr/>
        </p:nvSpPr>
        <p:spPr>
          <a:xfrm>
            <a:off x="777240" y="2148840"/>
            <a:ext cx="3271418" cy="4023360"/>
          </a:xfrm>
          <a:prstGeom prst="roundRect">
            <a:avLst>
              <a:gd name="adj" fmla="val 5000"/>
            </a:avLst>
          </a:prstGeom>
          <a:solidFill>
            <a:srgbClr val="ECE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team.png"/>
          <p:cNvPicPr>
            <a:picLocks noChangeAspect="1"/>
          </p:cNvPicPr>
          <p:nvPr/>
        </p:nvPicPr>
        <p:blipFill>
          <a:blip r:embed="rId3"/>
          <a:stretch>
            <a:fillRect/>
          </a:stretch>
        </p:blipFill>
        <p:spPr>
          <a:xfrm>
            <a:off x="1088136" y="2459736"/>
            <a:ext cx="512064" cy="512064"/>
          </a:xfrm>
          <a:prstGeom prst="rect">
            <a:avLst/>
          </a:prstGeom>
        </p:spPr>
      </p:pic>
      <p:sp>
        <p:nvSpPr>
          <p:cNvPr id="11" name="TextBox 10"/>
          <p:cNvSpPr txBox="1"/>
          <p:nvPr/>
        </p:nvSpPr>
        <p:spPr>
          <a:xfrm>
            <a:off x="1088136" y="3108960"/>
            <a:ext cx="2649626" cy="2926080"/>
          </a:xfrm>
          <a:prstGeom prst="rect">
            <a:avLst/>
          </a:prstGeom>
          <a:noFill/>
        </p:spPr>
        <p:txBody>
          <a:bodyPr wrap="square" lIns="0" rIns="0" tIns="0" bIns="0" anchor="t">
            <a:spAutoFit/>
          </a:bodyPr>
          <a:lstStyle/>
          <a:p>
            <a:pPr algn="l">
              <a:lnSpc>
                <a:spcPct val="100000"/>
              </a:lnSpc>
              <a:spcBef>
                <a:spcPts val="0"/>
              </a:spcBef>
              <a:spcAft>
                <a:spcPts val="900"/>
              </a:spcAft>
            </a:pPr>
            <a:r>
              <a:rPr sz="1800" b="1" i="0">
                <a:solidFill>
                  <a:srgbClr val="000091"/>
                </a:solidFill>
                <a:latin typeface="Marianne"/>
              </a:rPr>
              <a:t>Les équipes</a:t>
            </a:r>
          </a:p>
          <a:p>
            <a:pPr algn="l" marL="201168" indent="-201168">
              <a:lnSpc>
                <a:spcPct val="105000"/>
              </a:lnSpc>
              <a:spcBef>
                <a:spcPts val="0"/>
              </a:spcBef>
              <a:spcAft>
                <a:spcPts val="500"/>
              </a:spcAft>
            </a:pPr>
            <a:r>
              <a:rPr sz="1200" b="0" i="0">
                <a:solidFill>
                  <a:srgbClr val="6A6AF4"/>
                </a:solidFill>
                <a:latin typeface="Marianne"/>
              </a:rPr>
              <a:t>▪  </a:t>
            </a:r>
            <a:r>
              <a:rPr sz="1450" b="0" i="0">
                <a:solidFill>
                  <a:srgbClr val="161616"/>
                </a:solidFill>
                <a:latin typeface="Marianne"/>
              </a:rPr>
              <a:t>SRDT</a:t>
            </a:r>
          </a:p>
          <a:p>
            <a:pPr algn="l" marL="201168" indent="-201168">
              <a:lnSpc>
                <a:spcPct val="105000"/>
              </a:lnSpc>
              <a:spcBef>
                <a:spcPts val="0"/>
              </a:spcBef>
              <a:spcAft>
                <a:spcPts val="500"/>
              </a:spcAft>
            </a:pPr>
            <a:r>
              <a:rPr sz="1200" b="0" i="0">
                <a:solidFill>
                  <a:srgbClr val="6A6AF4"/>
                </a:solidFill>
                <a:latin typeface="Marianne"/>
              </a:rPr>
              <a:t>▪  </a:t>
            </a:r>
            <a:r>
              <a:rPr sz="1450" b="0" i="0">
                <a:solidFill>
                  <a:srgbClr val="161616"/>
                </a:solidFill>
                <a:latin typeface="Marianne"/>
              </a:rPr>
              <a:t>DACCORD</a:t>
            </a:r>
          </a:p>
          <a:p>
            <a:pPr algn="l" marL="201168" indent="-201168">
              <a:lnSpc>
                <a:spcPct val="105000"/>
              </a:lnSpc>
              <a:spcBef>
                <a:spcPts val="0"/>
              </a:spcBef>
              <a:spcAft>
                <a:spcPts val="500"/>
              </a:spcAft>
            </a:pPr>
            <a:r>
              <a:rPr sz="1200" b="0" i="0">
                <a:solidFill>
                  <a:srgbClr val="6A6AF4"/>
                </a:solidFill>
                <a:latin typeface="Marianne"/>
              </a:rPr>
              <a:t>▪  </a:t>
            </a:r>
            <a:r>
              <a:rPr sz="1450" b="0" i="0">
                <a:solidFill>
                  <a:srgbClr val="161616"/>
                </a:solidFill>
                <a:latin typeface="Marianne"/>
              </a:rPr>
              <a:t>Egapro</a:t>
            </a:r>
          </a:p>
          <a:p>
            <a:pPr algn="l" marL="201168" indent="-201168">
              <a:lnSpc>
                <a:spcPct val="105000"/>
              </a:lnSpc>
              <a:spcBef>
                <a:spcPts val="0"/>
              </a:spcBef>
              <a:spcAft>
                <a:spcPts val="500"/>
              </a:spcAft>
            </a:pPr>
            <a:r>
              <a:rPr sz="1200" b="0" i="0">
                <a:solidFill>
                  <a:srgbClr val="6A6AF4"/>
                </a:solidFill>
                <a:latin typeface="Marianne"/>
              </a:rPr>
              <a:t>▪  </a:t>
            </a:r>
            <a:r>
              <a:rPr sz="1450" b="0" i="0">
                <a:solidFill>
                  <a:srgbClr val="161616"/>
                </a:solidFill>
                <a:latin typeface="Marianne"/>
              </a:rPr>
              <a:t>DomiFA</a:t>
            </a:r>
          </a:p>
          <a:p>
            <a:pPr algn="l" marL="201168" indent="-201168">
              <a:lnSpc>
                <a:spcPct val="105000"/>
              </a:lnSpc>
              <a:spcBef>
                <a:spcPts val="0"/>
              </a:spcBef>
              <a:spcAft>
                <a:spcPts val="500"/>
              </a:spcAft>
            </a:pPr>
            <a:r>
              <a:rPr sz="1200" b="0" i="0">
                <a:solidFill>
                  <a:srgbClr val="6A6AF4"/>
                </a:solidFill>
                <a:latin typeface="Marianne"/>
              </a:rPr>
              <a:t>▪  </a:t>
            </a:r>
            <a:r>
              <a:rPr sz="1450" b="0" i="0">
                <a:solidFill>
                  <a:srgbClr val="161616"/>
                </a:solidFill>
                <a:latin typeface="Marianne"/>
              </a:rPr>
              <a:t>SIRENA</a:t>
            </a:r>
          </a:p>
          <a:p>
            <a:pPr algn="l">
              <a:lnSpc>
                <a:spcPct val="110000"/>
              </a:lnSpc>
              <a:spcBef>
                <a:spcPts val="900"/>
              </a:spcBef>
              <a:spcAft>
                <a:spcPts val="0"/>
              </a:spcAft>
            </a:pPr>
            <a:r>
              <a:rPr sz="1350" b="0" i="1">
                <a:solidFill>
                  <a:srgbClr val="3A3A3A"/>
                </a:solidFill>
                <a:latin typeface="Marianne"/>
              </a:rPr>
              <a:t>Comprendre leur quotidien et leurs enjeux.</a:t>
            </a:r>
          </a:p>
          <a:p>
            <a:pPr algn="l">
              <a:lnSpc>
                <a:spcPct val="108000"/>
              </a:lnSpc>
              <a:spcBef>
                <a:spcPts val="600"/>
              </a:spcBef>
              <a:spcAft>
                <a:spcPts val="0"/>
              </a:spcAft>
            </a:pPr>
            <a:r>
              <a:rPr sz="1250" b="0" i="0">
                <a:solidFill>
                  <a:srgbClr val="6A6A6A"/>
                </a:solidFill>
                <a:latin typeface="Marianne"/>
              </a:rPr>
              <a:t>Garder un accès à leur contexte à la demande.</a:t>
            </a:r>
          </a:p>
        </p:txBody>
      </p:sp>
      <p:sp>
        <p:nvSpPr>
          <p:cNvPr id="12" name="Rounded Rectangle 11"/>
          <p:cNvSpPr/>
          <p:nvPr/>
        </p:nvSpPr>
        <p:spPr>
          <a:xfrm>
            <a:off x="4460138" y="2148840"/>
            <a:ext cx="3271418" cy="4023360"/>
          </a:xfrm>
          <a:prstGeom prst="roundRect">
            <a:avLst>
              <a:gd name="adj" fmla="val 5000"/>
            </a:avLst>
          </a:prstGeom>
          <a:solidFill>
            <a:srgbClr val="ECE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briefcase.png"/>
          <p:cNvPicPr>
            <a:picLocks noChangeAspect="1"/>
          </p:cNvPicPr>
          <p:nvPr/>
        </p:nvPicPr>
        <p:blipFill>
          <a:blip r:embed="rId4"/>
          <a:stretch>
            <a:fillRect/>
          </a:stretch>
        </p:blipFill>
        <p:spPr>
          <a:xfrm>
            <a:off x="4771034" y="2459736"/>
            <a:ext cx="512064" cy="512064"/>
          </a:xfrm>
          <a:prstGeom prst="rect">
            <a:avLst/>
          </a:prstGeom>
        </p:spPr>
      </p:pic>
      <p:sp>
        <p:nvSpPr>
          <p:cNvPr id="14" name="TextBox 13"/>
          <p:cNvSpPr txBox="1"/>
          <p:nvPr/>
        </p:nvSpPr>
        <p:spPr>
          <a:xfrm>
            <a:off x="4771034" y="3108960"/>
            <a:ext cx="2649626" cy="2926080"/>
          </a:xfrm>
          <a:prstGeom prst="rect">
            <a:avLst/>
          </a:prstGeom>
          <a:noFill/>
        </p:spPr>
        <p:txBody>
          <a:bodyPr wrap="square" lIns="0" rIns="0" tIns="0" bIns="0" anchor="t">
            <a:spAutoFit/>
          </a:bodyPr>
          <a:lstStyle/>
          <a:p>
            <a:pPr algn="l">
              <a:lnSpc>
                <a:spcPct val="100000"/>
              </a:lnSpc>
              <a:spcBef>
                <a:spcPts val="0"/>
              </a:spcBef>
              <a:spcAft>
                <a:spcPts val="900"/>
              </a:spcAft>
            </a:pPr>
            <a:r>
              <a:rPr sz="1800" b="1" i="0">
                <a:solidFill>
                  <a:srgbClr val="000091"/>
                </a:solidFill>
                <a:latin typeface="Marianne"/>
              </a:rPr>
              <a:t>Les métiers</a:t>
            </a:r>
          </a:p>
          <a:p>
            <a:pPr algn="l" marL="201168" indent="-201168">
              <a:lnSpc>
                <a:spcPct val="105000"/>
              </a:lnSpc>
              <a:spcBef>
                <a:spcPts val="0"/>
              </a:spcBef>
              <a:spcAft>
                <a:spcPts val="500"/>
              </a:spcAft>
            </a:pPr>
            <a:r>
              <a:rPr sz="1200" b="0" i="0">
                <a:solidFill>
                  <a:srgbClr val="6A6AF4"/>
                </a:solidFill>
                <a:latin typeface="Marianne"/>
              </a:rPr>
              <a:t>▪  </a:t>
            </a:r>
            <a:r>
              <a:rPr sz="1450" b="0" i="0">
                <a:solidFill>
                  <a:srgbClr val="161616"/>
                </a:solidFill>
                <a:latin typeface="Marianne"/>
              </a:rPr>
              <a:t>Architectes</a:t>
            </a:r>
          </a:p>
          <a:p>
            <a:pPr algn="l" marL="201168" indent="-201168">
              <a:lnSpc>
                <a:spcPct val="105000"/>
              </a:lnSpc>
              <a:spcBef>
                <a:spcPts val="0"/>
              </a:spcBef>
              <a:spcAft>
                <a:spcPts val="500"/>
              </a:spcAft>
            </a:pPr>
            <a:r>
              <a:rPr sz="1200" b="0" i="0">
                <a:solidFill>
                  <a:srgbClr val="6A6AF4"/>
                </a:solidFill>
                <a:latin typeface="Marianne"/>
              </a:rPr>
              <a:t>▪  </a:t>
            </a:r>
            <a:r>
              <a:rPr sz="1450" b="0" i="0">
                <a:solidFill>
                  <a:srgbClr val="161616"/>
                </a:solidFill>
                <a:latin typeface="Marianne"/>
              </a:rPr>
              <a:t>Products</a:t>
            </a:r>
          </a:p>
          <a:p>
            <a:pPr algn="l" marL="201168" indent="-201168">
              <a:lnSpc>
                <a:spcPct val="105000"/>
              </a:lnSpc>
              <a:spcBef>
                <a:spcPts val="0"/>
              </a:spcBef>
              <a:spcAft>
                <a:spcPts val="500"/>
              </a:spcAft>
            </a:pPr>
            <a:r>
              <a:rPr sz="1200" b="0" i="0">
                <a:solidFill>
                  <a:srgbClr val="6A6AF4"/>
                </a:solidFill>
                <a:latin typeface="Marianne"/>
              </a:rPr>
              <a:t>▪  </a:t>
            </a:r>
            <a:r>
              <a:rPr sz="1450" b="0" i="0">
                <a:solidFill>
                  <a:srgbClr val="161616"/>
                </a:solidFill>
                <a:latin typeface="Marianne"/>
              </a:rPr>
              <a:t>Designers</a:t>
            </a:r>
          </a:p>
          <a:p>
            <a:pPr algn="l" marL="201168" indent="-201168">
              <a:lnSpc>
                <a:spcPct val="105000"/>
              </a:lnSpc>
              <a:spcBef>
                <a:spcPts val="0"/>
              </a:spcBef>
              <a:spcAft>
                <a:spcPts val="500"/>
              </a:spcAft>
            </a:pPr>
            <a:r>
              <a:rPr sz="1200" b="0" i="0">
                <a:solidFill>
                  <a:srgbClr val="6A6AF4"/>
                </a:solidFill>
                <a:latin typeface="Marianne"/>
              </a:rPr>
              <a:t>▪  </a:t>
            </a:r>
            <a:r>
              <a:rPr sz="1450" b="0" i="0">
                <a:solidFill>
                  <a:srgbClr val="161616"/>
                </a:solidFill>
                <a:latin typeface="Marianne"/>
              </a:rPr>
              <a:t>Développeurs</a:t>
            </a:r>
          </a:p>
          <a:p>
            <a:pPr algn="l">
              <a:lnSpc>
                <a:spcPct val="110000"/>
              </a:lnSpc>
              <a:spcBef>
                <a:spcPts val="900"/>
              </a:spcBef>
              <a:spcAft>
                <a:spcPts val="0"/>
              </a:spcAft>
            </a:pPr>
            <a:r>
              <a:rPr sz="1350" b="0" i="1">
                <a:solidFill>
                  <a:srgbClr val="3A3A3A"/>
                </a:solidFill>
                <a:latin typeface="Marianne"/>
              </a:rPr>
              <a:t>Cerner les besoins propres à chaque rôle.</a:t>
            </a:r>
          </a:p>
        </p:txBody>
      </p:sp>
      <p:sp>
        <p:nvSpPr>
          <p:cNvPr id="15" name="Rounded Rectangle 14"/>
          <p:cNvSpPr/>
          <p:nvPr/>
        </p:nvSpPr>
        <p:spPr>
          <a:xfrm>
            <a:off x="8143036" y="2148840"/>
            <a:ext cx="3271418" cy="4023360"/>
          </a:xfrm>
          <a:prstGeom prst="roundRect">
            <a:avLst>
              <a:gd name="adj" fmla="val 5000"/>
            </a:avLst>
          </a:prstGeom>
          <a:solidFill>
            <a:srgbClr val="ECE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discuss.png"/>
          <p:cNvPicPr>
            <a:picLocks noChangeAspect="1"/>
          </p:cNvPicPr>
          <p:nvPr/>
        </p:nvPicPr>
        <p:blipFill>
          <a:blip r:embed="rId5"/>
          <a:stretch>
            <a:fillRect/>
          </a:stretch>
        </p:blipFill>
        <p:spPr>
          <a:xfrm>
            <a:off x="8453932" y="2459736"/>
            <a:ext cx="512064" cy="512064"/>
          </a:xfrm>
          <a:prstGeom prst="rect">
            <a:avLst/>
          </a:prstGeom>
        </p:spPr>
      </p:pic>
      <p:sp>
        <p:nvSpPr>
          <p:cNvPr id="17" name="TextBox 16"/>
          <p:cNvSpPr txBox="1"/>
          <p:nvPr/>
        </p:nvSpPr>
        <p:spPr>
          <a:xfrm>
            <a:off x="8453932" y="3108960"/>
            <a:ext cx="2649626" cy="2926080"/>
          </a:xfrm>
          <a:prstGeom prst="rect">
            <a:avLst/>
          </a:prstGeom>
          <a:noFill/>
        </p:spPr>
        <p:txBody>
          <a:bodyPr wrap="square" lIns="0" rIns="0" tIns="0" bIns="0" anchor="t">
            <a:spAutoFit/>
          </a:bodyPr>
          <a:lstStyle/>
          <a:p>
            <a:pPr algn="l">
              <a:lnSpc>
                <a:spcPct val="100000"/>
              </a:lnSpc>
              <a:spcBef>
                <a:spcPts val="0"/>
              </a:spcBef>
              <a:spcAft>
                <a:spcPts val="900"/>
              </a:spcAft>
            </a:pPr>
            <a:r>
              <a:rPr sz="1800" b="1" i="0">
                <a:solidFill>
                  <a:srgbClr val="000091"/>
                </a:solidFill>
                <a:latin typeface="Marianne"/>
              </a:rPr>
              <a:t>Échanges clés</a:t>
            </a:r>
          </a:p>
          <a:p>
            <a:pPr algn="l" marL="201168" indent="-201168">
              <a:lnSpc>
                <a:spcPct val="105000"/>
              </a:lnSpc>
              <a:spcBef>
                <a:spcPts val="0"/>
              </a:spcBef>
              <a:spcAft>
                <a:spcPts val="500"/>
              </a:spcAft>
            </a:pPr>
            <a:r>
              <a:rPr sz="1200" b="0" i="0">
                <a:solidFill>
                  <a:srgbClr val="6A6AF4"/>
                </a:solidFill>
                <a:latin typeface="Marianne"/>
              </a:rPr>
              <a:t>▪  </a:t>
            </a:r>
            <a:r>
              <a:rPr sz="1450" b="0" i="0">
                <a:solidFill>
                  <a:srgbClr val="161616"/>
                </a:solidFill>
                <a:latin typeface="Marianne"/>
              </a:rPr>
              <a:t>Dominique — RGAA / accessibilité</a:t>
            </a:r>
          </a:p>
          <a:p>
            <a:pPr algn="l" marL="201168" indent="-201168">
              <a:lnSpc>
                <a:spcPct val="105000"/>
              </a:lnSpc>
              <a:spcBef>
                <a:spcPts val="0"/>
              </a:spcBef>
              <a:spcAft>
                <a:spcPts val="500"/>
              </a:spcAft>
            </a:pPr>
            <a:r>
              <a:rPr sz="1200" b="0" i="0">
                <a:solidFill>
                  <a:srgbClr val="6A6AF4"/>
                </a:solidFill>
                <a:latin typeface="Marianne"/>
              </a:rPr>
              <a:t>▪  </a:t>
            </a:r>
            <a:r>
              <a:rPr sz="1450" b="0" i="0">
                <a:solidFill>
                  <a:srgbClr val="161616"/>
                </a:solidFill>
                <a:latin typeface="Marianne"/>
              </a:rPr>
              <a:t>Victor Degliame — outillage interne</a:t>
            </a:r>
          </a:p>
          <a:p>
            <a:pPr algn="l">
              <a:lnSpc>
                <a:spcPct val="110000"/>
              </a:lnSpc>
              <a:spcBef>
                <a:spcPts val="900"/>
              </a:spcBef>
              <a:spcAft>
                <a:spcPts val="0"/>
              </a:spcAft>
            </a:pPr>
            <a:r>
              <a:rPr sz="1350" b="0" i="1">
                <a:solidFill>
                  <a:srgbClr val="3A3A3A"/>
                </a:solidFill>
                <a:latin typeface="Marianne"/>
              </a:rPr>
              <a:t>Sécuriser conformité et stratégie d’outillage.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777240" y="274320"/>
            <a:ext cx="987918" cy="676656"/>
          </a:xfrm>
          <a:prstGeom prst="rect">
            <a:avLst/>
          </a:prstGeom>
        </p:spPr>
      </p:pic>
      <p:sp>
        <p:nvSpPr>
          <p:cNvPr id="4" name="TextBox 3"/>
          <p:cNvSpPr txBox="1"/>
          <p:nvPr/>
        </p:nvSpPr>
        <p:spPr>
          <a:xfrm>
            <a:off x="7573975" y="274320"/>
            <a:ext cx="3840480" cy="640080"/>
          </a:xfrm>
          <a:prstGeom prst="rect">
            <a:avLst/>
          </a:prstGeom>
          <a:noFill/>
        </p:spPr>
        <p:txBody>
          <a:bodyPr wrap="square" lIns="0" rIns="0" tIns="0" bIns="0" anchor="t">
            <a:spAutoFit/>
          </a:bodyPr>
          <a:lstStyle/>
          <a:p>
            <a:pPr algn="r">
              <a:lnSpc>
                <a:spcPct val="105000"/>
              </a:lnSpc>
              <a:spcBef>
                <a:spcPts val="0"/>
              </a:spcBef>
              <a:spcAft>
                <a:spcPts val="0"/>
              </a:spcAft>
            </a:pPr>
            <a:r>
              <a:rPr sz="1350" b="1" i="0">
                <a:solidFill>
                  <a:srgbClr val="161616"/>
                </a:solidFill>
                <a:latin typeface="Marianne"/>
              </a:rPr>
              <a:t>Secrétariat général</a:t>
            </a:r>
          </a:p>
          <a:p>
            <a:pPr algn="r">
              <a:lnSpc>
                <a:spcPct val="105000"/>
              </a:lnSpc>
              <a:spcBef>
                <a:spcPts val="0"/>
              </a:spcBef>
              <a:spcAft>
                <a:spcPts val="0"/>
              </a:spcAft>
            </a:pPr>
            <a:r>
              <a:rPr sz="1350" b="0" i="0">
                <a:solidFill>
                  <a:srgbClr val="3A3A3A"/>
                </a:solidFill>
                <a:latin typeface="Marianne"/>
              </a:rPr>
              <a:t>Direction du numérique</a:t>
            </a:r>
          </a:p>
        </p:txBody>
      </p:sp>
      <p:cxnSp>
        <p:nvCxnSpPr>
          <p:cNvPr id="5" name="Connector 4"/>
          <p:cNvCxnSpPr/>
          <p:nvPr/>
        </p:nvCxnSpPr>
        <p:spPr>
          <a:xfrm>
            <a:off x="0" y="1005840"/>
            <a:ext cx="12191695"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6437376"/>
            <a:ext cx="5486400" cy="274320"/>
          </a:xfrm>
          <a:prstGeom prst="rect">
            <a:avLst/>
          </a:prstGeom>
          <a:noFill/>
        </p:spPr>
        <p:txBody>
          <a:bodyPr wrap="square" lIns="0" rIns="0" tIns="0" bIns="0" anchor="t">
            <a:spAutoFit/>
          </a:bodyPr>
          <a:lstStyle/>
          <a:p>
            <a:pPr algn="l">
              <a:lnSpc>
                <a:spcPct val="106000"/>
              </a:lnSpc>
              <a:spcBef>
                <a:spcPts val="0"/>
              </a:spcBef>
              <a:spcAft>
                <a:spcPts val="0"/>
              </a:spcAft>
            </a:pPr>
            <a:r>
              <a:rPr sz="1100" b="0" i="0">
                <a:solidFill>
                  <a:srgbClr val="6A6A6A"/>
                </a:solidFill>
                <a:latin typeface="Marianne"/>
              </a:rPr>
              <a:t>Ministères Sociaux – 25/06/2026</a:t>
            </a:r>
          </a:p>
        </p:txBody>
      </p:sp>
      <p:sp>
        <p:nvSpPr>
          <p:cNvPr id="7" name="TextBox 6"/>
          <p:cNvSpPr txBox="1"/>
          <p:nvPr/>
        </p:nvSpPr>
        <p:spPr>
          <a:xfrm>
            <a:off x="10682935" y="6437376"/>
            <a:ext cx="731520" cy="274320"/>
          </a:xfrm>
          <a:prstGeom prst="rect">
            <a:avLst/>
          </a:prstGeom>
          <a:noFill/>
        </p:spPr>
        <p:txBody>
          <a:bodyPr wrap="square" lIns="0" rIns="0" tIns="0" bIns="0" anchor="t">
            <a:spAutoFit/>
          </a:bodyPr>
          <a:lstStyle/>
          <a:p>
            <a:pPr algn="r">
              <a:lnSpc>
                <a:spcPct val="106000"/>
              </a:lnSpc>
              <a:spcBef>
                <a:spcPts val="0"/>
              </a:spcBef>
              <a:spcAft>
                <a:spcPts val="0"/>
              </a:spcAft>
            </a:pPr>
            <a:r>
              <a:rPr sz="1100" b="0" i="0">
                <a:solidFill>
                  <a:srgbClr val="6A6A6A"/>
                </a:solidFill>
                <a:latin typeface="Marianne"/>
              </a:rPr>
              <a:t>7</a:t>
            </a:r>
          </a:p>
        </p:txBody>
      </p:sp>
      <p:sp>
        <p:nvSpPr>
          <p:cNvPr id="8" name="TextBox 7"/>
          <p:cNvSpPr txBox="1"/>
          <p:nvPr/>
        </p:nvSpPr>
        <p:spPr>
          <a:xfrm>
            <a:off x="777240" y="1325880"/>
            <a:ext cx="10637215" cy="1280160"/>
          </a:xfrm>
          <a:prstGeom prst="rect">
            <a:avLst/>
          </a:prstGeom>
          <a:noFill/>
        </p:spPr>
        <p:txBody>
          <a:bodyPr wrap="square" lIns="0" rIns="0" tIns="0" bIns="0" anchor="t">
            <a:spAutoFit/>
          </a:bodyPr>
          <a:lstStyle/>
          <a:p>
            <a:pPr algn="l">
              <a:lnSpc>
                <a:spcPct val="102000"/>
              </a:lnSpc>
              <a:spcBef>
                <a:spcPts val="0"/>
              </a:spcBef>
              <a:spcAft>
                <a:spcPts val="0"/>
              </a:spcAft>
            </a:pPr>
            <a:r>
              <a:rPr sz="3100" b="1" i="0">
                <a:solidFill>
                  <a:srgbClr val="161616"/>
                </a:solidFill>
                <a:latin typeface="Marianne"/>
              </a:rPr>
              <a:t>Egapro : un usage de l’IA déjà avancé</a:t>
            </a:r>
          </a:p>
        </p:txBody>
      </p:sp>
      <p:sp>
        <p:nvSpPr>
          <p:cNvPr id="9" name="TextBox 8"/>
          <p:cNvSpPr txBox="1"/>
          <p:nvPr/>
        </p:nvSpPr>
        <p:spPr>
          <a:xfrm>
            <a:off x="777240" y="2011680"/>
            <a:ext cx="10637215" cy="548640"/>
          </a:xfrm>
          <a:prstGeom prst="rect">
            <a:avLst/>
          </a:prstGeom>
          <a:noFill/>
        </p:spPr>
        <p:txBody>
          <a:bodyPr wrap="square" lIns="0" rIns="0" tIns="0" bIns="0" anchor="t">
            <a:spAutoFit/>
          </a:bodyPr>
          <a:lstStyle/>
          <a:p>
            <a:pPr algn="l">
              <a:lnSpc>
                <a:spcPct val="110000"/>
              </a:lnSpc>
              <a:spcBef>
                <a:spcPts val="0"/>
              </a:spcBef>
              <a:spcAft>
                <a:spcPts val="0"/>
              </a:spcAft>
            </a:pPr>
            <a:r>
              <a:rPr sz="1650" b="0" i="0">
                <a:solidFill>
                  <a:srgbClr val="3A3A3A"/>
                </a:solidFill>
                <a:latin typeface="Marianne"/>
              </a:rPr>
              <a:t>Une équipe qui exploite déjà Claude — j’explore cet usage en développant dessus.</a:t>
            </a:r>
          </a:p>
        </p:txBody>
      </p:sp>
      <p:sp>
        <p:nvSpPr>
          <p:cNvPr id="10" name="Rounded Rectangle 9"/>
          <p:cNvSpPr/>
          <p:nvPr/>
        </p:nvSpPr>
        <p:spPr>
          <a:xfrm>
            <a:off x="777240" y="2788920"/>
            <a:ext cx="5090007" cy="2971800"/>
          </a:xfrm>
          <a:prstGeom prst="roundRect">
            <a:avLst>
              <a:gd name="adj" fmla="val 5000"/>
            </a:avLst>
          </a:prstGeom>
          <a:solidFill>
            <a:srgbClr val="ECE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terminal-box.png"/>
          <p:cNvPicPr>
            <a:picLocks noChangeAspect="1"/>
          </p:cNvPicPr>
          <p:nvPr/>
        </p:nvPicPr>
        <p:blipFill>
          <a:blip r:embed="rId3"/>
          <a:stretch>
            <a:fillRect/>
          </a:stretch>
        </p:blipFill>
        <p:spPr>
          <a:xfrm>
            <a:off x="1106424" y="3099815"/>
            <a:ext cx="512064" cy="512064"/>
          </a:xfrm>
          <a:prstGeom prst="rect">
            <a:avLst/>
          </a:prstGeom>
        </p:spPr>
      </p:pic>
      <p:sp>
        <p:nvSpPr>
          <p:cNvPr id="12" name="TextBox 11"/>
          <p:cNvSpPr txBox="1"/>
          <p:nvPr/>
        </p:nvSpPr>
        <p:spPr>
          <a:xfrm>
            <a:off x="1106424" y="3749039"/>
            <a:ext cx="4431639" cy="1874519"/>
          </a:xfrm>
          <a:prstGeom prst="rect">
            <a:avLst/>
          </a:prstGeom>
          <a:noFill/>
        </p:spPr>
        <p:txBody>
          <a:bodyPr wrap="square" lIns="0" rIns="0" tIns="0" bIns="0" anchor="t">
            <a:spAutoFit/>
          </a:bodyPr>
          <a:lstStyle/>
          <a:p>
            <a:pPr algn="l">
              <a:lnSpc>
                <a:spcPct val="106000"/>
              </a:lnSpc>
              <a:spcBef>
                <a:spcPts val="0"/>
              </a:spcBef>
              <a:spcAft>
                <a:spcPts val="1000"/>
              </a:spcAft>
            </a:pPr>
            <a:r>
              <a:rPr sz="1800" b="1" i="0">
                <a:solidFill>
                  <a:srgbClr val="000091"/>
                </a:solidFill>
                <a:latin typeface="Marianne"/>
              </a:rPr>
              <a:t>Ce que j’observe</a:t>
            </a:r>
          </a:p>
          <a:p>
            <a:pPr algn="l" marL="201168" indent="-201168">
              <a:lnSpc>
                <a:spcPct val="105000"/>
              </a:lnSpc>
              <a:spcBef>
                <a:spcPts val="0"/>
              </a:spcBef>
              <a:spcAft>
                <a:spcPts val="500"/>
              </a:spcAft>
            </a:pPr>
            <a:r>
              <a:rPr sz="1200" b="0" i="0">
                <a:solidFill>
                  <a:srgbClr val="6A6AF4"/>
                </a:solidFill>
                <a:latin typeface="Marianne"/>
              </a:rPr>
              <a:t>▪  </a:t>
            </a:r>
            <a:r>
              <a:rPr sz="1500" b="0" i="0">
                <a:solidFill>
                  <a:srgbClr val="161616"/>
                </a:solidFill>
                <a:latin typeface="Marianne"/>
              </a:rPr>
              <a:t>Un usage de Claude déjà en place avant mon arrivée.</a:t>
            </a:r>
          </a:p>
          <a:p>
            <a:pPr algn="l" marL="201168" indent="-201168">
              <a:lnSpc>
                <a:spcPct val="105000"/>
              </a:lnSpc>
              <a:spcBef>
                <a:spcPts val="0"/>
              </a:spcBef>
              <a:spcAft>
                <a:spcPts val="500"/>
              </a:spcAft>
            </a:pPr>
            <a:r>
              <a:rPr sz="1200" b="0" i="0">
                <a:solidFill>
                  <a:srgbClr val="6A6AF4"/>
                </a:solidFill>
                <a:latin typeface="Marianne"/>
              </a:rPr>
              <a:t>▪  </a:t>
            </a:r>
            <a:r>
              <a:rPr sz="1500" b="0" i="0">
                <a:solidFill>
                  <a:srgbClr val="161616"/>
                </a:solidFill>
                <a:latin typeface="Marianne"/>
              </a:rPr>
              <a:t>Une orchestration ambitieuse.</a:t>
            </a:r>
          </a:p>
          <a:p>
            <a:pPr algn="l" marL="201168" indent="-201168">
              <a:lnSpc>
                <a:spcPct val="105000"/>
              </a:lnSpc>
              <a:spcBef>
                <a:spcPts val="0"/>
              </a:spcBef>
              <a:spcAft>
                <a:spcPts val="500"/>
              </a:spcAft>
            </a:pPr>
            <a:r>
              <a:rPr sz="1200" b="0" i="0">
                <a:solidFill>
                  <a:srgbClr val="6A6AF4"/>
                </a:solidFill>
                <a:latin typeface="Marianne"/>
              </a:rPr>
              <a:t>▪  </a:t>
            </a:r>
            <a:r>
              <a:rPr sz="1500" b="0" i="0">
                <a:solidFill>
                  <a:srgbClr val="161616"/>
                </a:solidFill>
                <a:latin typeface="Marianne"/>
              </a:rPr>
              <a:t>Une base concrète pour mesurer le potentiel réel.</a:t>
            </a:r>
          </a:p>
        </p:txBody>
      </p:sp>
      <p:sp>
        <p:nvSpPr>
          <p:cNvPr id="13" name="Rounded Rectangle 12"/>
          <p:cNvSpPr/>
          <p:nvPr/>
        </p:nvSpPr>
        <p:spPr>
          <a:xfrm>
            <a:off x="6324447" y="2788920"/>
            <a:ext cx="5090007" cy="2971800"/>
          </a:xfrm>
          <a:prstGeom prst="roundRect">
            <a:avLst>
              <a:gd name="adj" fmla="val 5000"/>
            </a:avLst>
          </a:prstGeom>
          <a:solidFill>
            <a:srgbClr val="ECE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settings-3.png"/>
          <p:cNvPicPr>
            <a:picLocks noChangeAspect="1"/>
          </p:cNvPicPr>
          <p:nvPr/>
        </p:nvPicPr>
        <p:blipFill>
          <a:blip r:embed="rId4"/>
          <a:stretch>
            <a:fillRect/>
          </a:stretch>
        </p:blipFill>
        <p:spPr>
          <a:xfrm>
            <a:off x="6653631" y="3099815"/>
            <a:ext cx="512064" cy="512064"/>
          </a:xfrm>
          <a:prstGeom prst="rect">
            <a:avLst/>
          </a:prstGeom>
        </p:spPr>
      </p:pic>
      <p:sp>
        <p:nvSpPr>
          <p:cNvPr id="15" name="TextBox 14"/>
          <p:cNvSpPr txBox="1"/>
          <p:nvPr/>
        </p:nvSpPr>
        <p:spPr>
          <a:xfrm>
            <a:off x="6653631" y="3749039"/>
            <a:ext cx="4431639" cy="1874519"/>
          </a:xfrm>
          <a:prstGeom prst="rect">
            <a:avLst/>
          </a:prstGeom>
          <a:noFill/>
        </p:spPr>
        <p:txBody>
          <a:bodyPr wrap="square" lIns="0" rIns="0" tIns="0" bIns="0" anchor="t">
            <a:spAutoFit/>
          </a:bodyPr>
          <a:lstStyle/>
          <a:p>
            <a:pPr algn="l">
              <a:lnSpc>
                <a:spcPct val="106000"/>
              </a:lnSpc>
              <a:spcBef>
                <a:spcPts val="0"/>
              </a:spcBef>
              <a:spcAft>
                <a:spcPts val="1000"/>
              </a:spcAft>
            </a:pPr>
            <a:r>
              <a:rPr sz="1800" b="1" i="0">
                <a:solidFill>
                  <a:srgbClr val="000091"/>
                </a:solidFill>
                <a:latin typeface="Marianne"/>
              </a:rPr>
              <a:t>Ce que je propose</a:t>
            </a:r>
          </a:p>
          <a:p>
            <a:pPr algn="l" marL="201168" indent="-201168">
              <a:lnSpc>
                <a:spcPct val="105000"/>
              </a:lnSpc>
              <a:spcBef>
                <a:spcPts val="0"/>
              </a:spcBef>
              <a:spcAft>
                <a:spcPts val="500"/>
              </a:spcAft>
            </a:pPr>
            <a:r>
              <a:rPr sz="1200" b="0" i="0">
                <a:solidFill>
                  <a:srgbClr val="6A6AF4"/>
                </a:solidFill>
                <a:latin typeface="Marianne"/>
              </a:rPr>
              <a:t>▪  </a:t>
            </a:r>
            <a:r>
              <a:rPr sz="1500" b="0" i="0">
                <a:solidFill>
                  <a:srgbClr val="161616"/>
                </a:solidFill>
                <a:latin typeface="Marianne"/>
              </a:rPr>
              <a:t>Des optimisations sur la façon dont l’IA est mobilisée.</a:t>
            </a:r>
          </a:p>
          <a:p>
            <a:pPr algn="l" marL="201168" indent="-201168">
              <a:lnSpc>
                <a:spcPct val="105000"/>
              </a:lnSpc>
              <a:spcBef>
                <a:spcPts val="0"/>
              </a:spcBef>
              <a:spcAft>
                <a:spcPts val="500"/>
              </a:spcAft>
            </a:pPr>
            <a:r>
              <a:rPr sz="1200" b="0" i="0">
                <a:solidFill>
                  <a:srgbClr val="6A6AF4"/>
                </a:solidFill>
                <a:latin typeface="Marianne"/>
              </a:rPr>
              <a:t>▪  </a:t>
            </a:r>
            <a:r>
              <a:rPr sz="1500" b="0" i="0">
                <a:solidFill>
                  <a:srgbClr val="161616"/>
                </a:solidFill>
                <a:latin typeface="Marianne"/>
              </a:rPr>
              <a:t>Intégrer des estimations par taille de « T-shirt » — aujourd’hui en expérimentation.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777240" y="274320"/>
            <a:ext cx="987918" cy="676656"/>
          </a:xfrm>
          <a:prstGeom prst="rect">
            <a:avLst/>
          </a:prstGeom>
        </p:spPr>
      </p:pic>
      <p:sp>
        <p:nvSpPr>
          <p:cNvPr id="4" name="TextBox 3"/>
          <p:cNvSpPr txBox="1"/>
          <p:nvPr/>
        </p:nvSpPr>
        <p:spPr>
          <a:xfrm>
            <a:off x="7573975" y="274320"/>
            <a:ext cx="3840480" cy="640080"/>
          </a:xfrm>
          <a:prstGeom prst="rect">
            <a:avLst/>
          </a:prstGeom>
          <a:noFill/>
        </p:spPr>
        <p:txBody>
          <a:bodyPr wrap="square" lIns="0" rIns="0" tIns="0" bIns="0" anchor="t">
            <a:spAutoFit/>
          </a:bodyPr>
          <a:lstStyle/>
          <a:p>
            <a:pPr algn="r">
              <a:lnSpc>
                <a:spcPct val="105000"/>
              </a:lnSpc>
              <a:spcBef>
                <a:spcPts val="0"/>
              </a:spcBef>
              <a:spcAft>
                <a:spcPts val="0"/>
              </a:spcAft>
            </a:pPr>
            <a:r>
              <a:rPr sz="1350" b="1" i="0">
                <a:solidFill>
                  <a:srgbClr val="161616"/>
                </a:solidFill>
                <a:latin typeface="Marianne"/>
              </a:rPr>
              <a:t>Secrétariat général</a:t>
            </a:r>
          </a:p>
          <a:p>
            <a:pPr algn="r">
              <a:lnSpc>
                <a:spcPct val="105000"/>
              </a:lnSpc>
              <a:spcBef>
                <a:spcPts val="0"/>
              </a:spcBef>
              <a:spcAft>
                <a:spcPts val="0"/>
              </a:spcAft>
            </a:pPr>
            <a:r>
              <a:rPr sz="1350" b="0" i="0">
                <a:solidFill>
                  <a:srgbClr val="3A3A3A"/>
                </a:solidFill>
                <a:latin typeface="Marianne"/>
              </a:rPr>
              <a:t>Direction du numérique</a:t>
            </a:r>
          </a:p>
        </p:txBody>
      </p:sp>
      <p:cxnSp>
        <p:nvCxnSpPr>
          <p:cNvPr id="5" name="Connector 4"/>
          <p:cNvCxnSpPr/>
          <p:nvPr/>
        </p:nvCxnSpPr>
        <p:spPr>
          <a:xfrm>
            <a:off x="0" y="1005840"/>
            <a:ext cx="12191695"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6437376"/>
            <a:ext cx="5486400" cy="274320"/>
          </a:xfrm>
          <a:prstGeom prst="rect">
            <a:avLst/>
          </a:prstGeom>
          <a:noFill/>
        </p:spPr>
        <p:txBody>
          <a:bodyPr wrap="square" lIns="0" rIns="0" tIns="0" bIns="0" anchor="t">
            <a:spAutoFit/>
          </a:bodyPr>
          <a:lstStyle/>
          <a:p>
            <a:pPr algn="l">
              <a:lnSpc>
                <a:spcPct val="106000"/>
              </a:lnSpc>
              <a:spcBef>
                <a:spcPts val="0"/>
              </a:spcBef>
              <a:spcAft>
                <a:spcPts val="0"/>
              </a:spcAft>
            </a:pPr>
            <a:r>
              <a:rPr sz="1100" b="0" i="0">
                <a:solidFill>
                  <a:srgbClr val="6A6A6A"/>
                </a:solidFill>
                <a:latin typeface="Marianne"/>
              </a:rPr>
              <a:t>Ministères Sociaux – 25/06/2026</a:t>
            </a:r>
          </a:p>
        </p:txBody>
      </p:sp>
      <p:sp>
        <p:nvSpPr>
          <p:cNvPr id="7" name="TextBox 6"/>
          <p:cNvSpPr txBox="1"/>
          <p:nvPr/>
        </p:nvSpPr>
        <p:spPr>
          <a:xfrm>
            <a:off x="777240" y="1188720"/>
            <a:ext cx="10637215" cy="4937760"/>
          </a:xfrm>
          <a:prstGeom prst="rect">
            <a:avLst/>
          </a:prstGeom>
          <a:noFill/>
        </p:spPr>
        <p:txBody>
          <a:bodyPr wrap="square" lIns="0" rIns="0" tIns="0" bIns="0" anchor="ctr">
            <a:spAutoFit/>
          </a:bodyPr>
          <a:lstStyle/>
          <a:p>
            <a:pPr algn="ctr">
              <a:lnSpc>
                <a:spcPct val="106000"/>
              </a:lnSpc>
              <a:spcBef>
                <a:spcPts val="0"/>
              </a:spcBef>
              <a:spcAft>
                <a:spcPts val="1400"/>
              </a:spcAft>
            </a:pPr>
            <a:r>
              <a:rPr sz="2000" b="1" i="0">
                <a:solidFill>
                  <a:srgbClr val="6A6AF4"/>
                </a:solidFill>
                <a:latin typeface="Marianne"/>
              </a:rPr>
              <a:t>03</a:t>
            </a:r>
          </a:p>
          <a:p>
            <a:pPr algn="ctr">
              <a:lnSpc>
                <a:spcPct val="100000"/>
              </a:lnSpc>
              <a:spcBef>
                <a:spcPts val="0"/>
              </a:spcBef>
              <a:spcAft>
                <a:spcPts val="0"/>
              </a:spcAft>
            </a:pPr>
            <a:r>
              <a:rPr sz="4600" b="1" i="0">
                <a:solidFill>
                  <a:srgbClr val="161616"/>
                </a:solidFill>
                <a:latin typeface="Marianne"/>
              </a:rPr>
              <a:t>Le plan d’action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777240" y="274320"/>
            <a:ext cx="987918" cy="676656"/>
          </a:xfrm>
          <a:prstGeom prst="rect">
            <a:avLst/>
          </a:prstGeom>
        </p:spPr>
      </p:pic>
      <p:sp>
        <p:nvSpPr>
          <p:cNvPr id="4" name="TextBox 3"/>
          <p:cNvSpPr txBox="1"/>
          <p:nvPr/>
        </p:nvSpPr>
        <p:spPr>
          <a:xfrm>
            <a:off x="7573975" y="274320"/>
            <a:ext cx="3840480" cy="640080"/>
          </a:xfrm>
          <a:prstGeom prst="rect">
            <a:avLst/>
          </a:prstGeom>
          <a:noFill/>
        </p:spPr>
        <p:txBody>
          <a:bodyPr wrap="square" lIns="0" rIns="0" tIns="0" bIns="0" anchor="t">
            <a:spAutoFit/>
          </a:bodyPr>
          <a:lstStyle/>
          <a:p>
            <a:pPr algn="r">
              <a:lnSpc>
                <a:spcPct val="105000"/>
              </a:lnSpc>
              <a:spcBef>
                <a:spcPts val="0"/>
              </a:spcBef>
              <a:spcAft>
                <a:spcPts val="0"/>
              </a:spcAft>
            </a:pPr>
            <a:r>
              <a:rPr sz="1350" b="1" i="0">
                <a:solidFill>
                  <a:srgbClr val="161616"/>
                </a:solidFill>
                <a:latin typeface="Marianne"/>
              </a:rPr>
              <a:t>Secrétariat général</a:t>
            </a:r>
          </a:p>
          <a:p>
            <a:pPr algn="r">
              <a:lnSpc>
                <a:spcPct val="105000"/>
              </a:lnSpc>
              <a:spcBef>
                <a:spcPts val="0"/>
              </a:spcBef>
              <a:spcAft>
                <a:spcPts val="0"/>
              </a:spcAft>
            </a:pPr>
            <a:r>
              <a:rPr sz="1350" b="0" i="0">
                <a:solidFill>
                  <a:srgbClr val="3A3A3A"/>
                </a:solidFill>
                <a:latin typeface="Marianne"/>
              </a:rPr>
              <a:t>Direction du numérique</a:t>
            </a:r>
          </a:p>
        </p:txBody>
      </p:sp>
      <p:cxnSp>
        <p:nvCxnSpPr>
          <p:cNvPr id="5" name="Connector 4"/>
          <p:cNvCxnSpPr/>
          <p:nvPr/>
        </p:nvCxnSpPr>
        <p:spPr>
          <a:xfrm>
            <a:off x="0" y="1005840"/>
            <a:ext cx="12191695"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6437376"/>
            <a:ext cx="5486400" cy="274320"/>
          </a:xfrm>
          <a:prstGeom prst="rect">
            <a:avLst/>
          </a:prstGeom>
          <a:noFill/>
        </p:spPr>
        <p:txBody>
          <a:bodyPr wrap="square" lIns="0" rIns="0" tIns="0" bIns="0" anchor="t">
            <a:spAutoFit/>
          </a:bodyPr>
          <a:lstStyle/>
          <a:p>
            <a:pPr algn="l">
              <a:lnSpc>
                <a:spcPct val="106000"/>
              </a:lnSpc>
              <a:spcBef>
                <a:spcPts val="0"/>
              </a:spcBef>
              <a:spcAft>
                <a:spcPts val="0"/>
              </a:spcAft>
            </a:pPr>
            <a:r>
              <a:rPr sz="1100" b="0" i="0">
                <a:solidFill>
                  <a:srgbClr val="6A6A6A"/>
                </a:solidFill>
                <a:latin typeface="Marianne"/>
              </a:rPr>
              <a:t>Ministères Sociaux – 25/06/2026</a:t>
            </a:r>
          </a:p>
        </p:txBody>
      </p:sp>
      <p:sp>
        <p:nvSpPr>
          <p:cNvPr id="7" name="TextBox 6"/>
          <p:cNvSpPr txBox="1"/>
          <p:nvPr/>
        </p:nvSpPr>
        <p:spPr>
          <a:xfrm>
            <a:off x="10682935" y="6437376"/>
            <a:ext cx="731520" cy="274320"/>
          </a:xfrm>
          <a:prstGeom prst="rect">
            <a:avLst/>
          </a:prstGeom>
          <a:noFill/>
        </p:spPr>
        <p:txBody>
          <a:bodyPr wrap="square" lIns="0" rIns="0" tIns="0" bIns="0" anchor="t">
            <a:spAutoFit/>
          </a:bodyPr>
          <a:lstStyle/>
          <a:p>
            <a:pPr algn="r">
              <a:lnSpc>
                <a:spcPct val="106000"/>
              </a:lnSpc>
              <a:spcBef>
                <a:spcPts val="0"/>
              </a:spcBef>
              <a:spcAft>
                <a:spcPts val="0"/>
              </a:spcAft>
            </a:pPr>
            <a:r>
              <a:rPr sz="1100" b="0" i="0">
                <a:solidFill>
                  <a:srgbClr val="6A6A6A"/>
                </a:solidFill>
                <a:latin typeface="Marianne"/>
              </a:rPr>
              <a:t>9</a:t>
            </a:r>
          </a:p>
        </p:txBody>
      </p:sp>
      <p:sp>
        <p:nvSpPr>
          <p:cNvPr id="8" name="TextBox 7"/>
          <p:cNvSpPr txBox="1"/>
          <p:nvPr/>
        </p:nvSpPr>
        <p:spPr>
          <a:xfrm>
            <a:off x="777240" y="1325880"/>
            <a:ext cx="10637215" cy="1280160"/>
          </a:xfrm>
          <a:prstGeom prst="rect">
            <a:avLst/>
          </a:prstGeom>
          <a:noFill/>
        </p:spPr>
        <p:txBody>
          <a:bodyPr wrap="square" lIns="0" rIns="0" tIns="0" bIns="0" anchor="t">
            <a:spAutoFit/>
          </a:bodyPr>
          <a:lstStyle/>
          <a:p>
            <a:pPr algn="l">
              <a:lnSpc>
                <a:spcPct val="102000"/>
              </a:lnSpc>
              <a:spcBef>
                <a:spcPts val="0"/>
              </a:spcBef>
              <a:spcAft>
                <a:spcPts val="0"/>
              </a:spcAft>
            </a:pPr>
            <a:r>
              <a:rPr sz="3300" b="1" i="0">
                <a:solidFill>
                  <a:srgbClr val="161616"/>
                </a:solidFill>
                <a:latin typeface="Marianne"/>
              </a:rPr>
              <a:t>Trois horizons</a:t>
            </a:r>
          </a:p>
        </p:txBody>
      </p:sp>
      <p:sp>
        <p:nvSpPr>
          <p:cNvPr id="9" name="TextBox 8"/>
          <p:cNvSpPr txBox="1"/>
          <p:nvPr/>
        </p:nvSpPr>
        <p:spPr>
          <a:xfrm>
            <a:off x="777240" y="1975104"/>
            <a:ext cx="10637215" cy="411480"/>
          </a:xfrm>
          <a:prstGeom prst="rect">
            <a:avLst/>
          </a:prstGeom>
          <a:noFill/>
        </p:spPr>
        <p:txBody>
          <a:bodyPr wrap="square" lIns="0" rIns="0" tIns="0" bIns="0" anchor="t">
            <a:spAutoFit/>
          </a:bodyPr>
          <a:lstStyle/>
          <a:p>
            <a:pPr algn="l">
              <a:lnSpc>
                <a:spcPct val="106000"/>
              </a:lnSpc>
              <a:spcBef>
                <a:spcPts val="0"/>
              </a:spcBef>
              <a:spcAft>
                <a:spcPts val="0"/>
              </a:spcAft>
            </a:pPr>
            <a:r>
              <a:rPr sz="1600" b="0" i="0">
                <a:solidFill>
                  <a:srgbClr val="3A3A3A"/>
                </a:solidFill>
                <a:latin typeface="Marianne"/>
              </a:rPr>
              <a:t>Une trajectoire progressive, du quick win à la cible souveraine.</a:t>
            </a:r>
          </a:p>
        </p:txBody>
      </p:sp>
      <p:cxnSp>
        <p:nvCxnSpPr>
          <p:cNvPr id="10" name="Connector 9"/>
          <p:cNvCxnSpPr/>
          <p:nvPr/>
        </p:nvCxnSpPr>
        <p:spPr>
          <a:xfrm>
            <a:off x="2361133" y="3035808"/>
            <a:ext cx="7972349" cy="0"/>
          </a:xfrm>
          <a:prstGeom prst="line">
            <a:avLst/>
          </a:prstGeom>
          <a:ln w="22225">
            <a:solidFill>
              <a:srgbClr val="6A6AF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77240" y="2542032"/>
            <a:ext cx="3167786" cy="310896"/>
          </a:xfrm>
          <a:prstGeom prst="rect">
            <a:avLst/>
          </a:prstGeom>
          <a:noFill/>
        </p:spPr>
        <p:txBody>
          <a:bodyPr wrap="square" lIns="0" rIns="0" tIns="0" bIns="0" anchor="ctr">
            <a:spAutoFit/>
          </a:bodyPr>
          <a:lstStyle/>
          <a:p>
            <a:pPr algn="ctr">
              <a:lnSpc>
                <a:spcPct val="106000"/>
              </a:lnSpc>
              <a:spcBef>
                <a:spcPts val="0"/>
              </a:spcBef>
              <a:spcAft>
                <a:spcPts val="0"/>
              </a:spcAft>
            </a:pPr>
            <a:r>
              <a:rPr sz="1300" b="1" i="0">
                <a:solidFill>
                  <a:srgbClr val="6A6AF4"/>
                </a:solidFill>
                <a:latin typeface="Marianne"/>
              </a:rPr>
              <a:t>COURT TERME</a:t>
            </a:r>
          </a:p>
        </p:txBody>
      </p:sp>
      <p:sp>
        <p:nvSpPr>
          <p:cNvPr id="12" name="Rounded Rectangle 11"/>
          <p:cNvSpPr/>
          <p:nvPr/>
        </p:nvSpPr>
        <p:spPr>
          <a:xfrm>
            <a:off x="2123389" y="2798063"/>
            <a:ext cx="475488" cy="475488"/>
          </a:xfrm>
          <a:prstGeom prst="roundRect">
            <a:avLst>
              <a:gd name="adj" fmla="val 50000"/>
            </a:avLst>
          </a:prstGeom>
          <a:solidFill>
            <a:srgbClr val="6A6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rocket_w.png"/>
          <p:cNvPicPr>
            <a:picLocks noChangeAspect="1"/>
          </p:cNvPicPr>
          <p:nvPr/>
        </p:nvPicPr>
        <p:blipFill>
          <a:blip r:embed="rId3"/>
          <a:stretch>
            <a:fillRect/>
          </a:stretch>
        </p:blipFill>
        <p:spPr>
          <a:xfrm>
            <a:off x="2232751" y="2907426"/>
            <a:ext cx="256763" cy="256763"/>
          </a:xfrm>
          <a:prstGeom prst="rect">
            <a:avLst/>
          </a:prstGeom>
        </p:spPr>
      </p:pic>
      <p:sp>
        <p:nvSpPr>
          <p:cNvPr id="14" name="TextBox 13"/>
          <p:cNvSpPr txBox="1"/>
          <p:nvPr/>
        </p:nvSpPr>
        <p:spPr>
          <a:xfrm>
            <a:off x="4511954" y="2542032"/>
            <a:ext cx="3167786" cy="310896"/>
          </a:xfrm>
          <a:prstGeom prst="rect">
            <a:avLst/>
          </a:prstGeom>
          <a:noFill/>
        </p:spPr>
        <p:txBody>
          <a:bodyPr wrap="square" lIns="0" rIns="0" tIns="0" bIns="0" anchor="ctr">
            <a:spAutoFit/>
          </a:bodyPr>
          <a:lstStyle/>
          <a:p>
            <a:pPr algn="ctr">
              <a:lnSpc>
                <a:spcPct val="106000"/>
              </a:lnSpc>
              <a:spcBef>
                <a:spcPts val="0"/>
              </a:spcBef>
              <a:spcAft>
                <a:spcPts val="0"/>
              </a:spcAft>
            </a:pPr>
            <a:r>
              <a:rPr sz="1300" b="1" i="0">
                <a:solidFill>
                  <a:srgbClr val="6A6AF4"/>
                </a:solidFill>
                <a:latin typeface="Marianne"/>
              </a:rPr>
              <a:t>MOYEN TERME</a:t>
            </a:r>
          </a:p>
        </p:txBody>
      </p:sp>
      <p:sp>
        <p:nvSpPr>
          <p:cNvPr id="15" name="Rounded Rectangle 14"/>
          <p:cNvSpPr/>
          <p:nvPr/>
        </p:nvSpPr>
        <p:spPr>
          <a:xfrm>
            <a:off x="5858103" y="2798063"/>
            <a:ext cx="475488" cy="475488"/>
          </a:xfrm>
          <a:prstGeom prst="roundRect">
            <a:avLst>
              <a:gd name="adj" fmla="val 50000"/>
            </a:avLst>
          </a:prstGeom>
          <a:solidFill>
            <a:srgbClr val="6A6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ettings-3_w.png"/>
          <p:cNvPicPr>
            <a:picLocks noChangeAspect="1"/>
          </p:cNvPicPr>
          <p:nvPr/>
        </p:nvPicPr>
        <p:blipFill>
          <a:blip r:embed="rId4"/>
          <a:stretch>
            <a:fillRect/>
          </a:stretch>
        </p:blipFill>
        <p:spPr>
          <a:xfrm>
            <a:off x="5967465" y="2907426"/>
            <a:ext cx="256763" cy="256763"/>
          </a:xfrm>
          <a:prstGeom prst="rect">
            <a:avLst/>
          </a:prstGeom>
        </p:spPr>
      </p:pic>
      <p:sp>
        <p:nvSpPr>
          <p:cNvPr id="17" name="TextBox 16"/>
          <p:cNvSpPr txBox="1"/>
          <p:nvPr/>
        </p:nvSpPr>
        <p:spPr>
          <a:xfrm>
            <a:off x="8246668" y="2542032"/>
            <a:ext cx="3167786" cy="310896"/>
          </a:xfrm>
          <a:prstGeom prst="rect">
            <a:avLst/>
          </a:prstGeom>
          <a:noFill/>
        </p:spPr>
        <p:txBody>
          <a:bodyPr wrap="square" lIns="0" rIns="0" tIns="0" bIns="0" anchor="ctr">
            <a:spAutoFit/>
          </a:bodyPr>
          <a:lstStyle/>
          <a:p>
            <a:pPr algn="ctr">
              <a:lnSpc>
                <a:spcPct val="106000"/>
              </a:lnSpc>
              <a:spcBef>
                <a:spcPts val="0"/>
              </a:spcBef>
              <a:spcAft>
                <a:spcPts val="0"/>
              </a:spcAft>
            </a:pPr>
            <a:r>
              <a:rPr sz="1300" b="1" i="0">
                <a:solidFill>
                  <a:srgbClr val="6A6AF4"/>
                </a:solidFill>
                <a:latin typeface="Marianne"/>
              </a:rPr>
              <a:t>LONG TERME</a:t>
            </a:r>
          </a:p>
        </p:txBody>
      </p:sp>
      <p:sp>
        <p:nvSpPr>
          <p:cNvPr id="18" name="Rounded Rectangle 17"/>
          <p:cNvSpPr/>
          <p:nvPr/>
        </p:nvSpPr>
        <p:spPr>
          <a:xfrm>
            <a:off x="9592818" y="2798063"/>
            <a:ext cx="475488" cy="475488"/>
          </a:xfrm>
          <a:prstGeom prst="roundRect">
            <a:avLst>
              <a:gd name="adj" fmla="val 50000"/>
            </a:avLst>
          </a:prstGeom>
          <a:solidFill>
            <a:srgbClr val="6A6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government_w.png"/>
          <p:cNvPicPr>
            <a:picLocks noChangeAspect="1"/>
          </p:cNvPicPr>
          <p:nvPr/>
        </p:nvPicPr>
        <p:blipFill>
          <a:blip r:embed="rId5"/>
          <a:stretch>
            <a:fillRect/>
          </a:stretch>
        </p:blipFill>
        <p:spPr>
          <a:xfrm>
            <a:off x="9702180" y="2907426"/>
            <a:ext cx="256763" cy="256763"/>
          </a:xfrm>
          <a:prstGeom prst="rect">
            <a:avLst/>
          </a:prstGeom>
        </p:spPr>
      </p:pic>
      <p:sp>
        <p:nvSpPr>
          <p:cNvPr id="20" name="Rounded Rectangle 19"/>
          <p:cNvSpPr/>
          <p:nvPr/>
        </p:nvSpPr>
        <p:spPr>
          <a:xfrm>
            <a:off x="777240" y="3456432"/>
            <a:ext cx="3167786" cy="2286000"/>
          </a:xfrm>
          <a:prstGeom prst="roundRect">
            <a:avLst>
              <a:gd name="adj" fmla="val 5000"/>
            </a:avLst>
          </a:prstGeom>
          <a:solidFill>
            <a:srgbClr val="ECE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69848" y="3730752"/>
            <a:ext cx="2582570" cy="1828800"/>
          </a:xfrm>
          <a:prstGeom prst="rect">
            <a:avLst/>
          </a:prstGeom>
          <a:noFill/>
        </p:spPr>
        <p:txBody>
          <a:bodyPr wrap="square" lIns="0" rIns="0" tIns="0" bIns="0" anchor="t">
            <a:spAutoFit/>
          </a:bodyPr>
          <a:lstStyle/>
          <a:p>
            <a:pPr algn="l">
              <a:lnSpc>
                <a:spcPct val="100000"/>
              </a:lnSpc>
              <a:spcBef>
                <a:spcPts val="0"/>
              </a:spcBef>
              <a:spcAft>
                <a:spcPts val="1000"/>
              </a:spcAft>
            </a:pPr>
            <a:r>
              <a:rPr sz="1800" b="1" i="0">
                <a:solidFill>
                  <a:srgbClr val="000091"/>
                </a:solidFill>
                <a:latin typeface="Marianne"/>
              </a:rPr>
              <a:t>Outiller chaque métier</a:t>
            </a:r>
          </a:p>
          <a:p>
            <a:pPr algn="l" marL="201168" indent="-201168">
              <a:lnSpc>
                <a:spcPct val="105000"/>
              </a:lnSpc>
              <a:spcBef>
                <a:spcPts val="0"/>
              </a:spcBef>
              <a:spcAft>
                <a:spcPts val="500"/>
              </a:spcAft>
            </a:pPr>
            <a:r>
              <a:rPr sz="1200" b="0" i="0">
                <a:solidFill>
                  <a:srgbClr val="6A6AF4"/>
                </a:solidFill>
                <a:latin typeface="Marianne"/>
              </a:rPr>
              <a:t>▪  </a:t>
            </a:r>
            <a:r>
              <a:rPr sz="1400" b="0" i="0">
                <a:solidFill>
                  <a:srgbClr val="161616"/>
                </a:solidFill>
                <a:latin typeface="Marianne"/>
              </a:rPr>
              <a:t>Architectes</a:t>
            </a:r>
          </a:p>
          <a:p>
            <a:pPr algn="l" marL="201168" indent="-201168">
              <a:lnSpc>
                <a:spcPct val="105000"/>
              </a:lnSpc>
              <a:spcBef>
                <a:spcPts val="0"/>
              </a:spcBef>
              <a:spcAft>
                <a:spcPts val="500"/>
              </a:spcAft>
            </a:pPr>
            <a:r>
              <a:rPr sz="1200" b="0" i="0">
                <a:solidFill>
                  <a:srgbClr val="6A6AF4"/>
                </a:solidFill>
                <a:latin typeface="Marianne"/>
              </a:rPr>
              <a:t>▪  </a:t>
            </a:r>
            <a:r>
              <a:rPr sz="1400" b="0" i="0">
                <a:solidFill>
                  <a:srgbClr val="161616"/>
                </a:solidFill>
                <a:latin typeface="Marianne"/>
              </a:rPr>
              <a:t>Chefs de projet</a:t>
            </a:r>
          </a:p>
          <a:p>
            <a:pPr algn="l" marL="201168" indent="-201168">
              <a:lnSpc>
                <a:spcPct val="105000"/>
              </a:lnSpc>
              <a:spcBef>
                <a:spcPts val="0"/>
              </a:spcBef>
              <a:spcAft>
                <a:spcPts val="500"/>
              </a:spcAft>
            </a:pPr>
            <a:r>
              <a:rPr sz="1200" b="0" i="0">
                <a:solidFill>
                  <a:srgbClr val="6A6AF4"/>
                </a:solidFill>
                <a:latin typeface="Marianne"/>
              </a:rPr>
              <a:t>▪  </a:t>
            </a:r>
            <a:r>
              <a:rPr sz="1400" b="0" i="0">
                <a:solidFill>
                  <a:srgbClr val="161616"/>
                </a:solidFill>
                <a:latin typeface="Marianne"/>
              </a:rPr>
              <a:t>Designers</a:t>
            </a:r>
          </a:p>
          <a:p>
            <a:pPr algn="l" marL="201168" indent="-201168">
              <a:lnSpc>
                <a:spcPct val="105000"/>
              </a:lnSpc>
              <a:spcBef>
                <a:spcPts val="0"/>
              </a:spcBef>
              <a:spcAft>
                <a:spcPts val="500"/>
              </a:spcAft>
            </a:pPr>
            <a:r>
              <a:rPr sz="1200" b="0" i="0">
                <a:solidFill>
                  <a:srgbClr val="6A6AF4"/>
                </a:solidFill>
                <a:latin typeface="Marianne"/>
              </a:rPr>
              <a:t>▪  </a:t>
            </a:r>
            <a:r>
              <a:rPr sz="1400" b="0" i="0">
                <a:solidFill>
                  <a:srgbClr val="161616"/>
                </a:solidFill>
                <a:latin typeface="Marianne"/>
              </a:rPr>
              <a:t>Développeurs</a:t>
            </a:r>
          </a:p>
        </p:txBody>
      </p:sp>
      <p:sp>
        <p:nvSpPr>
          <p:cNvPr id="22" name="Rounded Rectangle 21"/>
          <p:cNvSpPr/>
          <p:nvPr/>
        </p:nvSpPr>
        <p:spPr>
          <a:xfrm>
            <a:off x="4511954" y="3456432"/>
            <a:ext cx="3167786" cy="2286000"/>
          </a:xfrm>
          <a:prstGeom prst="roundRect">
            <a:avLst>
              <a:gd name="adj" fmla="val 5000"/>
            </a:avLst>
          </a:prstGeom>
          <a:solidFill>
            <a:srgbClr val="ECE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04562" y="3730752"/>
            <a:ext cx="2582570" cy="1828800"/>
          </a:xfrm>
          <a:prstGeom prst="rect">
            <a:avLst/>
          </a:prstGeom>
          <a:noFill/>
        </p:spPr>
        <p:txBody>
          <a:bodyPr wrap="square" lIns="0" rIns="0" tIns="0" bIns="0" anchor="t">
            <a:spAutoFit/>
          </a:bodyPr>
          <a:lstStyle/>
          <a:p>
            <a:pPr algn="l">
              <a:lnSpc>
                <a:spcPct val="100000"/>
              </a:lnSpc>
              <a:spcBef>
                <a:spcPts val="0"/>
              </a:spcBef>
              <a:spcAft>
                <a:spcPts val="1000"/>
              </a:spcAft>
            </a:pPr>
            <a:r>
              <a:rPr sz="1800" b="1" i="0">
                <a:solidFill>
                  <a:srgbClr val="000091"/>
                </a:solidFill>
                <a:latin typeface="Marianne"/>
              </a:rPr>
              <a:t>Industrialiser &amp; animer</a:t>
            </a:r>
          </a:p>
          <a:p>
            <a:pPr algn="l" marL="201168" indent="-201168">
              <a:lnSpc>
                <a:spcPct val="105000"/>
              </a:lnSpc>
              <a:spcBef>
                <a:spcPts val="0"/>
              </a:spcBef>
              <a:spcAft>
                <a:spcPts val="500"/>
              </a:spcAft>
            </a:pPr>
            <a:r>
              <a:rPr sz="1200" b="0" i="0">
                <a:solidFill>
                  <a:srgbClr val="6A6AF4"/>
                </a:solidFill>
                <a:latin typeface="Marianne"/>
              </a:rPr>
              <a:t>▪  </a:t>
            </a:r>
            <a:r>
              <a:rPr sz="1400" b="0" i="0">
                <a:solidFill>
                  <a:srgbClr val="161616"/>
                </a:solidFill>
                <a:latin typeface="Marianne"/>
              </a:rPr>
              <a:t>Communauté de champions</a:t>
            </a:r>
          </a:p>
          <a:p>
            <a:pPr algn="l" marL="201168" indent="-201168">
              <a:lnSpc>
                <a:spcPct val="105000"/>
              </a:lnSpc>
              <a:spcBef>
                <a:spcPts val="0"/>
              </a:spcBef>
              <a:spcAft>
                <a:spcPts val="500"/>
              </a:spcAft>
            </a:pPr>
            <a:r>
              <a:rPr sz="1200" b="0" i="0">
                <a:solidFill>
                  <a:srgbClr val="6A6AF4"/>
                </a:solidFill>
                <a:latin typeface="Marianne"/>
              </a:rPr>
              <a:t>▪  </a:t>
            </a:r>
            <a:r>
              <a:rPr sz="1400" b="0" i="0">
                <a:solidFill>
                  <a:srgbClr val="161616"/>
                </a:solidFill>
                <a:latin typeface="Marianne"/>
              </a:rPr>
              <a:t>CI/CD &amp; déploiement</a:t>
            </a:r>
          </a:p>
          <a:p>
            <a:pPr algn="l" marL="201168" indent="-201168">
              <a:lnSpc>
                <a:spcPct val="105000"/>
              </a:lnSpc>
              <a:spcBef>
                <a:spcPts val="0"/>
              </a:spcBef>
              <a:spcAft>
                <a:spcPts val="500"/>
              </a:spcAft>
            </a:pPr>
            <a:r>
              <a:rPr sz="1200" b="0" i="0">
                <a:solidFill>
                  <a:srgbClr val="6A6AF4"/>
                </a:solidFill>
                <a:latin typeface="Marianne"/>
              </a:rPr>
              <a:t>▪  </a:t>
            </a:r>
            <a:r>
              <a:rPr sz="1400" b="0" i="0">
                <a:solidFill>
                  <a:srgbClr val="161616"/>
                </a:solidFill>
                <a:latin typeface="Marianne"/>
              </a:rPr>
              <a:t>Dev agentique</a:t>
            </a:r>
          </a:p>
          <a:p>
            <a:pPr algn="l" marL="201168" indent="-201168">
              <a:lnSpc>
                <a:spcPct val="105000"/>
              </a:lnSpc>
              <a:spcBef>
                <a:spcPts val="0"/>
              </a:spcBef>
              <a:spcAft>
                <a:spcPts val="500"/>
              </a:spcAft>
            </a:pPr>
            <a:r>
              <a:rPr sz="1200" b="0" i="0">
                <a:solidFill>
                  <a:srgbClr val="6A6AF4"/>
                </a:solidFill>
                <a:latin typeface="Marianne"/>
              </a:rPr>
              <a:t>▪  </a:t>
            </a:r>
            <a:r>
              <a:rPr sz="1400" b="0" i="0">
                <a:solidFill>
                  <a:srgbClr val="161616"/>
                </a:solidFill>
                <a:latin typeface="Marianne"/>
              </a:rPr>
              <a:t>Observabilité</a:t>
            </a:r>
          </a:p>
        </p:txBody>
      </p:sp>
      <p:sp>
        <p:nvSpPr>
          <p:cNvPr id="24" name="Rounded Rectangle 23"/>
          <p:cNvSpPr/>
          <p:nvPr/>
        </p:nvSpPr>
        <p:spPr>
          <a:xfrm>
            <a:off x="8246668" y="3456432"/>
            <a:ext cx="3167786" cy="2286000"/>
          </a:xfrm>
          <a:prstGeom prst="roundRect">
            <a:avLst>
              <a:gd name="adj" fmla="val 5000"/>
            </a:avLst>
          </a:prstGeom>
          <a:solidFill>
            <a:srgbClr val="ECE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39276" y="3730752"/>
            <a:ext cx="2582570" cy="1828800"/>
          </a:xfrm>
          <a:prstGeom prst="rect">
            <a:avLst/>
          </a:prstGeom>
          <a:noFill/>
        </p:spPr>
        <p:txBody>
          <a:bodyPr wrap="square" lIns="0" rIns="0" tIns="0" bIns="0" anchor="t">
            <a:spAutoFit/>
          </a:bodyPr>
          <a:lstStyle/>
          <a:p>
            <a:pPr algn="l">
              <a:lnSpc>
                <a:spcPct val="100000"/>
              </a:lnSpc>
              <a:spcBef>
                <a:spcPts val="0"/>
              </a:spcBef>
              <a:spcAft>
                <a:spcPts val="1000"/>
              </a:spcAft>
            </a:pPr>
            <a:r>
              <a:rPr sz="1800" b="1" i="0">
                <a:solidFill>
                  <a:srgbClr val="000091"/>
                </a:solidFill>
                <a:latin typeface="Marianne"/>
              </a:rPr>
              <a:t>Un harness maison</a:t>
            </a:r>
          </a:p>
          <a:p>
            <a:pPr algn="l" marL="201168" indent="-201168">
              <a:lnSpc>
                <a:spcPct val="105000"/>
              </a:lnSpc>
              <a:spcBef>
                <a:spcPts val="0"/>
              </a:spcBef>
              <a:spcAft>
                <a:spcPts val="500"/>
              </a:spcAft>
            </a:pPr>
            <a:r>
              <a:rPr sz="1200" b="0" i="0">
                <a:solidFill>
                  <a:srgbClr val="6A6AF4"/>
                </a:solidFill>
                <a:latin typeface="Marianne"/>
              </a:rPr>
              <a:t>▪  </a:t>
            </a:r>
            <a:r>
              <a:rPr sz="1400" b="0" i="0">
                <a:solidFill>
                  <a:srgbClr val="161616"/>
                </a:solidFill>
                <a:latin typeface="Marianne"/>
              </a:rPr>
              <a:t>Souveraineté</a:t>
            </a:r>
          </a:p>
          <a:p>
            <a:pPr algn="l" marL="201168" indent="-201168">
              <a:lnSpc>
                <a:spcPct val="105000"/>
              </a:lnSpc>
              <a:spcBef>
                <a:spcPts val="0"/>
              </a:spcBef>
              <a:spcAft>
                <a:spcPts val="500"/>
              </a:spcAft>
            </a:pPr>
            <a:r>
              <a:rPr sz="1200" b="0" i="0">
                <a:solidFill>
                  <a:srgbClr val="6A6AF4"/>
                </a:solidFill>
                <a:latin typeface="Marianne"/>
              </a:rPr>
              <a:t>▪  </a:t>
            </a:r>
            <a:r>
              <a:rPr sz="1400" b="0" i="0">
                <a:solidFill>
                  <a:srgbClr val="161616"/>
                </a:solidFill>
                <a:latin typeface="Marianne"/>
              </a:rPr>
              <a:t>Conformité intégrée</a:t>
            </a:r>
          </a:p>
          <a:p>
            <a:pPr algn="l" marL="201168" indent="-201168">
              <a:lnSpc>
                <a:spcPct val="105000"/>
              </a:lnSpc>
              <a:spcBef>
                <a:spcPts val="0"/>
              </a:spcBef>
              <a:spcAft>
                <a:spcPts val="500"/>
              </a:spcAft>
            </a:pPr>
            <a:r>
              <a:rPr sz="1200" b="0" i="0">
                <a:solidFill>
                  <a:srgbClr val="6A6AF4"/>
                </a:solidFill>
                <a:latin typeface="Marianne"/>
              </a:rPr>
              <a:t>▪  </a:t>
            </a:r>
            <a:r>
              <a:rPr sz="1400" b="0" i="0">
                <a:solidFill>
                  <a:srgbClr val="161616"/>
                </a:solidFill>
                <a:latin typeface="Marianne"/>
              </a:rPr>
              <a:t>Expérience maîtrisée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777240" y="274320"/>
            <a:ext cx="987918" cy="676656"/>
          </a:xfrm>
          <a:prstGeom prst="rect">
            <a:avLst/>
          </a:prstGeom>
        </p:spPr>
      </p:pic>
      <p:sp>
        <p:nvSpPr>
          <p:cNvPr id="4" name="TextBox 3"/>
          <p:cNvSpPr txBox="1"/>
          <p:nvPr/>
        </p:nvSpPr>
        <p:spPr>
          <a:xfrm>
            <a:off x="7573975" y="274320"/>
            <a:ext cx="3840480" cy="640080"/>
          </a:xfrm>
          <a:prstGeom prst="rect">
            <a:avLst/>
          </a:prstGeom>
          <a:noFill/>
        </p:spPr>
        <p:txBody>
          <a:bodyPr wrap="square" lIns="0" rIns="0" tIns="0" bIns="0" anchor="t">
            <a:spAutoFit/>
          </a:bodyPr>
          <a:lstStyle/>
          <a:p>
            <a:pPr algn="r">
              <a:lnSpc>
                <a:spcPct val="105000"/>
              </a:lnSpc>
              <a:spcBef>
                <a:spcPts val="0"/>
              </a:spcBef>
              <a:spcAft>
                <a:spcPts val="0"/>
              </a:spcAft>
            </a:pPr>
            <a:r>
              <a:rPr sz="1350" b="1" i="0">
                <a:solidFill>
                  <a:srgbClr val="161616"/>
                </a:solidFill>
                <a:latin typeface="Marianne"/>
              </a:rPr>
              <a:t>Secrétariat général</a:t>
            </a:r>
          </a:p>
          <a:p>
            <a:pPr algn="r">
              <a:lnSpc>
                <a:spcPct val="105000"/>
              </a:lnSpc>
              <a:spcBef>
                <a:spcPts val="0"/>
              </a:spcBef>
              <a:spcAft>
                <a:spcPts val="0"/>
              </a:spcAft>
            </a:pPr>
            <a:r>
              <a:rPr sz="1350" b="0" i="0">
                <a:solidFill>
                  <a:srgbClr val="3A3A3A"/>
                </a:solidFill>
                <a:latin typeface="Marianne"/>
              </a:rPr>
              <a:t>Direction du numérique</a:t>
            </a:r>
          </a:p>
        </p:txBody>
      </p:sp>
      <p:cxnSp>
        <p:nvCxnSpPr>
          <p:cNvPr id="5" name="Connector 4"/>
          <p:cNvCxnSpPr/>
          <p:nvPr/>
        </p:nvCxnSpPr>
        <p:spPr>
          <a:xfrm>
            <a:off x="0" y="1005840"/>
            <a:ext cx="12191695"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6437376"/>
            <a:ext cx="5486400" cy="274320"/>
          </a:xfrm>
          <a:prstGeom prst="rect">
            <a:avLst/>
          </a:prstGeom>
          <a:noFill/>
        </p:spPr>
        <p:txBody>
          <a:bodyPr wrap="square" lIns="0" rIns="0" tIns="0" bIns="0" anchor="t">
            <a:spAutoFit/>
          </a:bodyPr>
          <a:lstStyle/>
          <a:p>
            <a:pPr algn="l">
              <a:lnSpc>
                <a:spcPct val="106000"/>
              </a:lnSpc>
              <a:spcBef>
                <a:spcPts val="0"/>
              </a:spcBef>
              <a:spcAft>
                <a:spcPts val="0"/>
              </a:spcAft>
            </a:pPr>
            <a:r>
              <a:rPr sz="1100" b="0" i="0">
                <a:solidFill>
                  <a:srgbClr val="6A6A6A"/>
                </a:solidFill>
                <a:latin typeface="Marianne"/>
              </a:rPr>
              <a:t>Ministères Sociaux – 25/06/2026</a:t>
            </a:r>
          </a:p>
        </p:txBody>
      </p:sp>
      <p:sp>
        <p:nvSpPr>
          <p:cNvPr id="7" name="TextBox 6"/>
          <p:cNvSpPr txBox="1"/>
          <p:nvPr/>
        </p:nvSpPr>
        <p:spPr>
          <a:xfrm>
            <a:off x="10682935" y="6437376"/>
            <a:ext cx="731520" cy="274320"/>
          </a:xfrm>
          <a:prstGeom prst="rect">
            <a:avLst/>
          </a:prstGeom>
          <a:noFill/>
        </p:spPr>
        <p:txBody>
          <a:bodyPr wrap="square" lIns="0" rIns="0" tIns="0" bIns="0" anchor="t">
            <a:spAutoFit/>
          </a:bodyPr>
          <a:lstStyle/>
          <a:p>
            <a:pPr algn="r">
              <a:lnSpc>
                <a:spcPct val="106000"/>
              </a:lnSpc>
              <a:spcBef>
                <a:spcPts val="0"/>
              </a:spcBef>
              <a:spcAft>
                <a:spcPts val="0"/>
              </a:spcAft>
            </a:pPr>
            <a:r>
              <a:rPr sz="1100" b="0" i="0">
                <a:solidFill>
                  <a:srgbClr val="6A6A6A"/>
                </a:solidFill>
                <a:latin typeface="Marianne"/>
              </a:rPr>
              <a:t>10</a:t>
            </a:r>
          </a:p>
        </p:txBody>
      </p:sp>
      <p:sp>
        <p:nvSpPr>
          <p:cNvPr id="8" name="TextBox 7"/>
          <p:cNvSpPr txBox="1"/>
          <p:nvPr/>
        </p:nvSpPr>
        <p:spPr>
          <a:xfrm>
            <a:off x="777240" y="1325880"/>
            <a:ext cx="10637215" cy="1280160"/>
          </a:xfrm>
          <a:prstGeom prst="rect">
            <a:avLst/>
          </a:prstGeom>
          <a:noFill/>
        </p:spPr>
        <p:txBody>
          <a:bodyPr wrap="square" lIns="0" rIns="0" tIns="0" bIns="0" anchor="t">
            <a:spAutoFit/>
          </a:bodyPr>
          <a:lstStyle/>
          <a:p>
            <a:pPr algn="l">
              <a:lnSpc>
                <a:spcPct val="102000"/>
              </a:lnSpc>
              <a:spcBef>
                <a:spcPts val="0"/>
              </a:spcBef>
              <a:spcAft>
                <a:spcPts val="0"/>
              </a:spcAft>
            </a:pPr>
            <a:r>
              <a:rPr sz="3100" b="1" i="0">
                <a:solidFill>
                  <a:srgbClr val="161616"/>
                </a:solidFill>
                <a:latin typeface="Marianne"/>
              </a:rPr>
              <a:t>Court terme : outiller chaque métier</a:t>
            </a:r>
          </a:p>
        </p:txBody>
      </p:sp>
      <p:sp>
        <p:nvSpPr>
          <p:cNvPr id="9" name="Rounded Rectangle 8"/>
          <p:cNvSpPr/>
          <p:nvPr/>
        </p:nvSpPr>
        <p:spPr>
          <a:xfrm>
            <a:off x="777240" y="2286000"/>
            <a:ext cx="5112867" cy="1847088"/>
          </a:xfrm>
          <a:prstGeom prst="roundRect">
            <a:avLst>
              <a:gd name="adj" fmla="val 6000"/>
            </a:avLst>
          </a:prstGeom>
          <a:solidFill>
            <a:srgbClr val="ECE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ompasses-2.png"/>
          <p:cNvPicPr>
            <a:picLocks noChangeAspect="1"/>
          </p:cNvPicPr>
          <p:nvPr/>
        </p:nvPicPr>
        <p:blipFill>
          <a:blip r:embed="rId3"/>
          <a:stretch>
            <a:fillRect/>
          </a:stretch>
        </p:blipFill>
        <p:spPr>
          <a:xfrm>
            <a:off x="1088136" y="2560320"/>
            <a:ext cx="457200" cy="457200"/>
          </a:xfrm>
          <a:prstGeom prst="rect">
            <a:avLst/>
          </a:prstGeom>
        </p:spPr>
      </p:pic>
      <p:sp>
        <p:nvSpPr>
          <p:cNvPr id="11" name="TextBox 10"/>
          <p:cNvSpPr txBox="1"/>
          <p:nvPr/>
        </p:nvSpPr>
        <p:spPr>
          <a:xfrm>
            <a:off x="1691640" y="2560320"/>
            <a:ext cx="3924147" cy="457200"/>
          </a:xfrm>
          <a:prstGeom prst="rect">
            <a:avLst/>
          </a:prstGeom>
          <a:noFill/>
        </p:spPr>
        <p:txBody>
          <a:bodyPr wrap="square" lIns="0" rIns="0" tIns="0" bIns="0" anchor="ctr">
            <a:spAutoFit/>
          </a:bodyPr>
          <a:lstStyle/>
          <a:p>
            <a:pPr algn="l">
              <a:lnSpc>
                <a:spcPct val="106000"/>
              </a:lnSpc>
              <a:spcBef>
                <a:spcPts val="0"/>
              </a:spcBef>
              <a:spcAft>
                <a:spcPts val="0"/>
              </a:spcAft>
            </a:pPr>
            <a:r>
              <a:rPr sz="1750" b="1" i="0">
                <a:solidFill>
                  <a:srgbClr val="000091"/>
                </a:solidFill>
                <a:latin typeface="Marianne"/>
              </a:rPr>
              <a:t>Architectes</a:t>
            </a:r>
          </a:p>
        </p:txBody>
      </p:sp>
      <p:sp>
        <p:nvSpPr>
          <p:cNvPr id="12" name="TextBox 11"/>
          <p:cNvSpPr txBox="1"/>
          <p:nvPr/>
        </p:nvSpPr>
        <p:spPr>
          <a:xfrm>
            <a:off x="1088136" y="3127248"/>
            <a:ext cx="4491075" cy="886968"/>
          </a:xfrm>
          <a:prstGeom prst="rect">
            <a:avLst/>
          </a:prstGeom>
          <a:noFill/>
        </p:spPr>
        <p:txBody>
          <a:bodyPr wrap="square" lIns="0" rIns="0" tIns="0" bIns="0" anchor="t">
            <a:spAutoFit/>
          </a:bodyPr>
          <a:lstStyle/>
          <a:p>
            <a:pPr algn="l">
              <a:lnSpc>
                <a:spcPct val="108000"/>
              </a:lnSpc>
              <a:spcBef>
                <a:spcPts val="0"/>
              </a:spcBef>
              <a:spcAft>
                <a:spcPts val="0"/>
              </a:spcAft>
            </a:pPr>
            <a:r>
              <a:rPr sz="1400" b="0" i="0">
                <a:solidFill>
                  <a:srgbClr val="3A3A3A"/>
                </a:solidFill>
                <a:latin typeface="Marianne"/>
              </a:rPr>
              <a:t>Générer des Dossiers d’Architecture (DA) avec l’IA.</a:t>
            </a:r>
          </a:p>
        </p:txBody>
      </p:sp>
      <p:sp>
        <p:nvSpPr>
          <p:cNvPr id="13" name="Rounded Rectangle 12"/>
          <p:cNvSpPr/>
          <p:nvPr/>
        </p:nvSpPr>
        <p:spPr>
          <a:xfrm>
            <a:off x="6301587" y="2286000"/>
            <a:ext cx="5112867" cy="1847088"/>
          </a:xfrm>
          <a:prstGeom prst="roundRect">
            <a:avLst>
              <a:gd name="adj" fmla="val 6000"/>
            </a:avLst>
          </a:prstGeom>
          <a:solidFill>
            <a:srgbClr val="ECE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lipboard.png"/>
          <p:cNvPicPr>
            <a:picLocks noChangeAspect="1"/>
          </p:cNvPicPr>
          <p:nvPr/>
        </p:nvPicPr>
        <p:blipFill>
          <a:blip r:embed="rId4"/>
          <a:stretch>
            <a:fillRect/>
          </a:stretch>
        </p:blipFill>
        <p:spPr>
          <a:xfrm>
            <a:off x="6612483" y="2560320"/>
            <a:ext cx="457200" cy="457200"/>
          </a:xfrm>
          <a:prstGeom prst="rect">
            <a:avLst/>
          </a:prstGeom>
        </p:spPr>
      </p:pic>
      <p:sp>
        <p:nvSpPr>
          <p:cNvPr id="15" name="TextBox 14"/>
          <p:cNvSpPr txBox="1"/>
          <p:nvPr/>
        </p:nvSpPr>
        <p:spPr>
          <a:xfrm>
            <a:off x="7215987" y="2560320"/>
            <a:ext cx="3924147" cy="457200"/>
          </a:xfrm>
          <a:prstGeom prst="rect">
            <a:avLst/>
          </a:prstGeom>
          <a:noFill/>
        </p:spPr>
        <p:txBody>
          <a:bodyPr wrap="square" lIns="0" rIns="0" tIns="0" bIns="0" anchor="ctr">
            <a:spAutoFit/>
          </a:bodyPr>
          <a:lstStyle/>
          <a:p>
            <a:pPr algn="l">
              <a:lnSpc>
                <a:spcPct val="106000"/>
              </a:lnSpc>
              <a:spcBef>
                <a:spcPts val="0"/>
              </a:spcBef>
              <a:spcAft>
                <a:spcPts val="0"/>
              </a:spcAft>
            </a:pPr>
            <a:r>
              <a:rPr sz="1750" b="1" i="0">
                <a:solidFill>
                  <a:srgbClr val="000091"/>
                </a:solidFill>
                <a:latin typeface="Marianne"/>
              </a:rPr>
              <a:t>Chefs de projet</a:t>
            </a:r>
          </a:p>
        </p:txBody>
      </p:sp>
      <p:sp>
        <p:nvSpPr>
          <p:cNvPr id="16" name="TextBox 15"/>
          <p:cNvSpPr txBox="1"/>
          <p:nvPr/>
        </p:nvSpPr>
        <p:spPr>
          <a:xfrm>
            <a:off x="6612483" y="3127248"/>
            <a:ext cx="4491075" cy="886968"/>
          </a:xfrm>
          <a:prstGeom prst="rect">
            <a:avLst/>
          </a:prstGeom>
          <a:noFill/>
        </p:spPr>
        <p:txBody>
          <a:bodyPr wrap="square" lIns="0" rIns="0" tIns="0" bIns="0" anchor="t">
            <a:spAutoFit/>
          </a:bodyPr>
          <a:lstStyle/>
          <a:p>
            <a:pPr algn="l">
              <a:lnSpc>
                <a:spcPct val="108000"/>
              </a:lnSpc>
              <a:spcBef>
                <a:spcPts val="0"/>
              </a:spcBef>
              <a:spcAft>
                <a:spcPts val="0"/>
              </a:spcAft>
            </a:pPr>
            <a:r>
              <a:rPr sz="1400" b="0" i="0">
                <a:solidFill>
                  <a:srgbClr val="3A3A3A"/>
                </a:solidFill>
                <a:latin typeface="Marianne"/>
              </a:rPr>
              <a:t>Pré-audit d’homologation continu et meilleur pilotage des projets faits avec l’IA.</a:t>
            </a:r>
          </a:p>
          <a:p>
            <a:pPr algn="l">
              <a:lnSpc>
                <a:spcPct val="105000"/>
              </a:lnSpc>
              <a:spcBef>
                <a:spcPts val="400"/>
              </a:spcBef>
              <a:spcAft>
                <a:spcPts val="0"/>
              </a:spcAft>
            </a:pPr>
            <a:r>
              <a:rPr sz="1250" b="0" i="1">
                <a:solidFill>
                  <a:srgbClr val="6A6A6A"/>
                </a:solidFill>
                <a:latin typeface="Marianne"/>
              </a:rPr>
              <a:t>Rencontrer plus de CDP ; expérimenter les estimations « T-shirt » sur Egapro.</a:t>
            </a:r>
          </a:p>
        </p:txBody>
      </p:sp>
      <p:sp>
        <p:nvSpPr>
          <p:cNvPr id="17" name="Rounded Rectangle 16"/>
          <p:cNvSpPr/>
          <p:nvPr/>
        </p:nvSpPr>
        <p:spPr>
          <a:xfrm>
            <a:off x="777240" y="4407408"/>
            <a:ext cx="5112867" cy="1847088"/>
          </a:xfrm>
          <a:prstGeom prst="roundRect">
            <a:avLst>
              <a:gd name="adj" fmla="val 6000"/>
            </a:avLst>
          </a:prstGeom>
          <a:solidFill>
            <a:srgbClr val="ECE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palette.png"/>
          <p:cNvPicPr>
            <a:picLocks noChangeAspect="1"/>
          </p:cNvPicPr>
          <p:nvPr/>
        </p:nvPicPr>
        <p:blipFill>
          <a:blip r:embed="rId5"/>
          <a:stretch>
            <a:fillRect/>
          </a:stretch>
        </p:blipFill>
        <p:spPr>
          <a:xfrm>
            <a:off x="1088136" y="4681728"/>
            <a:ext cx="457200" cy="457200"/>
          </a:xfrm>
          <a:prstGeom prst="rect">
            <a:avLst/>
          </a:prstGeom>
        </p:spPr>
      </p:pic>
      <p:sp>
        <p:nvSpPr>
          <p:cNvPr id="19" name="TextBox 18"/>
          <p:cNvSpPr txBox="1"/>
          <p:nvPr/>
        </p:nvSpPr>
        <p:spPr>
          <a:xfrm>
            <a:off x="1691640" y="4681728"/>
            <a:ext cx="3924147" cy="457200"/>
          </a:xfrm>
          <a:prstGeom prst="rect">
            <a:avLst/>
          </a:prstGeom>
          <a:noFill/>
        </p:spPr>
        <p:txBody>
          <a:bodyPr wrap="square" lIns="0" rIns="0" tIns="0" bIns="0" anchor="ctr">
            <a:spAutoFit/>
          </a:bodyPr>
          <a:lstStyle/>
          <a:p>
            <a:pPr algn="l">
              <a:lnSpc>
                <a:spcPct val="106000"/>
              </a:lnSpc>
              <a:spcBef>
                <a:spcPts val="0"/>
              </a:spcBef>
              <a:spcAft>
                <a:spcPts val="0"/>
              </a:spcAft>
            </a:pPr>
            <a:r>
              <a:rPr sz="1750" b="1" i="0">
                <a:solidFill>
                  <a:srgbClr val="000091"/>
                </a:solidFill>
                <a:latin typeface="Marianne"/>
              </a:rPr>
              <a:t>Designers</a:t>
            </a:r>
          </a:p>
        </p:txBody>
      </p:sp>
      <p:sp>
        <p:nvSpPr>
          <p:cNvPr id="20" name="TextBox 19"/>
          <p:cNvSpPr txBox="1"/>
          <p:nvPr/>
        </p:nvSpPr>
        <p:spPr>
          <a:xfrm>
            <a:off x="1088136" y="5248656"/>
            <a:ext cx="4491075" cy="886968"/>
          </a:xfrm>
          <a:prstGeom prst="rect">
            <a:avLst/>
          </a:prstGeom>
          <a:noFill/>
        </p:spPr>
        <p:txBody>
          <a:bodyPr wrap="square" lIns="0" rIns="0" tIns="0" bIns="0" anchor="t">
            <a:spAutoFit/>
          </a:bodyPr>
          <a:lstStyle/>
          <a:p>
            <a:pPr algn="l">
              <a:lnSpc>
                <a:spcPct val="108000"/>
              </a:lnSpc>
              <a:spcBef>
                <a:spcPts val="0"/>
              </a:spcBef>
              <a:spcAft>
                <a:spcPts val="0"/>
              </a:spcAft>
            </a:pPr>
            <a:r>
              <a:rPr sz="1400" b="0" i="0">
                <a:solidFill>
                  <a:srgbClr val="3A3A3A"/>
                </a:solidFill>
                <a:latin typeface="Marianne"/>
              </a:rPr>
              <a:t>Créer et utiliser des skills d’UX et d’audit UX pour générer et challenger des prototypes rapidement.</a:t>
            </a:r>
          </a:p>
          <a:p>
            <a:pPr algn="l">
              <a:lnSpc>
                <a:spcPct val="105000"/>
              </a:lnSpc>
              <a:spcBef>
                <a:spcPts val="400"/>
              </a:spcBef>
              <a:spcAft>
                <a:spcPts val="0"/>
              </a:spcAft>
            </a:pPr>
            <a:r>
              <a:rPr sz="1250" b="0" i="1">
                <a:solidFill>
                  <a:srgbClr val="6A6A6A"/>
                </a:solidFill>
                <a:latin typeface="Marianne"/>
              </a:rPr>
              <a:t>Puis analyser les autres besoins existants.</a:t>
            </a:r>
          </a:p>
        </p:txBody>
      </p:sp>
      <p:sp>
        <p:nvSpPr>
          <p:cNvPr id="21" name="Rounded Rectangle 20"/>
          <p:cNvSpPr/>
          <p:nvPr/>
        </p:nvSpPr>
        <p:spPr>
          <a:xfrm>
            <a:off x="6301587" y="4407408"/>
            <a:ext cx="5112867" cy="1847088"/>
          </a:xfrm>
          <a:prstGeom prst="roundRect">
            <a:avLst>
              <a:gd name="adj" fmla="val 6000"/>
            </a:avLst>
          </a:prstGeom>
          <a:solidFill>
            <a:srgbClr val="ECE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ode-s-slash.png"/>
          <p:cNvPicPr>
            <a:picLocks noChangeAspect="1"/>
          </p:cNvPicPr>
          <p:nvPr/>
        </p:nvPicPr>
        <p:blipFill>
          <a:blip r:embed="rId6"/>
          <a:stretch>
            <a:fillRect/>
          </a:stretch>
        </p:blipFill>
        <p:spPr>
          <a:xfrm>
            <a:off x="6612483" y="4681728"/>
            <a:ext cx="457200" cy="457200"/>
          </a:xfrm>
          <a:prstGeom prst="rect">
            <a:avLst/>
          </a:prstGeom>
        </p:spPr>
      </p:pic>
      <p:sp>
        <p:nvSpPr>
          <p:cNvPr id="23" name="TextBox 22"/>
          <p:cNvSpPr txBox="1"/>
          <p:nvPr/>
        </p:nvSpPr>
        <p:spPr>
          <a:xfrm>
            <a:off x="7215987" y="4681728"/>
            <a:ext cx="3924147" cy="457200"/>
          </a:xfrm>
          <a:prstGeom prst="rect">
            <a:avLst/>
          </a:prstGeom>
          <a:noFill/>
        </p:spPr>
        <p:txBody>
          <a:bodyPr wrap="square" lIns="0" rIns="0" tIns="0" bIns="0" anchor="ctr">
            <a:spAutoFit/>
          </a:bodyPr>
          <a:lstStyle/>
          <a:p>
            <a:pPr algn="l">
              <a:lnSpc>
                <a:spcPct val="106000"/>
              </a:lnSpc>
              <a:spcBef>
                <a:spcPts val="0"/>
              </a:spcBef>
              <a:spcAft>
                <a:spcPts val="0"/>
              </a:spcAft>
            </a:pPr>
            <a:r>
              <a:rPr sz="1750" b="1" i="0">
                <a:solidFill>
                  <a:srgbClr val="000091"/>
                </a:solidFill>
                <a:latin typeface="Marianne"/>
              </a:rPr>
              <a:t>Développeurs</a:t>
            </a:r>
          </a:p>
        </p:txBody>
      </p:sp>
      <p:sp>
        <p:nvSpPr>
          <p:cNvPr id="24" name="TextBox 23"/>
          <p:cNvSpPr txBox="1"/>
          <p:nvPr/>
        </p:nvSpPr>
        <p:spPr>
          <a:xfrm>
            <a:off x="6612483" y="5248656"/>
            <a:ext cx="4491075" cy="886968"/>
          </a:xfrm>
          <a:prstGeom prst="rect">
            <a:avLst/>
          </a:prstGeom>
          <a:noFill/>
        </p:spPr>
        <p:txBody>
          <a:bodyPr wrap="square" lIns="0" rIns="0" tIns="0" bIns="0" anchor="t">
            <a:spAutoFit/>
          </a:bodyPr>
          <a:lstStyle/>
          <a:p>
            <a:pPr algn="l">
              <a:lnSpc>
                <a:spcPct val="108000"/>
              </a:lnSpc>
              <a:spcBef>
                <a:spcPts val="0"/>
              </a:spcBef>
              <a:spcAft>
                <a:spcPts val="0"/>
              </a:spcAft>
            </a:pPr>
            <a:r>
              <a:rPr sz="1400" b="0" i="0">
                <a:solidFill>
                  <a:srgbClr val="3A3A3A"/>
                </a:solidFill>
                <a:latin typeface="Marianne"/>
              </a:rPr>
              <a:t>Aller vers ceux en difficulté avec l’IA et les guider.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777240" y="274320"/>
            <a:ext cx="987918" cy="676656"/>
          </a:xfrm>
          <a:prstGeom prst="rect">
            <a:avLst/>
          </a:prstGeom>
        </p:spPr>
      </p:pic>
      <p:sp>
        <p:nvSpPr>
          <p:cNvPr id="4" name="TextBox 3"/>
          <p:cNvSpPr txBox="1"/>
          <p:nvPr/>
        </p:nvSpPr>
        <p:spPr>
          <a:xfrm>
            <a:off x="7573975" y="274320"/>
            <a:ext cx="3840480" cy="640080"/>
          </a:xfrm>
          <a:prstGeom prst="rect">
            <a:avLst/>
          </a:prstGeom>
          <a:noFill/>
        </p:spPr>
        <p:txBody>
          <a:bodyPr wrap="square" lIns="0" rIns="0" tIns="0" bIns="0" anchor="t">
            <a:spAutoFit/>
          </a:bodyPr>
          <a:lstStyle/>
          <a:p>
            <a:pPr algn="r">
              <a:lnSpc>
                <a:spcPct val="105000"/>
              </a:lnSpc>
              <a:spcBef>
                <a:spcPts val="0"/>
              </a:spcBef>
              <a:spcAft>
                <a:spcPts val="0"/>
              </a:spcAft>
            </a:pPr>
            <a:r>
              <a:rPr sz="1350" b="1" i="0">
                <a:solidFill>
                  <a:srgbClr val="161616"/>
                </a:solidFill>
                <a:latin typeface="Marianne"/>
              </a:rPr>
              <a:t>Secrétariat général</a:t>
            </a:r>
          </a:p>
          <a:p>
            <a:pPr algn="r">
              <a:lnSpc>
                <a:spcPct val="105000"/>
              </a:lnSpc>
              <a:spcBef>
                <a:spcPts val="0"/>
              </a:spcBef>
              <a:spcAft>
                <a:spcPts val="0"/>
              </a:spcAft>
            </a:pPr>
            <a:r>
              <a:rPr sz="1350" b="0" i="0">
                <a:solidFill>
                  <a:srgbClr val="3A3A3A"/>
                </a:solidFill>
                <a:latin typeface="Marianne"/>
              </a:rPr>
              <a:t>Direction du numérique</a:t>
            </a:r>
          </a:p>
        </p:txBody>
      </p:sp>
      <p:cxnSp>
        <p:nvCxnSpPr>
          <p:cNvPr id="5" name="Connector 4"/>
          <p:cNvCxnSpPr/>
          <p:nvPr/>
        </p:nvCxnSpPr>
        <p:spPr>
          <a:xfrm>
            <a:off x="0" y="1005840"/>
            <a:ext cx="12191695"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6437376"/>
            <a:ext cx="5486400" cy="274320"/>
          </a:xfrm>
          <a:prstGeom prst="rect">
            <a:avLst/>
          </a:prstGeom>
          <a:noFill/>
        </p:spPr>
        <p:txBody>
          <a:bodyPr wrap="square" lIns="0" rIns="0" tIns="0" bIns="0" anchor="t">
            <a:spAutoFit/>
          </a:bodyPr>
          <a:lstStyle/>
          <a:p>
            <a:pPr algn="l">
              <a:lnSpc>
                <a:spcPct val="106000"/>
              </a:lnSpc>
              <a:spcBef>
                <a:spcPts val="0"/>
              </a:spcBef>
              <a:spcAft>
                <a:spcPts val="0"/>
              </a:spcAft>
            </a:pPr>
            <a:r>
              <a:rPr sz="1100" b="0" i="0">
                <a:solidFill>
                  <a:srgbClr val="6A6A6A"/>
                </a:solidFill>
                <a:latin typeface="Marianne"/>
              </a:rPr>
              <a:t>Ministères Sociaux – 25/06/2026</a:t>
            </a:r>
          </a:p>
        </p:txBody>
      </p:sp>
      <p:sp>
        <p:nvSpPr>
          <p:cNvPr id="7" name="TextBox 6"/>
          <p:cNvSpPr txBox="1"/>
          <p:nvPr/>
        </p:nvSpPr>
        <p:spPr>
          <a:xfrm>
            <a:off x="10682935" y="6437376"/>
            <a:ext cx="731520" cy="274320"/>
          </a:xfrm>
          <a:prstGeom prst="rect">
            <a:avLst/>
          </a:prstGeom>
          <a:noFill/>
        </p:spPr>
        <p:txBody>
          <a:bodyPr wrap="square" lIns="0" rIns="0" tIns="0" bIns="0" anchor="t">
            <a:spAutoFit/>
          </a:bodyPr>
          <a:lstStyle/>
          <a:p>
            <a:pPr algn="r">
              <a:lnSpc>
                <a:spcPct val="106000"/>
              </a:lnSpc>
              <a:spcBef>
                <a:spcPts val="0"/>
              </a:spcBef>
              <a:spcAft>
                <a:spcPts val="0"/>
              </a:spcAft>
            </a:pPr>
            <a:r>
              <a:rPr sz="1100" b="0" i="0">
                <a:solidFill>
                  <a:srgbClr val="6A6A6A"/>
                </a:solidFill>
                <a:latin typeface="Marianne"/>
              </a:rPr>
              <a:t>11</a:t>
            </a:r>
          </a:p>
        </p:txBody>
      </p:sp>
      <p:sp>
        <p:nvSpPr>
          <p:cNvPr id="8" name="TextBox 7"/>
          <p:cNvSpPr txBox="1"/>
          <p:nvPr/>
        </p:nvSpPr>
        <p:spPr>
          <a:xfrm>
            <a:off x="777240" y="1325880"/>
            <a:ext cx="10637215" cy="1280160"/>
          </a:xfrm>
          <a:prstGeom prst="rect">
            <a:avLst/>
          </a:prstGeom>
          <a:noFill/>
        </p:spPr>
        <p:txBody>
          <a:bodyPr wrap="square" lIns="0" rIns="0" tIns="0" bIns="0" anchor="t">
            <a:spAutoFit/>
          </a:bodyPr>
          <a:lstStyle/>
          <a:p>
            <a:pPr algn="l">
              <a:lnSpc>
                <a:spcPct val="102000"/>
              </a:lnSpc>
              <a:spcBef>
                <a:spcPts val="0"/>
              </a:spcBef>
              <a:spcAft>
                <a:spcPts val="0"/>
              </a:spcAft>
            </a:pPr>
            <a:r>
              <a:rPr sz="3100" b="1" i="0">
                <a:solidFill>
                  <a:srgbClr val="161616"/>
                </a:solidFill>
                <a:latin typeface="Marianne"/>
              </a:rPr>
              <a:t>Moyen terme : industrialiser &amp; animer</a:t>
            </a:r>
          </a:p>
        </p:txBody>
      </p:sp>
      <p:sp>
        <p:nvSpPr>
          <p:cNvPr id="9" name="Rounded Rectangle 8"/>
          <p:cNvSpPr/>
          <p:nvPr/>
        </p:nvSpPr>
        <p:spPr>
          <a:xfrm>
            <a:off x="777240" y="2331720"/>
            <a:ext cx="3520440" cy="3383280"/>
          </a:xfrm>
          <a:prstGeom prst="roundRect">
            <a:avLst>
              <a:gd name="adj" fmla="val 5000"/>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2743200"/>
            <a:ext cx="2788920" cy="2560320"/>
          </a:xfrm>
          <a:prstGeom prst="rect">
            <a:avLst/>
          </a:prstGeom>
          <a:noFill/>
        </p:spPr>
        <p:txBody>
          <a:bodyPr wrap="square" lIns="0" rIns="0" tIns="0" bIns="0" anchor="t">
            <a:spAutoFit/>
          </a:bodyPr>
          <a:lstStyle/>
          <a:p>
            <a:pPr algn="l">
              <a:lnSpc>
                <a:spcPct val="102000"/>
              </a:lnSpc>
              <a:spcBef>
                <a:spcPts val="0"/>
              </a:spcBef>
              <a:spcAft>
                <a:spcPts val="800"/>
              </a:spcAft>
            </a:pPr>
            <a:r>
              <a:rPr sz="2000" b="1" i="0">
                <a:solidFill>
                  <a:srgbClr val="FFFFFF"/>
                </a:solidFill>
                <a:latin typeface="Marianne"/>
              </a:rPr>
              <a:t>Animer la communauté</a:t>
            </a:r>
          </a:p>
          <a:p>
            <a:pPr algn="l">
              <a:lnSpc>
                <a:spcPct val="118000"/>
              </a:lnSpc>
              <a:spcBef>
                <a:spcPts val="0"/>
              </a:spcBef>
              <a:spcAft>
                <a:spcPts val="0"/>
              </a:spcAft>
            </a:pPr>
            <a:r>
              <a:rPr sz="1500" b="0" i="0">
                <a:solidFill>
                  <a:srgbClr val="E3E3FD"/>
                </a:solidFill>
                <a:latin typeface="Marianne"/>
              </a:rPr>
              <a:t>Identifier et préparer l’animation d’une communauté de champions pour chaque métier.</a:t>
            </a:r>
          </a:p>
          <a:p>
            <a:pPr algn="l">
              <a:lnSpc>
                <a:spcPct val="110000"/>
              </a:lnSpc>
              <a:spcBef>
                <a:spcPts val="1000"/>
              </a:spcBef>
              <a:spcAft>
                <a:spcPts val="0"/>
              </a:spcAft>
            </a:pPr>
            <a:r>
              <a:rPr sz="1300" b="0" i="1">
                <a:solidFill>
                  <a:srgbClr val="CFCFFB"/>
                </a:solidFill>
                <a:latin typeface="Marianne"/>
              </a:rPr>
              <a:t>Des relais qui diffusent les pratiques au plus près des équipes.</a:t>
            </a:r>
          </a:p>
        </p:txBody>
      </p:sp>
      <p:sp>
        <p:nvSpPr>
          <p:cNvPr id="11" name="TextBox 10"/>
          <p:cNvSpPr txBox="1"/>
          <p:nvPr/>
        </p:nvSpPr>
        <p:spPr>
          <a:xfrm>
            <a:off x="4754880" y="2350008"/>
            <a:ext cx="6659575" cy="457200"/>
          </a:xfrm>
          <a:prstGeom prst="rect">
            <a:avLst/>
          </a:prstGeom>
          <a:noFill/>
        </p:spPr>
        <p:txBody>
          <a:bodyPr wrap="square" lIns="0" rIns="0" tIns="0" bIns="0" anchor="t">
            <a:spAutoFit/>
          </a:bodyPr>
          <a:lstStyle/>
          <a:p>
            <a:pPr algn="l">
              <a:lnSpc>
                <a:spcPct val="106000"/>
              </a:lnSpc>
              <a:spcBef>
                <a:spcPts val="0"/>
              </a:spcBef>
              <a:spcAft>
                <a:spcPts val="0"/>
              </a:spcAft>
            </a:pPr>
            <a:r>
              <a:rPr sz="1800" b="1" i="0">
                <a:solidFill>
                  <a:srgbClr val="000091"/>
                </a:solidFill>
                <a:latin typeface="Marianne"/>
              </a:rPr>
              <a:t>Volet développeurs</a:t>
            </a:r>
          </a:p>
        </p:txBody>
      </p:sp>
      <p:sp>
        <p:nvSpPr>
          <p:cNvPr id="12" name="Rounded Rectangle 11"/>
          <p:cNvSpPr/>
          <p:nvPr/>
        </p:nvSpPr>
        <p:spPr>
          <a:xfrm>
            <a:off x="4754880" y="2990088"/>
            <a:ext cx="137160" cy="137160"/>
          </a:xfrm>
          <a:prstGeom prst="roundRect">
            <a:avLst>
              <a:gd name="adj" fmla="val 50000"/>
            </a:avLst>
          </a:prstGeom>
          <a:solidFill>
            <a:srgbClr val="6A6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47488" y="2935224"/>
            <a:ext cx="6366967" cy="548640"/>
          </a:xfrm>
          <a:prstGeom prst="rect">
            <a:avLst/>
          </a:prstGeom>
          <a:noFill/>
        </p:spPr>
        <p:txBody>
          <a:bodyPr wrap="square" lIns="0" rIns="0" tIns="0" bIns="0" anchor="t">
            <a:spAutoFit/>
          </a:bodyPr>
          <a:lstStyle/>
          <a:p>
            <a:pPr algn="l">
              <a:lnSpc>
                <a:spcPct val="105000"/>
              </a:lnSpc>
              <a:spcBef>
                <a:spcPts val="0"/>
              </a:spcBef>
              <a:spcAft>
                <a:spcPts val="0"/>
              </a:spcAft>
            </a:pPr>
            <a:r>
              <a:rPr sz="1500" b="1" i="0">
                <a:solidFill>
                  <a:srgbClr val="161616"/>
                </a:solidFill>
                <a:latin typeface="Marianne"/>
              </a:rPr>
              <a:t>CI/CD — </a:t>
            </a:r>
            <a:r>
              <a:rPr sz="1450" b="0" i="0">
                <a:solidFill>
                  <a:srgbClr val="3A3A3A"/>
                </a:solidFill>
                <a:latin typeface="Marianne"/>
              </a:rPr>
              <a:t>bots de revue de code automatiques.</a:t>
            </a:r>
          </a:p>
        </p:txBody>
      </p:sp>
      <p:sp>
        <p:nvSpPr>
          <p:cNvPr id="14" name="Rounded Rectangle 13"/>
          <p:cNvSpPr/>
          <p:nvPr/>
        </p:nvSpPr>
        <p:spPr>
          <a:xfrm>
            <a:off x="4754880" y="3758183"/>
            <a:ext cx="137160" cy="137160"/>
          </a:xfrm>
          <a:prstGeom prst="roundRect">
            <a:avLst>
              <a:gd name="adj" fmla="val 50000"/>
            </a:avLst>
          </a:prstGeom>
          <a:solidFill>
            <a:srgbClr val="6A6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47488" y="3703320"/>
            <a:ext cx="6366967" cy="548640"/>
          </a:xfrm>
          <a:prstGeom prst="rect">
            <a:avLst/>
          </a:prstGeom>
          <a:noFill/>
        </p:spPr>
        <p:txBody>
          <a:bodyPr wrap="square" lIns="0" rIns="0" tIns="0" bIns="0" anchor="t">
            <a:spAutoFit/>
          </a:bodyPr>
          <a:lstStyle/>
          <a:p>
            <a:pPr algn="l">
              <a:lnSpc>
                <a:spcPct val="105000"/>
              </a:lnSpc>
              <a:spcBef>
                <a:spcPts val="0"/>
              </a:spcBef>
              <a:spcAft>
                <a:spcPts val="0"/>
              </a:spcAft>
            </a:pPr>
            <a:r>
              <a:rPr sz="1500" b="1" i="0">
                <a:solidFill>
                  <a:srgbClr val="161616"/>
                </a:solidFill>
                <a:latin typeface="Marianne"/>
              </a:rPr>
              <a:t>Déploiement — </a:t>
            </a:r>
            <a:r>
              <a:rPr sz="1450" b="0" i="0">
                <a:solidFill>
                  <a:srgbClr val="3A3A3A"/>
                </a:solidFill>
                <a:latin typeface="Marianne"/>
              </a:rPr>
              <a:t>dès les licences Claude internes (Sièges).</a:t>
            </a:r>
          </a:p>
        </p:txBody>
      </p:sp>
      <p:sp>
        <p:nvSpPr>
          <p:cNvPr id="16" name="Rounded Rectangle 15"/>
          <p:cNvSpPr/>
          <p:nvPr/>
        </p:nvSpPr>
        <p:spPr>
          <a:xfrm>
            <a:off x="4754880" y="4526279"/>
            <a:ext cx="137160" cy="137160"/>
          </a:xfrm>
          <a:prstGeom prst="roundRect">
            <a:avLst>
              <a:gd name="adj" fmla="val 50000"/>
            </a:avLst>
          </a:prstGeom>
          <a:solidFill>
            <a:srgbClr val="6A6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47488" y="4471416"/>
            <a:ext cx="6366967" cy="548640"/>
          </a:xfrm>
          <a:prstGeom prst="rect">
            <a:avLst/>
          </a:prstGeom>
          <a:noFill/>
        </p:spPr>
        <p:txBody>
          <a:bodyPr wrap="square" lIns="0" rIns="0" tIns="0" bIns="0" anchor="t">
            <a:spAutoFit/>
          </a:bodyPr>
          <a:lstStyle/>
          <a:p>
            <a:pPr algn="l">
              <a:lnSpc>
                <a:spcPct val="105000"/>
              </a:lnSpc>
              <a:spcBef>
                <a:spcPts val="0"/>
              </a:spcBef>
              <a:spcAft>
                <a:spcPts val="0"/>
              </a:spcAft>
            </a:pPr>
            <a:r>
              <a:rPr sz="1500" b="1" i="0">
                <a:solidFill>
                  <a:srgbClr val="161616"/>
                </a:solidFill>
                <a:latin typeface="Marianne"/>
              </a:rPr>
              <a:t>Dev agentique — </a:t>
            </a:r>
            <a:r>
              <a:rPr sz="1450" b="0" i="0">
                <a:solidFill>
                  <a:srgbClr val="3A3A3A"/>
                </a:solidFill>
                <a:latin typeface="Marianne"/>
              </a:rPr>
              <a:t>pour les internes, en lien avec la DINUM.</a:t>
            </a:r>
          </a:p>
        </p:txBody>
      </p:sp>
      <p:sp>
        <p:nvSpPr>
          <p:cNvPr id="18" name="Rounded Rectangle 17"/>
          <p:cNvSpPr/>
          <p:nvPr/>
        </p:nvSpPr>
        <p:spPr>
          <a:xfrm>
            <a:off x="4754880" y="5294375"/>
            <a:ext cx="137160" cy="137160"/>
          </a:xfrm>
          <a:prstGeom prst="roundRect">
            <a:avLst>
              <a:gd name="adj" fmla="val 50000"/>
            </a:avLst>
          </a:prstGeom>
          <a:solidFill>
            <a:srgbClr val="6A6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47488" y="5239512"/>
            <a:ext cx="6366967" cy="548640"/>
          </a:xfrm>
          <a:prstGeom prst="rect">
            <a:avLst/>
          </a:prstGeom>
          <a:noFill/>
        </p:spPr>
        <p:txBody>
          <a:bodyPr wrap="square" lIns="0" rIns="0" tIns="0" bIns="0" anchor="t">
            <a:spAutoFit/>
          </a:bodyPr>
          <a:lstStyle/>
          <a:p>
            <a:pPr algn="l">
              <a:lnSpc>
                <a:spcPct val="105000"/>
              </a:lnSpc>
              <a:spcBef>
                <a:spcPts val="0"/>
              </a:spcBef>
              <a:spcAft>
                <a:spcPts val="0"/>
              </a:spcAft>
            </a:pPr>
            <a:r>
              <a:rPr sz="1500" b="1" i="0">
                <a:solidFill>
                  <a:srgbClr val="161616"/>
                </a:solidFill>
                <a:latin typeface="Marianne"/>
              </a:rPr>
              <a:t>Observabilité — </a:t>
            </a:r>
            <a:r>
              <a:rPr sz="1450" b="0" i="0">
                <a:solidFill>
                  <a:srgbClr val="3A3A3A"/>
                </a:solidFill>
                <a:latin typeface="Marianne"/>
              </a:rPr>
              <a:t>suivre les usages et la qualité.</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777240" y="274320"/>
            <a:ext cx="987918" cy="676656"/>
          </a:xfrm>
          <a:prstGeom prst="rect">
            <a:avLst/>
          </a:prstGeom>
        </p:spPr>
      </p:pic>
      <p:sp>
        <p:nvSpPr>
          <p:cNvPr id="4" name="TextBox 3"/>
          <p:cNvSpPr txBox="1"/>
          <p:nvPr/>
        </p:nvSpPr>
        <p:spPr>
          <a:xfrm>
            <a:off x="7573975" y="274320"/>
            <a:ext cx="3840480" cy="640080"/>
          </a:xfrm>
          <a:prstGeom prst="rect">
            <a:avLst/>
          </a:prstGeom>
          <a:noFill/>
        </p:spPr>
        <p:txBody>
          <a:bodyPr wrap="square" lIns="0" rIns="0" tIns="0" bIns="0" anchor="t">
            <a:spAutoFit/>
          </a:bodyPr>
          <a:lstStyle/>
          <a:p>
            <a:pPr algn="r">
              <a:lnSpc>
                <a:spcPct val="105000"/>
              </a:lnSpc>
              <a:spcBef>
                <a:spcPts val="0"/>
              </a:spcBef>
              <a:spcAft>
                <a:spcPts val="0"/>
              </a:spcAft>
            </a:pPr>
            <a:r>
              <a:rPr sz="1350" b="1" i="0">
                <a:solidFill>
                  <a:srgbClr val="161616"/>
                </a:solidFill>
                <a:latin typeface="Marianne"/>
              </a:rPr>
              <a:t>Secrétariat général</a:t>
            </a:r>
          </a:p>
          <a:p>
            <a:pPr algn="r">
              <a:lnSpc>
                <a:spcPct val="105000"/>
              </a:lnSpc>
              <a:spcBef>
                <a:spcPts val="0"/>
              </a:spcBef>
              <a:spcAft>
                <a:spcPts val="0"/>
              </a:spcAft>
            </a:pPr>
            <a:r>
              <a:rPr sz="1350" b="0" i="0">
                <a:solidFill>
                  <a:srgbClr val="3A3A3A"/>
                </a:solidFill>
                <a:latin typeface="Marianne"/>
              </a:rPr>
              <a:t>Direction du numérique</a:t>
            </a:r>
          </a:p>
        </p:txBody>
      </p:sp>
      <p:cxnSp>
        <p:nvCxnSpPr>
          <p:cNvPr id="5" name="Connector 4"/>
          <p:cNvCxnSpPr/>
          <p:nvPr/>
        </p:nvCxnSpPr>
        <p:spPr>
          <a:xfrm>
            <a:off x="0" y="1005840"/>
            <a:ext cx="12191695"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6437376"/>
            <a:ext cx="5486400" cy="274320"/>
          </a:xfrm>
          <a:prstGeom prst="rect">
            <a:avLst/>
          </a:prstGeom>
          <a:noFill/>
        </p:spPr>
        <p:txBody>
          <a:bodyPr wrap="square" lIns="0" rIns="0" tIns="0" bIns="0" anchor="t">
            <a:spAutoFit/>
          </a:bodyPr>
          <a:lstStyle/>
          <a:p>
            <a:pPr algn="l">
              <a:lnSpc>
                <a:spcPct val="106000"/>
              </a:lnSpc>
              <a:spcBef>
                <a:spcPts val="0"/>
              </a:spcBef>
              <a:spcAft>
                <a:spcPts val="0"/>
              </a:spcAft>
            </a:pPr>
            <a:r>
              <a:rPr sz="1100" b="0" i="0">
                <a:solidFill>
                  <a:srgbClr val="6A6A6A"/>
                </a:solidFill>
                <a:latin typeface="Marianne"/>
              </a:rPr>
              <a:t>Ministères Sociaux – 25/06/2026</a:t>
            </a:r>
          </a:p>
        </p:txBody>
      </p:sp>
      <p:sp>
        <p:nvSpPr>
          <p:cNvPr id="7" name="TextBox 6"/>
          <p:cNvSpPr txBox="1"/>
          <p:nvPr/>
        </p:nvSpPr>
        <p:spPr>
          <a:xfrm>
            <a:off x="10682935" y="6437376"/>
            <a:ext cx="731520" cy="274320"/>
          </a:xfrm>
          <a:prstGeom prst="rect">
            <a:avLst/>
          </a:prstGeom>
          <a:noFill/>
        </p:spPr>
        <p:txBody>
          <a:bodyPr wrap="square" lIns="0" rIns="0" tIns="0" bIns="0" anchor="t">
            <a:spAutoFit/>
          </a:bodyPr>
          <a:lstStyle/>
          <a:p>
            <a:pPr algn="r">
              <a:lnSpc>
                <a:spcPct val="106000"/>
              </a:lnSpc>
              <a:spcBef>
                <a:spcPts val="0"/>
              </a:spcBef>
              <a:spcAft>
                <a:spcPts val="0"/>
              </a:spcAft>
            </a:pPr>
            <a:r>
              <a:rPr sz="1100" b="0" i="0">
                <a:solidFill>
                  <a:srgbClr val="6A6A6A"/>
                </a:solidFill>
                <a:latin typeface="Marianne"/>
              </a:rPr>
              <a:t>12</a:t>
            </a:r>
          </a:p>
        </p:txBody>
      </p:sp>
      <p:sp>
        <p:nvSpPr>
          <p:cNvPr id="8" name="TextBox 7"/>
          <p:cNvSpPr txBox="1"/>
          <p:nvPr/>
        </p:nvSpPr>
        <p:spPr>
          <a:xfrm>
            <a:off x="777240" y="1325880"/>
            <a:ext cx="10637215" cy="1280160"/>
          </a:xfrm>
          <a:prstGeom prst="rect">
            <a:avLst/>
          </a:prstGeom>
          <a:noFill/>
        </p:spPr>
        <p:txBody>
          <a:bodyPr wrap="square" lIns="0" rIns="0" tIns="0" bIns="0" anchor="t">
            <a:spAutoFit/>
          </a:bodyPr>
          <a:lstStyle/>
          <a:p>
            <a:pPr algn="l">
              <a:lnSpc>
                <a:spcPct val="102000"/>
              </a:lnSpc>
              <a:spcBef>
                <a:spcPts val="0"/>
              </a:spcBef>
              <a:spcAft>
                <a:spcPts val="0"/>
              </a:spcAft>
            </a:pPr>
            <a:r>
              <a:rPr sz="3100" b="1" i="0">
                <a:solidFill>
                  <a:srgbClr val="161616"/>
                </a:solidFill>
                <a:latin typeface="Marianne"/>
              </a:rPr>
              <a:t>Long terme : un harness maison</a:t>
            </a:r>
          </a:p>
        </p:txBody>
      </p:sp>
      <p:sp>
        <p:nvSpPr>
          <p:cNvPr id="9" name="TextBox 8"/>
          <p:cNvSpPr txBox="1"/>
          <p:nvPr/>
        </p:nvSpPr>
        <p:spPr>
          <a:xfrm>
            <a:off x="777240" y="1993392"/>
            <a:ext cx="10637215" cy="457200"/>
          </a:xfrm>
          <a:prstGeom prst="rect">
            <a:avLst/>
          </a:prstGeom>
          <a:noFill/>
        </p:spPr>
        <p:txBody>
          <a:bodyPr wrap="square" lIns="0" rIns="0" tIns="0" bIns="0" anchor="t">
            <a:spAutoFit/>
          </a:bodyPr>
          <a:lstStyle/>
          <a:p>
            <a:pPr algn="l">
              <a:lnSpc>
                <a:spcPct val="106000"/>
              </a:lnSpc>
              <a:spcBef>
                <a:spcPts val="0"/>
              </a:spcBef>
              <a:spcAft>
                <a:spcPts val="0"/>
              </a:spcAft>
            </a:pPr>
            <a:r>
              <a:rPr sz="1650" b="0" i="0">
                <a:solidFill>
                  <a:srgbClr val="3A3A3A"/>
                </a:solidFill>
                <a:latin typeface="Marianne"/>
              </a:rPr>
              <a:t>Construire notre propre environnement IA, maîtrisé de bout en bout.</a:t>
            </a:r>
          </a:p>
        </p:txBody>
      </p:sp>
      <p:sp>
        <p:nvSpPr>
          <p:cNvPr id="10" name="Rounded Rectangle 9"/>
          <p:cNvSpPr/>
          <p:nvPr/>
        </p:nvSpPr>
        <p:spPr>
          <a:xfrm>
            <a:off x="777240" y="2697480"/>
            <a:ext cx="2384983" cy="2423160"/>
          </a:xfrm>
          <a:prstGeom prst="roundRect">
            <a:avLst>
              <a:gd name="adj" fmla="val 6000"/>
            </a:avLst>
          </a:prstGeom>
          <a:solidFill>
            <a:srgbClr val="ECE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user-smile.png"/>
          <p:cNvPicPr>
            <a:picLocks noChangeAspect="1"/>
          </p:cNvPicPr>
          <p:nvPr/>
        </p:nvPicPr>
        <p:blipFill>
          <a:blip r:embed="rId3"/>
          <a:stretch>
            <a:fillRect/>
          </a:stretch>
        </p:blipFill>
        <p:spPr>
          <a:xfrm>
            <a:off x="1051560" y="3008376"/>
            <a:ext cx="512064" cy="512064"/>
          </a:xfrm>
          <a:prstGeom prst="rect">
            <a:avLst/>
          </a:prstGeom>
        </p:spPr>
      </p:pic>
      <p:sp>
        <p:nvSpPr>
          <p:cNvPr id="12" name="TextBox 11"/>
          <p:cNvSpPr txBox="1"/>
          <p:nvPr/>
        </p:nvSpPr>
        <p:spPr>
          <a:xfrm>
            <a:off x="1051560" y="3703320"/>
            <a:ext cx="1872919" cy="1280160"/>
          </a:xfrm>
          <a:prstGeom prst="rect">
            <a:avLst/>
          </a:prstGeom>
          <a:noFill/>
        </p:spPr>
        <p:txBody>
          <a:bodyPr wrap="square" lIns="0" rIns="0" tIns="0" bIns="0" anchor="t">
            <a:spAutoFit/>
          </a:bodyPr>
          <a:lstStyle/>
          <a:p>
            <a:pPr algn="l">
              <a:lnSpc>
                <a:spcPct val="102000"/>
              </a:lnSpc>
              <a:spcBef>
                <a:spcPts val="0"/>
              </a:spcBef>
              <a:spcAft>
                <a:spcPts val="800"/>
              </a:spcAft>
            </a:pPr>
            <a:r>
              <a:rPr sz="1600" b="1" i="0">
                <a:solidFill>
                  <a:srgbClr val="000091"/>
                </a:solidFill>
                <a:latin typeface="Marianne"/>
              </a:rPr>
              <a:t>Expérience maîtrisée</a:t>
            </a:r>
          </a:p>
          <a:p>
            <a:pPr algn="l">
              <a:lnSpc>
                <a:spcPct val="112000"/>
              </a:lnSpc>
              <a:spcBef>
                <a:spcPts val="0"/>
              </a:spcBef>
              <a:spcAft>
                <a:spcPts val="0"/>
              </a:spcAft>
            </a:pPr>
            <a:r>
              <a:rPr sz="1350" b="0" i="0">
                <a:solidFill>
                  <a:srgbClr val="3A3A3A"/>
                </a:solidFill>
                <a:latin typeface="Marianne"/>
              </a:rPr>
              <a:t>Embarquer les profils les moins technophiles.</a:t>
            </a:r>
          </a:p>
        </p:txBody>
      </p:sp>
      <p:sp>
        <p:nvSpPr>
          <p:cNvPr id="13" name="Rounded Rectangle 12"/>
          <p:cNvSpPr/>
          <p:nvPr/>
        </p:nvSpPr>
        <p:spPr>
          <a:xfrm>
            <a:off x="3527983" y="2697480"/>
            <a:ext cx="2384983" cy="2423160"/>
          </a:xfrm>
          <a:prstGeom prst="roundRect">
            <a:avLst>
              <a:gd name="adj" fmla="val 6000"/>
            </a:avLst>
          </a:prstGeom>
          <a:solidFill>
            <a:srgbClr val="ECE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ocus-3.png"/>
          <p:cNvPicPr>
            <a:picLocks noChangeAspect="1"/>
          </p:cNvPicPr>
          <p:nvPr/>
        </p:nvPicPr>
        <p:blipFill>
          <a:blip r:embed="rId4"/>
          <a:stretch>
            <a:fillRect/>
          </a:stretch>
        </p:blipFill>
        <p:spPr>
          <a:xfrm>
            <a:off x="3802303" y="3008376"/>
            <a:ext cx="512064" cy="512064"/>
          </a:xfrm>
          <a:prstGeom prst="rect">
            <a:avLst/>
          </a:prstGeom>
        </p:spPr>
      </p:pic>
      <p:sp>
        <p:nvSpPr>
          <p:cNvPr id="15" name="TextBox 14"/>
          <p:cNvSpPr txBox="1"/>
          <p:nvPr/>
        </p:nvSpPr>
        <p:spPr>
          <a:xfrm>
            <a:off x="3802303" y="3703320"/>
            <a:ext cx="1872919" cy="1280160"/>
          </a:xfrm>
          <a:prstGeom prst="rect">
            <a:avLst/>
          </a:prstGeom>
          <a:noFill/>
        </p:spPr>
        <p:txBody>
          <a:bodyPr wrap="square" lIns="0" rIns="0" tIns="0" bIns="0" anchor="t">
            <a:spAutoFit/>
          </a:bodyPr>
          <a:lstStyle/>
          <a:p>
            <a:pPr algn="l">
              <a:lnSpc>
                <a:spcPct val="102000"/>
              </a:lnSpc>
              <a:spcBef>
                <a:spcPts val="0"/>
              </a:spcBef>
              <a:spcAft>
                <a:spcPts val="800"/>
              </a:spcAft>
            </a:pPr>
            <a:r>
              <a:rPr sz="1600" b="1" i="0">
                <a:solidFill>
                  <a:srgbClr val="000091"/>
                </a:solidFill>
                <a:latin typeface="Marianne"/>
              </a:rPr>
              <a:t>Périmètre maîtrisé</a:t>
            </a:r>
          </a:p>
          <a:p>
            <a:pPr algn="l">
              <a:lnSpc>
                <a:spcPct val="112000"/>
              </a:lnSpc>
              <a:spcBef>
                <a:spcPts val="0"/>
              </a:spcBef>
              <a:spcAft>
                <a:spcPts val="0"/>
              </a:spcAft>
            </a:pPr>
            <a:r>
              <a:rPr sz="1350" b="0" i="0">
                <a:solidFill>
                  <a:srgbClr val="3A3A3A"/>
                </a:solidFill>
                <a:latin typeface="Marianne"/>
              </a:rPr>
              <a:t>Contrôler les besoins auxquels l’outil répond.</a:t>
            </a:r>
          </a:p>
        </p:txBody>
      </p:sp>
      <p:sp>
        <p:nvSpPr>
          <p:cNvPr id="16" name="Rounded Rectangle 15"/>
          <p:cNvSpPr/>
          <p:nvPr/>
        </p:nvSpPr>
        <p:spPr>
          <a:xfrm>
            <a:off x="6278727" y="2697480"/>
            <a:ext cx="2384983" cy="2423160"/>
          </a:xfrm>
          <a:prstGeom prst="roundRect">
            <a:avLst>
              <a:gd name="adj" fmla="val 6000"/>
            </a:avLst>
          </a:prstGeom>
          <a:solidFill>
            <a:srgbClr val="ECE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hield-check.png"/>
          <p:cNvPicPr>
            <a:picLocks noChangeAspect="1"/>
          </p:cNvPicPr>
          <p:nvPr/>
        </p:nvPicPr>
        <p:blipFill>
          <a:blip r:embed="rId5"/>
          <a:stretch>
            <a:fillRect/>
          </a:stretch>
        </p:blipFill>
        <p:spPr>
          <a:xfrm>
            <a:off x="6553047" y="3008376"/>
            <a:ext cx="512064" cy="512064"/>
          </a:xfrm>
          <a:prstGeom prst="rect">
            <a:avLst/>
          </a:prstGeom>
        </p:spPr>
      </p:pic>
      <p:sp>
        <p:nvSpPr>
          <p:cNvPr id="18" name="TextBox 17"/>
          <p:cNvSpPr txBox="1"/>
          <p:nvPr/>
        </p:nvSpPr>
        <p:spPr>
          <a:xfrm>
            <a:off x="6553047" y="3703320"/>
            <a:ext cx="1872919" cy="1280160"/>
          </a:xfrm>
          <a:prstGeom prst="rect">
            <a:avLst/>
          </a:prstGeom>
          <a:noFill/>
        </p:spPr>
        <p:txBody>
          <a:bodyPr wrap="square" lIns="0" rIns="0" tIns="0" bIns="0" anchor="t">
            <a:spAutoFit/>
          </a:bodyPr>
          <a:lstStyle/>
          <a:p>
            <a:pPr algn="l">
              <a:lnSpc>
                <a:spcPct val="102000"/>
              </a:lnSpc>
              <a:spcBef>
                <a:spcPts val="0"/>
              </a:spcBef>
              <a:spcAft>
                <a:spcPts val="800"/>
              </a:spcAft>
            </a:pPr>
            <a:r>
              <a:rPr sz="1600" b="1" i="0">
                <a:solidFill>
                  <a:srgbClr val="000091"/>
                </a:solidFill>
                <a:latin typeface="Marianne"/>
              </a:rPr>
              <a:t>Conformité intégrée</a:t>
            </a:r>
          </a:p>
          <a:p>
            <a:pPr algn="l">
              <a:lnSpc>
                <a:spcPct val="112000"/>
              </a:lnSpc>
              <a:spcBef>
                <a:spcPts val="0"/>
              </a:spcBef>
              <a:spcAft>
                <a:spcPts val="0"/>
              </a:spcAft>
            </a:pPr>
            <a:r>
              <a:rPr sz="1350" b="0" i="0">
                <a:solidFill>
                  <a:srgbClr val="3A3A3A"/>
                </a:solidFill>
                <a:latin typeface="Marianne"/>
              </a:rPr>
              <a:t>Intégrer accessibilité et conformité dans les réalisations.</a:t>
            </a:r>
          </a:p>
        </p:txBody>
      </p:sp>
      <p:sp>
        <p:nvSpPr>
          <p:cNvPr id="19" name="Rounded Rectangle 18"/>
          <p:cNvSpPr/>
          <p:nvPr/>
        </p:nvSpPr>
        <p:spPr>
          <a:xfrm>
            <a:off x="9029471" y="2697480"/>
            <a:ext cx="2384983" cy="2423160"/>
          </a:xfrm>
          <a:prstGeom prst="roundRect">
            <a:avLst>
              <a:gd name="adj" fmla="val 6000"/>
            </a:avLst>
          </a:prstGeom>
          <a:solidFill>
            <a:srgbClr val="ECE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bank.png"/>
          <p:cNvPicPr>
            <a:picLocks noChangeAspect="1"/>
          </p:cNvPicPr>
          <p:nvPr/>
        </p:nvPicPr>
        <p:blipFill>
          <a:blip r:embed="rId6"/>
          <a:stretch>
            <a:fillRect/>
          </a:stretch>
        </p:blipFill>
        <p:spPr>
          <a:xfrm>
            <a:off x="9303791" y="3008376"/>
            <a:ext cx="512064" cy="512064"/>
          </a:xfrm>
          <a:prstGeom prst="rect">
            <a:avLst/>
          </a:prstGeom>
        </p:spPr>
      </p:pic>
      <p:sp>
        <p:nvSpPr>
          <p:cNvPr id="21" name="TextBox 20"/>
          <p:cNvSpPr txBox="1"/>
          <p:nvPr/>
        </p:nvSpPr>
        <p:spPr>
          <a:xfrm>
            <a:off x="9303791" y="3703320"/>
            <a:ext cx="1872919" cy="1280160"/>
          </a:xfrm>
          <a:prstGeom prst="rect">
            <a:avLst/>
          </a:prstGeom>
          <a:noFill/>
        </p:spPr>
        <p:txBody>
          <a:bodyPr wrap="square" lIns="0" rIns="0" tIns="0" bIns="0" anchor="t">
            <a:spAutoFit/>
          </a:bodyPr>
          <a:lstStyle/>
          <a:p>
            <a:pPr algn="l">
              <a:lnSpc>
                <a:spcPct val="102000"/>
              </a:lnSpc>
              <a:spcBef>
                <a:spcPts val="0"/>
              </a:spcBef>
              <a:spcAft>
                <a:spcPts val="800"/>
              </a:spcAft>
            </a:pPr>
            <a:r>
              <a:rPr sz="1600" b="1" i="0">
                <a:solidFill>
                  <a:srgbClr val="000091"/>
                </a:solidFill>
                <a:latin typeface="Marianne"/>
              </a:rPr>
              <a:t>Souveraineté &amp; stabilité</a:t>
            </a:r>
          </a:p>
          <a:p>
            <a:pPr algn="l">
              <a:lnSpc>
                <a:spcPct val="112000"/>
              </a:lnSpc>
              <a:spcBef>
                <a:spcPts val="0"/>
              </a:spcBef>
              <a:spcAft>
                <a:spcPts val="0"/>
              </a:spcAft>
            </a:pPr>
            <a:r>
              <a:rPr sz="1350" b="0" i="0">
                <a:solidFill>
                  <a:srgbClr val="3A3A3A"/>
                </a:solidFill>
                <a:latin typeface="Marianne"/>
              </a:rPr>
              <a:t>Indépendance vis-à-vis des fournisseurs.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777240" y="274320"/>
            <a:ext cx="987918" cy="676656"/>
          </a:xfrm>
          <a:prstGeom prst="rect">
            <a:avLst/>
          </a:prstGeom>
        </p:spPr>
      </p:pic>
      <p:sp>
        <p:nvSpPr>
          <p:cNvPr id="4" name="TextBox 3"/>
          <p:cNvSpPr txBox="1"/>
          <p:nvPr/>
        </p:nvSpPr>
        <p:spPr>
          <a:xfrm>
            <a:off x="7573975" y="274320"/>
            <a:ext cx="3840480" cy="640080"/>
          </a:xfrm>
          <a:prstGeom prst="rect">
            <a:avLst/>
          </a:prstGeom>
          <a:noFill/>
        </p:spPr>
        <p:txBody>
          <a:bodyPr wrap="square" lIns="0" rIns="0" tIns="0" bIns="0" anchor="t">
            <a:spAutoFit/>
          </a:bodyPr>
          <a:lstStyle/>
          <a:p>
            <a:pPr algn="r">
              <a:lnSpc>
                <a:spcPct val="105000"/>
              </a:lnSpc>
              <a:spcBef>
                <a:spcPts val="0"/>
              </a:spcBef>
              <a:spcAft>
                <a:spcPts val="0"/>
              </a:spcAft>
            </a:pPr>
            <a:r>
              <a:rPr sz="1350" b="1" i="0">
                <a:solidFill>
                  <a:srgbClr val="161616"/>
                </a:solidFill>
                <a:latin typeface="Marianne"/>
              </a:rPr>
              <a:t>Secrétariat général</a:t>
            </a:r>
          </a:p>
          <a:p>
            <a:pPr algn="r">
              <a:lnSpc>
                <a:spcPct val="105000"/>
              </a:lnSpc>
              <a:spcBef>
                <a:spcPts val="0"/>
              </a:spcBef>
              <a:spcAft>
                <a:spcPts val="0"/>
              </a:spcAft>
            </a:pPr>
            <a:r>
              <a:rPr sz="1350" b="0" i="0">
                <a:solidFill>
                  <a:srgbClr val="3A3A3A"/>
                </a:solidFill>
                <a:latin typeface="Marianne"/>
              </a:rPr>
              <a:t>Direction du numérique</a:t>
            </a:r>
          </a:p>
        </p:txBody>
      </p:sp>
      <p:cxnSp>
        <p:nvCxnSpPr>
          <p:cNvPr id="5" name="Connector 4"/>
          <p:cNvCxnSpPr/>
          <p:nvPr/>
        </p:nvCxnSpPr>
        <p:spPr>
          <a:xfrm>
            <a:off x="0" y="1005840"/>
            <a:ext cx="12191695"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6437376"/>
            <a:ext cx="5486400" cy="274320"/>
          </a:xfrm>
          <a:prstGeom prst="rect">
            <a:avLst/>
          </a:prstGeom>
          <a:noFill/>
        </p:spPr>
        <p:txBody>
          <a:bodyPr wrap="square" lIns="0" rIns="0" tIns="0" bIns="0" anchor="t">
            <a:spAutoFit/>
          </a:bodyPr>
          <a:lstStyle/>
          <a:p>
            <a:pPr algn="l">
              <a:lnSpc>
                <a:spcPct val="106000"/>
              </a:lnSpc>
              <a:spcBef>
                <a:spcPts val="0"/>
              </a:spcBef>
              <a:spcAft>
                <a:spcPts val="0"/>
              </a:spcAft>
            </a:pPr>
            <a:r>
              <a:rPr sz="1100" b="0" i="0">
                <a:solidFill>
                  <a:srgbClr val="6A6A6A"/>
                </a:solidFill>
                <a:latin typeface="Marianne"/>
              </a:rPr>
              <a:t>Ministères Sociaux – 25/06/2026</a:t>
            </a:r>
          </a:p>
        </p:txBody>
      </p:sp>
      <p:sp>
        <p:nvSpPr>
          <p:cNvPr id="7" name="TextBox 6"/>
          <p:cNvSpPr txBox="1"/>
          <p:nvPr/>
        </p:nvSpPr>
        <p:spPr>
          <a:xfrm>
            <a:off x="10682935" y="6437376"/>
            <a:ext cx="731520" cy="274320"/>
          </a:xfrm>
          <a:prstGeom prst="rect">
            <a:avLst/>
          </a:prstGeom>
          <a:noFill/>
        </p:spPr>
        <p:txBody>
          <a:bodyPr wrap="square" lIns="0" rIns="0" tIns="0" bIns="0" anchor="t">
            <a:spAutoFit/>
          </a:bodyPr>
          <a:lstStyle/>
          <a:p>
            <a:pPr algn="r">
              <a:lnSpc>
                <a:spcPct val="106000"/>
              </a:lnSpc>
              <a:spcBef>
                <a:spcPts val="0"/>
              </a:spcBef>
              <a:spcAft>
                <a:spcPts val="0"/>
              </a:spcAft>
            </a:pPr>
            <a:r>
              <a:rPr sz="1100" b="0" i="0">
                <a:solidFill>
                  <a:srgbClr val="6A6A6A"/>
                </a:solidFill>
                <a:latin typeface="Marianne"/>
              </a:rPr>
              <a:t>13</a:t>
            </a:r>
          </a:p>
        </p:txBody>
      </p:sp>
      <p:sp>
        <p:nvSpPr>
          <p:cNvPr id="8" name="TextBox 7"/>
          <p:cNvSpPr txBox="1"/>
          <p:nvPr/>
        </p:nvSpPr>
        <p:spPr>
          <a:xfrm>
            <a:off x="777240" y="1325880"/>
            <a:ext cx="10637215" cy="1280160"/>
          </a:xfrm>
          <a:prstGeom prst="rect">
            <a:avLst/>
          </a:prstGeom>
          <a:noFill/>
        </p:spPr>
        <p:txBody>
          <a:bodyPr wrap="square" lIns="0" rIns="0" tIns="0" bIns="0" anchor="t">
            <a:spAutoFit/>
          </a:bodyPr>
          <a:lstStyle/>
          <a:p>
            <a:pPr algn="l">
              <a:lnSpc>
                <a:spcPct val="102000"/>
              </a:lnSpc>
              <a:spcBef>
                <a:spcPts val="0"/>
              </a:spcBef>
              <a:spcAft>
                <a:spcPts val="0"/>
              </a:spcAft>
            </a:pPr>
            <a:r>
              <a:rPr sz="3300" b="1" i="0">
                <a:solidFill>
                  <a:srgbClr val="161616"/>
                </a:solidFill>
                <a:latin typeface="Marianne"/>
              </a:rPr>
              <a:t>Où nous en sommes</a:t>
            </a:r>
          </a:p>
        </p:txBody>
      </p:sp>
      <p:sp>
        <p:nvSpPr>
          <p:cNvPr id="9" name="TextBox 8"/>
          <p:cNvSpPr txBox="1"/>
          <p:nvPr/>
        </p:nvSpPr>
        <p:spPr>
          <a:xfrm>
            <a:off x="777240" y="2194560"/>
            <a:ext cx="5090007" cy="457200"/>
          </a:xfrm>
          <a:prstGeom prst="rect">
            <a:avLst/>
          </a:prstGeom>
          <a:noFill/>
        </p:spPr>
        <p:txBody>
          <a:bodyPr wrap="square" lIns="0" rIns="0" tIns="0" bIns="0" anchor="t">
            <a:spAutoFit/>
          </a:bodyPr>
          <a:lstStyle/>
          <a:p>
            <a:pPr algn="l">
              <a:lnSpc>
                <a:spcPct val="106000"/>
              </a:lnSpc>
              <a:spcBef>
                <a:spcPts val="0"/>
              </a:spcBef>
              <a:spcAft>
                <a:spcPts val="0"/>
              </a:spcAft>
            </a:pPr>
            <a:r>
              <a:rPr sz="1800" b="1" i="0">
                <a:solidFill>
                  <a:srgbClr val="000091"/>
                </a:solidFill>
                <a:latin typeface="Marianne"/>
              </a:rPr>
              <a:t>Ce qui est acquis</a:t>
            </a:r>
          </a:p>
        </p:txBody>
      </p:sp>
      <p:sp>
        <p:nvSpPr>
          <p:cNvPr id="10" name="TextBox 9"/>
          <p:cNvSpPr txBox="1"/>
          <p:nvPr/>
        </p:nvSpPr>
        <p:spPr>
          <a:xfrm>
            <a:off x="777240" y="2724912"/>
            <a:ext cx="5090007" cy="3840480"/>
          </a:xfrm>
          <a:prstGeom prst="rect">
            <a:avLst/>
          </a:prstGeom>
          <a:noFill/>
        </p:spPr>
        <p:txBody>
          <a:bodyPr wrap="square" lIns="0" rIns="0" tIns="0" bIns="0" anchor="t">
            <a:spAutoFit/>
          </a:bodyPr>
          <a:lstStyle/>
          <a:p>
            <a:pPr algn="l" marL="201168" indent="-201168">
              <a:lnSpc>
                <a:spcPct val="110000"/>
              </a:lnSpc>
              <a:spcBef>
                <a:spcPts val="0"/>
              </a:spcBef>
              <a:spcAft>
                <a:spcPts val="800"/>
              </a:spcAft>
            </a:pPr>
            <a:r>
              <a:rPr sz="1200" b="0" i="0">
                <a:solidFill>
                  <a:srgbClr val="6A6AF4"/>
                </a:solidFill>
                <a:latin typeface="Marianne"/>
              </a:rPr>
              <a:t>▪  </a:t>
            </a:r>
            <a:r>
              <a:rPr sz="1500" b="0" i="0">
                <a:solidFill>
                  <a:srgbClr val="3A3A3A"/>
                </a:solidFill>
                <a:latin typeface="Marianne"/>
              </a:rPr>
              <a:t>Cinq équipes rencontrées : SRDT, DACCORD, Egapro, DomiFA, SIRENA.</a:t>
            </a:r>
          </a:p>
          <a:p>
            <a:pPr algn="l" marL="201168" indent="-201168">
              <a:lnSpc>
                <a:spcPct val="110000"/>
              </a:lnSpc>
              <a:spcBef>
                <a:spcPts val="0"/>
              </a:spcBef>
              <a:spcAft>
                <a:spcPts val="800"/>
              </a:spcAft>
            </a:pPr>
            <a:r>
              <a:rPr sz="1200" b="0" i="0">
                <a:solidFill>
                  <a:srgbClr val="6A6AF4"/>
                </a:solidFill>
                <a:latin typeface="Marianne"/>
              </a:rPr>
              <a:t>▪  </a:t>
            </a:r>
            <a:r>
              <a:rPr sz="1500" b="0" i="0">
                <a:solidFill>
                  <a:srgbClr val="3A3A3A"/>
                </a:solidFill>
                <a:latin typeface="Marianne"/>
              </a:rPr>
              <a:t>Métiers rencontrés : architectes, products, designers, développeurs.</a:t>
            </a:r>
          </a:p>
          <a:p>
            <a:pPr algn="l" marL="201168" indent="-201168">
              <a:lnSpc>
                <a:spcPct val="110000"/>
              </a:lnSpc>
              <a:spcBef>
                <a:spcPts val="0"/>
              </a:spcBef>
              <a:spcAft>
                <a:spcPts val="800"/>
              </a:spcAft>
            </a:pPr>
            <a:r>
              <a:rPr sz="1200" b="0" i="0">
                <a:solidFill>
                  <a:srgbClr val="6A6AF4"/>
                </a:solidFill>
                <a:latin typeface="Marianne"/>
              </a:rPr>
              <a:t>▪  </a:t>
            </a:r>
            <a:r>
              <a:rPr sz="1500" b="0" i="0">
                <a:solidFill>
                  <a:srgbClr val="3A3A3A"/>
                </a:solidFill>
                <a:latin typeface="Marianne"/>
              </a:rPr>
              <a:t>Échanges menés sur l’accessibilité/RGAA (Dominique) et l’outillage interne (V. Degliame).</a:t>
            </a:r>
          </a:p>
          <a:p>
            <a:pPr algn="l" marL="201168" indent="-201168">
              <a:lnSpc>
                <a:spcPct val="110000"/>
              </a:lnSpc>
              <a:spcBef>
                <a:spcPts val="0"/>
              </a:spcBef>
              <a:spcAft>
                <a:spcPts val="800"/>
              </a:spcAft>
            </a:pPr>
            <a:r>
              <a:rPr sz="1200" b="0" i="0">
                <a:solidFill>
                  <a:srgbClr val="6A6AF4"/>
                </a:solidFill>
                <a:latin typeface="Marianne"/>
              </a:rPr>
              <a:t>▪  </a:t>
            </a:r>
            <a:r>
              <a:rPr sz="1500" b="0" i="0">
                <a:solidFill>
                  <a:srgbClr val="3A3A3A"/>
                </a:solidFill>
                <a:latin typeface="Marianne"/>
              </a:rPr>
              <a:t>Egapro : usage avancé de Claude observé, premières pistes proposées.</a:t>
            </a:r>
          </a:p>
          <a:p>
            <a:pPr algn="l" marL="201168" indent="-201168">
              <a:lnSpc>
                <a:spcPct val="110000"/>
              </a:lnSpc>
              <a:spcBef>
                <a:spcPts val="0"/>
              </a:spcBef>
              <a:spcAft>
                <a:spcPts val="800"/>
              </a:spcAft>
            </a:pPr>
            <a:r>
              <a:rPr sz="1200" b="0" i="0">
                <a:solidFill>
                  <a:srgbClr val="6A6AF4"/>
                </a:solidFill>
                <a:latin typeface="Marianne"/>
              </a:rPr>
              <a:t>▪  </a:t>
            </a:r>
            <a:r>
              <a:rPr sz="1500" b="0" i="0">
                <a:solidFill>
                  <a:srgbClr val="3A3A3A"/>
                </a:solidFill>
                <a:latin typeface="Marianne"/>
              </a:rPr>
              <a:t>Un plan d’action structuré sur trois horizons.</a:t>
            </a:r>
          </a:p>
        </p:txBody>
      </p:sp>
      <p:sp>
        <p:nvSpPr>
          <p:cNvPr id="11" name="TextBox 10"/>
          <p:cNvSpPr txBox="1"/>
          <p:nvPr/>
        </p:nvSpPr>
        <p:spPr>
          <a:xfrm>
            <a:off x="6324447" y="2194560"/>
            <a:ext cx="5090007" cy="457200"/>
          </a:xfrm>
          <a:prstGeom prst="rect">
            <a:avLst/>
          </a:prstGeom>
          <a:noFill/>
        </p:spPr>
        <p:txBody>
          <a:bodyPr wrap="square" lIns="0" rIns="0" tIns="0" bIns="0" anchor="t">
            <a:spAutoFit/>
          </a:bodyPr>
          <a:lstStyle/>
          <a:p>
            <a:pPr algn="l">
              <a:lnSpc>
                <a:spcPct val="106000"/>
              </a:lnSpc>
              <a:spcBef>
                <a:spcPts val="0"/>
              </a:spcBef>
              <a:spcAft>
                <a:spcPts val="0"/>
              </a:spcAft>
            </a:pPr>
            <a:r>
              <a:rPr sz="1800" b="1" i="0">
                <a:solidFill>
                  <a:srgbClr val="000091"/>
                </a:solidFill>
                <a:latin typeface="Marianne"/>
              </a:rPr>
              <a:t>Prochaines étapes</a:t>
            </a:r>
          </a:p>
        </p:txBody>
      </p:sp>
      <p:sp>
        <p:nvSpPr>
          <p:cNvPr id="12" name="TextBox 11"/>
          <p:cNvSpPr txBox="1"/>
          <p:nvPr/>
        </p:nvSpPr>
        <p:spPr>
          <a:xfrm>
            <a:off x="6324447" y="2724912"/>
            <a:ext cx="5090007" cy="3840480"/>
          </a:xfrm>
          <a:prstGeom prst="rect">
            <a:avLst/>
          </a:prstGeom>
          <a:noFill/>
        </p:spPr>
        <p:txBody>
          <a:bodyPr wrap="square" lIns="0" rIns="0" tIns="0" bIns="0" anchor="t">
            <a:spAutoFit/>
          </a:bodyPr>
          <a:lstStyle/>
          <a:p>
            <a:pPr algn="l" marL="201168" indent="-201168">
              <a:lnSpc>
                <a:spcPct val="110000"/>
              </a:lnSpc>
              <a:spcBef>
                <a:spcPts val="0"/>
              </a:spcBef>
              <a:spcAft>
                <a:spcPts val="800"/>
              </a:spcAft>
            </a:pPr>
            <a:r>
              <a:rPr sz="1200" b="0" i="0">
                <a:solidFill>
                  <a:srgbClr val="6A6AF4"/>
                </a:solidFill>
                <a:latin typeface="Marianne"/>
              </a:rPr>
              <a:t>▪  </a:t>
            </a:r>
            <a:r>
              <a:rPr sz="1500" b="0" i="0">
                <a:solidFill>
                  <a:srgbClr val="3A3A3A"/>
                </a:solidFill>
                <a:latin typeface="Marianne"/>
              </a:rPr>
              <a:t>Architectes : outiller la génération de DA avec l’IA.</a:t>
            </a:r>
          </a:p>
          <a:p>
            <a:pPr algn="l" marL="201168" indent="-201168">
              <a:lnSpc>
                <a:spcPct val="110000"/>
              </a:lnSpc>
              <a:spcBef>
                <a:spcPts val="0"/>
              </a:spcBef>
              <a:spcAft>
                <a:spcPts val="800"/>
              </a:spcAft>
            </a:pPr>
            <a:r>
              <a:rPr sz="1200" b="0" i="0">
                <a:solidFill>
                  <a:srgbClr val="6A6AF4"/>
                </a:solidFill>
                <a:latin typeface="Marianne"/>
              </a:rPr>
              <a:t>▪  </a:t>
            </a:r>
            <a:r>
              <a:rPr sz="1500" b="0" i="0">
                <a:solidFill>
                  <a:srgbClr val="3A3A3A"/>
                </a:solidFill>
                <a:latin typeface="Marianne"/>
              </a:rPr>
              <a:t>Chefs de projet : en rencontrer plus, lancer le pré-audit d’homologation continu.</a:t>
            </a:r>
          </a:p>
          <a:p>
            <a:pPr algn="l" marL="201168" indent="-201168">
              <a:lnSpc>
                <a:spcPct val="110000"/>
              </a:lnSpc>
              <a:spcBef>
                <a:spcPts val="0"/>
              </a:spcBef>
              <a:spcAft>
                <a:spcPts val="800"/>
              </a:spcAft>
            </a:pPr>
            <a:r>
              <a:rPr sz="1200" b="0" i="0">
                <a:solidFill>
                  <a:srgbClr val="6A6AF4"/>
                </a:solidFill>
                <a:latin typeface="Marianne"/>
              </a:rPr>
              <a:t>▪  </a:t>
            </a:r>
            <a:r>
              <a:rPr sz="1500" b="0" i="0">
                <a:solidFill>
                  <a:srgbClr val="3A3A3A"/>
                </a:solidFill>
                <a:latin typeface="Marianne"/>
              </a:rPr>
              <a:t>Designers : créer les premiers skills d’UX et d’audit UX, analyser les autres besoins.</a:t>
            </a:r>
          </a:p>
          <a:p>
            <a:pPr algn="l" marL="201168" indent="-201168">
              <a:lnSpc>
                <a:spcPct val="110000"/>
              </a:lnSpc>
              <a:spcBef>
                <a:spcPts val="0"/>
              </a:spcBef>
              <a:spcAft>
                <a:spcPts val="800"/>
              </a:spcAft>
            </a:pPr>
            <a:r>
              <a:rPr sz="1200" b="0" i="0">
                <a:solidFill>
                  <a:srgbClr val="6A6AF4"/>
                </a:solidFill>
                <a:latin typeface="Marianne"/>
              </a:rPr>
              <a:t>▪  </a:t>
            </a:r>
            <a:r>
              <a:rPr sz="1500" b="0" i="0">
                <a:solidFill>
                  <a:srgbClr val="3A3A3A"/>
                </a:solidFill>
                <a:latin typeface="Marianne"/>
              </a:rPr>
              <a:t>Développeurs : aller vers ceux en difficulté avec l’IA et les guider.</a:t>
            </a:r>
          </a:p>
          <a:p>
            <a:pPr algn="l" marL="201168" indent="-201168">
              <a:lnSpc>
                <a:spcPct val="110000"/>
              </a:lnSpc>
              <a:spcBef>
                <a:spcPts val="0"/>
              </a:spcBef>
              <a:spcAft>
                <a:spcPts val="800"/>
              </a:spcAft>
            </a:pPr>
            <a:r>
              <a:rPr sz="1200" b="0" i="0">
                <a:solidFill>
                  <a:srgbClr val="6A6AF4"/>
                </a:solidFill>
                <a:latin typeface="Marianne"/>
              </a:rPr>
              <a:t>▪  </a:t>
            </a:r>
            <a:r>
              <a:rPr sz="1500" b="0" i="0">
                <a:solidFill>
                  <a:srgbClr val="3A3A3A"/>
                </a:solidFill>
                <a:latin typeface="Marianne"/>
              </a:rPr>
              <a:t>Préparer la communauté de champions ; anticiper licences Claude &amp; lien DINUM.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777240" y="274320"/>
            <a:ext cx="987918" cy="676656"/>
          </a:xfrm>
          <a:prstGeom prst="rect">
            <a:avLst/>
          </a:prstGeom>
        </p:spPr>
      </p:pic>
      <p:sp>
        <p:nvSpPr>
          <p:cNvPr id="4" name="Rectangle 3"/>
          <p:cNvSpPr/>
          <p:nvPr/>
        </p:nvSpPr>
        <p:spPr>
          <a:xfrm>
            <a:off x="777240" y="1234440"/>
            <a:ext cx="10927080" cy="52578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tripes.png"/>
          <p:cNvPicPr>
            <a:picLocks noChangeAspect="1"/>
          </p:cNvPicPr>
          <p:nvPr/>
        </p:nvPicPr>
        <p:blipFill>
          <a:blip r:embed="rId3"/>
          <a:stretch>
            <a:fillRect/>
          </a:stretch>
        </p:blipFill>
        <p:spPr>
          <a:xfrm>
            <a:off x="8869680" y="4810145"/>
            <a:ext cx="2834640" cy="1682094"/>
          </a:xfrm>
          <a:prstGeom prst="rect">
            <a:avLst/>
          </a:prstGeom>
        </p:spPr>
      </p:pic>
      <p:sp>
        <p:nvSpPr>
          <p:cNvPr id="6" name="TextBox 5"/>
          <p:cNvSpPr txBox="1"/>
          <p:nvPr/>
        </p:nvSpPr>
        <p:spPr>
          <a:xfrm>
            <a:off x="1371600" y="3108960"/>
            <a:ext cx="8778240" cy="1188720"/>
          </a:xfrm>
          <a:prstGeom prst="rect">
            <a:avLst/>
          </a:prstGeom>
          <a:noFill/>
        </p:spPr>
        <p:txBody>
          <a:bodyPr wrap="square" lIns="0" rIns="0" tIns="0" bIns="0" anchor="t">
            <a:spAutoFit/>
          </a:bodyPr>
          <a:lstStyle/>
          <a:p>
            <a:pPr algn="l">
              <a:lnSpc>
                <a:spcPct val="100000"/>
              </a:lnSpc>
              <a:spcBef>
                <a:spcPts val="0"/>
              </a:spcBef>
              <a:spcAft>
                <a:spcPts val="0"/>
              </a:spcAft>
            </a:pPr>
            <a:r>
              <a:rPr sz="5000" b="1" i="0">
                <a:solidFill>
                  <a:srgbClr val="FFFFFF"/>
                </a:solidFill>
                <a:latin typeface="Marianne"/>
              </a:rPr>
              <a:t>Place à l’échange</a:t>
            </a:r>
          </a:p>
        </p:txBody>
      </p:sp>
      <p:sp>
        <p:nvSpPr>
          <p:cNvPr id="7" name="TextBox 6"/>
          <p:cNvSpPr txBox="1"/>
          <p:nvPr/>
        </p:nvSpPr>
        <p:spPr>
          <a:xfrm>
            <a:off x="1399032" y="4114800"/>
            <a:ext cx="8961120" cy="640080"/>
          </a:xfrm>
          <a:prstGeom prst="rect">
            <a:avLst/>
          </a:prstGeom>
          <a:noFill/>
        </p:spPr>
        <p:txBody>
          <a:bodyPr wrap="square" lIns="0" rIns="0" tIns="0" bIns="0" anchor="t">
            <a:spAutoFit/>
          </a:bodyPr>
          <a:lstStyle/>
          <a:p>
            <a:pPr algn="l">
              <a:lnSpc>
                <a:spcPct val="106000"/>
              </a:lnSpc>
              <a:spcBef>
                <a:spcPts val="0"/>
              </a:spcBef>
              <a:spcAft>
                <a:spcPts val="0"/>
              </a:spcAft>
            </a:pPr>
            <a:r>
              <a:rPr sz="2200" b="0" i="0">
                <a:solidFill>
                  <a:srgbClr val="FFFFFF"/>
                </a:solidFill>
                <a:latin typeface="Marianne"/>
              </a:rPr>
              <a:t>Vos questions, vos retours, vos arbitrages.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